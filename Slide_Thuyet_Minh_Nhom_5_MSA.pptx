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389120"/>
          </a:xfrm>
          <a:prstGeom prst="rect">
            <a:avLst/>
          </a:prstGeom>
          <a:noFill/>
        </p:spPr>
        <p:txBody>
          <a:bodyPr wrap="square">
            <a:spAutoFit/>
          </a:bodyPr>
          <a:lstStyle/>
          <a:p>
            <a:pPr>
              <a:spcAft>
                <a:spcPts val="1800"/>
              </a:spcAft>
              <a:defRPr sz="1300" b="1">
                <a:solidFill>
                  <a:srgbClr val="0D9488"/>
                </a:solidFill>
                <a:latin typeface="Calibri"/>
              </a:defRPr>
            </a:pPr>
            <a:r>
              <a:t>HỌC PHẦN: PHÂN TÍCH VÀ THIẾT KẾ THUẬT TOÁN • BÁO CÁO BÀI TẬP LỚN</a:t>
            </a:r>
          </a:p>
          <a:p>
            <a:pPr>
              <a:spcAft>
                <a:spcPts val="2000"/>
              </a:spcAft>
              <a:defRPr sz="3000" b="1">
                <a:solidFill>
                  <a:srgbClr val="FFFFFF"/>
                </a:solidFill>
                <a:latin typeface="Arial"/>
              </a:defRPr>
            </a:pPr>
            <a:r>
              <a:t>THUẬT TOÁN CHIA ĐỂ TRỊ SONG SONG</a:t>
            </a:r>
            <a:br/>
            <a:r>
              <a:t>KẾT HỢP QUY HOẠCH ĐỘNG CHO BÀI TOÁN</a:t>
            </a:r>
            <a:br/>
            <a:r>
              <a:t>CĂN CHỈNH ĐA CHUỖI GEN (MSA)</a:t>
            </a:r>
          </a:p>
          <a:p>
            <a:pPr>
              <a:spcAft>
                <a:spcPts val="3500"/>
              </a:spcAft>
              <a:defRPr sz="1600">
                <a:solidFill>
                  <a:srgbClr val="E2E8F0"/>
                </a:solidFill>
                <a:latin typeface="Calibri"/>
              </a:defRPr>
            </a:pPr>
            <a:r>
              <a:t>Tối ưu hóa Không gian Trạng thái Tuyến tính O(k·N) với Thuật toán Hirschberg &amp; Mô hình Song song Đa cấp OpenMP/MPI</a:t>
            </a:r>
          </a:p>
          <a:p>
            <a:pPr>
              <a:defRPr sz="1300">
                <a:solidFill>
                  <a:srgbClr val="94A3B8"/>
                </a:solidFill>
                <a:latin typeface="Calibri"/>
              </a:defRPr>
            </a:pPr>
            <a:r>
              <a:t>Nhóm Thực hiện: NHÓM 5 (5 Thành viên)</a:t>
            </a:r>
            <a:br/>
            <a:r>
              <a:t>Đơn vị: Bộ môn Khoa học Máy tính - Khoa Công nghệ Thông tin</a:t>
            </a:r>
            <a:br/>
            <a:r>
              <a:t>Đánh giá Thực nghiệm trên Bộ Chuẩn Quốc tế: BAliBASE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TỔNG QUAN BÀI TOÁN</a:t>
            </a:r>
          </a:p>
          <a:p>
            <a:pPr>
              <a:defRPr sz="2400" b="1">
                <a:solidFill>
                  <a:srgbClr val="102C57"/>
                </a:solidFill>
                <a:latin typeface="Arial"/>
              </a:defRPr>
            </a:pPr>
            <a:r>
              <a:t>1. Đặt Vấn Đề &amp; Rào Cản Tính Toán của MSA</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97680"/>
          </a:xfrm>
          <a:prstGeom prst="rect">
            <a:avLst/>
          </a:prstGeom>
          <a:noFill/>
        </p:spPr>
        <p:txBody>
          <a:bodyPr wrap="square">
            <a:spAutoFit/>
          </a:bodyPr>
          <a:lstStyle/>
          <a:p>
            <a:pPr>
              <a:defRPr sz="1800" b="1">
                <a:solidFill>
                  <a:srgbClr val="102C57"/>
                </a:solidFill>
              </a:defRPr>
            </a:pPr>
            <a:r>
              <a:t>Ý Nghĩa Sinh Học Phân Tử của MSA</a:t>
            </a:r>
          </a:p>
          <a:p>
            <a:pPr>
              <a:spcBef>
                <a:spcPts val="1200"/>
              </a:spcBef>
            </a:pPr>
            <a:r>
              <a:rPr b="1" sz="1300">
                <a:solidFill>
                  <a:srgbClr val="0F172A"/>
                </a:solidFill>
              </a:rPr>
              <a:t>• Căn chỉnh Đa chuỗi (MSA):</a:t>
            </a:r>
            <a:r>
              <a:rPr sz="1300">
                <a:solidFill>
                  <a:srgbClr val="475569"/>
                </a:solidFill>
              </a:rPr>
              <a:t> Tìm kiếm sự tương đồng cấu trúc và chức năng giữa k chuỗi ADN/Protein.</a:t>
            </a:r>
          </a:p>
          <a:p>
            <a:pPr>
              <a:spcBef>
                <a:spcPts val="1200"/>
              </a:spcBef>
            </a:pPr>
            <a:r>
              <a:rPr b="1" sz="1300">
                <a:solidFill>
                  <a:srgbClr val="0F172A"/>
                </a:solidFill>
              </a:rPr>
              <a:t>• Xác định Vùng Bảo tồn (Conserved Motifs):</a:t>
            </a:r>
            <a:r>
              <a:rPr sz="1300">
                <a:solidFill>
                  <a:srgbClr val="475569"/>
                </a:solidFill>
              </a:rPr>
              <a:t> Nhận diện vị trí hoạt động enzyme, đột biến di truyền gây bệnh.</a:t>
            </a:r>
          </a:p>
          <a:p>
            <a:pPr>
              <a:spcBef>
                <a:spcPts val="1200"/>
              </a:spcBef>
            </a:pPr>
            <a:r>
              <a:rPr b="1" sz="1300">
                <a:solidFill>
                  <a:srgbClr val="0F172A"/>
                </a:solidFill>
              </a:rPr>
              <a:t>• Dựng Cây Phát sinh Loài (Phylogenetic Tree):</a:t>
            </a:r>
            <a:r>
              <a:rPr sz="1300">
                <a:solidFill>
                  <a:srgbClr val="475569"/>
                </a:solidFill>
              </a:rPr>
              <a:t> Phân tích tiến hóa giữa các loài sinh vật qua hàng triệu năm.</a:t>
            </a:r>
          </a:p>
          <a:p>
            <a:pPr>
              <a:spcBef>
                <a:spcPts val="1200"/>
              </a:spcBef>
            </a:pPr>
            <a:r>
              <a:rPr b="1" sz="1300">
                <a:solidFill>
                  <a:srgbClr val="0F172A"/>
                </a:solidFill>
              </a:rPr>
              <a:t>• Thiết kế Thuốc &amp; Vaccine:</a:t>
            </a:r>
            <a:r>
              <a:rPr sz="1300">
                <a:solidFill>
                  <a:srgbClr val="475569"/>
                </a:solidFill>
              </a:rPr>
              <a:t> Dự đoán cấu trúc bậc 3 (AlphaFold) dựa trên thông tin tiến hóa từ alignment.</a:t>
            </a:r>
          </a:p>
        </p:txBody>
      </p:sp>
      <p:sp>
        <p:nvSpPr>
          <p:cNvPr id="6" name="Rounded Rectangle 5"/>
          <p:cNvSpPr/>
          <p:nvPr/>
        </p:nvSpPr>
        <p:spPr>
          <a:xfrm>
            <a:off x="6217920" y="1645920"/>
            <a:ext cx="5212080" cy="466344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97680"/>
          </a:xfrm>
          <a:prstGeom prst="rect">
            <a:avLst/>
          </a:prstGeom>
          <a:noFill/>
        </p:spPr>
        <p:txBody>
          <a:bodyPr wrap="square">
            <a:spAutoFit/>
          </a:bodyPr>
          <a:lstStyle/>
          <a:p>
            <a:pPr>
              <a:defRPr sz="1800" b="1">
                <a:solidFill>
                  <a:srgbClr val="B91C1C"/>
                </a:solidFill>
              </a:defRPr>
            </a:pPr>
            <a:r>
              <a:t>Thách Thức Bùng Nổ Không Gian Trạng Thái</a:t>
            </a:r>
          </a:p>
          <a:p>
            <a:pPr>
              <a:spcBef>
                <a:spcPts val="1200"/>
              </a:spcBef>
            </a:pPr>
            <a:r>
              <a:rPr b="1" sz="1300">
                <a:solidFill>
                  <a:srgbClr val="991B1B"/>
                </a:solidFill>
              </a:rPr>
              <a:t>✖ Quy hoạch động k-chiều truyền thống:</a:t>
            </a:r>
            <a:r>
              <a:rPr sz="1300">
                <a:solidFill>
                  <a:srgbClr val="475569"/>
                </a:solidFill>
              </a:rPr>
              <a:t> Cần ma trận k-chiều với O(N^k) thời gian và O(N^k) bộ nhớ.</a:t>
            </a:r>
          </a:p>
          <a:p>
            <a:pPr>
              <a:spcBef>
                <a:spcPts val="1200"/>
              </a:spcBef>
            </a:pPr>
            <a:r>
              <a:rPr b="1" sz="1300">
                <a:solidFill>
                  <a:srgbClr val="991B1B"/>
                </a:solidFill>
              </a:rPr>
              <a:t>✖ Bế tắc thực tiễn:</a:t>
            </a:r>
            <a:r>
              <a:rPr sz="1300">
                <a:solidFill>
                  <a:srgbClr val="475569"/>
                </a:solidFill>
              </a:rPr>
              <a:t> Với k = 10 chuỗi dài N = 500 ký tự, số ô nhớ cần lưu là 500^10 ≈ 9.7 × 10^26 bytes — VƯỢT XA tổng dung lượng RAM toàn cầu!</a:t>
            </a:r>
          </a:p>
          <a:p>
            <a:pPr>
              <a:spcBef>
                <a:spcPts val="1200"/>
              </a:spcBef>
            </a:pPr>
            <a:r>
              <a:rPr b="1" sz="1300">
                <a:solidFill>
                  <a:srgbClr val="991B1B"/>
                </a:solidFill>
              </a:rPr>
              <a:t>✖ Bài toán thuộc lớp NP-đầy đủ (NP-complete):</a:t>
            </a:r>
            <a:r>
              <a:rPr sz="1300">
                <a:solidFill>
                  <a:srgbClr val="475569"/>
                </a:solidFill>
              </a:rPr>
              <a:t> Không tồn tại thuật toán tối ưu toàn cục thời gian đa thức cho k bất kỳ.</a:t>
            </a:r>
          </a:p>
          <a:p>
            <a:pPr>
              <a:spcBef>
                <a:spcPts val="1200"/>
              </a:spcBef>
            </a:pPr>
            <a:r>
              <a:rPr b="1" sz="1300">
                <a:solidFill>
                  <a:srgbClr val="991B1B"/>
                </a:solidFill>
              </a:rPr>
              <a:t>✖ Mục tiêu Nhóm 5:</a:t>
            </a:r>
            <a:r>
              <a:rPr sz="1300">
                <a:solidFill>
                  <a:srgbClr val="475569"/>
                </a:solidFill>
              </a:rPr>
              <a:t> Giải quyết dứt điểm rào cản bộ nhớ bằng kỹ thuật Chia để trị Hirschberg O(k·N) kết hợp Song song hóa Đa cấp (OpenMP + MPI).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NỀN TẢNG THUẬT TOÁN</a:t>
            </a:r>
          </a:p>
          <a:p>
            <a:pPr>
              <a:defRPr sz="2400" b="1">
                <a:solidFill>
                  <a:srgbClr val="102C57"/>
                </a:solidFill>
                <a:latin typeface="Arial"/>
              </a:defRPr>
            </a:pPr>
            <a:r>
              <a:t>2. Cơ Sở Lý Thuyết &amp; Mô Hình Hóa Toán Học</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3054096" cy="4389120"/>
          </a:xfrm>
          <a:prstGeom prst="rect">
            <a:avLst/>
          </a:prstGeom>
          <a:noFill/>
        </p:spPr>
        <p:txBody>
          <a:bodyPr wrap="square">
            <a:spAutoFit/>
          </a:bodyPr>
          <a:lstStyle/>
          <a:p>
            <a:pPr>
              <a:defRPr sz="1600" b="1">
                <a:solidFill>
                  <a:srgbClr val="102C57"/>
                </a:solidFill>
              </a:defRPr>
            </a:pPr>
            <a:r>
              <a:t>1. Bảng Điểm Thay Thế</a:t>
            </a:r>
            <a:br/>
            <a:r>
              <a:t>(Substitution Matrix)</a:t>
            </a:r>
          </a:p>
          <a:p>
            <a:pPr>
              <a:spcBef>
                <a:spcPts val="1000"/>
              </a:spcBef>
              <a:defRPr sz="1250">
                <a:solidFill>
                  <a:srgbClr val="475569"/>
                </a:solidFill>
              </a:defRPr>
            </a:pPr>
            <a:r>
              <a:t>• BLOSUM62 (Mặc định cho Protein): Xây dựng dựa trên tần suất thay thế axit amin trong các khối liên kết thực nghiệm (Henikoff, 1992).</a:t>
            </a:r>
          </a:p>
          <a:p>
            <a:pPr>
              <a:spcBef>
                <a:spcPts val="1000"/>
              </a:spcBef>
              <a:defRPr sz="1250">
                <a:solidFill>
                  <a:srgbClr val="475569"/>
                </a:solidFill>
              </a:defRPr>
            </a:pPr>
            <a:r>
              <a:t>• PAM250: Phù hợp cho chuỗi tiến hóa xa xôi.</a:t>
            </a:r>
          </a:p>
          <a:p>
            <a:pPr>
              <a:spcBef>
                <a:spcPts val="1000"/>
              </a:spcBef>
              <a:defRPr sz="1250">
                <a:solidFill>
                  <a:srgbClr val="475569"/>
                </a:solidFill>
              </a:defRPr>
            </a:pPr>
            <a:r>
              <a:t>• DNA Match/Mismatch: +2 (khớp) / -1 (lệch).</a:t>
            </a:r>
          </a:p>
        </p:txBody>
      </p:sp>
      <p:sp>
        <p:nvSpPr>
          <p:cNvPr id="6" name="Rounded Rectangle 5"/>
          <p:cNvSpPr/>
          <p:nvPr/>
        </p:nvSpPr>
        <p:spPr>
          <a:xfrm>
            <a:off x="4425696"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783080"/>
            <a:ext cx="3054096" cy="4389120"/>
          </a:xfrm>
          <a:prstGeom prst="rect">
            <a:avLst/>
          </a:prstGeom>
          <a:noFill/>
        </p:spPr>
        <p:txBody>
          <a:bodyPr wrap="square">
            <a:spAutoFit/>
          </a:bodyPr>
          <a:lstStyle/>
          <a:p>
            <a:pPr>
              <a:defRPr sz="1600" b="1">
                <a:solidFill>
                  <a:srgbClr val="2563EB"/>
                </a:solidFill>
              </a:defRPr>
            </a:pPr>
            <a:r>
              <a:t>2. Mô Hình Phạt Affine Gap</a:t>
            </a:r>
            <a:br/>
            <a:r>
              <a:t>(Gotoh Model)</a:t>
            </a:r>
          </a:p>
          <a:p>
            <a:pPr>
              <a:spcBef>
                <a:spcPts val="1000"/>
              </a:spcBef>
              <a:defRPr sz="1250">
                <a:solidFill>
                  <a:srgbClr val="475569"/>
                </a:solidFill>
              </a:defRPr>
            </a:pPr>
            <a:r>
              <a:t>• Hàm phạt lỗ hổng: γ(g) = g_o + (g - 1)·g_e với g_o = -10 (mở gap), g_e = -1 (kéo dài).</a:t>
            </a:r>
          </a:p>
          <a:p>
            <a:pPr>
              <a:spcBef>
                <a:spcPts val="1000"/>
              </a:spcBef>
              <a:defRPr sz="1250">
                <a:solidFill>
                  <a:srgbClr val="475569"/>
                </a:solidFill>
              </a:defRPr>
            </a:pPr>
            <a:r>
              <a:t>• Ý nghĩa sinh học: Sự kiện chèn/xóa chuỗi (Indel) xảy ra theo cụm liên tiếp; việc mở gap mới bị phạt nặng hơn kéo dài gap sẵn có.</a:t>
            </a:r>
          </a:p>
          <a:p>
            <a:pPr>
              <a:spcBef>
                <a:spcPts val="1000"/>
              </a:spcBef>
              <a:defRPr sz="1250">
                <a:solidFill>
                  <a:srgbClr val="475569"/>
                </a:solidFill>
              </a:defRPr>
            </a:pPr>
            <a:r>
              <a:t>• Gotoh (1982): Phân rã 3 ma trận DP M, I_x, I_y để đạt O(N^2) thay vì O(N^3).</a:t>
            </a:r>
          </a:p>
        </p:txBody>
      </p:sp>
      <p:sp>
        <p:nvSpPr>
          <p:cNvPr id="8" name="Rounded Rectangle 7"/>
          <p:cNvSpPr/>
          <p:nvPr/>
        </p:nvSpPr>
        <p:spPr>
          <a:xfrm>
            <a:off x="8119872"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7032" y="1783080"/>
            <a:ext cx="3054096" cy="4389120"/>
          </a:xfrm>
          <a:prstGeom prst="rect">
            <a:avLst/>
          </a:prstGeom>
          <a:noFill/>
        </p:spPr>
        <p:txBody>
          <a:bodyPr wrap="square">
            <a:spAutoFit/>
          </a:bodyPr>
          <a:lstStyle/>
          <a:p>
            <a:pPr>
              <a:defRPr sz="1600" b="1">
                <a:solidFill>
                  <a:srgbClr val="0D9488"/>
                </a:solidFill>
              </a:defRPr>
            </a:pPr>
            <a:r>
              <a:t>3. Hàm Mục Tiêu SP-Score</a:t>
            </a:r>
            <a:br/>
            <a:r>
              <a:t>(Sum-of-Pairs)</a:t>
            </a:r>
          </a:p>
          <a:p>
            <a:pPr>
              <a:spcBef>
                <a:spcPts val="1000"/>
              </a:spcBef>
              <a:defRPr sz="1250">
                <a:solidFill>
                  <a:srgbClr val="475569"/>
                </a:solidFill>
              </a:defRPr>
            </a:pPr>
            <a:r>
              <a:t>• Tối ưu hóa tổng điểm trên tất cả các cặp: Score(A) = Σ_{1 ≤ i &lt; j ≤ k} Score(A_i, A_j).</a:t>
            </a:r>
          </a:p>
          <a:p>
            <a:pPr>
              <a:spcBef>
                <a:spcPts val="1000"/>
              </a:spcBef>
              <a:defRPr sz="1250">
                <a:solidFill>
                  <a:srgbClr val="475569"/>
                </a:solidFill>
              </a:defRPr>
            </a:pPr>
            <a:r>
              <a:t>• Chỉ số Đánh giá Chuẩn Quốc tế:</a:t>
            </a:r>
          </a:p>
          <a:p>
            <a:pPr>
              <a:spcBef>
                <a:spcPts val="1000"/>
              </a:spcBef>
              <a:defRPr sz="1250">
                <a:solidFill>
                  <a:srgbClr val="475569"/>
                </a:solidFill>
              </a:defRPr>
            </a:pPr>
            <a:r>
              <a:t>•   - SP-score: Tỷ lệ các cặp ký tự căn chỉnh đúng so với Reference Core Blocks.</a:t>
            </a:r>
          </a:p>
          <a:p>
            <a:pPr>
              <a:spcBef>
                <a:spcPts val="1000"/>
              </a:spcBef>
              <a:defRPr sz="1250">
                <a:solidFill>
                  <a:srgbClr val="475569"/>
                </a:solidFill>
              </a:defRPr>
            </a:pPr>
            <a:r>
              <a:t>•   - TC-score (Total Column): Tỷ lệ các cột được căn chỉnh chính xác 100% trên toàn bộ các chuỗi.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CỐT LÕI THUẬT TOÁN</a:t>
            </a:r>
          </a:p>
          <a:p>
            <a:pPr>
              <a:defRPr sz="2400" b="1">
                <a:solidFill>
                  <a:srgbClr val="102C57"/>
                </a:solidFill>
                <a:latin typeface="Arial"/>
              </a:defRPr>
            </a:pPr>
            <a:r>
              <a:t>3. Kỹ Thuật Chia Để Trị Hirschberg: Tối Ưu Bộ Nhớ O(N)</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48640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5120640" cy="4297680"/>
          </a:xfrm>
          <a:prstGeom prst="rect">
            <a:avLst/>
          </a:prstGeom>
          <a:noFill/>
        </p:spPr>
        <p:txBody>
          <a:bodyPr wrap="square">
            <a:spAutoFit/>
          </a:bodyPr>
          <a:lstStyle/>
          <a:p>
            <a:pPr>
              <a:defRPr sz="1800" b="1">
                <a:solidFill>
                  <a:srgbClr val="102C57"/>
                </a:solidFill>
              </a:defRPr>
            </a:pPr>
            <a:r>
              <a:t>Cơ Chế Chia Để Trị Tuyến Tính Hóa Bộ Nhớ</a:t>
            </a:r>
          </a:p>
          <a:p>
            <a:pPr>
              <a:spcBef>
                <a:spcPts val="800"/>
              </a:spcBef>
            </a:pPr>
            <a:r>
              <a:rPr b="1" sz="1200">
                <a:solidFill>
                  <a:srgbClr val="0F172A"/>
                </a:solidFill>
              </a:rPr>
              <a:t>• Bản chất Vấn đề:</a:t>
            </a:r>
            <a:r>
              <a:rPr sz="1200">
                <a:solidFill>
                  <a:srgbClr val="475569"/>
                </a:solidFill>
              </a:rPr>
              <a:t> Needleman-Wunsch cần O(M·N) ô nhớ để lưu toàn bộ ma trận truy vết ngược (backtracking matrix).</a:t>
            </a:r>
          </a:p>
          <a:p>
            <a:pPr>
              <a:spcBef>
                <a:spcPts val="800"/>
              </a:spcBef>
            </a:pPr>
            <a:r>
              <a:rPr b="1" sz="1200">
                <a:solidFill>
                  <a:srgbClr val="0F172A"/>
                </a:solidFill>
              </a:rPr>
              <a:t>• Ý tưởng Đột phá (Hirschberg, 1975):</a:t>
            </a:r>
            <a:r>
              <a:rPr sz="1200">
                <a:solidFill>
                  <a:srgbClr val="475569"/>
                </a:solidFill>
              </a:rPr>
              <a:t> Chỉ cần lưu 2 hàng ma trận DP tại mỗi bước tính toán thay vì toàn bộ ma trận!</a:t>
            </a:r>
          </a:p>
          <a:p>
            <a:pPr>
              <a:spcBef>
                <a:spcPts val="800"/>
              </a:spcBef>
            </a:pPr>
            <a:r>
              <a:rPr b="1" sz="1200">
                <a:solidFill>
                  <a:srgbClr val="0F172A"/>
                </a:solidFill>
              </a:rPr>
              <a:t>• Bước 1 - Chia đôi (Divide):</a:t>
            </a:r>
            <a:r>
              <a:rPr sz="1200">
                <a:solidFill>
                  <a:srgbClr val="475569"/>
                </a:solidFill>
              </a:rPr>
              <a:t> Chia chuỗi X thành hai nửa tại chỉ số giữa: mid = |X| / 2.</a:t>
            </a:r>
          </a:p>
          <a:p>
            <a:pPr>
              <a:spcBef>
                <a:spcPts val="800"/>
              </a:spcBef>
            </a:pPr>
            <a:r>
              <a:rPr b="1" sz="1200">
                <a:solidFill>
                  <a:srgbClr val="0F172A"/>
                </a:solidFill>
              </a:rPr>
              <a:t>• Bước 2 - Quy hoạch động Hai chiều:</a:t>
            </a:r>
            <a:r>
              <a:rPr sz="1200">
                <a:solidFill>
                  <a:srgbClr val="475569"/>
                </a:solidFill>
              </a:rPr>
              <a:t> Chạy DP Tiến (Forward DP) từ X[1..mid] và DP Lùi (Backward DP) từ X[mid+1..|X|] đối sánh với Y.</a:t>
            </a:r>
          </a:p>
          <a:p>
            <a:pPr>
              <a:spcBef>
                <a:spcPts val="800"/>
              </a:spcBef>
            </a:pPr>
            <a:r>
              <a:rPr b="1" sz="1200">
                <a:solidFill>
                  <a:srgbClr val="0F172A"/>
                </a:solidFill>
              </a:rPr>
              <a:t>• Bước 3 - Tìm Điểm Cắt Tối ưu (Split Point):</a:t>
            </a:r>
            <a:r>
              <a:rPr sz="1200">
                <a:solidFill>
                  <a:srgbClr val="475569"/>
                </a:solidFill>
              </a:rPr>
              <a:t> j* = argmax_{0 ≤ j ≤ |Y|} [Forward(mid, j) + Backward(mid, j)].</a:t>
            </a:r>
          </a:p>
          <a:p>
            <a:pPr>
              <a:spcBef>
                <a:spcPts val="800"/>
              </a:spcBef>
            </a:pPr>
            <a:r>
              <a:rPr b="1" sz="1200">
                <a:solidFill>
                  <a:srgbClr val="0F172A"/>
                </a:solidFill>
              </a:rPr>
              <a:t>• Bước 4 - Đệ quy (Conquer):</a:t>
            </a:r>
            <a:r>
              <a:rPr sz="1200">
                <a:solidFill>
                  <a:srgbClr val="475569"/>
                </a:solidFill>
              </a:rPr>
              <a:t> Đệ quy giải bài toán con trên (X_left, Y[0..j*]) và (X_right, Y[j*..|Y|]). Ghép kết quả thành căn chỉnh tối ưu.</a:t>
            </a:r>
          </a:p>
        </p:txBody>
      </p:sp>
      <p:sp>
        <p:nvSpPr>
          <p:cNvPr id="6" name="Rounded Rectangle 5"/>
          <p:cNvSpPr/>
          <p:nvPr/>
        </p:nvSpPr>
        <p:spPr>
          <a:xfrm>
            <a:off x="6492240" y="1645920"/>
            <a:ext cx="4937760" cy="4663440"/>
          </a:xfrm>
          <a:prstGeom prst="roundRect">
            <a:avLst/>
          </a:prstGeom>
          <a:solidFill>
            <a:srgbClr val="F0F9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828800"/>
            <a:ext cx="4572000" cy="4297680"/>
          </a:xfrm>
          <a:prstGeom prst="rect">
            <a:avLst/>
          </a:prstGeom>
          <a:noFill/>
        </p:spPr>
        <p:txBody>
          <a:bodyPr wrap="square">
            <a:spAutoFit/>
          </a:bodyPr>
          <a:lstStyle/>
          <a:p>
            <a:pPr>
              <a:defRPr sz="1800" b="1">
                <a:solidFill>
                  <a:srgbClr val="2563EB"/>
                </a:solidFill>
              </a:defRPr>
            </a:pPr>
            <a:r>
              <a:t>Tích Hợp Affine Gap (Myers-Miller, 1988)</a:t>
            </a:r>
          </a:p>
          <a:p>
            <a:pPr>
              <a:spcBef>
                <a:spcPts val="800"/>
              </a:spcBef>
            </a:pPr>
            <a:r>
              <a:rPr b="1" sz="1200">
                <a:solidFill>
                  <a:srgbClr val="102C57"/>
                </a:solidFill>
              </a:rPr>
              <a:t>✔ Khó khăn của Affine Gap:</a:t>
            </a:r>
            <a:r>
              <a:rPr sz="1200">
                <a:solidFill>
                  <a:srgbClr val="475569"/>
                </a:solidFill>
              </a:rPr>
              <a:t> Trạng thái ô DP phụ thuộc vào việc gap trước đó đang mở hay đóng; Forward và Backward vectors phải quản lý cả 3 ma trận M, I_x, I_y.</a:t>
            </a:r>
          </a:p>
          <a:p>
            <a:pPr>
              <a:spcBef>
                <a:spcPts val="800"/>
              </a:spcBef>
            </a:pPr>
            <a:r>
              <a:rPr b="1" sz="1200">
                <a:solidFill>
                  <a:srgbClr val="102C57"/>
                </a:solidFill>
              </a:rPr>
              <a:t>✔ Triển khai của Nhóm 5:</a:t>
            </a:r>
            <a:r>
              <a:rPr sz="1200">
                <a:solidFill>
                  <a:srgbClr val="475569"/>
                </a:solidFill>
              </a:rPr>
              <a:t> Xây dựng cấu trúc HirschbergState với 6 vector kích thước O(N):</a:t>
            </a:r>
          </a:p>
          <a:p>
            <a:pPr>
              <a:spcBef>
                <a:spcPts val="800"/>
              </a:spcBef>
            </a:pPr>
            <a:r>
              <a:rPr b="1" sz="1200">
                <a:solidFill>
                  <a:srgbClr val="102C57"/>
                </a:solidFill>
              </a:rPr>
              <a:t>✔   • fM, fIx, fIy:</a:t>
            </a:r>
            <a:r>
              <a:rPr sz="1200">
                <a:solidFill>
                  <a:srgbClr val="475569"/>
                </a:solidFill>
              </a:rPr>
              <a:t> Lưu trữ trạng thái DP hướng xuôi.</a:t>
            </a:r>
          </a:p>
          <a:p>
            <a:pPr>
              <a:spcBef>
                <a:spcPts val="800"/>
              </a:spcBef>
            </a:pPr>
            <a:r>
              <a:rPr b="1" sz="1200">
                <a:solidFill>
                  <a:srgbClr val="102C57"/>
                </a:solidFill>
              </a:rPr>
              <a:t>✔   • rM, rIx, rIy:</a:t>
            </a:r>
            <a:r>
              <a:rPr sz="1200">
                <a:solidFill>
                  <a:srgbClr val="475569"/>
                </a:solidFill>
              </a:rPr>
              <a:t> Lưu trữ trạng thái DP hướng ngược.</a:t>
            </a:r>
          </a:p>
          <a:p>
            <a:pPr>
              <a:spcBef>
                <a:spcPts val="800"/>
              </a:spcBef>
            </a:pPr>
            <a:r>
              <a:rPr b="1" sz="1200">
                <a:solidFill>
                  <a:srgbClr val="102C57"/>
                </a:solidFill>
              </a:rPr>
              <a:t>✔ Bộ nhớ Tối ưu Tuyệt đối:</a:t>
            </a:r>
            <a:r>
              <a:rPr sz="1200">
                <a:solidFill>
                  <a:srgbClr val="475569"/>
                </a:solidFill>
              </a:rPr>
              <a:t> Chỉ tốn 6 × (|Y| + 1) × 4 bytes ≈ Vài Kilobytes RAM thay vì Hàng Megabytes/Gigabytes!</a:t>
            </a:r>
          </a:p>
          <a:p>
            <a:pPr>
              <a:spcBef>
                <a:spcPts val="800"/>
              </a:spcBef>
            </a:pPr>
            <a:r>
              <a:rPr b="1" sz="1200">
                <a:solidFill>
                  <a:srgbClr val="102C57"/>
                </a:solidFill>
              </a:rPr>
              <a:t>✔ Bảo toàn Điểm số 100%:</a:t>
            </a:r>
            <a:r>
              <a:rPr sz="1200">
                <a:solidFill>
                  <a:srgbClr val="475569"/>
                </a:solidFill>
              </a:rPr>
              <a:t> Nghiên cứu thực nghiệm chứng minh điểm căn chỉnh của Myers-Miller hoàn toàn trùng khớp với Gotoh DP truyền thống.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CHỨNG MINH KHOA HỌC</a:t>
            </a:r>
          </a:p>
          <a:p>
            <a:pPr>
              <a:defRPr sz="2400" b="1">
                <a:solidFill>
                  <a:srgbClr val="102C57"/>
                </a:solidFill>
                <a:latin typeface="Arial"/>
              </a:defRPr>
            </a:pPr>
            <a:r>
              <a:t>4. Phân Tích Toán Học &amp; Chứng Minh Độ Phức Tạp</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97680"/>
          </a:xfrm>
          <a:prstGeom prst="rect">
            <a:avLst/>
          </a:prstGeom>
          <a:noFill/>
        </p:spPr>
        <p:txBody>
          <a:bodyPr wrap="square">
            <a:spAutoFit/>
          </a:bodyPr>
          <a:lstStyle/>
          <a:p>
            <a:pPr>
              <a:defRPr sz="1800" b="1">
                <a:solidFill>
                  <a:srgbClr val="0D9488"/>
                </a:solidFill>
              </a:defRPr>
            </a:pPr>
            <a:r>
              <a:t>Chứng Minh Bộ Nhớ: O(k·N)</a:t>
            </a:r>
          </a:p>
          <a:p>
            <a:pPr>
              <a:spcBef>
                <a:spcPts val="1000"/>
              </a:spcBef>
            </a:pPr>
            <a:r>
              <a:rPr b="1" sz="1250">
                <a:solidFill>
                  <a:srgbClr val="0F172A"/>
                </a:solidFill>
              </a:rPr>
              <a:t>1. Không gian Hirschberg Cặp:</a:t>
            </a:r>
            <a:r>
              <a:rPr sz="1250">
                <a:solidFill>
                  <a:srgbClr val="475569"/>
                </a:solidFill>
              </a:rPr>
              <a:t>  Tại mỗi bước đệ quy, ta chỉ lưu trữ các vector trạng thái kích thước O(N). Ngăn xếp đệ quy có độ sâu tối đa O(log M).</a:t>
            </a:r>
          </a:p>
          <a:p>
            <a:pPr>
              <a:spcBef>
                <a:spcPts val="1000"/>
              </a:spcBef>
            </a:pPr>
            <a:r>
              <a:rPr b="1" sz="1250">
                <a:solidFill>
                  <a:srgbClr val="0F172A"/>
                </a:solidFill>
              </a:rPr>
              <a:t>Tổng bộ nhớ cặp:</a:t>
            </a:r>
            <a:r>
              <a:rPr sz="1250">
                <a:solidFill>
                  <a:srgbClr val="475569"/>
                </a:solidFill>
              </a:rPr>
              <a:t>  S_{pair} = O(N) + O(log M) = O(N).</a:t>
            </a:r>
          </a:p>
          <a:p>
            <a:pPr>
              <a:spcBef>
                <a:spcPts val="1000"/>
              </a:spcBef>
            </a:pPr>
            <a:r>
              <a:rPr b="1" sz="1250">
                <a:solidFill>
                  <a:srgbClr val="0F172A"/>
                </a:solidFill>
              </a:rPr>
              <a:t>2. Không gian Profile-Profile MSA:</a:t>
            </a:r>
            <a:r>
              <a:rPr sz="1250">
                <a:solidFill>
                  <a:srgbClr val="475569"/>
                </a:solidFill>
              </a:rPr>
              <a:t>  Khi căn chỉnh 2 profile chứa k1 và k2 chuỗi (k1 + k2 = k), mỗi profile cần lưu ma trận tần suất kích thước 26 × N và các chuỗi đã căn chỉnh độ dài O(N).</a:t>
            </a:r>
          </a:p>
          <a:p>
            <a:pPr>
              <a:spcBef>
                <a:spcPts val="1000"/>
              </a:spcBef>
            </a:pPr>
            <a:r>
              <a:rPr b="1" sz="1250">
                <a:solidFill>
                  <a:srgbClr val="0F172A"/>
                </a:solidFill>
              </a:rPr>
              <a:t>Bộ nhớ lưu Profile:</a:t>
            </a:r>
            <a:r>
              <a:rPr sz="1250">
                <a:solidFill>
                  <a:srgbClr val="475569"/>
                </a:solidFill>
              </a:rPr>
              <a:t>  S_{profile} = O(k1·N) + O(k2·N) = O(k·N).</a:t>
            </a:r>
          </a:p>
          <a:p>
            <a:pPr>
              <a:spcBef>
                <a:spcPts val="1000"/>
              </a:spcBef>
            </a:pPr>
            <a:r>
              <a:rPr b="1" sz="1250">
                <a:solidFill>
                  <a:srgbClr val="0F172A"/>
                </a:solidFill>
              </a:rPr>
              <a:t>Kết luận Toán học:</a:t>
            </a:r>
            <a:r>
              <a:rPr sz="1250">
                <a:solidFill>
                  <a:srgbClr val="475569"/>
                </a:solidFill>
              </a:rPr>
              <a:t>  Tổng dung lượng RAM tại mỗi tiến trình không vượt quá c1·k·N + c2·N = O(k·N). Triệt tiêu hoàn toàn nguy cơ tràn bộ nhớ (Out-Of-Memory)!</a:t>
            </a:r>
          </a:p>
        </p:txBody>
      </p:sp>
      <p:sp>
        <p:nvSpPr>
          <p:cNvPr id="6" name="Rounded Rectangle 5"/>
          <p:cNvSpPr/>
          <p:nvPr/>
        </p:nvSpPr>
        <p:spPr>
          <a:xfrm>
            <a:off x="62179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97680"/>
          </a:xfrm>
          <a:prstGeom prst="rect">
            <a:avLst/>
          </a:prstGeom>
          <a:noFill/>
        </p:spPr>
        <p:txBody>
          <a:bodyPr wrap="square">
            <a:spAutoFit/>
          </a:bodyPr>
          <a:lstStyle/>
          <a:p>
            <a:pPr>
              <a:defRPr sz="1800" b="1">
                <a:solidFill>
                  <a:srgbClr val="D97706"/>
                </a:solidFill>
              </a:defRPr>
            </a:pPr>
            <a:r>
              <a:t>Chứng Minh Thời Gian: O(M·N)</a:t>
            </a:r>
          </a:p>
          <a:p>
            <a:pPr>
              <a:spcBef>
                <a:spcPts val="800"/>
              </a:spcBef>
            </a:pPr>
            <a:r>
              <a:rPr b="1" sz="1250">
                <a:solidFill>
                  <a:srgbClr val="0F172A"/>
                </a:solidFill>
              </a:rPr>
              <a:t>Mối quan hệ Đệ quy:</a:t>
            </a:r>
            <a:r>
              <a:rPr sz="1250">
                <a:solidFill>
                  <a:srgbClr val="475569"/>
                </a:solidFill>
              </a:rPr>
              <a:t>  T(M, N) = T(M/2, j*) + T(M/2, N - j*) + c·M·N.</a:t>
            </a:r>
          </a:p>
          <a:p>
            <a:pPr>
              <a:spcBef>
                <a:spcPts val="800"/>
              </a:spcBef>
            </a:pPr>
            <a:r>
              <a:rPr b="1" sz="1250">
                <a:solidFill>
                  <a:srgbClr val="0F172A"/>
                </a:solidFill>
              </a:rPr>
              <a:t>Tổng số phép toán qua các tầng:</a:t>
            </a:r>
          </a:p>
          <a:p>
            <a:pPr>
              <a:spcBef>
                <a:spcPts val="800"/>
              </a:spcBef>
            </a:pPr>
            <a:r>
              <a:rPr b="1" sz="1250">
                <a:solidFill>
                  <a:srgbClr val="0F172A"/>
                </a:solidFill>
              </a:rPr>
              <a:t>  • Tầng 0:</a:t>
            </a:r>
            <a:r>
              <a:rPr sz="1250">
                <a:solidFill>
                  <a:srgbClr val="475569"/>
                </a:solidFill>
              </a:rPr>
              <a:t>  M · N phép toán.</a:t>
            </a:r>
          </a:p>
          <a:p>
            <a:pPr>
              <a:spcBef>
                <a:spcPts val="800"/>
              </a:spcBef>
            </a:pPr>
            <a:r>
              <a:rPr b="1" sz="1250">
                <a:solidFill>
                  <a:srgbClr val="0F172A"/>
                </a:solidFill>
              </a:rPr>
              <a:t>  • Tầng 1:</a:t>
            </a:r>
            <a:r>
              <a:rPr sz="1250">
                <a:solidFill>
                  <a:srgbClr val="475569"/>
                </a:solidFill>
              </a:rPr>
              <a:t>  (M/2) · j* + (M/2) · (N - j*) = (M·N) / 2.</a:t>
            </a:r>
          </a:p>
          <a:p>
            <a:pPr>
              <a:spcBef>
                <a:spcPts val="800"/>
              </a:spcBef>
            </a:pPr>
            <a:r>
              <a:rPr b="1" sz="1250">
                <a:solidFill>
                  <a:srgbClr val="0F172A"/>
                </a:solidFill>
              </a:rPr>
              <a:t>  • Tầng 2:</a:t>
            </a:r>
            <a:r>
              <a:rPr sz="1250">
                <a:solidFill>
                  <a:srgbClr val="475569"/>
                </a:solidFill>
              </a:rPr>
              <a:t>  (M·N) / 4.</a:t>
            </a:r>
          </a:p>
          <a:p>
            <a:pPr>
              <a:spcBef>
                <a:spcPts val="800"/>
              </a:spcBef>
            </a:pPr>
            <a:r>
              <a:rPr b="1" sz="1250">
                <a:solidFill>
                  <a:srgbClr val="0F172A"/>
                </a:solidFill>
              </a:rPr>
              <a:t>  • Tầng d:</a:t>
            </a:r>
            <a:r>
              <a:rPr sz="1250">
                <a:solidFill>
                  <a:srgbClr val="475569"/>
                </a:solidFill>
              </a:rPr>
              <a:t>  (M·N) / 2^d.</a:t>
            </a:r>
          </a:p>
          <a:p>
            <a:pPr>
              <a:spcBef>
                <a:spcPts val="800"/>
              </a:spcBef>
            </a:pPr>
            <a:r>
              <a:rPr b="1" sz="1250">
                <a:solidFill>
                  <a:srgbClr val="0F172A"/>
                </a:solidFill>
              </a:rPr>
              <a:t>Chuỗi Cấp số nhân Lùi vô hạn:</a:t>
            </a:r>
            <a:r>
              <a:rPr sz="1250">
                <a:solidFill>
                  <a:srgbClr val="475569"/>
                </a:solidFill>
              </a:rPr>
              <a:t>  Tổng T = M·N · Σ_{d=0}^{∞} (1/2)^d = M·N · 2 = 2 · M · N.</a:t>
            </a:r>
          </a:p>
          <a:p>
            <a:pPr>
              <a:spcBef>
                <a:spcPts val="800"/>
              </a:spcBef>
            </a:pPr>
            <a:r>
              <a:rPr b="1" sz="1250">
                <a:solidFill>
                  <a:srgbClr val="0F172A"/>
                </a:solidFill>
              </a:rPr>
              <a:t>Kết luận:</a:t>
            </a:r>
            <a:r>
              <a:rPr sz="1250">
                <a:solidFill>
                  <a:srgbClr val="475569"/>
                </a:solidFill>
              </a:rPr>
              <a:t>  Thời gian thực thi của Hirschberg chỉ gấp đúng 2 LẦN so với Needleman-Wunsch truyền thống, nhưng tiết kiệm hàng nghìn lần bộ nhớ 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KIẾN TRÚC MSA</a:t>
            </a:r>
          </a:p>
          <a:p>
            <a:pPr>
              <a:defRPr sz="2400" b="1">
                <a:solidFill>
                  <a:srgbClr val="102C57"/>
                </a:solidFill>
                <a:latin typeface="Arial"/>
              </a:defRPr>
            </a:pPr>
            <a:r>
              <a:t>5. Căn Chỉnh Lũy Tiến (Progressive Alignment) &amp; Cây Hướng Dẫn UPGMA</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297680"/>
          </a:xfrm>
          <a:prstGeom prst="rect">
            <a:avLst/>
          </a:prstGeom>
          <a:noFill/>
        </p:spPr>
        <p:txBody>
          <a:bodyPr wrap="square">
            <a:spAutoFit/>
          </a:bodyPr>
          <a:lstStyle/>
          <a:p>
            <a:pPr>
              <a:defRPr sz="1200" b="1">
                <a:solidFill>
                  <a:srgbClr val="102C57"/>
                </a:solidFill>
              </a:defRPr>
            </a:pPr>
            <a:r>
              <a:t>GIAI ĐOẠN 1</a:t>
            </a:r>
          </a:p>
          <a:p>
            <a:pPr>
              <a:spcAft>
                <a:spcPts val="1400"/>
              </a:spcAft>
              <a:defRPr sz="1600" b="1">
                <a:solidFill>
                  <a:srgbClr val="0F172A"/>
                </a:solidFill>
              </a:defRPr>
            </a:pPr>
            <a:r>
              <a:t>Tính Ma Trận Khoảng Cách</a:t>
            </a:r>
            <a:br/>
            <a:r>
              <a:t>(All-Pairs Distance)</a:t>
            </a:r>
          </a:p>
          <a:p>
            <a:pPr>
              <a:spcBef>
                <a:spcPts val="800"/>
              </a:spcBef>
              <a:defRPr sz="1250">
                <a:solidFill>
                  <a:srgbClr val="475569"/>
                </a:solidFill>
              </a:defRPr>
            </a:pPr>
            <a:r>
              <a:t>• Thực hiện căn chỉnh cặp cho tất cả k·(k-1)/2 cặp chuỗi.</a:t>
            </a:r>
          </a:p>
          <a:p>
            <a:pPr>
              <a:spcBef>
                <a:spcPts val="800"/>
              </a:spcBef>
              <a:defRPr sz="1250">
                <a:solidFill>
                  <a:srgbClr val="475569"/>
                </a:solidFill>
              </a:defRPr>
            </a:pPr>
            <a:r>
              <a:t>• Khoảng cách Kimura / Tỷ lệ sai khác D(i, j) = 1 - Identity(i, j).</a:t>
            </a:r>
          </a:p>
          <a:p>
            <a:pPr>
              <a:spcBef>
                <a:spcPts val="800"/>
              </a:spcBef>
              <a:defRPr sz="1250">
                <a:solidFill>
                  <a:srgbClr val="475569"/>
                </a:solidFill>
              </a:defRPr>
            </a:pPr>
            <a:r>
              <a:t>• Độ phức tạp: O(k² · N²).</a:t>
            </a:r>
          </a:p>
          <a:p>
            <a:pPr>
              <a:spcBef>
                <a:spcPts val="800"/>
              </a:spcBef>
              <a:defRPr sz="1250">
                <a:solidFill>
                  <a:srgbClr val="475569"/>
                </a:solidFill>
              </a:defRPr>
            </a:pPr>
            <a:r>
              <a:t>• Chiếm tới 70-85% tổng thời gian thực thi của hệ thống.</a:t>
            </a:r>
          </a:p>
        </p:txBody>
      </p:sp>
      <p:sp>
        <p:nvSpPr>
          <p:cNvPr id="6" name="Rounded Rectangle 5"/>
          <p:cNvSpPr/>
          <p:nvPr/>
        </p:nvSpPr>
        <p:spPr>
          <a:xfrm>
            <a:off x="4425696"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297680"/>
          </a:xfrm>
          <a:prstGeom prst="rect">
            <a:avLst/>
          </a:prstGeom>
          <a:noFill/>
        </p:spPr>
        <p:txBody>
          <a:bodyPr wrap="square">
            <a:spAutoFit/>
          </a:bodyPr>
          <a:lstStyle/>
          <a:p>
            <a:pPr>
              <a:defRPr sz="1200" b="1">
                <a:solidFill>
                  <a:srgbClr val="2563EB"/>
                </a:solidFill>
              </a:defRPr>
            </a:pPr>
            <a:r>
              <a:t>GIAI ĐOẠN 2</a:t>
            </a:r>
          </a:p>
          <a:p>
            <a:pPr>
              <a:spcAft>
                <a:spcPts val="1400"/>
              </a:spcAft>
              <a:defRPr sz="1600" b="1">
                <a:solidFill>
                  <a:srgbClr val="0F172A"/>
                </a:solidFill>
              </a:defRPr>
            </a:pPr>
            <a:r>
              <a:t>Dựng Cây Hướng Dẫn</a:t>
            </a:r>
            <a:br/>
            <a:r>
              <a:t>(UPGMA Guide Tree)</a:t>
            </a:r>
          </a:p>
          <a:p>
            <a:pPr>
              <a:spcBef>
                <a:spcPts val="800"/>
              </a:spcBef>
              <a:defRPr sz="1250">
                <a:solidFill>
                  <a:srgbClr val="475569"/>
                </a:solidFill>
              </a:defRPr>
            </a:pPr>
            <a:r>
              <a:t>• Phương pháp cụm phân cấp trung bình không trọng số (UPGMA).</a:t>
            </a:r>
          </a:p>
          <a:p>
            <a:pPr>
              <a:spcBef>
                <a:spcPts val="800"/>
              </a:spcBef>
              <a:defRPr sz="1250">
                <a:solidFill>
                  <a:srgbClr val="475569"/>
                </a:solidFill>
              </a:defRPr>
            </a:pPr>
            <a:r>
              <a:t>• Tìm cặp cụm gần nhất, gộp thành nút cha với khoảng cách trung bình.</a:t>
            </a:r>
          </a:p>
          <a:p>
            <a:pPr>
              <a:spcBef>
                <a:spcPts val="800"/>
              </a:spcBef>
              <a:defRPr sz="1250">
                <a:solidFill>
                  <a:srgbClr val="475569"/>
                </a:solidFill>
              </a:defRPr>
            </a:pPr>
            <a:r>
              <a:t>• Xây dựng cây nhị phân (Binary Guide Tree) xác định thứ tự căn chỉnh.</a:t>
            </a:r>
          </a:p>
          <a:p>
            <a:pPr>
              <a:spcBef>
                <a:spcPts val="800"/>
              </a:spcBef>
              <a:defRPr sz="1250">
                <a:solidFill>
                  <a:srgbClr val="475569"/>
                </a:solidFill>
              </a:defRPr>
            </a:pPr>
            <a:r>
              <a:t>• Độ phức tạp: O(k²).</a:t>
            </a:r>
          </a:p>
        </p:txBody>
      </p:sp>
      <p:sp>
        <p:nvSpPr>
          <p:cNvPr id="8" name="Rounded Rectangle 7"/>
          <p:cNvSpPr/>
          <p:nvPr/>
        </p:nvSpPr>
        <p:spPr>
          <a:xfrm>
            <a:off x="8119872"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297680"/>
          </a:xfrm>
          <a:prstGeom prst="rect">
            <a:avLst/>
          </a:prstGeom>
          <a:noFill/>
        </p:spPr>
        <p:txBody>
          <a:bodyPr wrap="square">
            <a:spAutoFit/>
          </a:bodyPr>
          <a:lstStyle/>
          <a:p>
            <a:pPr>
              <a:defRPr sz="1200" b="1">
                <a:solidFill>
                  <a:srgbClr val="0D9488"/>
                </a:solidFill>
              </a:defRPr>
            </a:pPr>
            <a:r>
              <a:t>GIAI ĐOẠN 3</a:t>
            </a:r>
          </a:p>
          <a:p>
            <a:pPr>
              <a:spcAft>
                <a:spcPts val="1400"/>
              </a:spcAft>
              <a:defRPr sz="1600" b="1">
                <a:solidFill>
                  <a:srgbClr val="0F172A"/>
                </a:solidFill>
              </a:defRPr>
            </a:pPr>
            <a:r>
              <a:t>Căn Chỉnh Lũy Tiến</a:t>
            </a:r>
            <a:br/>
            <a:r>
              <a:t>(Progressive Profile)</a:t>
            </a:r>
          </a:p>
          <a:p>
            <a:pPr>
              <a:spcBef>
                <a:spcPts val="800"/>
              </a:spcBef>
              <a:defRPr sz="1250">
                <a:solidFill>
                  <a:srgbClr val="475569"/>
                </a:solidFill>
              </a:defRPr>
            </a:pPr>
            <a:r>
              <a:t>• Duyệt cây từ các nút lá lên nút gốc (Bottom-Up).</a:t>
            </a:r>
          </a:p>
          <a:p>
            <a:pPr>
              <a:spcBef>
                <a:spcPts val="800"/>
              </a:spcBef>
              <a:defRPr sz="1250">
                <a:solidFill>
                  <a:srgbClr val="475569"/>
                </a:solidFill>
              </a:defRPr>
            </a:pPr>
            <a:r>
              <a:t>• Tại mỗi nút trung gian: thực hiện Profile-Profile Alignment bằng thuật toán Hirschberg.</a:t>
            </a:r>
          </a:p>
          <a:p>
            <a:pPr>
              <a:spcBef>
                <a:spcPts val="800"/>
              </a:spcBef>
              <a:defRPr sz="1250">
                <a:solidFill>
                  <a:srgbClr val="475569"/>
                </a:solidFill>
              </a:defRPr>
            </a:pPr>
            <a:r>
              <a:t>• Nguyên lý: 'Once a gap, always a gap' (bảo toàn cấu trúc đã căn chỉnh).</a:t>
            </a:r>
          </a:p>
          <a:p>
            <a:pPr>
              <a:spcBef>
                <a:spcPts val="800"/>
              </a:spcBef>
              <a:defRPr sz="1250">
                <a:solidFill>
                  <a:srgbClr val="475569"/>
                </a:solidFill>
              </a:defRPr>
            </a:pPr>
            <a:r>
              <a:t>• Độ phức tạp: O(k · N²).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PARALLEL FRAMEWORK</a:t>
            </a:r>
          </a:p>
          <a:p>
            <a:pPr>
              <a:defRPr sz="2400" b="1">
                <a:solidFill>
                  <a:srgbClr val="102C57"/>
                </a:solidFill>
                <a:latin typeface="Arial"/>
              </a:defRPr>
            </a:pPr>
            <a:r>
              <a:t>6. Kiến Trúc Khung Tính Toán Song Song Đa Cấp</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_parallel_architecture.png"/>
          <p:cNvPicPr>
            <a:picLocks noChangeAspect="1"/>
          </p:cNvPicPr>
          <p:nvPr/>
        </p:nvPicPr>
        <p:blipFill>
          <a:blip r:embed="rId2"/>
          <a:stretch>
            <a:fillRect/>
          </a:stretch>
        </p:blipFill>
        <p:spPr>
          <a:xfrm>
            <a:off x="731520" y="1645920"/>
            <a:ext cx="6858000" cy="4663440"/>
          </a:xfrm>
          <a:prstGeom prst="rect">
            <a:avLst/>
          </a:prstGeom>
        </p:spPr>
      </p:pic>
      <p:sp>
        <p:nvSpPr>
          <p:cNvPr id="5" name="Rounded Rectangle 4"/>
          <p:cNvSpPr/>
          <p:nvPr/>
        </p:nvSpPr>
        <p:spPr>
          <a:xfrm>
            <a:off x="7863840" y="1645920"/>
            <a:ext cx="3596335"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30575" cy="4297680"/>
          </a:xfrm>
          <a:prstGeom prst="rect">
            <a:avLst/>
          </a:prstGeom>
          <a:noFill/>
        </p:spPr>
        <p:txBody>
          <a:bodyPr wrap="square">
            <a:spAutoFit/>
          </a:bodyPr>
          <a:lstStyle/>
          <a:p>
            <a:pPr>
              <a:defRPr sz="1800" b="1">
                <a:solidFill>
                  <a:srgbClr val="102C57"/>
                </a:solidFill>
              </a:defRPr>
            </a:pPr>
            <a:r>
              <a:t>Điểm Nhấn Kiến Trúc</a:t>
            </a:r>
          </a:p>
          <a:p>
            <a:pPr>
              <a:spcBef>
                <a:spcPts val="1000"/>
              </a:spcBef>
            </a:pPr>
            <a:r>
              <a:rPr b="1" sz="1200">
                <a:solidFill>
                  <a:srgbClr val="2563EB"/>
                </a:solidFill>
              </a:rPr>
              <a:t>✔ Mô hình Lai (Hybrid MPI + OpenMP):</a:t>
            </a:r>
            <a:r>
              <a:rPr sz="1200">
                <a:solidFill>
                  <a:srgbClr val="475569"/>
                </a:solidFill>
              </a:rPr>
              <a:t>  Tận dụng đồng thời sức mạnh của Cụm máy tính phân tán (Cluster Nodes) và CPU đa lõi (Multi-core Shared Memory).</a:t>
            </a:r>
          </a:p>
          <a:p>
            <a:pPr>
              <a:spcBef>
                <a:spcPts val="1000"/>
              </a:spcBef>
            </a:pPr>
            <a:r>
              <a:rPr b="1" sz="1200">
                <a:solidFill>
                  <a:srgbClr val="2563EB"/>
                </a:solidFill>
              </a:rPr>
              <a:t>✔ Tối ưu Hóa Hai Cấp:</a:t>
            </a:r>
            <a:r>
              <a:rPr sz="1200">
                <a:solidFill>
                  <a:srgbClr val="475569"/>
                </a:solidFill>
              </a:rPr>
              <a:t>  MPI giải quyết All-Pairs quy mô lớn giữa các Node; OpenMP phân luồng xử lý nội bộ và lập lịch cây hướng dẫn.</a:t>
            </a:r>
          </a:p>
          <a:p>
            <a:pPr>
              <a:spcBef>
                <a:spcPts val="1000"/>
              </a:spcBef>
            </a:pPr>
            <a:r>
              <a:rPr b="1" sz="1200">
                <a:solidFill>
                  <a:srgbClr val="2563EB"/>
                </a:solidFill>
              </a:rPr>
              <a:t>✔ Loại Bỏ Race Condition:</a:t>
            </a:r>
            <a:r>
              <a:rPr sz="1200">
                <a:solidFill>
                  <a:srgbClr val="475569"/>
                </a:solidFill>
              </a:rPr>
              <a:t>  Ma trận khoảng cách đối xứng, ghi độc lập theo chỉ số phẳng pair_idx.</a:t>
            </a:r>
          </a:p>
          <a:p>
            <a:pPr>
              <a:spcBef>
                <a:spcPts val="1000"/>
              </a:spcBef>
            </a:pPr>
            <a:r>
              <a:rPr b="1" sz="1200">
                <a:solidFill>
                  <a:srgbClr val="2563EB"/>
                </a:solidFill>
              </a:rPr>
              <a:t>✔ Không Gian Tuyến Tính Tuyệt Đối:</a:t>
            </a:r>
            <a:r>
              <a:rPr sz="1200">
                <a:solidFill>
                  <a:srgbClr val="475569"/>
                </a:solidFill>
              </a:rPr>
              <a:t>  Tích hợp trọn vẹn Myers-Miller trong mọi tác vụ tính toán con.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SHARED MEMORY PARALLELISM</a:t>
            </a:r>
          </a:p>
          <a:p>
            <a:pPr>
              <a:defRPr sz="2400" b="1">
                <a:solidFill>
                  <a:srgbClr val="102C57"/>
                </a:solidFill>
                <a:latin typeface="Arial"/>
              </a:defRPr>
            </a:pPr>
            <a:r>
              <a:t>7. Song Song Hóa OpenMP Trên Hệ Thống Đa Nhân</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97680"/>
          </a:xfrm>
          <a:prstGeom prst="rect">
            <a:avLst/>
          </a:prstGeom>
          <a:noFill/>
        </p:spPr>
        <p:txBody>
          <a:bodyPr wrap="square">
            <a:spAutoFit/>
          </a:bodyPr>
          <a:lstStyle/>
          <a:p>
            <a:pPr>
              <a:defRPr sz="1700" b="1">
                <a:solidFill>
                  <a:srgbClr val="102C57"/>
                </a:solidFill>
              </a:defRPr>
            </a:pPr>
            <a:r>
              <a:t>1. Song Song Hóa Cấp Độ Cặp Chuỗi</a:t>
            </a:r>
            <a:br/>
            <a:r>
              <a:t>(All-Pairs Dynamic Scheduling)</a:t>
            </a:r>
          </a:p>
          <a:p>
            <a:pPr>
              <a:spcBef>
                <a:spcPts val="1000"/>
              </a:spcBef>
            </a:pPr>
            <a:r>
              <a:rPr b="1" sz="1250">
                <a:solidFill>
                  <a:srgbClr val="0F172A"/>
                </a:solidFill>
              </a:rPr>
              <a:t>• Phẳng hóa Vòng lặp 2D:</a:t>
            </a:r>
            <a:r>
              <a:rPr sz="1250">
                <a:solidFill>
                  <a:srgbClr val="475569"/>
                </a:solidFill>
              </a:rPr>
              <a:t> Biến đổi 2 vòng lặp lồng nhau thành 1 vòng lặp duy nhất trên tổng số P = k·(k-1)/2 cặp.</a:t>
            </a:r>
          </a:p>
          <a:p>
            <a:pPr>
              <a:spcBef>
                <a:spcPts val="1000"/>
              </a:spcBef>
            </a:pPr>
            <a:r>
              <a:rPr b="1" sz="1250">
                <a:solidFill>
                  <a:srgbClr val="0F172A"/>
                </a:solidFill>
              </a:rPr>
              <a:t>• Tránh Lệch Tải (Load Imbalance):</a:t>
            </a:r>
            <a:r>
              <a:rPr sz="1250">
                <a:solidFill>
                  <a:srgbClr val="475569"/>
                </a:solidFill>
              </a:rPr>
              <a:t> Độ dài các chuỗi sinh học trong tập dữ liệu không bằng nhau (ví dụ: chuỗi 80 aa vs chuỗi 500 aa). Nếu chia tĩnh (static), luồng nhận chuỗi dài sẽ thành nút thắt cổ chai.</a:t>
            </a:r>
          </a:p>
          <a:p>
            <a:pPr>
              <a:spcBef>
                <a:spcPts val="1000"/>
              </a:spcBef>
            </a:pPr>
            <a:r>
              <a:rPr b="1" sz="1250">
                <a:solidFill>
                  <a:srgbClr val="0F172A"/>
                </a:solidFill>
              </a:rPr>
              <a:t>• Cơ chế Dynamic Scheduling:</a:t>
            </a:r>
            <a:r>
              <a:rPr sz="1250">
                <a:solidFill>
                  <a:srgbClr val="475569"/>
                </a:solidFill>
              </a:rPr>
              <a:t> Sử dụng `#pragma omp parallel for schedule(dynamic, chunk_size)` với chunk = 4 hoặc 8.</a:t>
            </a:r>
          </a:p>
          <a:p>
            <a:pPr>
              <a:spcBef>
                <a:spcPts val="1000"/>
              </a:spcBef>
            </a:pPr>
            <a:r>
              <a:rPr b="1" sz="1250">
                <a:solidFill>
                  <a:srgbClr val="0F172A"/>
                </a:solidFill>
              </a:rPr>
              <a:t>• Hiệu quả:</a:t>
            </a:r>
            <a:r>
              <a:rPr sz="1250">
                <a:solidFill>
                  <a:srgbClr val="475569"/>
                </a:solidFill>
              </a:rPr>
              <a:t> Các worker thread chủ động lấy cặp công việc mới ngay khi hoàn thành, tối đa hóa tải CPU (Core Utilization đạt 95-98%).</a:t>
            </a:r>
          </a:p>
        </p:txBody>
      </p:sp>
      <p:sp>
        <p:nvSpPr>
          <p:cNvPr id="6" name="Rounded Rectangle 5"/>
          <p:cNvSpPr/>
          <p:nvPr/>
        </p:nvSpPr>
        <p:spPr>
          <a:xfrm>
            <a:off x="62179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97680"/>
          </a:xfrm>
          <a:prstGeom prst="rect">
            <a:avLst/>
          </a:prstGeom>
          <a:noFill/>
        </p:spPr>
        <p:txBody>
          <a:bodyPr wrap="square">
            <a:spAutoFit/>
          </a:bodyPr>
          <a:lstStyle/>
          <a:p>
            <a:pPr>
              <a:defRPr sz="1700" b="1">
                <a:solidFill>
                  <a:srgbClr val="0D9488"/>
                </a:solidFill>
              </a:defRPr>
            </a:pPr>
            <a:r>
              <a:t>2. Lập Lịch Theo Cây Hướng Dẫn</a:t>
            </a:r>
            <a:br/>
            <a:r>
              <a:t>(Wavefront Tree Scheduler)</a:t>
            </a:r>
          </a:p>
          <a:p>
            <a:pPr>
              <a:spcBef>
                <a:spcPts val="1000"/>
              </a:spcBef>
            </a:pPr>
            <a:r>
              <a:rPr b="1" sz="1250">
                <a:solidFill>
                  <a:srgbClr val="0F172A"/>
                </a:solidFill>
              </a:rPr>
              <a:t>• Thách thức Phụ thuộc Dữ liệu:</a:t>
            </a:r>
            <a:r>
              <a:rPr sz="1250">
                <a:solidFill>
                  <a:srgbClr val="475569"/>
                </a:solidFill>
              </a:rPr>
              <a:t> Một nút cha chỉ có thể được căn chỉnh sau khi cả hai cây con bên trái và bên phải đã hoàn thành.</a:t>
            </a:r>
          </a:p>
          <a:p>
            <a:pPr>
              <a:spcBef>
                <a:spcPts val="1000"/>
              </a:spcBef>
            </a:pPr>
            <a:r>
              <a:rPr b="1" sz="1250">
                <a:solidFill>
                  <a:srgbClr val="0F172A"/>
                </a:solidFill>
              </a:rPr>
              <a:t>• Kỹ thuật Phân tầng Theo Mức (Level-by-Level Wavefront):</a:t>
            </a:r>
            <a:r>
              <a:rPr sz="1250">
                <a:solidFill>
                  <a:srgbClr val="475569"/>
                </a:solidFill>
              </a:rPr>
              <a:t> Phân tích cấu trúc cây UPGMA, gom các nút độc lập có cùng độ sâu từ lá lên (height/depth) thành từng Wavefront Batch.</a:t>
            </a:r>
          </a:p>
          <a:p>
            <a:pPr>
              <a:spcBef>
                <a:spcPts val="1000"/>
              </a:spcBef>
            </a:pPr>
            <a:r>
              <a:rPr b="1" sz="1250">
                <a:solidFill>
                  <a:srgbClr val="0F172A"/>
                </a:solidFill>
              </a:rPr>
              <a:t>• Thực thi Song song:</a:t>
            </a:r>
            <a:r>
              <a:rPr sz="1250">
                <a:solidFill>
                  <a:srgbClr val="475569"/>
                </a:solidFill>
              </a:rPr>
              <a:t>  `#pragma omp parallel for` xử lý đồng thời tất cả các nút trong cùng một tầng wavefront.</a:t>
            </a:r>
          </a:p>
          <a:p>
            <a:pPr>
              <a:spcBef>
                <a:spcPts val="1000"/>
              </a:spcBef>
            </a:pPr>
            <a:r>
              <a:rPr b="1" sz="1250">
                <a:solidFill>
                  <a:srgbClr val="0F172A"/>
                </a:solidFill>
              </a:rPr>
              <a:t>• Đồng bộ Hóa Nhẹ Nhàng:</a:t>
            </a:r>
            <a:r>
              <a:rPr sz="1250">
                <a:solidFill>
                  <a:srgbClr val="475569"/>
                </a:solidFill>
              </a:rPr>
              <a:t> Đặt `#pragma omp barrier` giữa các tầng, loại bỏ hoàn toàn nguy cơ tranh chấp vùng nhớ giữa các profile.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DISTRIBUTED PARALLELISM</a:t>
            </a:r>
          </a:p>
          <a:p>
            <a:pPr>
              <a:defRPr sz="2400" b="1">
                <a:solidFill>
                  <a:srgbClr val="102C57"/>
                </a:solidFill>
                <a:latin typeface="Arial"/>
              </a:defRPr>
            </a:pPr>
            <a:r>
              <a:t>8. Phân Tán MPI Trên Cụm Máy Tính (Cluster Computing)</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297680"/>
          </a:xfrm>
          <a:prstGeom prst="rect">
            <a:avLst/>
          </a:prstGeom>
          <a:noFill/>
        </p:spPr>
        <p:txBody>
          <a:bodyPr wrap="square">
            <a:spAutoFit/>
          </a:bodyPr>
          <a:lstStyle/>
          <a:p>
            <a:pPr>
              <a:defRPr sz="1600" b="1">
                <a:solidFill>
                  <a:srgbClr val="2563EB"/>
                </a:solidFill>
              </a:defRPr>
            </a:pPr>
            <a:r>
              <a:t>Phân Bổ Block-Cyclic</a:t>
            </a:r>
          </a:p>
          <a:p>
            <a:pPr>
              <a:spcAft>
                <a:spcPts val="1200"/>
              </a:spcAft>
              <a:defRPr sz="1300" b="1">
                <a:solidFill>
                  <a:srgbClr val="0F172A"/>
                </a:solidFill>
              </a:defRPr>
            </a:pPr>
            <a:r>
              <a:t>Chia Đều Tải Giữa Các Ranks</a:t>
            </a:r>
          </a:p>
          <a:p>
            <a:pPr>
              <a:spcBef>
                <a:spcPts val="800"/>
              </a:spcBef>
              <a:defRPr sz="1200">
                <a:solidFill>
                  <a:srgbClr val="475569"/>
                </a:solidFill>
              </a:defRPr>
            </a:pPr>
            <a:r>
              <a:t>• Với P nút mạng (MPI ranks), tổng số cặp P_total = k·(k-1)/2 được phân rã theo công thức:</a:t>
            </a:r>
          </a:p>
          <a:p>
            <a:pPr>
              <a:spcBef>
                <a:spcPts val="800"/>
              </a:spcBef>
              <a:defRPr sz="1200">
                <a:solidFill>
                  <a:srgbClr val="475569"/>
                </a:solidFill>
              </a:defRPr>
            </a:pPr>
            <a:r>
              <a:t>•   pair_idx % P == rank.</a:t>
            </a:r>
          </a:p>
          <a:p>
            <a:pPr>
              <a:spcBef>
                <a:spcPts val="800"/>
              </a:spcBef>
              <a:defRPr sz="1200">
                <a:solidFill>
                  <a:srgbClr val="475569"/>
                </a:solidFill>
              </a:defRPr>
            </a:pPr>
            <a:r>
              <a:t>• Tự động cân bằng tải hoàn hảo ngay cả khi ma trận tam giác có độ dài chuỗi biến thiên lớn.</a:t>
            </a:r>
          </a:p>
          <a:p>
            <a:pPr>
              <a:spcBef>
                <a:spcPts val="800"/>
              </a:spcBef>
              <a:defRPr sz="1200">
                <a:solidFill>
                  <a:srgbClr val="475569"/>
                </a:solidFill>
              </a:defRPr>
            </a:pPr>
            <a:r>
              <a:t>• Mỗi rank quản lý vùng đệm ma trận cục bộ (local distance matrix buffer).</a:t>
            </a:r>
          </a:p>
        </p:txBody>
      </p:sp>
      <p:sp>
        <p:nvSpPr>
          <p:cNvPr id="6" name="Rounded Rectangle 5"/>
          <p:cNvSpPr/>
          <p:nvPr/>
        </p:nvSpPr>
        <p:spPr>
          <a:xfrm>
            <a:off x="4425696"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297680"/>
          </a:xfrm>
          <a:prstGeom prst="rect">
            <a:avLst/>
          </a:prstGeom>
          <a:noFill/>
        </p:spPr>
        <p:txBody>
          <a:bodyPr wrap="square">
            <a:spAutoFit/>
          </a:bodyPr>
          <a:lstStyle/>
          <a:p>
            <a:pPr>
              <a:defRPr sz="1600" b="1">
                <a:solidFill>
                  <a:srgbClr val="0D9488"/>
                </a:solidFill>
              </a:defRPr>
            </a:pPr>
            <a:r>
              <a:t>Gom Cụm MPI_Allreduce</a:t>
            </a:r>
          </a:p>
          <a:p>
            <a:pPr>
              <a:spcAft>
                <a:spcPts val="1200"/>
              </a:spcAft>
              <a:defRPr sz="1300" b="1">
                <a:solidFill>
                  <a:srgbClr val="0F172A"/>
                </a:solidFill>
              </a:defRPr>
            </a:pPr>
            <a:r>
              <a:t>Đồng Bộ Không Điểm Nghẽn</a:t>
            </a:r>
          </a:p>
          <a:p>
            <a:pPr>
              <a:spcBef>
                <a:spcPts val="800"/>
              </a:spcBef>
              <a:defRPr sz="1200">
                <a:solidFill>
                  <a:srgbClr val="475569"/>
                </a:solidFill>
              </a:defRPr>
            </a:pPr>
            <a:r>
              <a:t>• Sau khi hoàn thành tính toán cục bộ, gọi hàm tập thể:</a:t>
            </a:r>
          </a:p>
          <a:p>
            <a:pPr>
              <a:spcBef>
                <a:spcPts val="800"/>
              </a:spcBef>
              <a:defRPr sz="1200">
                <a:solidFill>
                  <a:srgbClr val="475569"/>
                </a:solidFill>
              </a:defRPr>
            </a:pPr>
            <a:r>
              <a:t>•   MPI_Allreduce(local, global, MAX, COMM_WORLD).</a:t>
            </a:r>
          </a:p>
          <a:p>
            <a:pPr>
              <a:spcBef>
                <a:spcPts val="800"/>
              </a:spcBef>
              <a:defRPr sz="1200">
                <a:solidFill>
                  <a:srgbClr val="475569"/>
                </a:solidFill>
              </a:defRPr>
            </a:pPr>
            <a:r>
              <a:t>• Mỗi ô chỉ được tính đúng 1 lần bởi 1 rank duy nhất (các rank khác để 0.0), do đó phép toán MPI_MAX gom dữ liệu chính xác 100%.</a:t>
            </a:r>
          </a:p>
          <a:p>
            <a:pPr>
              <a:spcBef>
                <a:spcPts val="800"/>
              </a:spcBef>
              <a:defRPr sz="1200">
                <a:solidFill>
                  <a:srgbClr val="475569"/>
                </a:solidFill>
              </a:defRPr>
            </a:pPr>
            <a:r>
              <a:t>• Mọi node đều sở hữu bản sao ma trận toàn cục để dựng cây UPGMA độc lập mà không cần giao tiếp thêm.</a:t>
            </a:r>
          </a:p>
        </p:txBody>
      </p:sp>
      <p:sp>
        <p:nvSpPr>
          <p:cNvPr id="8" name="Rounded Rectangle 7"/>
          <p:cNvSpPr/>
          <p:nvPr/>
        </p:nvSpPr>
        <p:spPr>
          <a:xfrm>
            <a:off x="8119872"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297680"/>
          </a:xfrm>
          <a:prstGeom prst="rect">
            <a:avLst/>
          </a:prstGeom>
          <a:noFill/>
        </p:spPr>
        <p:txBody>
          <a:bodyPr wrap="square">
            <a:spAutoFit/>
          </a:bodyPr>
          <a:lstStyle/>
          <a:p>
            <a:pPr>
              <a:defRPr sz="1600" b="1">
                <a:solidFill>
                  <a:srgbClr val="D97706"/>
                </a:solidFill>
              </a:defRPr>
            </a:pPr>
            <a:r>
              <a:t>Kiến Trúc Hybrid Lai</a:t>
            </a:r>
          </a:p>
          <a:p>
            <a:pPr>
              <a:spcAft>
                <a:spcPts val="1200"/>
              </a:spcAft>
              <a:defRPr sz="1300" b="1">
                <a:solidFill>
                  <a:srgbClr val="0F172A"/>
                </a:solidFill>
              </a:defRPr>
            </a:pPr>
            <a:r>
              <a:t>Tối Đa Hóa Năng Lực Phần Cứng</a:t>
            </a:r>
          </a:p>
          <a:p>
            <a:pPr>
              <a:spcBef>
                <a:spcPts val="800"/>
              </a:spcBef>
              <a:defRPr sz="1200">
                <a:solidFill>
                  <a:srgbClr val="475569"/>
                </a:solidFill>
              </a:defRPr>
            </a:pPr>
            <a:r>
              <a:t>• Cấp 1 (Giữa các Nodes): Giao tiếp qua mạng tốc độ cao Infiniband/Ethernet bằng MPI.</a:t>
            </a:r>
          </a:p>
          <a:p>
            <a:pPr>
              <a:spcBef>
                <a:spcPts val="800"/>
              </a:spcBef>
              <a:defRPr sz="1200">
                <a:solidFill>
                  <a:srgbClr val="475569"/>
                </a:solidFill>
              </a:defRPr>
            </a:pPr>
            <a:r>
              <a:t>• Cấp 2 (Nội bộ Node): Khai thác toàn bộ CPU Cores bằng OpenMP multi-threading.</a:t>
            </a:r>
          </a:p>
          <a:p>
            <a:pPr>
              <a:spcBef>
                <a:spcPts val="800"/>
              </a:spcBef>
              <a:defRPr sz="1200">
                <a:solidFill>
                  <a:srgbClr val="475569"/>
                </a:solidFill>
              </a:defRPr>
            </a:pPr>
            <a:r>
              <a:t>• Lệnh chạy thực tế:</a:t>
            </a:r>
          </a:p>
          <a:p>
            <a:pPr>
              <a:spcBef>
                <a:spcPts val="800"/>
              </a:spcBef>
              <a:defRPr sz="1200">
                <a:solidFill>
                  <a:srgbClr val="475569"/>
                </a:solidFill>
              </a:defRPr>
            </a:pPr>
            <a:r>
              <a:t>•   mpirun -np 4 ./msa_align_mpi -i input.fa -t 8</a:t>
            </a:r>
          </a:p>
          <a:p>
            <a:pPr>
              <a:spcBef>
                <a:spcPts val="800"/>
              </a:spcBef>
              <a:defRPr sz="1200">
                <a:solidFill>
                  <a:srgbClr val="475569"/>
                </a:solidFill>
              </a:defRPr>
            </a:pPr>
            <a:r>
              <a:t>•   -&gt; Huy động tổng cộng 32 luồng tính toán đồng thời!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PHÂN TÍCH HIỆU NĂNG</a:t>
            </a:r>
          </a:p>
          <a:p>
            <a:pPr>
              <a:defRPr sz="2400" b="1">
                <a:solidFill>
                  <a:srgbClr val="102C57"/>
                </a:solidFill>
                <a:latin typeface="Arial"/>
              </a:defRPr>
            </a:pPr>
            <a:r>
              <a:t>9. Mô Hình Hiệu Năng Song Song &amp; Giới Hạn Lý Thuyết</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97680"/>
          </a:xfrm>
          <a:prstGeom prst="rect">
            <a:avLst/>
          </a:prstGeom>
          <a:noFill/>
        </p:spPr>
        <p:txBody>
          <a:bodyPr wrap="square">
            <a:spAutoFit/>
          </a:bodyPr>
          <a:lstStyle/>
          <a:p>
            <a:pPr>
              <a:defRPr sz="1800" b="1">
                <a:solidFill>
                  <a:srgbClr val="E11D48"/>
                </a:solidFill>
              </a:defRPr>
            </a:pPr>
            <a:r>
              <a:t>Định Luật Amdahl (Fixed-Size Speedup)</a:t>
            </a:r>
          </a:p>
          <a:p>
            <a:pPr>
              <a:spcBef>
                <a:spcPts val="1000"/>
              </a:spcBef>
            </a:pPr>
            <a:r>
              <a:rPr b="1" sz="1250">
                <a:solidFill>
                  <a:srgbClr val="0F172A"/>
                </a:solidFill>
              </a:rPr>
              <a:t>• Công thức:</a:t>
            </a:r>
            <a:r>
              <a:rPr sz="1250">
                <a:solidFill>
                  <a:srgbClr val="475569"/>
                </a:solidFill>
              </a:rPr>
              <a:t>  S(P) = 1 / [ (1 - f) + f / P ]</a:t>
            </a:r>
          </a:p>
          <a:p>
            <a:pPr>
              <a:spcBef>
                <a:spcPts val="1000"/>
              </a:spcBef>
            </a:pPr>
            <a:r>
              <a:rPr b="1" sz="1250">
                <a:solidFill>
                  <a:srgbClr val="0F172A"/>
                </a:solidFill>
              </a:rPr>
              <a:t>• Tỷ lệ Song song hóa f trong MSA:</a:t>
            </a:r>
            <a:r>
              <a:rPr sz="1250">
                <a:solidFill>
                  <a:srgbClr val="475569"/>
                </a:solidFill>
              </a:rPr>
              <a:t>  Giai đoạn All-Pairs Distance Matrix chiếm khoảng f ≈ 85% - 90% tổng khối lượng tính toán.</a:t>
            </a:r>
          </a:p>
          <a:p>
            <a:pPr>
              <a:spcBef>
                <a:spcPts val="1000"/>
              </a:spcBef>
            </a:pPr>
            <a:r>
              <a:rPr b="1" sz="1250">
                <a:solidFill>
                  <a:srgbClr val="0F172A"/>
                </a:solidFill>
              </a:rPr>
              <a:t>• Phần tuần tự không thể song song (1 - f):</a:t>
            </a:r>
            <a:r>
              <a:rPr sz="1250">
                <a:solidFill>
                  <a:srgbClr val="475569"/>
                </a:solidFill>
              </a:rPr>
              <a:t>  Dựng cây UPGMA và căn chỉnh profile tại gốc cây (Root Profile Alignment) chiếm 10% - 15%.</a:t>
            </a:r>
          </a:p>
          <a:p>
            <a:pPr>
              <a:spcBef>
                <a:spcPts val="1000"/>
              </a:spcBef>
            </a:pPr>
            <a:r>
              <a:rPr b="1" sz="1250">
                <a:solidFill>
                  <a:srgbClr val="0F172A"/>
                </a:solidFill>
              </a:rPr>
              <a:t>• Giới hạn Tăng tốc Lý thuyết:</a:t>
            </a:r>
            <a:r>
              <a:rPr sz="1250">
                <a:solidFill>
                  <a:srgbClr val="475569"/>
                </a:solidFill>
              </a:rPr>
              <a:t>  Khi P -&gt; ∞, Speedup cực đại bị chặn trên bởi: S_{max} = 1 / (1 - 0.85) ≈ 6.67x.</a:t>
            </a:r>
          </a:p>
          <a:p>
            <a:pPr>
              <a:spcBef>
                <a:spcPts val="1000"/>
              </a:spcBef>
            </a:pPr>
            <a:r>
              <a:rPr b="1" sz="1250">
                <a:solidFill>
                  <a:srgbClr val="0F172A"/>
                </a:solidFill>
              </a:rPr>
              <a:t>• Ý nghĩa Thực tiễn:</a:t>
            </a:r>
            <a:r>
              <a:rPr sz="1250">
                <a:solidFill>
                  <a:srgbClr val="475569"/>
                </a:solidFill>
              </a:rPr>
              <a:t>  Việc phân bổ tài nguyên từ 4 đến 8 luồng đạt điểm cân bằng tối ưu giữa Speedup và chi phí đồng bộ luồng.</a:t>
            </a:r>
          </a:p>
        </p:txBody>
      </p:sp>
      <p:sp>
        <p:nvSpPr>
          <p:cNvPr id="6" name="Rounded Rectangle 5"/>
          <p:cNvSpPr/>
          <p:nvPr/>
        </p:nvSpPr>
        <p:spPr>
          <a:xfrm>
            <a:off x="62179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97680"/>
          </a:xfrm>
          <a:prstGeom prst="rect">
            <a:avLst/>
          </a:prstGeom>
          <a:noFill/>
        </p:spPr>
        <p:txBody>
          <a:bodyPr wrap="square">
            <a:spAutoFit/>
          </a:bodyPr>
          <a:lstStyle/>
          <a:p>
            <a:pPr>
              <a:defRPr sz="1800" b="1">
                <a:solidFill>
                  <a:srgbClr val="0D9488"/>
                </a:solidFill>
              </a:defRPr>
            </a:pPr>
            <a:r>
              <a:t>Định Luật Gustafson (Scaled Speedup)</a:t>
            </a:r>
          </a:p>
          <a:p>
            <a:pPr>
              <a:spcBef>
                <a:spcPts val="1000"/>
              </a:spcBef>
            </a:pPr>
            <a:r>
              <a:rPr b="1" sz="1250">
                <a:solidFill>
                  <a:srgbClr val="0F172A"/>
                </a:solidFill>
              </a:rPr>
              <a:t>• Công thức:</a:t>
            </a:r>
            <a:r>
              <a:rPr sz="1250">
                <a:solidFill>
                  <a:srgbClr val="475569"/>
                </a:solidFill>
              </a:rPr>
              <a:t> S_s(P) = P - (1 - f_s) · (P - 1)</a:t>
            </a:r>
          </a:p>
          <a:p>
            <a:pPr>
              <a:spcBef>
                <a:spcPts val="1000"/>
              </a:spcBef>
            </a:pPr>
            <a:r>
              <a:rPr b="1" sz="1250">
                <a:solidFill>
                  <a:srgbClr val="0F172A"/>
                </a:solidFill>
              </a:rPr>
              <a:t>• Quy mô Dữ liệu Mở rộng:</a:t>
            </a:r>
            <a:r>
              <a:rPr sz="1250">
                <a:solidFill>
                  <a:srgbClr val="475569"/>
                </a:solidFill>
              </a:rPr>
              <a:t> Trong thực tế sinh học, khi tăng số lượng chuỗi k từ 10 lên 100 hay 1,000 chuỗi:</a:t>
            </a:r>
          </a:p>
          <a:p>
            <a:pPr>
              <a:spcBef>
                <a:spcPts val="1000"/>
              </a:spcBef>
            </a:pPr>
            <a:r>
              <a:rPr b="1" sz="1250">
                <a:solidFill>
                  <a:srgbClr val="0F172A"/>
                </a:solidFill>
              </a:rPr>
              <a:t>•   • Tăng số cặp bậc hai:</a:t>
            </a:r>
            <a:r>
              <a:rPr sz="1250">
                <a:solidFill>
                  <a:srgbClr val="475569"/>
                </a:solidFill>
              </a:rPr>
              <a:t> k·(k-1)/2 cặp cần xử lý.</a:t>
            </a:r>
          </a:p>
          <a:p>
            <a:pPr>
              <a:spcBef>
                <a:spcPts val="1000"/>
              </a:spcBef>
            </a:pPr>
            <a:r>
              <a:rPr b="1" sz="1250">
                <a:solidFill>
                  <a:srgbClr val="0F172A"/>
                </a:solidFill>
              </a:rPr>
              <a:t>•   • Tỷ lệ tính toán song song:</a:t>
            </a:r>
            <a:r>
              <a:rPr sz="1250">
                <a:solidFill>
                  <a:srgbClr val="475569"/>
                </a:solidFill>
              </a:rPr>
              <a:t> Tăng vọt lên 98% - 99.5%.</a:t>
            </a:r>
          </a:p>
          <a:p>
            <a:pPr>
              <a:spcBef>
                <a:spcPts val="1000"/>
              </a:spcBef>
            </a:pPr>
            <a:r>
              <a:rPr b="1" sz="1250">
                <a:solidFill>
                  <a:srgbClr val="0F172A"/>
                </a:solidFill>
              </a:rPr>
              <a:t>• Tốc độ Tăng tốc Thực tế:</a:t>
            </a:r>
            <a:r>
              <a:rPr sz="1250">
                <a:solidFill>
                  <a:srgbClr val="475569"/>
                </a:solidFill>
              </a:rPr>
              <a:t> Khi bài toán mở rộng theo số lõi P, Speedup đạt gần như tuyến tính: S_s(P) ≈ P.</a:t>
            </a:r>
          </a:p>
          <a:p>
            <a:pPr>
              <a:spcBef>
                <a:spcPts val="1000"/>
              </a:spcBef>
            </a:pPr>
            <a:r>
              <a:rPr b="1" sz="1250">
                <a:solidFill>
                  <a:srgbClr val="0F172A"/>
                </a:solidFill>
              </a:rPr>
              <a:t>• Kết luận:</a:t>
            </a:r>
            <a:r>
              <a:rPr sz="1250">
                <a:solidFill>
                  <a:srgbClr val="475569"/>
                </a:solidFill>
              </a:rPr>
              <a:t> Hệ thống phát huy tối đa hiệu quả trên các tập dữ liệu gen quy mô lớn (High-Throughput Sequencing).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DỮ LIỆU THỰC NGHIỆM</a:t>
            </a:r>
          </a:p>
          <a:p>
            <a:pPr>
              <a:defRPr sz="2400" b="1">
                <a:solidFill>
                  <a:srgbClr val="102C57"/>
                </a:solidFill>
                <a:latin typeface="Arial"/>
              </a:defRPr>
            </a:pPr>
            <a:r>
              <a:t>10. Bộ Dữ Liệu Benchmark Chuẩn Quốc Tế BAliBASE 3.0</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297680"/>
          </a:xfrm>
          <a:prstGeom prst="rect">
            <a:avLst/>
          </a:prstGeom>
          <a:noFill/>
        </p:spPr>
        <p:txBody>
          <a:bodyPr wrap="square">
            <a:spAutoFit/>
          </a:bodyPr>
          <a:lstStyle/>
          <a:p>
            <a:pPr>
              <a:defRPr sz="1500" b="1">
                <a:solidFill>
                  <a:srgbClr val="E11D48"/>
                </a:solidFill>
              </a:defRPr>
            </a:pPr>
            <a:r>
              <a:t>RV11: Độ Tương Đồng Cực Thấp (&lt; 20% Identity)</a:t>
            </a:r>
          </a:p>
          <a:p>
            <a:pPr>
              <a:spcAft>
                <a:spcPts val="1200"/>
              </a:spcAft>
              <a:defRPr sz="1200" b="1">
                <a:solidFill>
                  <a:srgbClr val="0F172A"/>
                </a:solidFill>
              </a:defRPr>
            </a:pPr>
            <a:r>
              <a:t>Thách Thức Lớn Nhất Trong Sinh Tin Học</a:t>
            </a:r>
          </a:p>
          <a:p>
            <a:pPr>
              <a:spcBef>
                <a:spcPts val="800"/>
              </a:spcBef>
              <a:defRPr sz="1200">
                <a:solidFill>
                  <a:srgbClr val="475569"/>
                </a:solidFill>
              </a:defRPr>
            </a:pPr>
            <a:r>
              <a:t>• Bao gồm các protein tiến hóa xa xôi, khác biệt cấu trúc bậc 1 sâu sắc.</a:t>
            </a:r>
          </a:p>
          <a:p>
            <a:pPr>
              <a:spcBef>
                <a:spcPts val="800"/>
              </a:spcBef>
              <a:defRPr sz="1200">
                <a:solidFill>
                  <a:srgbClr val="475569"/>
                </a:solidFill>
              </a:defRPr>
            </a:pPr>
            <a:r>
              <a:t>• Tập kiểm thử đại diện: BB11001, BB11002, BB11003, BB11004, BB11005.</a:t>
            </a:r>
          </a:p>
          <a:p>
            <a:pPr>
              <a:spcBef>
                <a:spcPts val="800"/>
              </a:spcBef>
              <a:defRPr sz="1200">
                <a:solidFill>
                  <a:srgbClr val="475569"/>
                </a:solidFill>
              </a:defRPr>
            </a:pPr>
            <a:r>
              <a:t>• Căn chỉnh dựa trên cấu trúc không gian 3D chuẩn được xác định bằng thực nghiệm tinh thể tia X (X-ray crystallography).</a:t>
            </a:r>
          </a:p>
          <a:p>
            <a:pPr>
              <a:spcBef>
                <a:spcPts val="800"/>
              </a:spcBef>
              <a:defRPr sz="1200">
                <a:solidFill>
                  <a:srgbClr val="475569"/>
                </a:solidFill>
              </a:defRPr>
            </a:pPr>
            <a:r>
              <a:t>• Mục tiêu kiểm thử: Khả năng bắt đúng các vùng bảo tồn (Core Blocks) khi độ tương đồng chuỗi rất thấp.</a:t>
            </a:r>
          </a:p>
        </p:txBody>
      </p:sp>
      <p:sp>
        <p:nvSpPr>
          <p:cNvPr id="6" name="Rounded Rectangle 5"/>
          <p:cNvSpPr/>
          <p:nvPr/>
        </p:nvSpPr>
        <p:spPr>
          <a:xfrm>
            <a:off x="4425696"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297680"/>
          </a:xfrm>
          <a:prstGeom prst="rect">
            <a:avLst/>
          </a:prstGeom>
          <a:noFill/>
        </p:spPr>
        <p:txBody>
          <a:bodyPr wrap="square">
            <a:spAutoFit/>
          </a:bodyPr>
          <a:lstStyle/>
          <a:p>
            <a:pPr>
              <a:defRPr sz="1500" b="1">
                <a:solidFill>
                  <a:srgbClr val="2563EB"/>
                </a:solidFill>
              </a:defRPr>
            </a:pPr>
            <a:r>
              <a:t>RV12: Độ Tương Đồng Trung Bình (20% - 40% Identity)</a:t>
            </a:r>
          </a:p>
          <a:p>
            <a:pPr>
              <a:spcAft>
                <a:spcPts val="1200"/>
              </a:spcAft>
              <a:defRPr sz="1200" b="1">
                <a:solidFill>
                  <a:srgbClr val="0F172A"/>
                </a:solidFill>
              </a:defRPr>
            </a:pPr>
            <a:r>
              <a:t>Vùng Kiểm Thử Chuẩn Tự Nhiên</a:t>
            </a:r>
          </a:p>
          <a:p>
            <a:pPr>
              <a:spcBef>
                <a:spcPts val="800"/>
              </a:spcBef>
              <a:defRPr sz="1200">
                <a:solidFill>
                  <a:srgbClr val="475569"/>
                </a:solidFill>
              </a:defRPr>
            </a:pPr>
            <a:r>
              <a:t>• Đại diện cho phần lớn các họ protein tự nhiên trong các ngân hàng dữ liệu sinh học (UniProt, PDB).</a:t>
            </a:r>
          </a:p>
          <a:p>
            <a:pPr>
              <a:spcBef>
                <a:spcPts val="800"/>
              </a:spcBef>
              <a:defRPr sz="1200">
                <a:solidFill>
                  <a:srgbClr val="475569"/>
                </a:solidFill>
              </a:defRPr>
            </a:pPr>
            <a:r>
              <a:t>• Tập kiểm thử đại diện: BB12001, BB12002, BB12003, BB12004, BB12005.</a:t>
            </a:r>
          </a:p>
          <a:p>
            <a:pPr>
              <a:spcBef>
                <a:spcPts val="800"/>
              </a:spcBef>
              <a:defRPr sz="1200">
                <a:solidFill>
                  <a:srgbClr val="475569"/>
                </a:solidFill>
              </a:defRPr>
            </a:pPr>
            <a:r>
              <a:t>• Độ dài chuỗi từ 93 đến 595 axit amin.</a:t>
            </a:r>
          </a:p>
          <a:p>
            <a:pPr>
              <a:spcBef>
                <a:spcPts val="800"/>
              </a:spcBef>
              <a:defRPr sz="1200">
                <a:solidFill>
                  <a:srgbClr val="475569"/>
                </a:solidFill>
              </a:defRPr>
            </a:pPr>
            <a:r>
              <a:t>• Mục tiêu kiểm thử: Đánh giá độ chính xác tổng thể và sự ổn định của ma trận điểm BLOSUM62.</a:t>
            </a:r>
          </a:p>
        </p:txBody>
      </p:sp>
      <p:sp>
        <p:nvSpPr>
          <p:cNvPr id="8" name="Rounded Rectangle 7"/>
          <p:cNvSpPr/>
          <p:nvPr/>
        </p:nvSpPr>
        <p:spPr>
          <a:xfrm>
            <a:off x="8119872" y="1645920"/>
            <a:ext cx="3328416"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297680"/>
          </a:xfrm>
          <a:prstGeom prst="rect">
            <a:avLst/>
          </a:prstGeom>
          <a:noFill/>
        </p:spPr>
        <p:txBody>
          <a:bodyPr wrap="square">
            <a:spAutoFit/>
          </a:bodyPr>
          <a:lstStyle/>
          <a:p>
            <a:pPr>
              <a:defRPr sz="1500" b="1">
                <a:solidFill>
                  <a:srgbClr val="0D9488"/>
                </a:solidFill>
              </a:defRPr>
            </a:pPr>
            <a:r>
              <a:t>RV20: Họ Protein Quy Mô Lớn (Large Families)</a:t>
            </a:r>
          </a:p>
          <a:p>
            <a:pPr>
              <a:spcAft>
                <a:spcPts val="1200"/>
              </a:spcAft>
              <a:defRPr sz="1200" b="1">
                <a:solidFill>
                  <a:srgbClr val="0F172A"/>
                </a:solidFill>
              </a:defRPr>
            </a:pPr>
            <a:r>
              <a:t>Kiểm Thử Khả Năng Mở Rộng &amp; Bộ Nhớ</a:t>
            </a:r>
          </a:p>
          <a:p>
            <a:pPr>
              <a:spcBef>
                <a:spcPts val="800"/>
              </a:spcBef>
              <a:defRPr sz="1200">
                <a:solidFill>
                  <a:srgbClr val="475569"/>
                </a:solidFill>
              </a:defRPr>
            </a:pPr>
            <a:r>
              <a:t>• Các họ protein lớn chứa từ 16 đến 74 chuỗi với độ dài lên đến 1,598 ký tự.</a:t>
            </a:r>
          </a:p>
          <a:p>
            <a:pPr>
              <a:spcBef>
                <a:spcPts val="800"/>
              </a:spcBef>
              <a:defRPr sz="1200">
                <a:solidFill>
                  <a:srgbClr val="475569"/>
                </a:solidFill>
              </a:defRPr>
            </a:pPr>
            <a:r>
              <a:t>• Tập kiểm thử đại diện: BB20001 (16 chuỗi), BB20002 (20 chuỗi dài), BB20003 (74 chuỗi, 596,921 cặp so sánh!).</a:t>
            </a:r>
          </a:p>
          <a:p>
            <a:pPr>
              <a:spcBef>
                <a:spcPts val="800"/>
              </a:spcBef>
              <a:defRPr sz="1200">
                <a:solidFill>
                  <a:srgbClr val="475569"/>
                </a:solidFill>
              </a:defRPr>
            </a:pPr>
            <a:r>
              <a:t>• Mục tiêu kiểm thử: Chứng minh khả năng nén bộ nhớ RAM, chống tràn bộ nhớ và đo đạc tăng tốc đa luồng.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KẾT QUẢ THỰC NGHIỆM</a:t>
            </a:r>
          </a:p>
          <a:p>
            <a:pPr>
              <a:defRPr sz="2400" b="1">
                <a:solidFill>
                  <a:srgbClr val="102C57"/>
                </a:solidFill>
                <a:latin typeface="Arial"/>
              </a:defRPr>
            </a:pPr>
            <a:r>
              <a:t>11. Kết Quả Thực Nghiệm 1: Tối Ưu Hóa Bộ Nhớ RAM Đột Phá</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memory_scaling.png"/>
          <p:cNvPicPr>
            <a:picLocks noChangeAspect="1"/>
          </p:cNvPicPr>
          <p:nvPr/>
        </p:nvPicPr>
        <p:blipFill>
          <a:blip r:embed="rId2"/>
          <a:stretch>
            <a:fillRect/>
          </a:stretch>
        </p:blipFill>
        <p:spPr>
          <a:xfrm>
            <a:off x="731520" y="1645920"/>
            <a:ext cx="6858000" cy="4663440"/>
          </a:xfrm>
          <a:prstGeom prst="rect">
            <a:avLst/>
          </a:prstGeom>
        </p:spPr>
      </p:pic>
      <p:sp>
        <p:nvSpPr>
          <p:cNvPr id="5" name="Rounded Rectangle 4"/>
          <p:cNvSpPr/>
          <p:nvPr/>
        </p:nvSpPr>
        <p:spPr>
          <a:xfrm>
            <a:off x="7863840" y="1645920"/>
            <a:ext cx="3596335"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30575" cy="4297680"/>
          </a:xfrm>
          <a:prstGeom prst="rect">
            <a:avLst/>
          </a:prstGeom>
          <a:noFill/>
        </p:spPr>
        <p:txBody>
          <a:bodyPr wrap="square">
            <a:spAutoFit/>
          </a:bodyPr>
          <a:lstStyle/>
          <a:p>
            <a:pPr>
              <a:defRPr sz="1800" b="1">
                <a:solidFill>
                  <a:srgbClr val="102C57"/>
                </a:solidFill>
              </a:defRPr>
            </a:pPr>
            <a:r>
              <a:t>Phân Tích Dữ Liệu</a:t>
            </a:r>
          </a:p>
          <a:p>
            <a:pPr>
              <a:spcBef>
                <a:spcPts val="1000"/>
              </a:spcBef>
            </a:pPr>
            <a:r>
              <a:rPr b="1" sz="1200">
                <a:solidFill>
                  <a:srgbClr val="0D9488"/>
                </a:solidFill>
              </a:rPr>
              <a:t>✔ Nén Bộ nhớ Ngoạn mục:</a:t>
            </a:r>
            <a:r>
              <a:rPr sz="1200">
                <a:solidFill>
                  <a:srgbClr val="475569"/>
                </a:solidFill>
              </a:rPr>
              <a:t>  Giảm dung lượng RAM đỉnh thực tế từ 126.5× đến 1,353.5× so với Gotoh truyền thống.</a:t>
            </a:r>
          </a:p>
          <a:p>
            <a:pPr>
              <a:spcBef>
                <a:spcPts val="1000"/>
              </a:spcBef>
            </a:pPr>
            <a:r>
              <a:rPr b="1" sz="1200">
                <a:solidFill>
                  <a:srgbClr val="0D9488"/>
                </a:solidFill>
              </a:rPr>
              <a:t>✔ Chuỗi Rất Dài (901 aa):</a:t>
            </a:r>
            <a:r>
              <a:rPr sz="1200">
                <a:solidFill>
                  <a:srgbClr val="475569"/>
                </a:solidFill>
              </a:rPr>
              <a:t>  Gotoh tiêu tốn 9.7 MB RAM cho một cặp; Hirschberg chỉ tốn 7.1 KB (Nén 1,353.5 lần!).</a:t>
            </a:r>
          </a:p>
          <a:p>
            <a:pPr>
              <a:spcBef>
                <a:spcPts val="1000"/>
              </a:spcBef>
            </a:pPr>
            <a:r>
              <a:rPr b="1" sz="1200">
                <a:solidFill>
                  <a:srgbClr val="0D9488"/>
                </a:solidFill>
              </a:rPr>
              <a:t>✔ Tương quan Bậc hai:</a:t>
            </a:r>
            <a:r>
              <a:rPr sz="1200">
                <a:solidFill>
                  <a:srgbClr val="475569"/>
                </a:solidFill>
              </a:rPr>
              <a:t>  Chuỗi càng dài, tỷ lệ tiết kiệm bộ nhớ càng tăng theo cấp số nhân O(N² / N) = O(N).</a:t>
            </a:r>
          </a:p>
          <a:p>
            <a:pPr>
              <a:spcBef>
                <a:spcPts val="1000"/>
              </a:spcBef>
            </a:pPr>
            <a:r>
              <a:rPr b="1" sz="1200">
                <a:solidFill>
                  <a:srgbClr val="0D9488"/>
                </a:solidFill>
              </a:rPr>
              <a:t>✔ Bảo toàn Điểm số Tuyệt đối:</a:t>
            </a:r>
            <a:r>
              <a:rPr sz="1200">
                <a:solidFill>
                  <a:srgbClr val="475569"/>
                </a:solidFill>
              </a:rPr>
              <a:t>  Score Match = 100% trên toàn bộ các ca kiểm thử. Thuật toán Hirschberg tìm đúng đường đi tối ưu toàn cục mà không suy hao chất lượng.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KẾT QUẢ THỰC NGHIỆM</a:t>
            </a:r>
          </a:p>
          <a:p>
            <a:pPr>
              <a:defRPr sz="2400" b="1">
                <a:solidFill>
                  <a:srgbClr val="102C57"/>
                </a:solidFill>
                <a:latin typeface="Arial"/>
              </a:defRPr>
            </a:pPr>
            <a:r>
              <a:t>12. Kết Quả Thực Nghiệm 2: Tốc Độ Tăng Tốc Song Song (Speedup)</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speedup_scaling.png"/>
          <p:cNvPicPr>
            <a:picLocks noChangeAspect="1"/>
          </p:cNvPicPr>
          <p:nvPr/>
        </p:nvPicPr>
        <p:blipFill>
          <a:blip r:embed="rId2"/>
          <a:stretch>
            <a:fillRect/>
          </a:stretch>
        </p:blipFill>
        <p:spPr>
          <a:xfrm>
            <a:off x="731520" y="1645920"/>
            <a:ext cx="6858000" cy="4663440"/>
          </a:xfrm>
          <a:prstGeom prst="rect">
            <a:avLst/>
          </a:prstGeom>
        </p:spPr>
      </p:pic>
      <p:sp>
        <p:nvSpPr>
          <p:cNvPr id="5" name="Rounded Rectangle 4"/>
          <p:cNvSpPr/>
          <p:nvPr/>
        </p:nvSpPr>
        <p:spPr>
          <a:xfrm>
            <a:off x="7863840" y="1645920"/>
            <a:ext cx="3596335"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30575" cy="4297680"/>
          </a:xfrm>
          <a:prstGeom prst="rect">
            <a:avLst/>
          </a:prstGeom>
          <a:noFill/>
        </p:spPr>
        <p:txBody>
          <a:bodyPr wrap="square">
            <a:spAutoFit/>
          </a:bodyPr>
          <a:lstStyle/>
          <a:p>
            <a:pPr>
              <a:defRPr sz="1800" b="1">
                <a:solidFill>
                  <a:srgbClr val="102C57"/>
                </a:solidFill>
              </a:defRPr>
            </a:pPr>
            <a:r>
              <a:t>Hiệu Năng Co Giãn</a:t>
            </a:r>
          </a:p>
          <a:p>
            <a:pPr>
              <a:spcBef>
                <a:spcPts val="1000"/>
              </a:spcBef>
            </a:pPr>
            <a:r>
              <a:rPr b="1" sz="1200">
                <a:solidFill>
                  <a:srgbClr val="2563EB"/>
                </a:solidFill>
              </a:rPr>
              <a:t>✔ Tập BB20001 (16 chuỗi):</a:t>
            </a:r>
            <a:r>
              <a:rPr sz="1200">
                <a:solidFill>
                  <a:srgbClr val="475569"/>
                </a:solidFill>
              </a:rPr>
              <a:t>  Thời gian thực thi giảm từ 495.8 ms (1 luồng) xuống 287.0 ms (4 luồng) -&gt; Speedup đạt 1.73x.</a:t>
            </a:r>
          </a:p>
          <a:p>
            <a:pPr>
              <a:spcBef>
                <a:spcPts val="1000"/>
              </a:spcBef>
            </a:pPr>
            <a:r>
              <a:rPr b="1" sz="1200">
                <a:solidFill>
                  <a:srgbClr val="2563EB"/>
                </a:solidFill>
              </a:rPr>
              <a:t>✔ Tập Lớn (40 chuỗi, 780 cặp):</a:t>
            </a:r>
            <a:r>
              <a:rPr sz="1200">
                <a:solidFill>
                  <a:srgbClr val="475569"/>
                </a:solidFill>
              </a:rPr>
              <a:t>  Thời gian giảm từ 5,423.4 ms xuống 3,360.3 ms -&gt; Speedup đạt 1.61x (Vượt mục tiêu ≥ 1.5x của đề tài).</a:t>
            </a:r>
          </a:p>
          <a:p>
            <a:pPr>
              <a:spcBef>
                <a:spcPts val="1000"/>
              </a:spcBef>
            </a:pPr>
            <a:r>
              <a:rPr b="1" sz="1200">
                <a:solidFill>
                  <a:srgbClr val="2563EB"/>
                </a:solidFill>
              </a:rPr>
              <a:t>✔ Hiệu Quả Luồng (Efficiency):</a:t>
            </a:r>
            <a:r>
              <a:rPr sz="1200">
                <a:solidFill>
                  <a:srgbClr val="475569"/>
                </a:solidFill>
              </a:rPr>
              <a:t>  Duy trì hiệu năng cao trên 4 luồng vật lý; hạn chế overhead tranh chấp cache L3 khi mở rộng 8 luồng ảo.</a:t>
            </a:r>
          </a:p>
          <a:p>
            <a:pPr>
              <a:spcBef>
                <a:spcPts val="1000"/>
              </a:spcBef>
            </a:pPr>
            <a:r>
              <a:rPr b="1" sz="1200">
                <a:solidFill>
                  <a:srgbClr val="2563EB"/>
                </a:solidFill>
              </a:rPr>
              <a:t>✔ Khớp với Mô hình Lý thuyết:</a:t>
            </a:r>
            <a:r>
              <a:rPr sz="1200">
                <a:solidFill>
                  <a:srgbClr val="475569"/>
                </a:solidFill>
              </a:rPr>
              <a:t>  Đồ thị thực nghiệm bám sát đường cong dự đoán của Định luật Amdahl (f = 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KẾT QUẢ THỰC NGHIỆM</a:t>
            </a:r>
          </a:p>
          <a:p>
            <a:pPr>
              <a:defRPr sz="2400" b="1">
                <a:solidFill>
                  <a:srgbClr val="102C57"/>
                </a:solidFill>
                <a:latin typeface="Arial"/>
              </a:defRPr>
            </a:pPr>
            <a:r>
              <a:t>13. Kết Quả Thực Nghiệm 3: Độ Chính Xác Sinh Học SP &amp; TC Scores</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balibase_accuracy.png"/>
          <p:cNvPicPr>
            <a:picLocks noChangeAspect="1"/>
          </p:cNvPicPr>
          <p:nvPr/>
        </p:nvPicPr>
        <p:blipFill>
          <a:blip r:embed="rId2"/>
          <a:stretch>
            <a:fillRect/>
          </a:stretch>
        </p:blipFill>
        <p:spPr>
          <a:xfrm>
            <a:off x="731520" y="1645920"/>
            <a:ext cx="6858000" cy="4663440"/>
          </a:xfrm>
          <a:prstGeom prst="rect">
            <a:avLst/>
          </a:prstGeom>
        </p:spPr>
      </p:pic>
      <p:sp>
        <p:nvSpPr>
          <p:cNvPr id="5" name="Rounded Rectangle 4"/>
          <p:cNvSpPr/>
          <p:nvPr/>
        </p:nvSpPr>
        <p:spPr>
          <a:xfrm>
            <a:off x="7863840" y="1645920"/>
            <a:ext cx="3596335"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30575" cy="4297680"/>
          </a:xfrm>
          <a:prstGeom prst="rect">
            <a:avLst/>
          </a:prstGeom>
          <a:noFill/>
        </p:spPr>
        <p:txBody>
          <a:bodyPr wrap="square">
            <a:spAutoFit/>
          </a:bodyPr>
          <a:lstStyle/>
          <a:p>
            <a:pPr>
              <a:defRPr sz="1800" b="1">
                <a:solidFill>
                  <a:srgbClr val="102C57"/>
                </a:solidFill>
              </a:defRPr>
            </a:pPr>
            <a:r>
              <a:t>Đánh Giá Sinh Học</a:t>
            </a:r>
          </a:p>
          <a:p>
            <a:pPr>
              <a:spcBef>
                <a:spcPts val="1000"/>
              </a:spcBef>
            </a:pPr>
            <a:r>
              <a:rPr b="1" sz="1200">
                <a:solidFill>
                  <a:srgbClr val="059669"/>
                </a:solidFill>
              </a:rPr>
              <a:t>✔ Bộ RV12 (Tự nhiên 20-40% ID):</a:t>
            </a:r>
            <a:r>
              <a:rPr sz="1200">
                <a:solidFill>
                  <a:srgbClr val="475569"/>
                </a:solidFill>
              </a:rPr>
              <a:t>  Đạt độ chính xác sinh học rất cao: SP-score trung bình đạt 0.8684 (86.8%) và TC-score đạt 0.6806 (68.1%).</a:t>
            </a:r>
          </a:p>
          <a:p>
            <a:pPr>
              <a:spcBef>
                <a:spcPts val="1000"/>
              </a:spcBef>
            </a:pPr>
            <a:r>
              <a:rPr b="1" sz="1200">
                <a:solidFill>
                  <a:srgbClr val="059669"/>
                </a:solidFill>
              </a:rPr>
              <a:t>✔ Điểm Sáng BB11001 &amp; BB12003:</a:t>
            </a:r>
            <a:r>
              <a:rPr sz="1200">
                <a:solidFill>
                  <a:srgbClr val="475569"/>
                </a:solidFill>
              </a:rPr>
              <a:t>  SP-score đạt 0.9825 và 0.9295, gần như tương đương hoàn hảo với căn chỉnh chuẩn thủ công bằng cấu trúc tia X.</a:t>
            </a:r>
          </a:p>
          <a:p>
            <a:pPr>
              <a:spcBef>
                <a:spcPts val="1000"/>
              </a:spcBef>
            </a:pPr>
            <a:r>
              <a:rPr b="1" sz="1200">
                <a:solidFill>
                  <a:srgbClr val="059669"/>
                </a:solidFill>
              </a:rPr>
              <a:t>✔ Tập Khổng Lồ BB20003 (74 chuỗi):</a:t>
            </a:r>
            <a:r>
              <a:rPr sz="1200">
                <a:solidFill>
                  <a:srgbClr val="475569"/>
                </a:solidFill>
              </a:rPr>
              <a:t>  Đạt SP-score ấn tượng 0.9200 (Căn chỉnh chính xác 549,190 trên tổng số 596,921 cặp!).</a:t>
            </a:r>
          </a:p>
          <a:p>
            <a:pPr>
              <a:spcBef>
                <a:spcPts val="1000"/>
              </a:spcBef>
            </a:pPr>
            <a:r>
              <a:rPr b="1" sz="1200">
                <a:solidFill>
                  <a:srgbClr val="059669"/>
                </a:solidFill>
              </a:rPr>
              <a:t>✔ Khẳng định:</a:t>
            </a:r>
            <a:r>
              <a:rPr sz="1200">
                <a:solidFill>
                  <a:srgbClr val="475569"/>
                </a:solidFill>
              </a:rPr>
              <a:t>  Kỹ thuật Hirschberg bảo tồn nguyên vẹn độ chính xác sinh học, cung cấp kết quả tin cậy cho nghiên cứu tiến hóa và cấu trúc.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SO SÁNH ĐỐI SÁNH</a:t>
            </a:r>
          </a:p>
          <a:p>
            <a:pPr>
              <a:defRPr sz="2400" b="1">
                <a:solidFill>
                  <a:srgbClr val="102C57"/>
                </a:solidFill>
                <a:latin typeface="Arial"/>
              </a:defRPr>
            </a:pPr>
            <a:r>
              <a:t>14. Đánh Giá Đối Sánh Với Các Công Cụ Tiêu Chuẩn Quốc Tế</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_tools_comparison.png"/>
          <p:cNvPicPr>
            <a:picLocks noChangeAspect="1"/>
          </p:cNvPicPr>
          <p:nvPr/>
        </p:nvPicPr>
        <p:blipFill>
          <a:blip r:embed="rId2"/>
          <a:stretch>
            <a:fillRect/>
          </a:stretch>
        </p:blipFill>
        <p:spPr>
          <a:xfrm>
            <a:off x="731520" y="1645920"/>
            <a:ext cx="6858000" cy="4663440"/>
          </a:xfrm>
          <a:prstGeom prst="rect">
            <a:avLst/>
          </a:prstGeom>
        </p:spPr>
      </p:pic>
      <p:sp>
        <p:nvSpPr>
          <p:cNvPr id="5" name="Rounded Rectangle 4"/>
          <p:cNvSpPr/>
          <p:nvPr/>
        </p:nvSpPr>
        <p:spPr>
          <a:xfrm>
            <a:off x="7863840" y="1645920"/>
            <a:ext cx="3596335"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828800"/>
            <a:ext cx="3230575" cy="4297680"/>
          </a:xfrm>
          <a:prstGeom prst="rect">
            <a:avLst/>
          </a:prstGeom>
          <a:noFill/>
        </p:spPr>
        <p:txBody>
          <a:bodyPr wrap="square">
            <a:spAutoFit/>
          </a:bodyPr>
          <a:lstStyle/>
          <a:p>
            <a:pPr>
              <a:defRPr sz="1800" b="1">
                <a:solidFill>
                  <a:srgbClr val="102C57"/>
                </a:solidFill>
              </a:defRPr>
            </a:pPr>
            <a:r>
              <a:t>Ưu Thế Cạnh Tranh</a:t>
            </a:r>
          </a:p>
          <a:p>
            <a:pPr>
              <a:spcBef>
                <a:spcPts val="1000"/>
              </a:spcBef>
            </a:pPr>
            <a:r>
              <a:rPr b="1" sz="1200">
                <a:solidFill>
                  <a:srgbClr val="D97706"/>
                </a:solidFill>
              </a:rPr>
              <a:t>✔ Vượt trội về Bộ nhớ:</a:t>
            </a:r>
            <a:r>
              <a:rPr sz="1200">
                <a:solidFill>
                  <a:srgbClr val="475569"/>
                </a:solidFill>
              </a:rPr>
              <a:t>  Trên tập BB20001, Nhóm 5 chỉ sử dụng 26.8 MB RAM đỉnh, thấp hơn gần một nửa so với ClustalW (48.5 MB) và MUSCLE (52.0 MB), và thấp hơn 12 lần so với Gotoh DP gốc (320 MB).</a:t>
            </a:r>
          </a:p>
          <a:p>
            <a:pPr>
              <a:spcBef>
                <a:spcPts val="1000"/>
              </a:spcBef>
            </a:pPr>
            <a:r>
              <a:rPr b="1" sz="1200">
                <a:solidFill>
                  <a:srgbClr val="D97706"/>
                </a:solidFill>
              </a:rPr>
              <a:t>✔ Độ Chính xác Cạnh tranh:</a:t>
            </a:r>
            <a:r>
              <a:rPr sz="1200">
                <a:solidFill>
                  <a:srgbClr val="475569"/>
                </a:solidFill>
              </a:rPr>
              <a:t>  Chỉ số SP-score đạt 0.488, cao hơn ClustalW 2.1 (0.472) và tiệm cận MUSCLE (0.495).</a:t>
            </a:r>
          </a:p>
          <a:p>
            <a:pPr>
              <a:spcBef>
                <a:spcPts val="1000"/>
              </a:spcBef>
            </a:pPr>
            <a:r>
              <a:rPr b="1" sz="1200">
                <a:solidFill>
                  <a:srgbClr val="D97706"/>
                </a:solidFill>
              </a:rPr>
              <a:t>✔ Khả năng Triển khai Đa nền tảng:</a:t>
            </a:r>
            <a:r>
              <a:rPr sz="1200">
                <a:solidFill>
                  <a:srgbClr val="475569"/>
                </a:solidFill>
              </a:rPr>
              <a:t>  Tích hợp sẵn MPI phân tán cho cụm máy tính HPC mà ClustalW bản chuẩn không hỗ trợ.</a:t>
            </a:r>
          </a:p>
          <a:p>
            <a:pPr>
              <a:spcBef>
                <a:spcPts val="1000"/>
              </a:spcBef>
            </a:pPr>
            <a:r>
              <a:rPr b="1" sz="1200">
                <a:solidFill>
                  <a:srgbClr val="D97706"/>
                </a:solidFill>
              </a:rPr>
              <a:t>✔ Kiến trúc Mã nguồn:</a:t>
            </a:r>
            <a:r>
              <a:rPr sz="1200">
                <a:solidFill>
                  <a:srgbClr val="475569"/>
                </a:solidFill>
              </a:rPr>
              <a:t>  Thiết kế C++17 modular, hiện đại, dễ bảo trì và tích hợp vào các pipeline tin sinh học mới.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0D9488"/>
                </a:solidFill>
                <a:latin typeface="Calibri"/>
              </a:defRPr>
            </a:pPr>
            <a:r>
              <a:t>KẾT LUẬN</a:t>
            </a:r>
          </a:p>
          <a:p>
            <a:pPr>
              <a:defRPr sz="2400" b="1">
                <a:solidFill>
                  <a:srgbClr val="102C57"/>
                </a:solidFill>
                <a:latin typeface="Arial"/>
              </a:defRPr>
            </a:pPr>
            <a:r>
              <a:t>15. Tổng Kết Đóng Góp Khoa Học &amp; Hướng Phát Triển</a:t>
            </a:r>
          </a:p>
        </p:txBody>
      </p:sp>
      <p:sp>
        <p:nvSpPr>
          <p:cNvPr id="3" name="Rectangle 2"/>
          <p:cNvSpPr/>
          <p:nvPr/>
        </p:nvSpPr>
        <p:spPr>
          <a:xfrm>
            <a:off x="731520" y="137160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97680"/>
          </a:xfrm>
          <a:prstGeom prst="rect">
            <a:avLst/>
          </a:prstGeom>
          <a:noFill/>
        </p:spPr>
        <p:txBody>
          <a:bodyPr wrap="square">
            <a:spAutoFit/>
          </a:bodyPr>
          <a:lstStyle/>
          <a:p>
            <a:pPr>
              <a:defRPr sz="1800" b="1">
                <a:solidFill>
                  <a:srgbClr val="102C57"/>
                </a:solidFill>
              </a:defRPr>
            </a:pPr>
            <a:r>
              <a:t>Đóng Góp Khoa Học Của Nhóm 5</a:t>
            </a:r>
          </a:p>
          <a:p>
            <a:pPr>
              <a:spcBef>
                <a:spcPts val="1000"/>
              </a:spcBef>
            </a:pPr>
            <a:r>
              <a:rPr b="1" sz="1250">
                <a:solidFill>
                  <a:srgbClr val="0F172A"/>
                </a:solidFill>
              </a:rPr>
              <a:t>★ 1. Tối ưu Không gian Tuyệt đối:</a:t>
            </a:r>
            <a:r>
              <a:rPr sz="1250">
                <a:solidFill>
                  <a:srgbClr val="475569"/>
                </a:solidFill>
              </a:rPr>
              <a:t>  Chứng minh toán học và triển khai thành công thuật toán Hirschberg / Myers-Miller nén bộ nhớ về O(k·N), giảm RAM đỉnh tới 1,353.5 lần.</a:t>
            </a:r>
          </a:p>
          <a:p>
            <a:pPr>
              <a:spcBef>
                <a:spcPts val="1000"/>
              </a:spcBef>
            </a:pPr>
            <a:r>
              <a:rPr b="1" sz="1250">
                <a:solidFill>
                  <a:srgbClr val="0F172A"/>
                </a:solidFill>
              </a:rPr>
              <a:t>★ 2. Khung Song song Đa cấp Hoàn chỉnh:</a:t>
            </a:r>
            <a:r>
              <a:rPr sz="1250">
                <a:solidFill>
                  <a:srgbClr val="475569"/>
                </a:solidFill>
              </a:rPr>
              <a:t>  Kết hợp nhịp nhàng OpenMP Dynamic Scheduling, Wavefront Tree Scheduler và MPI Block-Cyclic phân tán.</a:t>
            </a:r>
          </a:p>
          <a:p>
            <a:pPr>
              <a:spcBef>
                <a:spcPts val="1000"/>
              </a:spcBef>
            </a:pPr>
            <a:r>
              <a:rPr b="1" sz="1250">
                <a:solidFill>
                  <a:srgbClr val="0F172A"/>
                </a:solidFill>
              </a:rPr>
              <a:t>★ 3. Đánh giá Thực nghiệm Nghiêm ngặt:</a:t>
            </a:r>
            <a:r>
              <a:rPr sz="1250">
                <a:solidFill>
                  <a:srgbClr val="475569"/>
                </a:solidFill>
              </a:rPr>
              <a:t>  Kiểm nghiệm 100% trên dữ liệu thật BAliBASE 3.0 với 13 test suites chuẩn.</a:t>
            </a:r>
          </a:p>
          <a:p>
            <a:pPr>
              <a:spcBef>
                <a:spcPts val="1000"/>
              </a:spcBef>
            </a:pPr>
            <a:r>
              <a:rPr b="1" sz="1250">
                <a:solidFill>
                  <a:srgbClr val="0F172A"/>
                </a:solidFill>
              </a:rPr>
              <a:t>★ 4. Sản phẩm Bàn giao Đầy đủ:</a:t>
            </a:r>
            <a:r>
              <a:rPr sz="1250">
                <a:solidFill>
                  <a:srgbClr val="475569"/>
                </a:solidFill>
              </a:rPr>
              <a:t>  Mã nguồn C++17 sạch, 108 unit tests pass 100%, file Excel tổng hợp chuyên nghiệp và báo cáo học thuật 35 trang.</a:t>
            </a:r>
          </a:p>
        </p:txBody>
      </p:sp>
      <p:sp>
        <p:nvSpPr>
          <p:cNvPr id="6" name="Rounded Rectangle 5"/>
          <p:cNvSpPr/>
          <p:nvPr/>
        </p:nvSpPr>
        <p:spPr>
          <a:xfrm>
            <a:off x="6217920" y="1645920"/>
            <a:ext cx="5212080" cy="46634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97680"/>
          </a:xfrm>
          <a:prstGeom prst="rect">
            <a:avLst/>
          </a:prstGeom>
          <a:noFill/>
        </p:spPr>
        <p:txBody>
          <a:bodyPr wrap="square">
            <a:spAutoFit/>
          </a:bodyPr>
          <a:lstStyle/>
          <a:p>
            <a:pPr>
              <a:defRPr sz="1800" b="1">
                <a:solidFill>
                  <a:srgbClr val="0D9488"/>
                </a:solidFill>
              </a:defRPr>
            </a:pPr>
            <a:r>
              <a:t>Hướng Phát Triển Tương Lai</a:t>
            </a:r>
          </a:p>
          <a:p>
            <a:pPr>
              <a:spcBef>
                <a:spcPts val="1000"/>
              </a:spcBef>
            </a:pPr>
            <a:r>
              <a:rPr b="1" sz="1250">
                <a:solidFill>
                  <a:srgbClr val="0D9488"/>
                </a:solidFill>
              </a:rPr>
              <a:t>✦ 1. Tăng tốc Phần cứng GPU CUDA / AVX-512:</a:t>
            </a:r>
            <a:r>
              <a:rPr sz="1250">
                <a:solidFill>
                  <a:srgbClr val="475569"/>
                </a:solidFill>
              </a:rPr>
              <a:t>  Áp dụng véc-tơ hóa SIMD (AVX-512) để tính ma trận thay thế BLOSUM62 song song 16 amino acids cùng lúc trên mỗi clock cycle.</a:t>
            </a:r>
          </a:p>
          <a:p>
            <a:pPr>
              <a:spcBef>
                <a:spcPts val="1000"/>
              </a:spcBef>
            </a:pPr>
            <a:r>
              <a:rPr b="1" sz="1250">
                <a:solidFill>
                  <a:srgbClr val="0D9488"/>
                </a:solidFill>
              </a:rPr>
              <a:t>✦ 2. Tinh chỉnh Căn chỉnh Lặp (Iterative Refinement):</a:t>
            </a:r>
            <a:r>
              <a:rPr sz="1250">
                <a:solidFill>
                  <a:srgbClr val="475569"/>
                </a:solidFill>
              </a:rPr>
              <a:t>  Kết hợp phương pháp phân rã tập hợp chuỗi (Partitioning) và tinh chỉnh lặp tương tự MUSCLE để nâng cao hơn nữa TC-score trên họ chuỗi lớn.</a:t>
            </a:r>
          </a:p>
          <a:p>
            <a:pPr>
              <a:spcBef>
                <a:spcPts val="1000"/>
              </a:spcBef>
            </a:pPr>
            <a:r>
              <a:rPr b="1" sz="1250">
                <a:solidFill>
                  <a:srgbClr val="0D9488"/>
                </a:solidFill>
              </a:rPr>
              <a:t>✦ 3. Tích hợp Học Sâu (Deep Learning Aligner):</a:t>
            </a:r>
            <a:r>
              <a:rPr sz="1250">
                <a:solidFill>
                  <a:srgbClr val="475569"/>
                </a:solidFill>
              </a:rPr>
              <a:t>  Ứng dụng Protein Language Models (ESM-2, ProtTrans) để sinh embedding biểu diễn ngữ nghĩa chuỗi, thay thế bảng điểm BLOSUM62 truyền thống.</a:t>
            </a:r>
          </a:p>
          <a:p>
            <a:pPr>
              <a:spcBef>
                <a:spcPts val="1000"/>
              </a:spcBef>
            </a:pPr>
            <a:r>
              <a:rPr b="1" sz="1250">
                <a:solidFill>
                  <a:srgbClr val="0D9488"/>
                </a:solidFill>
              </a:rPr>
              <a:t>✦ 4. Đóng gói Container Đám Mây:</a:t>
            </a:r>
            <a:r>
              <a:rPr sz="1250">
                <a:solidFill>
                  <a:srgbClr val="475569"/>
                </a:solidFill>
              </a:rPr>
              <a:t>  Xây dựng Docker container và Helm chart để triển khai pipeline tự động trên hạ tầng Kubernetes / Slurm Cluster.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3657600"/>
          </a:xfrm>
          <a:prstGeom prst="rect">
            <a:avLst/>
          </a:prstGeom>
          <a:noFill/>
        </p:spPr>
        <p:txBody>
          <a:bodyPr wrap="square">
            <a:spAutoFit/>
          </a:bodyPr>
          <a:lstStyle/>
          <a:p>
            <a:pPr algn="ctr">
              <a:defRPr sz="3200" b="1">
                <a:solidFill>
                  <a:srgbClr val="FFFFFF"/>
                </a:solidFill>
              </a:defRPr>
            </a:pPr>
            <a:r>
              <a:t>XIN TRÂN TRỌNG CẢM ƠN THẦY VÀ CÁC BẠN!</a:t>
            </a:r>
          </a:p>
          <a:p>
            <a:pPr algn="ctr">
              <a:spcBef>
                <a:spcPts val="2000"/>
              </a:spcBef>
              <a:defRPr sz="2200" b="1">
                <a:solidFill>
                  <a:srgbClr val="0D9488"/>
                </a:solidFill>
              </a:defRPr>
            </a:pPr>
            <a:r>
              <a:t>PHIÊN HỎI ĐÁP &amp; ĐÓNG GÓP Ý KIẾN (Q&amp;A)</a:t>
            </a:r>
          </a:p>
          <a:p>
            <a:pPr algn="ctr">
              <a:spcBef>
                <a:spcPts val="3000"/>
              </a:spcBef>
              <a:defRPr sz="1500">
                <a:solidFill>
                  <a:srgbClr val="CBD5E1"/>
                </a:solidFill>
              </a:defRPr>
            </a:pPr>
            <a:r>
              <a:t>Nhóm 5: Đề tài Căn chỉnh Đa chuỗi Gen (MSA) Chia để trị Song song C++17</a:t>
            </a:r>
            <a:br/>
            <a:r>
              <a:t>Mã nguồn dự án &amp; Toàn bộ Dữ liệu Thực nghiệm đã được đóng gói hoàn tất tại Kho lưu trữ 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