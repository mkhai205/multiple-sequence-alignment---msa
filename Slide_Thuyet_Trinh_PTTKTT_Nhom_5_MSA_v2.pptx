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y="5143500" cx="9144000"/>
  <p:notesSz cx="6858000" cy="9144000"/>
  <p:embeddedFontLst>
    <p:embeddedFont>
      <p:font typeface="Roboto"/>
      <p:regular r:id="rId34"/>
      <p:bold r:id="rId35"/>
      <p:italic r:id="rId36"/>
      <p:boldItalic r:id="rId37"/>
    </p:embeddedFont>
    <p:embeddedFont>
      <p:font typeface="Roboto Mono"/>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1EB62E4-34B7-4E4F-A14F-2A7B1CF5AB84}">
  <a:tblStyle styleId="{F1EB62E4-34B7-4E4F-A14F-2A7B1CF5AB84}"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Mono-italic.fntdata"/><Relationship Id="rId20" Type="http://schemas.openxmlformats.org/officeDocument/2006/relationships/slide" Target="slides/slide14.xml"/><Relationship Id="rId41" Type="http://schemas.openxmlformats.org/officeDocument/2006/relationships/font" Target="fonts/RobotoMono-boldItalic.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Roboto-bold.fntdata"/><Relationship Id="rId12" Type="http://schemas.openxmlformats.org/officeDocument/2006/relationships/slide" Target="slides/slide6.xml"/><Relationship Id="rId34" Type="http://schemas.openxmlformats.org/officeDocument/2006/relationships/font" Target="fonts/Roboto-regular.fntdata"/><Relationship Id="rId15" Type="http://schemas.openxmlformats.org/officeDocument/2006/relationships/slide" Target="slides/slide9.xml"/><Relationship Id="rId37" Type="http://schemas.openxmlformats.org/officeDocument/2006/relationships/font" Target="fonts/Roboto-boldItalic.fntdata"/><Relationship Id="rId14" Type="http://schemas.openxmlformats.org/officeDocument/2006/relationships/slide" Target="slides/slide8.xml"/><Relationship Id="rId36" Type="http://schemas.openxmlformats.org/officeDocument/2006/relationships/font" Target="fonts/Roboto-italic.fntdata"/><Relationship Id="rId17" Type="http://schemas.openxmlformats.org/officeDocument/2006/relationships/slide" Target="slides/slide11.xml"/><Relationship Id="rId39" Type="http://schemas.openxmlformats.org/officeDocument/2006/relationships/font" Target="fonts/RobotoMono-bold.fntdata"/><Relationship Id="rId16" Type="http://schemas.openxmlformats.org/officeDocument/2006/relationships/slide" Target="slides/slide10.xml"/><Relationship Id="rId38" Type="http://schemas.openxmlformats.org/officeDocument/2006/relationships/font" Target="fonts/RobotoMono-regular.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
              <a:t>Xin chào Thầy/Cô và các bạn. Hôm nay Nhóm 5 xin trình bày đồ án môn Phân tích và Thiết kế Thuật toán: Thuật toán Chia để trị Song song kết hợp Quy hoạch động cho Căn chỉnh Đa chuỗi Protein/ADN (MSA).</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slide_179273516546778610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slide_179273516546778610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
              <a:t>Trước khi đi vào thuật toán, nhóm xin giải thích rõ bản chất sinh học của bài toán. Mỗi phân tử Protein là một chuỗi văn bản gồm 20 chữ cái đại diện cho 20 loại Amino Acid. Qua hàng triệu năm tiến hóa từ một tổ tiên chung, có 2 loại đột biến xảy ra: (1) Đột biến thay thế làm đổi chữ cái này sang chữ cái khác, và (2) Đột biến mất đoạn hoặc thêm đoạn (gọi tắt là Indel) làm các chuỗi bị hụt hoặc dư độ dài. Khi đưa vào máy tính, các chuỗi này bị lệch pha nhau. Việc thuật toán chèn ký tự gạch ngang '-' (Gap) chính là đánh dấu vị trí đã xảy ra đột biến mất đoạn để kéo các chữ cái có cùng nguồn gốc tiến hóa thẳng hàng về cùng một cột.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slide_179273516546838960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slide_179273516546838960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
              <a:t>Slide này phát biểu tường minh bài toán theo chuẩn Khoa học máy tính: Cho cái gì và Yêu cầu tìm cái gì? Đầu vào (Input) là k chuỗi có độ dài ngắn dài khác nhau cùng bảng điểm BLOSUM62. Yêu cầu (Output) là chèn các dấu gạch ngang '-' để biến k chuỗi đó thành một ma trận chữ nhật k hàng nhân L cột thỏa mãn 3 ràng buộc: cùng độ dài L, giữ nguyên thứ tự chữ cái gốc khi bỏ dấu '-', không có cột nào chứa toàn dấu '-', và đạt tổng điểm tương đồng cặp đôi Sum-of-Pairs lớn nhất.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slide_179273516546838960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slide_179273516546838960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
              <a:t>Slide này giải thích tại sao bài toán MSA phức tạp hơn bài toán Xâu con chung dài nhất (LCS) thông thường ở hai điểm: Thứ nhất là bảng điểm BLOSUM62 đánh trọng số theo tính chất hóa học của 20 loại Amino Acid; ví dụ I và V cùng kỵ nước thay thế cho nhau vẫn được cộng 3 điểm. Thứ hai là hàm phạt khoảng trống Affine: mở khoảng trống đầu tiên bị phạt rất nặng (-10), nhưng nối dài khoảng trống đó chỉ phạt (-1). Ví dụ ở cột phải cho thấy: cùng chèn 3 dấu gạch ngang, nếu xé lẻ ở 3 nơi sẽ bị phạt -30 điểm, còn gom lại thành 1 đoạn liền nhau chỉ bị phạt -12 điểm.</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slide_179273516546838960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slide_179273516546838960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
              <a:t>Tại sao bài toán MSA lại là một thách thức kinh điển của môn Phân tích và Thiết kế Thuật toán? Vì nếu giải chính xác bằng quy hoạch động k chiều, độ phức tạp là O(2^k * N^k) thuộc lớp NP-Hard. Còn nếu giải từng cặp bằng thuật toán Gotoh truyền thống thì lại vướng nút thắt bộ nhớ bậc hai O(mn). Nhóm 5 giải quyết trọn vẹn cả hai vấn đề bằng 3 trụ cột ở khung màu xanh bên dưới.</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slide_179273516546838960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slide_179273516546838960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
              <a:t>Trên màn hình là sơ đồ kiến trúc tổng thể 4 giai đoạn của hệ thống được hiển thị toàn màn hình. Bước 1 tính ma trận khoảng cách cho k(k-1)/2 cặp chuỗi bằng DP 1 chiều. Bước 2 dùng thuật toán gom cụm UPGMA để dựng cây hướng dẫn nhị phân. Bước 3 phân tích các nhánh cây độc lập để lập lịch song song. Và Bước 4 đi từ lá lên gốc, hợp nhất từng cặp Profile bằng thuật toán chia để trị Myers-Miller.</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slide_179273516546838960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slide_179273516546838960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
              <a:t>Để xử lý hàm phạt khoảng trống Affine, tại mỗi ô (i, j) ta cần biết bước trước đó đang ở trạng thái khớp ký tự hay đang ở sẵn trong một khoảng trống. Do đó Gotoh (1982) dùng 3 bảng quy hoạch động M, Ix, Iy. Nhận xét quan trọng nhất ở cột phải là: để tính điểm, dòng thứ i chỉ cần nhìn lên dòng i-1, tức chỉ tốn O(n) bộ nhớ. Toàn bộ chi phí bộ nhớ O(mn) của Gotoh chỉ phục vụ một việc duy nhất là truy vết đường đi. Vậy làm sao truy vết mà không cần lưu bảng 2D? Đó chính là thuật toán Chia để trị Myers-Miller ở slide tiếp theo.</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slide_179273516546838960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slide_179273516546838960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
              <a:t>Slide này trình bày chi tiết 4 bước của thuật toán Chia để trị Myers-Miller. Sau khi cắt đôi ma trận tại dòng i* = m/2, ta dùng DP 2 hàng quét từ trên xuống dòng giữa để lấy vector Fwd, và quét từ dưới lên dòng giữa để lấy vector Bwd. Tại dòng giữa i*, cột j* nào có tổng điểm Fwd + Bwd lớn nhất chính là giao điểm mà đường đi tối ưu đi qua. Đặc biệt, công thức số 2 xử lý chính xác trường hợp một khoảng trống đi xuyên qua nhát cắt bằng cách trừ G_open và cộng G_ext để không phạt mở khoảng trống 2 lần.</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slide_179273516546838960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slide_179273516546838960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
              <a:t>Trên hình minh họa toàn màn hình này, Thầy/Cô và các bạn có thể thấy rõ trực quan hình học của thuật toán: Lượt quét xuôi (màu xanh dương) từ góc trên trái xuống dòng giữa i*, lượt quét ngược (màu cam) từ góc dưới phải lên dòng giữa i*. Sau khi tìm được giao điểm tối ưu (i*, j*), đường đi tối ưu chỉ có thể đi trong 2 ô chữ nhật con (góc trên-trái và góc dưới-phải). Hai phần diện tích còn lại bị loại bỏ hoàn toàn, giúp tổng diện tích cần tính ở bước đệ quy tiếp theo giảm đi đúng một nửa!</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slide_179273516546838960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slide_179273516546838960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
              <a:t>Sau khi biết cách căn chỉnh 2 chuỗi bằng Myers-Miller, câu hỏi tiếp theo là: với k chuỗi thì ta căn chỉnh cặp nào trước, cặp nào sau? Nếu ghép ngẫu nhiên hai chuỗi rất khác nhau trước, các khoảng trống sai lệch sẽ phát sinh. Do đó hệ thống tính khoảng cách tiến hóa chuẩn hóa d(A,B) thuộc đoạn [0, 1] và dùng thuật toán gom cụm phân cấp UPGMA để luôn ghép các cặp chuỗi họ hàng gần nhất trước, tạo thành cây nhị phân dẫn đường.</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slide_179273516546838960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slide_179273516546838960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
              <a:t>Hình minh họa toàn màn hình này thể hiện trực quan cách thuật toán UPGMA chuyển đổi ma trận khoảng cách cặp đôi thành cây nhị phân hướng dẫn. Các chuỗi có khoảng cách nhỏ nhất được gom cụm ở tầng dưới cùng, sau đó khoảng cách được cập nhật theo trung bình trọng số để dựng tiếp các tầng bên trên cho tới nút gốc.</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slide_179273516546838960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slide_179273516546838960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
              <a:t>Khi đi từ lá lên các nút nhánh bên trong cây UPGMA, bài toán không còn là căn chỉnh 2 chuỗi đơn lẻ mà là căn chỉnh 1 nhóm chuỗi đã căn chỉnh (Profile P1) với 1 nhóm chuỗi khác (Profile P2). Nhóm giải quyết bằng cách coi mỗi cột của Profile như một phần tử và định nghĩa hàm điểm trung bình giữa 2 cột PSP(x, y). Đặc biệt, khi chèn khoảng trống vào một Profile, cả một cột toàn dấu '-' được chèn đồng bộ vào mọi chuỗi trong Profile đó theo quy tắc 'Once a gap, always a gap' để giữ nguyên cấu trúc đã căn chỉnh ở bước trước.</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slide_179273516546838960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slide_179273516546838960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
              <a:t>Sơ đồ toàn màn hình này minh họa trực quan quá trình hợp nhất 2 Profile. Mỗi cột của Profile 1 được đối sánh với mỗi cột của Profile 2 bằng thuật toán chia để trị không gian tuyến tính Myers-Miller, và các cột khoảng trống được chèn xuyên suốt toàn bộ các chuỗi thành viên.</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slide_179273516546891150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slide_179273516546891150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
              <a:t>Bước sang Phần 3 về tính toán song song. Sơ đồ toàn màn hình trên slide thể hiện kiến trúc Hybrid kết hợp MPI và OpenMP xuyên suốt các giai đoạn. Ở Giai đoạn 1, k(k-1)/2 cặp chuỗi hoàn toàn độc lập dữ liệu nên được phân tán đều qua các Node mạng bằng kỹ thuật chia vòng tròn Block-Cyclic trên MPI và chia luồng động schedule(dynamic, 1) trên OpenMP.</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slide_179273516546891150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slide_179273516546891150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
              <a:t>Trong quy hoạch động, ô (i, j) phụ thuộc vào 3 ô (i-1, j), (i, j-1) và (i-1, j-1) nên không thể chạy song song theo hàng ngang hay cột dọc. Tuy nhiên, như hình minh họa lớn trên slide, tất cả các ô nằm trên cùng một đường chéo phụ (i + j = hằng số d) lại hoàn toàn độc lập với nhau! Nhờ đó ta có thể tính song song toàn bộ các ô trên mặt sóng đường chéo d chỉ từ 2 đường chéo liền trước.</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slide_179273516546891150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slide_179273516546891150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
              <a:t>Đây là slide chứng minh toán học quan trọng nhất của báo cáo. Bên trái chứng minh bộ nhớ đạt O(min(m,n)) vì các vector 1 chiều được giải phóng trước khi đi vào nhánh đệ quy. Bên phải giải đáp thắc mắc kinh điển: tại sao chia để trị log₂(m) tầng mà thời gian không bị nhân thêm log₂(m)? Nhờ j* + (n - j*) luôn bằng đúng n, tổng diện tích các bài toán con ở mỗi tầng giảm đi đúng một nửa: 1 + 1/2 + 1/4 + 1/8 + ... hội tụ về đúng bằng 2! Tức là thời gian chỉ tăng gấp đôi hằng số (2x) nhưng tiết kiệm bộ nhớ hàng nghìn lần.</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slide_179273516546891150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slide_179273516546891150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
              <a:t>Bảng tổng hợp trên slide đối chiếu toàn diện độ phức tạp của từng giai đoạn. Không gian bộ nhớ tổng thể của toàn hệ thống chỉ còn O(k*L), tức tuyến tính theo kích thước đầu ra. Ở bên dưới là phân tích hiệu năng song song theo Định luật Amdahl và Gustafson.</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slide_179273516546891150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slide_179273516546891150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
              <a:t>Bước sang Phần 4 — Thực nghiệm trên bộ dữ liệu chuẩn quốc tế BAliBASE 3.0. Biểu đồ toàn màn hình đầu tiên đối chiếu dung lượng RAM đỉnh giữa Gotoh truyền thống (cột đỏ) và Myers-Miller của nhóm (cột xanh dương) trên thang đo Logarit, cùng đường màu cam biểu diễn hệ số tiết kiệm bộ nhớ. Khi chuỗi dài 897 amino acid, bộ nhớ giảm từ 9,5 MB xuống chỉ còn 7 KB — tiết kiệm gấp 1.353,5 lần và điểm số khớp tuyệt đối 100%!</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slide_1792735165468911500_2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slide_1792735165468911500_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
              <a:t>Biểu đồ toàn màn hình thứ hai thể hiện hệ số tăng tốc Speedup khi chạy trên 1, 2, 4 và 8 luồng OpenMP. Trên các tập dữ liệu lớn như BB20001 (đường xanh dương) và Benchmark 40 chuỗi gồm 780 cặp (đường xanh lá), hệ thống đạt Speedup từ 1,61x đến 1,73x, bám sát quy luật của Định luật Amdahl.</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slide_1792735165468911500_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slide_1792735165468911500_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
              <a:t>Biểu đồ toàn màn hình thứ ba đánh giá chất lượng sinh học thông qua 2 chỉ số chuẩn quốc tế: SP Score (tỷ lệ cặp ký tự căn chỉnh đúng) và TC Score (tỷ lệ cột đúng hoàn toàn trên mọi chuỗi). Trên tập RV12 (độ tương đồng trung bình 20-40%), thuật toán đạt kết quả rất cao với SP trung bình 86,8% và TC đạt 68,1%.</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slide_1792735165468911500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slide_179273516546891150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
              <a:t>Biểu đồ kép toàn màn hình này đặt hệ thống của Nhóm 5 cạnh hai công cụ nổi tiếng thế giới là ClustalW 2.1 và MUSCLE v3.8. Ở biểu đồ (A) bên trái, hệ thống của nhóm tốn ít RAM nhất (chỉ 26,8 MB so với ~50 MB của ClustalW/MUSCLE và 320 MB của Gotoh). Ở biểu đồ (B) bên phải, điểm chính xác sinh học SP của nhóm đạt 0,488 — vượt qua ClustalW (0,472) và tiệm cận sát MUSCLE (0,495).</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slide_1792735165468911500_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slide_1792735165468911500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
              <a:t>Để giúp người dùng sinh học dễ dàng phân tích kết quả, nhóm xây dựng ứng dụng Web GUI Studio. Hình chụp toàn màn hình này hiển thị Ma trận căn chỉnh được mã màu theo tính chất hóa lý của từng Amino Acid cùng thanh biểu đồ cột mức độ bảo tồn ở phía dưới.</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slide_1792735165468911500_3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slide_1792735165468911500_3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
              <a:t>Slide này hiển thị rõ nét 2 phân hệ tiếp theo trên Web GUI: Bên trái là Cây hướng dẫn UPGMA vẽ bằng đồ họa vector SVG cho phép phóng to/thu nhỏ và xem khoảng cách tiến hóa trên từng nhánh. Bên phải là Dashboard đo đạc trực tiếp đồ thị Speedup từ 1 đến 8 luồng và thẻ đối chứng bộ nhớ Gotoh vs Myers-Miller. Ngay sau đây nhóm xin phép thực hiện Live Demo nhanh trên trình duyệt.</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slide_1792735165468911500_3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slide_1792735165468911500_3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
              <a:t>Slide cuối cùng tổng kết 4 đóng góp khoa học và kỹ thuật của Nhóm 5 cùng 3 hướng phát triển mở rộng. Cảm ơn Thầy/Cô và các bạn đã lắng nghe, nhóm rất mong nhận được các câu hỏi và góp ý từ Hội đồng!</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slide_1792735165468911500_3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slide_1792735165468911500_3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
              <a:t>Slide dự phòng phản biện số 1 giải thích kỹ thuật Gap Coalescing trong Myers-Miller.</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slide_1792735165468911500_3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slide_1792735165468911500_3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
              <a:t>Slide dự phòng phản biện số 2 giải thích tại sao TC Score trên RV20 bằng 0 dù SP Score đạt 92%.</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slide_1792735165468911500_3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slide_1792735165468911500_3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
              <a:t>Slide dự phòng phản biện số 3 giải thích hiện tượng bão hòa Speedup ở 8 luồng OpenMP.</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vi"/>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10.png"/><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53" name="Shape 53"/>
        <p:cNvGrpSpPr/>
        <p:nvPr/>
      </p:nvGrpSpPr>
      <p:grpSpPr>
        <a:xfrm>
          <a:off x="0" y="0"/>
          <a:ext cx="0" cy="0"/>
          <a:chOff x="0" y="0"/>
          <a:chExt cx="0" cy="0"/>
        </a:xfrm>
      </p:grpSpPr>
      <p:sp>
        <p:nvSpPr>
          <p:cNvPr id="54" name="Google Shape;54;p13"/>
          <p:cNvSpPr/>
          <p:nvPr/>
        </p:nvSpPr>
        <p:spPr>
          <a:xfrm>
            <a:off x="0" y="0"/>
            <a:ext cx="9144000" cy="76200"/>
          </a:xfrm>
          <a:prstGeom prst="rect">
            <a:avLst/>
          </a:prstGeom>
          <a:solidFill>
            <a:srgbClr val="0284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 name="Google Shape;55;p13"/>
          <p:cNvSpPr txBox="1"/>
          <p:nvPr/>
        </p:nvSpPr>
        <p:spPr>
          <a:xfrm>
            <a:off x="508000" y="355600"/>
            <a:ext cx="4572000" cy="304800"/>
          </a:xfrm>
          <a:prstGeom prst="rect">
            <a:avLst/>
          </a:prstGeom>
          <a:solidFill>
            <a:srgbClr val="0284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vi" sz="1000">
                <a:solidFill>
                  <a:srgbClr val="FFFFFF"/>
                </a:solidFill>
                <a:latin typeface="Roboto"/>
                <a:ea typeface="Roboto"/>
                <a:cs typeface="Roboto"/>
                <a:sym typeface="Roboto"/>
              </a:rPr>
              <a:t>BÁO CÁO ĐỒ ÁN • MÔN PHÂN TÍCH VÀ THIẾT KẾ THUẬT TOÁN</a:t>
            </a:r>
            <a:endParaRPr b="1" sz="1000">
              <a:solidFill>
                <a:srgbClr val="FFFFFF"/>
              </a:solidFill>
              <a:latin typeface="Roboto"/>
              <a:ea typeface="Roboto"/>
              <a:cs typeface="Roboto"/>
              <a:sym typeface="Roboto"/>
            </a:endParaRPr>
          </a:p>
        </p:txBody>
      </p:sp>
      <p:sp>
        <p:nvSpPr>
          <p:cNvPr id="56" name="Google Shape;56;p13"/>
          <p:cNvSpPr txBox="1"/>
          <p:nvPr/>
        </p:nvSpPr>
        <p:spPr>
          <a:xfrm>
            <a:off x="508000" y="812800"/>
            <a:ext cx="8127900" cy="1460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vi" sz="2400">
                <a:solidFill>
                  <a:srgbClr val="FFFFFF"/>
                </a:solidFill>
                <a:latin typeface="Roboto"/>
                <a:ea typeface="Roboto"/>
                <a:cs typeface="Roboto"/>
                <a:sym typeface="Roboto"/>
              </a:rPr>
              <a:t>THUẬT TOÁN CHIA ĐỂ TRỊ SONG SONG KẾT HỢP QUY HOẠCH ĐỘNG CHO CĂN CHỈNH ĐA CHUỖI PROTEIN/ADN (MSA)</a:t>
            </a:r>
            <a:endParaRPr b="1" sz="2400">
              <a:solidFill>
                <a:srgbClr val="FFFFFF"/>
              </a:solidFill>
              <a:latin typeface="Roboto"/>
              <a:ea typeface="Roboto"/>
              <a:cs typeface="Roboto"/>
              <a:sym typeface="Roboto"/>
            </a:endParaRPr>
          </a:p>
        </p:txBody>
      </p:sp>
      <p:sp>
        <p:nvSpPr>
          <p:cNvPr id="57" name="Google Shape;57;p13"/>
          <p:cNvSpPr txBox="1"/>
          <p:nvPr/>
        </p:nvSpPr>
        <p:spPr>
          <a:xfrm>
            <a:off x="508000" y="2336800"/>
            <a:ext cx="81279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vi" sz="1200">
                <a:solidFill>
                  <a:srgbClr val="7DD3FC"/>
                </a:solidFill>
                <a:latin typeface="Roboto"/>
                <a:ea typeface="Roboto"/>
                <a:cs typeface="Roboto"/>
                <a:sym typeface="Roboto"/>
              </a:rPr>
              <a:t>Tối ưu Bộ nhớ Tuyến tính O(min(m,n)) bằng Myers-Miller • Cây Hướng dẫn UPGMA • Song song Đa tầng OpenMP &amp; MPI</a:t>
            </a:r>
            <a:endParaRPr sz="1200">
              <a:solidFill>
                <a:srgbClr val="7DD3FC"/>
              </a:solidFill>
              <a:latin typeface="Roboto"/>
              <a:ea typeface="Roboto"/>
              <a:cs typeface="Roboto"/>
              <a:sym typeface="Roboto"/>
            </a:endParaRPr>
          </a:p>
        </p:txBody>
      </p:sp>
      <p:sp>
        <p:nvSpPr>
          <p:cNvPr id="58" name="Google Shape;58;p13"/>
          <p:cNvSpPr txBox="1"/>
          <p:nvPr/>
        </p:nvSpPr>
        <p:spPr>
          <a:xfrm>
            <a:off x="508000" y="2946400"/>
            <a:ext cx="1917600" cy="533400"/>
          </a:xfrm>
          <a:prstGeom prst="rect">
            <a:avLst/>
          </a:prstGeom>
          <a:solidFill>
            <a:srgbClr val="0284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vi" sz="1800">
                <a:solidFill>
                  <a:srgbClr val="FFFFFF"/>
                </a:solidFill>
                <a:latin typeface="Roboto"/>
                <a:ea typeface="Roboto"/>
                <a:cs typeface="Roboto"/>
                <a:sym typeface="Roboto"/>
              </a:rPr>
              <a:t>1.353,5×</a:t>
            </a:r>
            <a:endParaRPr b="1" sz="1800">
              <a:solidFill>
                <a:srgbClr val="FFFFFF"/>
              </a:solidFill>
              <a:latin typeface="Roboto"/>
              <a:ea typeface="Roboto"/>
              <a:cs typeface="Roboto"/>
              <a:sym typeface="Roboto"/>
            </a:endParaRPr>
          </a:p>
        </p:txBody>
      </p:sp>
      <p:sp>
        <p:nvSpPr>
          <p:cNvPr id="59" name="Google Shape;59;p13"/>
          <p:cNvSpPr txBox="1"/>
          <p:nvPr/>
        </p:nvSpPr>
        <p:spPr>
          <a:xfrm>
            <a:off x="508000" y="3479800"/>
            <a:ext cx="1917600" cy="685800"/>
          </a:xfrm>
          <a:prstGeom prst="rect">
            <a:avLst/>
          </a:prstGeom>
          <a:solidFill>
            <a:srgbClr val="1E293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vi" sz="1000">
                <a:solidFill>
                  <a:srgbClr val="E2E8F0"/>
                </a:solidFill>
                <a:latin typeface="Roboto"/>
                <a:ea typeface="Roboto"/>
                <a:cs typeface="Roboto"/>
                <a:sym typeface="Roboto"/>
              </a:rPr>
              <a:t>Giảm bộ nhớ RAM đỉnh</a:t>
            </a:r>
            <a:endParaRPr sz="1000">
              <a:solidFill>
                <a:srgbClr val="E2E8F0"/>
              </a:solidFill>
              <a:latin typeface="Roboto"/>
              <a:ea typeface="Roboto"/>
              <a:cs typeface="Roboto"/>
              <a:sym typeface="Roboto"/>
            </a:endParaRPr>
          </a:p>
          <a:p>
            <a:pPr indent="0" lvl="0" marL="0" rtl="0" algn="ctr">
              <a:spcBef>
                <a:spcPts val="0"/>
              </a:spcBef>
              <a:spcAft>
                <a:spcPts val="0"/>
              </a:spcAft>
              <a:buNone/>
            </a:pPr>
            <a:r>
              <a:rPr lang="vi" sz="1000">
                <a:solidFill>
                  <a:srgbClr val="E2E8F0"/>
                </a:solidFill>
                <a:latin typeface="Roboto"/>
                <a:ea typeface="Roboto"/>
                <a:cs typeface="Roboto"/>
                <a:sym typeface="Roboto"/>
              </a:rPr>
              <a:t>O(mn) → O(min(m,n))</a:t>
            </a:r>
            <a:endParaRPr sz="1000">
              <a:solidFill>
                <a:srgbClr val="E2E8F0"/>
              </a:solidFill>
              <a:latin typeface="Roboto"/>
              <a:ea typeface="Roboto"/>
              <a:cs typeface="Roboto"/>
              <a:sym typeface="Roboto"/>
            </a:endParaRPr>
          </a:p>
        </p:txBody>
      </p:sp>
      <p:sp>
        <p:nvSpPr>
          <p:cNvPr id="60" name="Google Shape;60;p13"/>
          <p:cNvSpPr txBox="1"/>
          <p:nvPr/>
        </p:nvSpPr>
        <p:spPr>
          <a:xfrm>
            <a:off x="2578100" y="2946400"/>
            <a:ext cx="1917600" cy="533400"/>
          </a:xfrm>
          <a:prstGeom prst="rect">
            <a:avLst/>
          </a:prstGeom>
          <a:solidFill>
            <a:srgbClr val="05966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vi" sz="1800">
                <a:solidFill>
                  <a:srgbClr val="FFFFFF"/>
                </a:solidFill>
                <a:latin typeface="Roboto"/>
                <a:ea typeface="Roboto"/>
                <a:cs typeface="Roboto"/>
                <a:sym typeface="Roboto"/>
              </a:rPr>
              <a:t>100% Match</a:t>
            </a:r>
            <a:endParaRPr b="1" sz="1800">
              <a:solidFill>
                <a:srgbClr val="FFFFFF"/>
              </a:solidFill>
              <a:latin typeface="Roboto"/>
              <a:ea typeface="Roboto"/>
              <a:cs typeface="Roboto"/>
              <a:sym typeface="Roboto"/>
            </a:endParaRPr>
          </a:p>
        </p:txBody>
      </p:sp>
      <p:sp>
        <p:nvSpPr>
          <p:cNvPr id="61" name="Google Shape;61;p13"/>
          <p:cNvSpPr txBox="1"/>
          <p:nvPr/>
        </p:nvSpPr>
        <p:spPr>
          <a:xfrm>
            <a:off x="2578100" y="3479800"/>
            <a:ext cx="1917600" cy="685800"/>
          </a:xfrm>
          <a:prstGeom prst="rect">
            <a:avLst/>
          </a:prstGeom>
          <a:solidFill>
            <a:srgbClr val="1E293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vi" sz="1000">
                <a:solidFill>
                  <a:srgbClr val="E2E8F0"/>
                </a:solidFill>
                <a:latin typeface="Roboto"/>
                <a:ea typeface="Roboto"/>
                <a:cs typeface="Roboto"/>
                <a:sym typeface="Roboto"/>
              </a:rPr>
              <a:t>Độ chính xác điểm số</a:t>
            </a:r>
            <a:endParaRPr sz="1000">
              <a:solidFill>
                <a:srgbClr val="E2E8F0"/>
              </a:solidFill>
              <a:latin typeface="Roboto"/>
              <a:ea typeface="Roboto"/>
              <a:cs typeface="Roboto"/>
              <a:sym typeface="Roboto"/>
            </a:endParaRPr>
          </a:p>
          <a:p>
            <a:pPr indent="0" lvl="0" marL="0" rtl="0" algn="ctr">
              <a:spcBef>
                <a:spcPts val="0"/>
              </a:spcBef>
              <a:spcAft>
                <a:spcPts val="0"/>
              </a:spcAft>
              <a:buNone/>
            </a:pPr>
            <a:r>
              <a:rPr lang="vi" sz="1000">
                <a:solidFill>
                  <a:srgbClr val="E2E8F0"/>
                </a:solidFill>
                <a:latin typeface="Roboto"/>
                <a:ea typeface="Roboto"/>
                <a:cs typeface="Roboto"/>
                <a:sym typeface="Roboto"/>
              </a:rPr>
              <a:t>trùng khớp Gotoh NW</a:t>
            </a:r>
            <a:endParaRPr sz="1000">
              <a:solidFill>
                <a:srgbClr val="E2E8F0"/>
              </a:solidFill>
              <a:latin typeface="Roboto"/>
              <a:ea typeface="Roboto"/>
              <a:cs typeface="Roboto"/>
              <a:sym typeface="Roboto"/>
            </a:endParaRPr>
          </a:p>
        </p:txBody>
      </p:sp>
      <p:sp>
        <p:nvSpPr>
          <p:cNvPr id="62" name="Google Shape;62;p13"/>
          <p:cNvSpPr txBox="1"/>
          <p:nvPr/>
        </p:nvSpPr>
        <p:spPr>
          <a:xfrm>
            <a:off x="4648200" y="2946400"/>
            <a:ext cx="1917600" cy="533400"/>
          </a:xfrm>
          <a:prstGeom prst="rect">
            <a:avLst/>
          </a:prstGeom>
          <a:solidFill>
            <a:srgbClr val="D9770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vi" sz="1800">
                <a:solidFill>
                  <a:srgbClr val="FFFFFF"/>
                </a:solidFill>
                <a:latin typeface="Roboto"/>
                <a:ea typeface="Roboto"/>
                <a:cs typeface="Roboto"/>
                <a:sym typeface="Roboto"/>
              </a:rPr>
              <a:t>1,73× Speedup</a:t>
            </a:r>
            <a:endParaRPr b="1" sz="1800">
              <a:solidFill>
                <a:srgbClr val="FFFFFF"/>
              </a:solidFill>
              <a:latin typeface="Roboto"/>
              <a:ea typeface="Roboto"/>
              <a:cs typeface="Roboto"/>
              <a:sym typeface="Roboto"/>
            </a:endParaRPr>
          </a:p>
        </p:txBody>
      </p:sp>
      <p:sp>
        <p:nvSpPr>
          <p:cNvPr id="63" name="Google Shape;63;p13"/>
          <p:cNvSpPr txBox="1"/>
          <p:nvPr/>
        </p:nvSpPr>
        <p:spPr>
          <a:xfrm>
            <a:off x="4648200" y="3479800"/>
            <a:ext cx="1917600" cy="685800"/>
          </a:xfrm>
          <a:prstGeom prst="rect">
            <a:avLst/>
          </a:prstGeom>
          <a:solidFill>
            <a:srgbClr val="1E293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vi" sz="1000">
                <a:solidFill>
                  <a:srgbClr val="E2E8F0"/>
                </a:solidFill>
                <a:latin typeface="Roboto"/>
                <a:ea typeface="Roboto"/>
                <a:cs typeface="Roboto"/>
                <a:sym typeface="Roboto"/>
              </a:rPr>
              <a:t>Tăng tốc đa luồng</a:t>
            </a:r>
            <a:endParaRPr sz="1000">
              <a:solidFill>
                <a:srgbClr val="E2E8F0"/>
              </a:solidFill>
              <a:latin typeface="Roboto"/>
              <a:ea typeface="Roboto"/>
              <a:cs typeface="Roboto"/>
              <a:sym typeface="Roboto"/>
            </a:endParaRPr>
          </a:p>
          <a:p>
            <a:pPr indent="0" lvl="0" marL="0" rtl="0" algn="ctr">
              <a:spcBef>
                <a:spcPts val="0"/>
              </a:spcBef>
              <a:spcAft>
                <a:spcPts val="0"/>
              </a:spcAft>
              <a:buNone/>
            </a:pPr>
            <a:r>
              <a:rPr lang="vi" sz="1000">
                <a:solidFill>
                  <a:srgbClr val="E2E8F0"/>
                </a:solidFill>
                <a:latin typeface="Roboto"/>
                <a:ea typeface="Roboto"/>
                <a:cs typeface="Roboto"/>
                <a:sym typeface="Roboto"/>
              </a:rPr>
              <a:t>OpenMP + Hybrid MPI</a:t>
            </a:r>
            <a:endParaRPr sz="1000">
              <a:solidFill>
                <a:srgbClr val="E2E8F0"/>
              </a:solidFill>
              <a:latin typeface="Roboto"/>
              <a:ea typeface="Roboto"/>
              <a:cs typeface="Roboto"/>
              <a:sym typeface="Roboto"/>
            </a:endParaRPr>
          </a:p>
        </p:txBody>
      </p:sp>
      <p:sp>
        <p:nvSpPr>
          <p:cNvPr id="64" name="Google Shape;64;p13"/>
          <p:cNvSpPr txBox="1"/>
          <p:nvPr/>
        </p:nvSpPr>
        <p:spPr>
          <a:xfrm>
            <a:off x="6718300" y="2946400"/>
            <a:ext cx="1917600" cy="533400"/>
          </a:xfrm>
          <a:prstGeom prst="rect">
            <a:avLst/>
          </a:prstGeom>
          <a:solidFill>
            <a:srgbClr val="7C3A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vi" sz="1800">
                <a:solidFill>
                  <a:srgbClr val="FFFFFF"/>
                </a:solidFill>
                <a:latin typeface="Roboto"/>
                <a:ea typeface="Roboto"/>
                <a:cs typeface="Roboto"/>
                <a:sym typeface="Roboto"/>
              </a:rPr>
              <a:t>86,8% SP</a:t>
            </a:r>
            <a:endParaRPr b="1" sz="1800">
              <a:solidFill>
                <a:srgbClr val="FFFFFF"/>
              </a:solidFill>
              <a:latin typeface="Roboto"/>
              <a:ea typeface="Roboto"/>
              <a:cs typeface="Roboto"/>
              <a:sym typeface="Roboto"/>
            </a:endParaRPr>
          </a:p>
        </p:txBody>
      </p:sp>
      <p:sp>
        <p:nvSpPr>
          <p:cNvPr id="65" name="Google Shape;65;p13"/>
          <p:cNvSpPr txBox="1"/>
          <p:nvPr/>
        </p:nvSpPr>
        <p:spPr>
          <a:xfrm>
            <a:off x="6718300" y="3479800"/>
            <a:ext cx="1917600" cy="685800"/>
          </a:xfrm>
          <a:prstGeom prst="rect">
            <a:avLst/>
          </a:prstGeom>
          <a:solidFill>
            <a:srgbClr val="1E293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vi" sz="1000">
                <a:solidFill>
                  <a:srgbClr val="E2E8F0"/>
                </a:solidFill>
                <a:latin typeface="Roboto"/>
                <a:ea typeface="Roboto"/>
                <a:cs typeface="Roboto"/>
                <a:sym typeface="Roboto"/>
              </a:rPr>
              <a:t>Độ chính xác sinh học</a:t>
            </a:r>
            <a:endParaRPr sz="1000">
              <a:solidFill>
                <a:srgbClr val="E2E8F0"/>
              </a:solidFill>
              <a:latin typeface="Roboto"/>
              <a:ea typeface="Roboto"/>
              <a:cs typeface="Roboto"/>
              <a:sym typeface="Roboto"/>
            </a:endParaRPr>
          </a:p>
          <a:p>
            <a:pPr indent="0" lvl="0" marL="0" rtl="0" algn="ctr">
              <a:spcBef>
                <a:spcPts val="0"/>
              </a:spcBef>
              <a:spcAft>
                <a:spcPts val="0"/>
              </a:spcAft>
              <a:buNone/>
            </a:pPr>
            <a:r>
              <a:rPr lang="vi" sz="1000">
                <a:solidFill>
                  <a:srgbClr val="E2E8F0"/>
                </a:solidFill>
                <a:latin typeface="Roboto"/>
                <a:ea typeface="Roboto"/>
                <a:cs typeface="Roboto"/>
                <a:sym typeface="Roboto"/>
              </a:rPr>
              <a:t>BAliBASE 3.0 (RV12)</a:t>
            </a:r>
            <a:endParaRPr sz="1000">
              <a:solidFill>
                <a:srgbClr val="E2E8F0"/>
              </a:solidFill>
              <a:latin typeface="Roboto"/>
              <a:ea typeface="Roboto"/>
              <a:cs typeface="Roboto"/>
              <a:sym typeface="Roboto"/>
            </a:endParaRPr>
          </a:p>
        </p:txBody>
      </p:sp>
      <p:sp>
        <p:nvSpPr>
          <p:cNvPr id="66" name="Google Shape;66;p13"/>
          <p:cNvSpPr txBox="1"/>
          <p:nvPr/>
        </p:nvSpPr>
        <p:spPr>
          <a:xfrm>
            <a:off x="508000" y="4470400"/>
            <a:ext cx="8127900" cy="35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vi" sz="1050">
                <a:solidFill>
                  <a:srgbClr val="94A3B8"/>
                </a:solidFill>
                <a:latin typeface="Roboto"/>
                <a:ea typeface="Roboto"/>
                <a:cs typeface="Roboto"/>
                <a:sym typeface="Roboto"/>
              </a:rPr>
              <a:t>Thực hiện: Nhóm 5   |   Ngôn ngữ: Modern C++17, OpenMP, MPI, FastAPI   |   Kiểm thử: 342 Automated Tests (139.463 Assertions)</a:t>
            </a:r>
            <a:endParaRPr b="1" sz="1050">
              <a:solidFill>
                <a:srgbClr val="94A3B8"/>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70" name="Shape 70"/>
        <p:cNvGrpSpPr/>
        <p:nvPr/>
      </p:nvGrpSpPr>
      <p:grpSpPr>
        <a:xfrm>
          <a:off x="0" y="0"/>
          <a:ext cx="0" cy="0"/>
          <a:chOff x="0" y="0"/>
          <a:chExt cx="0" cy="0"/>
        </a:xfrm>
      </p:grpSpPr>
      <p:sp>
        <p:nvSpPr>
          <p:cNvPr id="71" name="Google Shape;71;p14"/>
          <p:cNvSpPr/>
          <p:nvPr/>
        </p:nvSpPr>
        <p:spPr>
          <a:xfrm>
            <a:off x="0" y="0"/>
            <a:ext cx="9144000" cy="736500"/>
          </a:xfrm>
          <a:prstGeom prst="rect">
            <a:avLst/>
          </a:prstGeom>
          <a:solidFill>
            <a:srgbClr val="0F172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 name="Google Shape;72;p14"/>
          <p:cNvSpPr/>
          <p:nvPr/>
        </p:nvSpPr>
        <p:spPr>
          <a:xfrm>
            <a:off x="0" y="711200"/>
            <a:ext cx="9144000" cy="38100"/>
          </a:xfrm>
          <a:prstGeom prst="rect">
            <a:avLst/>
          </a:prstGeom>
          <a:solidFill>
            <a:srgbClr val="0284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 name="Google Shape;73;p14"/>
          <p:cNvSpPr txBox="1"/>
          <p:nvPr/>
        </p:nvSpPr>
        <p:spPr>
          <a:xfrm>
            <a:off x="304800" y="76200"/>
            <a:ext cx="2476500" cy="203100"/>
          </a:xfrm>
          <a:prstGeom prst="rect">
            <a:avLst/>
          </a:prstGeom>
          <a:solidFill>
            <a:srgbClr val="0284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vi" sz="800">
                <a:solidFill>
                  <a:srgbClr val="FFFFFF"/>
                </a:solidFill>
                <a:latin typeface="Roboto"/>
                <a:ea typeface="Roboto"/>
                <a:cs typeface="Roboto"/>
                <a:sym typeface="Roboto"/>
              </a:rPr>
              <a:t>PHẦN 1 • CƠ SỞ SINH HỌC</a:t>
            </a:r>
            <a:endParaRPr b="1" sz="800">
              <a:solidFill>
                <a:srgbClr val="FFFFFF"/>
              </a:solidFill>
              <a:latin typeface="Roboto"/>
              <a:ea typeface="Roboto"/>
              <a:cs typeface="Roboto"/>
              <a:sym typeface="Roboto"/>
            </a:endParaRPr>
          </a:p>
        </p:txBody>
      </p:sp>
      <p:sp>
        <p:nvSpPr>
          <p:cNvPr id="74" name="Google Shape;74;p14"/>
          <p:cNvSpPr txBox="1"/>
          <p:nvPr/>
        </p:nvSpPr>
        <p:spPr>
          <a:xfrm>
            <a:off x="8001000" y="76200"/>
            <a:ext cx="838200" cy="2031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vi" sz="850">
                <a:solidFill>
                  <a:srgbClr val="93C5FD"/>
                </a:solidFill>
                <a:latin typeface="Roboto"/>
                <a:ea typeface="Roboto"/>
                <a:cs typeface="Roboto"/>
                <a:sym typeface="Roboto"/>
              </a:rPr>
              <a:t>Slide 2 / 24</a:t>
            </a:r>
            <a:endParaRPr b="1" sz="850">
              <a:solidFill>
                <a:srgbClr val="93C5FD"/>
              </a:solidFill>
              <a:latin typeface="Roboto"/>
              <a:ea typeface="Roboto"/>
              <a:cs typeface="Roboto"/>
              <a:sym typeface="Roboto"/>
            </a:endParaRPr>
          </a:p>
        </p:txBody>
      </p:sp>
      <p:sp>
        <p:nvSpPr>
          <p:cNvPr id="75" name="Google Shape;75;p14"/>
          <p:cNvSpPr txBox="1"/>
          <p:nvPr/>
        </p:nvSpPr>
        <p:spPr>
          <a:xfrm>
            <a:off x="304800" y="279400"/>
            <a:ext cx="85344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vi" sz="1500">
                <a:solidFill>
                  <a:srgbClr val="FFFFFF"/>
                </a:solidFill>
                <a:latin typeface="Roboto"/>
                <a:ea typeface="Roboto"/>
                <a:cs typeface="Roboto"/>
                <a:sym typeface="Roboto"/>
              </a:rPr>
              <a:t>Bản chất Sinh học: Chuỗi ADN/Protein &amp; Hai Cơ chế Đột biến Tiến hóa</a:t>
            </a:r>
            <a:endParaRPr b="1" sz="1500">
              <a:solidFill>
                <a:srgbClr val="FFFFFF"/>
              </a:solidFill>
              <a:latin typeface="Roboto"/>
              <a:ea typeface="Roboto"/>
              <a:cs typeface="Roboto"/>
              <a:sym typeface="Roboto"/>
            </a:endParaRPr>
          </a:p>
        </p:txBody>
      </p:sp>
      <p:sp>
        <p:nvSpPr>
          <p:cNvPr id="76" name="Google Shape;76;p14"/>
          <p:cNvSpPr txBox="1"/>
          <p:nvPr/>
        </p:nvSpPr>
        <p:spPr>
          <a:xfrm>
            <a:off x="304800" y="520700"/>
            <a:ext cx="8534400" cy="19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vi" sz="900">
                <a:solidFill>
                  <a:srgbClr val="BAE6FD"/>
                </a:solidFill>
                <a:latin typeface="Roboto"/>
                <a:ea typeface="Roboto"/>
                <a:cs typeface="Roboto"/>
                <a:sym typeface="Roboto"/>
              </a:rPr>
              <a:t>Tại sao các chuỗi sinh học cùng nguồn gốc lại khác nhau về độ dài và ký tự? Ý nghĩa thực sự của dấu '-' (Gap)</a:t>
            </a:r>
            <a:endParaRPr i="1" sz="900">
              <a:solidFill>
                <a:srgbClr val="BAE6FD"/>
              </a:solidFill>
              <a:latin typeface="Roboto"/>
              <a:ea typeface="Roboto"/>
              <a:cs typeface="Roboto"/>
              <a:sym typeface="Roboto"/>
            </a:endParaRPr>
          </a:p>
        </p:txBody>
      </p:sp>
      <p:sp>
        <p:nvSpPr>
          <p:cNvPr id="77" name="Google Shape;77;p14"/>
          <p:cNvSpPr txBox="1"/>
          <p:nvPr/>
        </p:nvSpPr>
        <p:spPr>
          <a:xfrm>
            <a:off x="304800" y="838200"/>
            <a:ext cx="4191000" cy="304800"/>
          </a:xfrm>
          <a:prstGeom prst="rect">
            <a:avLst/>
          </a:pr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vi" sz="1050">
                <a:solidFill>
                  <a:srgbClr val="FFFFFF"/>
                </a:solidFill>
                <a:latin typeface="Roboto"/>
                <a:ea typeface="Roboto"/>
                <a:cs typeface="Roboto"/>
                <a:sym typeface="Roboto"/>
              </a:rPr>
              <a:t>1. Chuỗi Sinh học dưới Góc nhìn Khoa học Máy tính</a:t>
            </a:r>
            <a:endParaRPr b="1" sz="1050">
              <a:solidFill>
                <a:srgbClr val="FFFFFF"/>
              </a:solidFill>
              <a:latin typeface="Roboto"/>
              <a:ea typeface="Roboto"/>
              <a:cs typeface="Roboto"/>
              <a:sym typeface="Roboto"/>
            </a:endParaRPr>
          </a:p>
        </p:txBody>
      </p:sp>
      <p:sp>
        <p:nvSpPr>
          <p:cNvPr id="78" name="Google Shape;78;p14"/>
          <p:cNvSpPr txBox="1"/>
          <p:nvPr/>
        </p:nvSpPr>
        <p:spPr>
          <a:xfrm>
            <a:off x="304800" y="1143000"/>
            <a:ext cx="4191000" cy="16638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lnSpc>
                <a:spcPct val="125000"/>
              </a:lnSpc>
              <a:spcBef>
                <a:spcPts val="0"/>
              </a:spcBef>
              <a:spcAft>
                <a:spcPts val="0"/>
              </a:spcAft>
              <a:buNone/>
            </a:pPr>
            <a:r>
              <a:rPr lang="vi" sz="1000">
                <a:solidFill>
                  <a:srgbClr val="1E293B"/>
                </a:solidFill>
                <a:latin typeface="Roboto"/>
                <a:ea typeface="Roboto"/>
                <a:cs typeface="Roboto"/>
                <a:sym typeface="Roboto"/>
              </a:rPr>
              <a:t>• Chuỗi ADN / ARN: Chuỗi ký tự trên bảng chữ cái 4 chữ {A, T, G, C} lưu trữ mã di truyền.</a:t>
            </a:r>
            <a:endParaRPr sz="100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1000">
                <a:solidFill>
                  <a:srgbClr val="1E293B"/>
                </a:solidFill>
                <a:latin typeface="Roboto"/>
                <a:ea typeface="Roboto"/>
                <a:cs typeface="Roboto"/>
                <a:sym typeface="Roboto"/>
              </a:rPr>
              <a:t>• Chuỗi Protein: Chuỗi gồm 20 loại Amino Acid (ký hiệu bởi 20 chữ cái: A, C, D, E, F, G, H, I, K, L, M, N, P, Q, R, S, T, V, W, Y), độ dài thường từ 100 đến vài nghìn ký tự.</a:t>
            </a:r>
            <a:endParaRPr sz="100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1000">
                <a:solidFill>
                  <a:srgbClr val="1E293B"/>
                </a:solidFill>
                <a:latin typeface="Roboto"/>
                <a:ea typeface="Roboto"/>
                <a:cs typeface="Roboto"/>
                <a:sym typeface="Roboto"/>
              </a:rPr>
              <a:t>• Vai trò: Trình tự Amino Acid quyết định cấu trúc 3D và chức năng sống (ví dụ: Hemoglobin vận chuyển Oxy trong máu).</a:t>
            </a:r>
            <a:endParaRPr sz="1000">
              <a:solidFill>
                <a:srgbClr val="1E293B"/>
              </a:solidFill>
              <a:latin typeface="Roboto"/>
              <a:ea typeface="Roboto"/>
              <a:cs typeface="Roboto"/>
              <a:sym typeface="Roboto"/>
            </a:endParaRPr>
          </a:p>
        </p:txBody>
      </p:sp>
      <p:sp>
        <p:nvSpPr>
          <p:cNvPr id="79" name="Google Shape;79;p14"/>
          <p:cNvSpPr txBox="1"/>
          <p:nvPr/>
        </p:nvSpPr>
        <p:spPr>
          <a:xfrm>
            <a:off x="304800" y="2921000"/>
            <a:ext cx="4191000" cy="304800"/>
          </a:xfrm>
          <a:prstGeom prst="rect">
            <a:avLst/>
          </a:prstGeom>
          <a:solidFill>
            <a:srgbClr val="0284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vi" sz="1050">
                <a:solidFill>
                  <a:srgbClr val="FFFFFF"/>
                </a:solidFill>
                <a:latin typeface="Roboto"/>
                <a:ea typeface="Roboto"/>
                <a:cs typeface="Roboto"/>
                <a:sym typeface="Roboto"/>
              </a:rPr>
              <a:t>2. Tại sao cần Căn chỉnh Đa chuỗi (MSA)?</a:t>
            </a:r>
            <a:endParaRPr b="1" sz="1050">
              <a:solidFill>
                <a:srgbClr val="FFFFFF"/>
              </a:solidFill>
              <a:latin typeface="Roboto"/>
              <a:ea typeface="Roboto"/>
              <a:cs typeface="Roboto"/>
              <a:sym typeface="Roboto"/>
            </a:endParaRPr>
          </a:p>
        </p:txBody>
      </p:sp>
      <p:sp>
        <p:nvSpPr>
          <p:cNvPr id="80" name="Google Shape;80;p14"/>
          <p:cNvSpPr txBox="1"/>
          <p:nvPr/>
        </p:nvSpPr>
        <p:spPr>
          <a:xfrm>
            <a:off x="304800" y="3225800"/>
            <a:ext cx="4191000" cy="1752600"/>
          </a:xfrm>
          <a:prstGeom prst="rect">
            <a:avLst/>
          </a:prstGeom>
          <a:solidFill>
            <a:srgbClr val="E0F2FE"/>
          </a:solidFill>
          <a:ln>
            <a:noFill/>
          </a:ln>
        </p:spPr>
        <p:txBody>
          <a:bodyPr anchorCtr="0" anchor="t" bIns="91425" lIns="91425" spcFirstLastPara="1" rIns="91425" wrap="square" tIns="91425">
            <a:noAutofit/>
          </a:bodyPr>
          <a:lstStyle/>
          <a:p>
            <a:pPr indent="0" lvl="0" marL="0" rtl="0" algn="l">
              <a:lnSpc>
                <a:spcPct val="125000"/>
              </a:lnSpc>
              <a:spcBef>
                <a:spcPts val="0"/>
              </a:spcBef>
              <a:spcAft>
                <a:spcPts val="0"/>
              </a:spcAft>
              <a:buNone/>
            </a:pPr>
            <a:r>
              <a:rPr lang="vi" sz="1000">
                <a:solidFill>
                  <a:srgbClr val="1E293B"/>
                </a:solidFill>
                <a:latin typeface="Roboto"/>
                <a:ea typeface="Roboto"/>
                <a:cs typeface="Roboto"/>
                <a:sym typeface="Roboto"/>
              </a:rPr>
              <a:t>• Các loài khác nhau (Người, Tinh tinh, Cá voi...) tiến hóa từ một tổ tiên chung.</a:t>
            </a:r>
            <a:endParaRPr sz="100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1000">
                <a:solidFill>
                  <a:srgbClr val="1E293B"/>
                </a:solidFill>
                <a:latin typeface="Roboto"/>
                <a:ea typeface="Roboto"/>
                <a:cs typeface="Roboto"/>
                <a:sym typeface="Roboto"/>
              </a:rPr>
              <a:t>• Những cột ký tự KHÔNG ĐỔI qua hàng triệu năm (Conserved Regions) chính là vùng lõi quyết định sự sống (nếu đột biến ở đó, sinh vật sẽ chết).</a:t>
            </a:r>
            <a:endParaRPr sz="100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1000">
                <a:solidFill>
                  <a:srgbClr val="1E293B"/>
                </a:solidFill>
                <a:latin typeface="Roboto"/>
                <a:ea typeface="Roboto"/>
                <a:cs typeface="Roboto"/>
                <a:sym typeface="Roboto"/>
              </a:rPr>
              <a:t>• MSA giúp: (1) Tìm vùng chức năng bảo tồn, (2) Dự đoán cấu trúc Protein mới, (3) Dựng cây tiến hóa chủng loại.</a:t>
            </a:r>
            <a:endParaRPr sz="1000">
              <a:solidFill>
                <a:srgbClr val="1E293B"/>
              </a:solidFill>
              <a:latin typeface="Roboto"/>
              <a:ea typeface="Roboto"/>
              <a:cs typeface="Roboto"/>
              <a:sym typeface="Roboto"/>
            </a:endParaRPr>
          </a:p>
        </p:txBody>
      </p:sp>
      <p:sp>
        <p:nvSpPr>
          <p:cNvPr id="81" name="Google Shape;81;p14"/>
          <p:cNvSpPr txBox="1"/>
          <p:nvPr/>
        </p:nvSpPr>
        <p:spPr>
          <a:xfrm>
            <a:off x="4648200" y="838200"/>
            <a:ext cx="4191000" cy="304800"/>
          </a:xfrm>
          <a:prstGeom prst="rect">
            <a:avLst/>
          </a:prstGeom>
          <a:solidFill>
            <a:srgbClr val="D977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vi" sz="1050">
                <a:solidFill>
                  <a:srgbClr val="FFFFFF"/>
                </a:solidFill>
                <a:latin typeface="Roboto"/>
                <a:ea typeface="Roboto"/>
                <a:cs typeface="Roboto"/>
                <a:sym typeface="Roboto"/>
              </a:rPr>
              <a:t>3. Hai Cơ chế Đột biến trong Tiến hóa Tự nhiên</a:t>
            </a:r>
            <a:endParaRPr b="1" sz="1050">
              <a:solidFill>
                <a:srgbClr val="FFFFFF"/>
              </a:solidFill>
              <a:latin typeface="Roboto"/>
              <a:ea typeface="Roboto"/>
              <a:cs typeface="Roboto"/>
              <a:sym typeface="Roboto"/>
            </a:endParaRPr>
          </a:p>
        </p:txBody>
      </p:sp>
      <p:sp>
        <p:nvSpPr>
          <p:cNvPr id="82" name="Google Shape;82;p14"/>
          <p:cNvSpPr txBox="1"/>
          <p:nvPr/>
        </p:nvSpPr>
        <p:spPr>
          <a:xfrm>
            <a:off x="4648200" y="1143000"/>
            <a:ext cx="4191000" cy="1663800"/>
          </a:xfrm>
          <a:prstGeom prst="rect">
            <a:avLst/>
          </a:prstGeom>
          <a:solidFill>
            <a:srgbClr val="FEF3C7"/>
          </a:solidFill>
          <a:ln>
            <a:noFill/>
          </a:ln>
        </p:spPr>
        <p:txBody>
          <a:bodyPr anchorCtr="0" anchor="t" bIns="91425" lIns="91425" spcFirstLastPara="1" rIns="91425" wrap="square" tIns="91425">
            <a:noAutofit/>
          </a:bodyPr>
          <a:lstStyle/>
          <a:p>
            <a:pPr indent="0" lvl="0" marL="0" rtl="0" algn="l">
              <a:lnSpc>
                <a:spcPct val="125000"/>
              </a:lnSpc>
              <a:spcBef>
                <a:spcPts val="0"/>
              </a:spcBef>
              <a:spcAft>
                <a:spcPts val="0"/>
              </a:spcAft>
              <a:buNone/>
            </a:pPr>
            <a:r>
              <a:rPr lang="vi" sz="1000">
                <a:solidFill>
                  <a:srgbClr val="1E293B"/>
                </a:solidFill>
                <a:latin typeface="Roboto"/>
                <a:ea typeface="Roboto"/>
                <a:cs typeface="Roboto"/>
                <a:sym typeface="Roboto"/>
              </a:rPr>
              <a:t>① Đột biến Thay thế (Substitution / Point Mutation):</a:t>
            </a:r>
            <a:endParaRPr sz="100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1000">
                <a:solidFill>
                  <a:srgbClr val="1E293B"/>
                </a:solidFill>
                <a:latin typeface="Roboto"/>
                <a:ea typeface="Roboto"/>
                <a:cs typeface="Roboto"/>
                <a:sym typeface="Roboto"/>
              </a:rPr>
              <a:t>   Một Amino Acid bị thay bằng Amino Acid khác (ví dụ: V → I). Độ dài chuỗi KHÔNG đổi.</a:t>
            </a:r>
            <a:endParaRPr sz="100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1000">
                <a:solidFill>
                  <a:srgbClr val="1E293B"/>
                </a:solidFill>
                <a:latin typeface="Roboto"/>
                <a:ea typeface="Roboto"/>
                <a:cs typeface="Roboto"/>
                <a:sym typeface="Roboto"/>
              </a:rPr>
              <a:t>② Đột biến Thêm / Mất đoạn (Indel = Insertion / Deletion):</a:t>
            </a:r>
            <a:endParaRPr sz="100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1000">
                <a:solidFill>
                  <a:srgbClr val="1E293B"/>
                </a:solidFill>
                <a:latin typeface="Roboto"/>
                <a:ea typeface="Roboto"/>
                <a:cs typeface="Roboto"/>
                <a:sym typeface="Roboto"/>
              </a:rPr>
              <a:t>   Một đoạn gồm 1 hoặc nhiều Amino Acid bị đứt gãy mất đi (Deletion) hoặc chèn thêm vào (Insertion) → Làm các chuỗi BỊ LỆCH ĐỘ DÀI và trượt vị trí!</a:t>
            </a:r>
            <a:endParaRPr sz="1000">
              <a:solidFill>
                <a:srgbClr val="1E293B"/>
              </a:solidFill>
              <a:latin typeface="Roboto"/>
              <a:ea typeface="Roboto"/>
              <a:cs typeface="Roboto"/>
              <a:sym typeface="Roboto"/>
            </a:endParaRPr>
          </a:p>
        </p:txBody>
      </p:sp>
      <p:sp>
        <p:nvSpPr>
          <p:cNvPr id="83" name="Google Shape;83;p14"/>
          <p:cNvSpPr txBox="1"/>
          <p:nvPr/>
        </p:nvSpPr>
        <p:spPr>
          <a:xfrm>
            <a:off x="4648200" y="2921000"/>
            <a:ext cx="4191000" cy="304800"/>
          </a:xfrm>
          <a:prstGeom prst="rect">
            <a:avLst/>
          </a:prstGeom>
          <a:solidFill>
            <a:srgbClr val="0596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vi" sz="1050">
                <a:solidFill>
                  <a:srgbClr val="FFFFFF"/>
                </a:solidFill>
                <a:latin typeface="Roboto"/>
                <a:ea typeface="Roboto"/>
                <a:cs typeface="Roboto"/>
                <a:sym typeface="Roboto"/>
              </a:rPr>
              <a:t>4. Ý nghĩa Sinh học của Ký tự Khoảng trống '-' (Gap)</a:t>
            </a:r>
            <a:endParaRPr b="1" sz="1050">
              <a:solidFill>
                <a:srgbClr val="FFFFFF"/>
              </a:solidFill>
              <a:latin typeface="Roboto"/>
              <a:ea typeface="Roboto"/>
              <a:cs typeface="Roboto"/>
              <a:sym typeface="Roboto"/>
            </a:endParaRPr>
          </a:p>
        </p:txBody>
      </p:sp>
      <p:sp>
        <p:nvSpPr>
          <p:cNvPr id="84" name="Google Shape;84;p14"/>
          <p:cNvSpPr txBox="1"/>
          <p:nvPr/>
        </p:nvSpPr>
        <p:spPr>
          <a:xfrm>
            <a:off x="4648200" y="3225800"/>
            <a:ext cx="4191000" cy="1752600"/>
          </a:xfrm>
          <a:prstGeom prst="rect">
            <a:avLst/>
          </a:prstGeom>
          <a:solidFill>
            <a:srgbClr val="D1FAE5"/>
          </a:solidFill>
          <a:ln>
            <a:noFill/>
          </a:ln>
        </p:spPr>
        <p:txBody>
          <a:bodyPr anchorCtr="0" anchor="t" bIns="91425" lIns="91425" spcFirstLastPara="1" rIns="91425" wrap="square" tIns="91425">
            <a:noAutofit/>
          </a:bodyPr>
          <a:lstStyle/>
          <a:p>
            <a:pPr indent="0" lvl="0" marL="0" rtl="0" algn="l">
              <a:lnSpc>
                <a:spcPct val="125000"/>
              </a:lnSpc>
              <a:spcBef>
                <a:spcPts val="0"/>
              </a:spcBef>
              <a:spcAft>
                <a:spcPts val="0"/>
              </a:spcAft>
              <a:buNone/>
            </a:pPr>
            <a:r>
              <a:rPr b="1" lang="vi" sz="950">
                <a:solidFill>
                  <a:srgbClr val="1E293B"/>
                </a:solidFill>
                <a:latin typeface="Roboto Mono"/>
                <a:ea typeface="Roboto Mono"/>
                <a:cs typeface="Roboto Mono"/>
                <a:sym typeface="Roboto Mono"/>
              </a:rPr>
              <a:t>Tổ tiên:   M  V  L  S  P  A  D  K  T  N</a:t>
            </a:r>
            <a:endParaRPr b="1" sz="950">
              <a:solidFill>
                <a:srgbClr val="1E293B"/>
              </a:solidFill>
              <a:latin typeface="Roboto Mono"/>
              <a:ea typeface="Roboto Mono"/>
              <a:cs typeface="Roboto Mono"/>
              <a:sym typeface="Roboto Mono"/>
            </a:endParaRPr>
          </a:p>
          <a:p>
            <a:pPr indent="0" lvl="0" marL="0" rtl="0" algn="l">
              <a:lnSpc>
                <a:spcPct val="125000"/>
              </a:lnSpc>
              <a:spcBef>
                <a:spcPts val="0"/>
              </a:spcBef>
              <a:spcAft>
                <a:spcPts val="0"/>
              </a:spcAft>
              <a:buNone/>
            </a:pPr>
            <a:r>
              <a:rPr b="1" lang="vi" sz="950">
                <a:solidFill>
                  <a:srgbClr val="1E293B"/>
                </a:solidFill>
                <a:latin typeface="Roboto Mono"/>
                <a:ea typeface="Roboto Mono"/>
                <a:cs typeface="Roboto Mono"/>
                <a:sym typeface="Roboto Mono"/>
              </a:rPr>
              <a:t>Người:     M  V  L  S  P  A  D  K  T  N  (Giữ nguyên)</a:t>
            </a:r>
            <a:endParaRPr b="1" sz="950">
              <a:solidFill>
                <a:srgbClr val="1E293B"/>
              </a:solidFill>
              <a:latin typeface="Roboto Mono"/>
              <a:ea typeface="Roboto Mono"/>
              <a:cs typeface="Roboto Mono"/>
              <a:sym typeface="Roboto Mono"/>
            </a:endParaRPr>
          </a:p>
          <a:p>
            <a:pPr indent="0" lvl="0" marL="0" rtl="0" algn="l">
              <a:lnSpc>
                <a:spcPct val="125000"/>
              </a:lnSpc>
              <a:spcBef>
                <a:spcPts val="0"/>
              </a:spcBef>
              <a:spcAft>
                <a:spcPts val="0"/>
              </a:spcAft>
              <a:buNone/>
            </a:pPr>
            <a:r>
              <a:rPr b="1" lang="vi" sz="950">
                <a:solidFill>
                  <a:srgbClr val="1E293B"/>
                </a:solidFill>
                <a:latin typeface="Roboto Mono"/>
                <a:ea typeface="Roboto Mono"/>
                <a:cs typeface="Roboto Mono"/>
                <a:sym typeface="Roboto Mono"/>
              </a:rPr>
              <a:t>Tinh tinh: M  V  L  S  -  A  D  K  T  N  (Mất chữ P → chèn '-')</a:t>
            </a:r>
            <a:endParaRPr b="1" sz="950">
              <a:solidFill>
                <a:srgbClr val="1E293B"/>
              </a:solidFill>
              <a:latin typeface="Roboto Mono"/>
              <a:ea typeface="Roboto Mono"/>
              <a:cs typeface="Roboto Mono"/>
              <a:sym typeface="Roboto Mono"/>
            </a:endParaRPr>
          </a:p>
          <a:p>
            <a:pPr indent="0" lvl="0" marL="0" rtl="0" algn="l">
              <a:lnSpc>
                <a:spcPct val="125000"/>
              </a:lnSpc>
              <a:spcBef>
                <a:spcPts val="0"/>
              </a:spcBef>
              <a:spcAft>
                <a:spcPts val="0"/>
              </a:spcAft>
              <a:buNone/>
            </a:pPr>
            <a:r>
              <a:rPr b="1" lang="vi" sz="950">
                <a:solidFill>
                  <a:srgbClr val="1E293B"/>
                </a:solidFill>
                <a:latin typeface="Roboto Mono"/>
                <a:ea typeface="Roboto Mono"/>
                <a:cs typeface="Roboto Mono"/>
                <a:sym typeface="Roboto Mono"/>
              </a:rPr>
              <a:t>Cá voi:    M  V  I  S  -  A  D  K  -  -  (Thay L→I, mất P, T, N)</a:t>
            </a:r>
            <a:endParaRPr b="1" sz="950">
              <a:solidFill>
                <a:srgbClr val="1E293B"/>
              </a:solidFill>
              <a:latin typeface="Roboto Mono"/>
              <a:ea typeface="Roboto Mono"/>
              <a:cs typeface="Roboto Mono"/>
              <a:sym typeface="Roboto Mono"/>
            </a:endParaRPr>
          </a:p>
          <a:p>
            <a:pPr indent="0" lvl="0" marL="0" rtl="0" algn="l">
              <a:lnSpc>
                <a:spcPct val="125000"/>
              </a:lnSpc>
              <a:spcBef>
                <a:spcPts val="0"/>
              </a:spcBef>
              <a:spcAft>
                <a:spcPts val="0"/>
              </a:spcAft>
              <a:buNone/>
            </a:pPr>
            <a:r>
              <a:rPr b="1" lang="vi" sz="950">
                <a:solidFill>
                  <a:srgbClr val="1E293B"/>
                </a:solidFill>
                <a:latin typeface="Roboto Mono"/>
                <a:ea typeface="Roboto Mono"/>
                <a:cs typeface="Roboto Mono"/>
                <a:sym typeface="Roboto Mono"/>
              </a:rPr>
              <a:t>⇒ Chèn dấu '-' là khôi phục vị trí đã bị mất đoạn để gióng thẳng hàng các Amino Acid tương đồng về cùng 1 cột!</a:t>
            </a:r>
            <a:endParaRPr b="1" sz="950">
              <a:solidFill>
                <a:srgbClr val="1E293B"/>
              </a:solidFill>
              <a:latin typeface="Roboto Mono"/>
              <a:ea typeface="Roboto Mono"/>
              <a:cs typeface="Roboto Mono"/>
              <a:sym typeface="Roboto Mon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88" name="Shape 88"/>
        <p:cNvGrpSpPr/>
        <p:nvPr/>
      </p:nvGrpSpPr>
      <p:grpSpPr>
        <a:xfrm>
          <a:off x="0" y="0"/>
          <a:ext cx="0" cy="0"/>
          <a:chOff x="0" y="0"/>
          <a:chExt cx="0" cy="0"/>
        </a:xfrm>
      </p:grpSpPr>
      <p:sp>
        <p:nvSpPr>
          <p:cNvPr id="89" name="Google Shape;89;p15"/>
          <p:cNvSpPr/>
          <p:nvPr/>
        </p:nvSpPr>
        <p:spPr>
          <a:xfrm>
            <a:off x="0" y="0"/>
            <a:ext cx="9144000" cy="736500"/>
          </a:xfrm>
          <a:prstGeom prst="rect">
            <a:avLst/>
          </a:prstGeom>
          <a:solidFill>
            <a:srgbClr val="0F172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 name="Google Shape;90;p15"/>
          <p:cNvSpPr/>
          <p:nvPr/>
        </p:nvSpPr>
        <p:spPr>
          <a:xfrm>
            <a:off x="0" y="711200"/>
            <a:ext cx="9144000" cy="38100"/>
          </a:xfrm>
          <a:prstGeom prst="rect">
            <a:avLst/>
          </a:prstGeom>
          <a:solidFill>
            <a:srgbClr val="0284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 name="Google Shape;91;p15"/>
          <p:cNvSpPr txBox="1"/>
          <p:nvPr/>
        </p:nvSpPr>
        <p:spPr>
          <a:xfrm>
            <a:off x="304800" y="76200"/>
            <a:ext cx="2476500" cy="203100"/>
          </a:xfrm>
          <a:prstGeom prst="rect">
            <a:avLst/>
          </a:prstGeom>
          <a:solidFill>
            <a:srgbClr val="0284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vi" sz="800">
                <a:solidFill>
                  <a:srgbClr val="FFFFFF"/>
                </a:solidFill>
                <a:latin typeface="Roboto"/>
                <a:ea typeface="Roboto"/>
                <a:cs typeface="Roboto"/>
                <a:sym typeface="Roboto"/>
              </a:rPr>
              <a:t>PHẦN 1 • PHÁT BIỂU BÀI TOÁN</a:t>
            </a:r>
            <a:endParaRPr b="1" sz="800">
              <a:solidFill>
                <a:srgbClr val="FFFFFF"/>
              </a:solidFill>
              <a:latin typeface="Roboto"/>
              <a:ea typeface="Roboto"/>
              <a:cs typeface="Roboto"/>
              <a:sym typeface="Roboto"/>
            </a:endParaRPr>
          </a:p>
        </p:txBody>
      </p:sp>
      <p:sp>
        <p:nvSpPr>
          <p:cNvPr id="92" name="Google Shape;92;p15"/>
          <p:cNvSpPr txBox="1"/>
          <p:nvPr/>
        </p:nvSpPr>
        <p:spPr>
          <a:xfrm>
            <a:off x="8001000" y="76200"/>
            <a:ext cx="838200" cy="2031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vi" sz="850">
                <a:solidFill>
                  <a:srgbClr val="93C5FD"/>
                </a:solidFill>
                <a:latin typeface="Roboto"/>
                <a:ea typeface="Roboto"/>
                <a:cs typeface="Roboto"/>
                <a:sym typeface="Roboto"/>
              </a:rPr>
              <a:t>Slide 3 / 24</a:t>
            </a:r>
            <a:endParaRPr b="1" sz="850">
              <a:solidFill>
                <a:srgbClr val="93C5FD"/>
              </a:solidFill>
              <a:latin typeface="Roboto"/>
              <a:ea typeface="Roboto"/>
              <a:cs typeface="Roboto"/>
              <a:sym typeface="Roboto"/>
            </a:endParaRPr>
          </a:p>
        </p:txBody>
      </p:sp>
      <p:sp>
        <p:nvSpPr>
          <p:cNvPr id="93" name="Google Shape;93;p15"/>
          <p:cNvSpPr txBox="1"/>
          <p:nvPr/>
        </p:nvSpPr>
        <p:spPr>
          <a:xfrm>
            <a:off x="304800" y="279400"/>
            <a:ext cx="85344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vi" sz="1500">
                <a:solidFill>
                  <a:srgbClr val="FFFFFF"/>
                </a:solidFill>
                <a:latin typeface="Roboto"/>
                <a:ea typeface="Roboto"/>
                <a:cs typeface="Roboto"/>
                <a:sym typeface="Roboto"/>
              </a:rPr>
              <a:t>Phát biểu Bài toán MSA: Cho Cái Gì (Input) &amp; Yêu Cầu Làm Cái Gì (Output)?</a:t>
            </a:r>
            <a:endParaRPr b="1" sz="1500">
              <a:solidFill>
                <a:srgbClr val="FFFFFF"/>
              </a:solidFill>
              <a:latin typeface="Roboto"/>
              <a:ea typeface="Roboto"/>
              <a:cs typeface="Roboto"/>
              <a:sym typeface="Roboto"/>
            </a:endParaRPr>
          </a:p>
        </p:txBody>
      </p:sp>
      <p:sp>
        <p:nvSpPr>
          <p:cNvPr id="94" name="Google Shape;94;p15"/>
          <p:cNvSpPr txBox="1"/>
          <p:nvPr/>
        </p:nvSpPr>
        <p:spPr>
          <a:xfrm>
            <a:off x="304800" y="520700"/>
            <a:ext cx="8534400" cy="19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vi" sz="900">
                <a:solidFill>
                  <a:srgbClr val="BAE6FD"/>
                </a:solidFill>
                <a:latin typeface="Roboto"/>
                <a:ea typeface="Roboto"/>
                <a:cs typeface="Roboto"/>
                <a:sym typeface="Roboto"/>
              </a:rPr>
              <a:t>Định nghĩa hình thức đầu vào, đầu ra, 3 ràng buộc hợp lệ và hàm mục tiêu tối ưu hóa tổ hợp</a:t>
            </a:r>
            <a:endParaRPr i="1" sz="900">
              <a:solidFill>
                <a:srgbClr val="BAE6FD"/>
              </a:solidFill>
              <a:latin typeface="Roboto"/>
              <a:ea typeface="Roboto"/>
              <a:cs typeface="Roboto"/>
              <a:sym typeface="Roboto"/>
            </a:endParaRPr>
          </a:p>
        </p:txBody>
      </p:sp>
      <p:sp>
        <p:nvSpPr>
          <p:cNvPr id="95" name="Google Shape;95;p15"/>
          <p:cNvSpPr txBox="1"/>
          <p:nvPr/>
        </p:nvSpPr>
        <p:spPr>
          <a:xfrm>
            <a:off x="304800" y="838200"/>
            <a:ext cx="4191000" cy="304800"/>
          </a:xfrm>
          <a:prstGeom prst="rect">
            <a:avLst/>
          </a:prstGeom>
          <a:solidFill>
            <a:srgbClr val="0284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vi" sz="1050">
                <a:solidFill>
                  <a:srgbClr val="FFFFFF"/>
                </a:solidFill>
                <a:latin typeface="Roboto"/>
                <a:ea typeface="Roboto"/>
                <a:cs typeface="Roboto"/>
                <a:sym typeface="Roboto"/>
              </a:rPr>
              <a:t>CHO CÁI GÌ? (INPUT CỦA BÀI TOÁN)</a:t>
            </a:r>
            <a:endParaRPr b="1" sz="1050">
              <a:solidFill>
                <a:srgbClr val="FFFFFF"/>
              </a:solidFill>
              <a:latin typeface="Roboto"/>
              <a:ea typeface="Roboto"/>
              <a:cs typeface="Roboto"/>
              <a:sym typeface="Roboto"/>
            </a:endParaRPr>
          </a:p>
        </p:txBody>
      </p:sp>
      <p:sp>
        <p:nvSpPr>
          <p:cNvPr id="96" name="Google Shape;96;p15"/>
          <p:cNvSpPr txBox="1"/>
          <p:nvPr/>
        </p:nvSpPr>
        <p:spPr>
          <a:xfrm>
            <a:off x="304800" y="1143000"/>
            <a:ext cx="4191000" cy="15747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lnSpc>
                <a:spcPct val="125000"/>
              </a:lnSpc>
              <a:spcBef>
                <a:spcPts val="0"/>
              </a:spcBef>
              <a:spcAft>
                <a:spcPts val="0"/>
              </a:spcAft>
              <a:buNone/>
            </a:pPr>
            <a:r>
              <a:rPr lang="vi" sz="980">
                <a:solidFill>
                  <a:srgbClr val="1E293B"/>
                </a:solidFill>
                <a:latin typeface="Roboto"/>
                <a:ea typeface="Roboto"/>
                <a:cs typeface="Roboto"/>
                <a:sym typeface="Roboto"/>
              </a:rPr>
              <a:t>• Cho tập k chuỗi sinh học S = {S₁, S₂, ..., </a:t>
            </a:r>
            <a:r>
              <a:rPr lang="vi" sz="980">
                <a:solidFill>
                  <a:srgbClr val="1E293B"/>
                </a:solidFill>
                <a:latin typeface="Roboto"/>
                <a:ea typeface="Roboto"/>
                <a:cs typeface="Roboto"/>
                <a:sym typeface="Roboto"/>
              </a:rPr>
              <a:t>S_k</a:t>
            </a:r>
            <a:r>
              <a:rPr lang="vi" sz="980">
                <a:solidFill>
                  <a:srgbClr val="1E293B"/>
                </a:solidFill>
                <a:latin typeface="Roboto"/>
                <a:ea typeface="Roboto"/>
                <a:cs typeface="Roboto"/>
                <a:sym typeface="Roboto"/>
              </a:rPr>
              <a:t>} (k ≥ 3) trên bảng chữ cái Σ.</a:t>
            </a:r>
            <a:endParaRPr sz="98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80">
                <a:solidFill>
                  <a:srgbClr val="1E293B"/>
                </a:solidFill>
                <a:latin typeface="Roboto"/>
                <a:ea typeface="Roboto"/>
                <a:cs typeface="Roboto"/>
                <a:sym typeface="Roboto"/>
              </a:rPr>
              <a:t>• Độ dài ban đầu khác nhau: |S₁| = n₁, |S₂| = n₂, ..., |</a:t>
            </a:r>
            <a:r>
              <a:rPr lang="vi" sz="980">
                <a:solidFill>
                  <a:srgbClr val="1E293B"/>
                </a:solidFill>
                <a:latin typeface="Roboto"/>
                <a:ea typeface="Roboto"/>
                <a:cs typeface="Roboto"/>
                <a:sym typeface="Roboto"/>
              </a:rPr>
              <a:t>S_k</a:t>
            </a:r>
            <a:r>
              <a:rPr lang="vi" sz="980">
                <a:solidFill>
                  <a:srgbClr val="1E293B"/>
                </a:solidFill>
                <a:latin typeface="Roboto"/>
                <a:ea typeface="Roboto"/>
                <a:cs typeface="Roboto"/>
                <a:sym typeface="Roboto"/>
              </a:rPr>
              <a:t>| = </a:t>
            </a:r>
            <a:r>
              <a:rPr lang="vi" sz="980">
                <a:solidFill>
                  <a:srgbClr val="1E293B"/>
                </a:solidFill>
                <a:latin typeface="Roboto"/>
                <a:ea typeface="Roboto"/>
                <a:cs typeface="Roboto"/>
                <a:sym typeface="Roboto"/>
              </a:rPr>
              <a:t>n_k</a:t>
            </a:r>
            <a:r>
              <a:rPr lang="vi" sz="980">
                <a:solidFill>
                  <a:srgbClr val="1E293B"/>
                </a:solidFill>
                <a:latin typeface="Roboto"/>
                <a:ea typeface="Roboto"/>
                <a:cs typeface="Roboto"/>
                <a:sym typeface="Roboto"/>
              </a:rPr>
              <a:t>.</a:t>
            </a:r>
            <a:endParaRPr sz="98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80">
                <a:solidFill>
                  <a:srgbClr val="1E293B"/>
                </a:solidFill>
                <a:latin typeface="Roboto"/>
                <a:ea typeface="Roboto"/>
                <a:cs typeface="Roboto"/>
                <a:sym typeface="Roboto"/>
              </a:rPr>
              <a:t>• Cho trước Ma trận điểm thay thế BLOSUM62 và tham số phạt khoảng trống (G_open = -10, G_ext = -1).</a:t>
            </a:r>
            <a:endParaRPr sz="98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80">
                <a:solidFill>
                  <a:srgbClr val="1E293B"/>
                </a:solidFill>
                <a:latin typeface="Roboto"/>
                <a:ea typeface="Roboto"/>
                <a:cs typeface="Roboto"/>
                <a:sym typeface="Roboto"/>
              </a:rPr>
              <a:t>• Ví dụ Input (k = 3 chuỗi chưa căn chỉnh):</a:t>
            </a:r>
            <a:endParaRPr sz="98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80">
                <a:solidFill>
                  <a:srgbClr val="1E293B"/>
                </a:solidFill>
                <a:latin typeface="Roboto"/>
                <a:ea typeface="Roboto"/>
                <a:cs typeface="Roboto"/>
                <a:sym typeface="Roboto"/>
              </a:rPr>
              <a:t>   S₁ = "MVLSPADKTN" (n₁ = 10)</a:t>
            </a:r>
            <a:endParaRPr sz="98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80">
                <a:solidFill>
                  <a:srgbClr val="1E293B"/>
                </a:solidFill>
                <a:latin typeface="Roboto"/>
                <a:ea typeface="Roboto"/>
                <a:cs typeface="Roboto"/>
                <a:sym typeface="Roboto"/>
              </a:rPr>
              <a:t>   S₂ = "MVLSADKTN"  (n₂ = 9)</a:t>
            </a:r>
            <a:endParaRPr sz="98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80">
                <a:solidFill>
                  <a:srgbClr val="1E293B"/>
                </a:solidFill>
                <a:latin typeface="Roboto"/>
                <a:ea typeface="Roboto"/>
                <a:cs typeface="Roboto"/>
                <a:sym typeface="Roboto"/>
              </a:rPr>
              <a:t>   S₃ = "MVLSEADK"   (n₃ = 8)</a:t>
            </a:r>
            <a:endParaRPr sz="980">
              <a:solidFill>
                <a:srgbClr val="1E293B"/>
              </a:solidFill>
              <a:latin typeface="Roboto"/>
              <a:ea typeface="Roboto"/>
              <a:cs typeface="Roboto"/>
              <a:sym typeface="Roboto"/>
            </a:endParaRPr>
          </a:p>
        </p:txBody>
      </p:sp>
      <p:sp>
        <p:nvSpPr>
          <p:cNvPr id="97" name="Google Shape;97;p15"/>
          <p:cNvSpPr txBox="1"/>
          <p:nvPr/>
        </p:nvSpPr>
        <p:spPr>
          <a:xfrm>
            <a:off x="4648200" y="838200"/>
            <a:ext cx="4191000" cy="304800"/>
          </a:xfrm>
          <a:prstGeom prst="rect">
            <a:avLst/>
          </a:prstGeom>
          <a:solidFill>
            <a:srgbClr val="0596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vi" sz="1050">
                <a:solidFill>
                  <a:srgbClr val="FFFFFF"/>
                </a:solidFill>
                <a:latin typeface="Roboto"/>
                <a:ea typeface="Roboto"/>
                <a:cs typeface="Roboto"/>
                <a:sym typeface="Roboto"/>
              </a:rPr>
              <a:t>YÊU CẦU LÀM CÁI GÌ? (OUTPUT CỦA BÀI TOÁN)</a:t>
            </a:r>
            <a:endParaRPr b="1" sz="1050">
              <a:solidFill>
                <a:srgbClr val="FFFFFF"/>
              </a:solidFill>
              <a:latin typeface="Roboto"/>
              <a:ea typeface="Roboto"/>
              <a:cs typeface="Roboto"/>
              <a:sym typeface="Roboto"/>
            </a:endParaRPr>
          </a:p>
        </p:txBody>
      </p:sp>
      <p:sp>
        <p:nvSpPr>
          <p:cNvPr id="98" name="Google Shape;98;p15"/>
          <p:cNvSpPr txBox="1"/>
          <p:nvPr/>
        </p:nvSpPr>
        <p:spPr>
          <a:xfrm>
            <a:off x="4648200" y="1143000"/>
            <a:ext cx="4191000" cy="15747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lnSpc>
                <a:spcPct val="125000"/>
              </a:lnSpc>
              <a:spcBef>
                <a:spcPts val="0"/>
              </a:spcBef>
              <a:spcAft>
                <a:spcPts val="0"/>
              </a:spcAft>
              <a:buNone/>
            </a:pPr>
            <a:r>
              <a:rPr b="1" lang="vi" sz="980">
                <a:solidFill>
                  <a:srgbClr val="1E293B"/>
                </a:solidFill>
                <a:latin typeface="Roboto Mono"/>
                <a:ea typeface="Roboto Mono"/>
                <a:cs typeface="Roboto Mono"/>
                <a:sym typeface="Roboto Mono"/>
              </a:rPr>
              <a:t>• </a:t>
            </a:r>
            <a:r>
              <a:rPr b="1" lang="vi" sz="980">
                <a:solidFill>
                  <a:srgbClr val="1E293B"/>
                </a:solidFill>
                <a:latin typeface="Roboto Mono"/>
                <a:ea typeface="Roboto Mono"/>
                <a:cs typeface="Roboto Mono"/>
                <a:sym typeface="Roboto Mono"/>
              </a:rPr>
              <a:t>Chèn các dấu '-' vào S_i để tạo Ma trận A (k hàng × L cột):</a:t>
            </a:r>
            <a:endParaRPr b="1" sz="980">
              <a:solidFill>
                <a:srgbClr val="1E293B"/>
              </a:solidFill>
              <a:latin typeface="Roboto Mono"/>
              <a:ea typeface="Roboto Mono"/>
              <a:cs typeface="Roboto Mono"/>
              <a:sym typeface="Roboto Mono"/>
            </a:endParaRPr>
          </a:p>
          <a:p>
            <a:pPr indent="0" lvl="0" marL="0" rtl="0" algn="l">
              <a:lnSpc>
                <a:spcPct val="125000"/>
              </a:lnSpc>
              <a:spcBef>
                <a:spcPts val="0"/>
              </a:spcBef>
              <a:spcAft>
                <a:spcPts val="0"/>
              </a:spcAft>
              <a:buNone/>
            </a:pPr>
            <a:r>
              <a:rPr b="1" lang="vi" sz="980">
                <a:solidFill>
                  <a:srgbClr val="1E293B"/>
                </a:solidFill>
                <a:latin typeface="Roboto Mono"/>
                <a:ea typeface="Roboto Mono"/>
                <a:cs typeface="Roboto Mono"/>
                <a:sym typeface="Roboto Mono"/>
              </a:rPr>
              <a:t>   A[1]: M  V  L  S  P  A  D  K  T  N   (L = 10)</a:t>
            </a:r>
            <a:endParaRPr b="1" sz="980">
              <a:solidFill>
                <a:srgbClr val="1E293B"/>
              </a:solidFill>
              <a:latin typeface="Roboto Mono"/>
              <a:ea typeface="Roboto Mono"/>
              <a:cs typeface="Roboto Mono"/>
              <a:sym typeface="Roboto Mono"/>
            </a:endParaRPr>
          </a:p>
          <a:p>
            <a:pPr indent="0" lvl="0" marL="0" rtl="0" algn="l">
              <a:lnSpc>
                <a:spcPct val="125000"/>
              </a:lnSpc>
              <a:spcBef>
                <a:spcPts val="0"/>
              </a:spcBef>
              <a:spcAft>
                <a:spcPts val="0"/>
              </a:spcAft>
              <a:buNone/>
            </a:pPr>
            <a:r>
              <a:rPr b="1" lang="vi" sz="980">
                <a:solidFill>
                  <a:srgbClr val="1E293B"/>
                </a:solidFill>
                <a:latin typeface="Roboto Mono"/>
                <a:ea typeface="Roboto Mono"/>
                <a:cs typeface="Roboto Mono"/>
                <a:sym typeface="Roboto Mono"/>
              </a:rPr>
              <a:t>   A[2]: M  V  L  S  -  A  D  K  T  N   (L = 10)</a:t>
            </a:r>
            <a:endParaRPr b="1" sz="980">
              <a:solidFill>
                <a:srgbClr val="1E293B"/>
              </a:solidFill>
              <a:latin typeface="Roboto Mono"/>
              <a:ea typeface="Roboto Mono"/>
              <a:cs typeface="Roboto Mono"/>
              <a:sym typeface="Roboto Mono"/>
            </a:endParaRPr>
          </a:p>
          <a:p>
            <a:pPr indent="0" lvl="0" marL="0" rtl="0" algn="l">
              <a:lnSpc>
                <a:spcPct val="125000"/>
              </a:lnSpc>
              <a:spcBef>
                <a:spcPts val="0"/>
              </a:spcBef>
              <a:spcAft>
                <a:spcPts val="0"/>
              </a:spcAft>
              <a:buNone/>
            </a:pPr>
            <a:r>
              <a:rPr b="1" lang="vi" sz="980">
                <a:solidFill>
                  <a:srgbClr val="1E293B"/>
                </a:solidFill>
                <a:latin typeface="Roboto Mono"/>
                <a:ea typeface="Roboto Mono"/>
                <a:cs typeface="Roboto Mono"/>
                <a:sym typeface="Roboto Mono"/>
              </a:rPr>
              <a:t>   A[3]: M  V  L  S  E  A  D  K  -  -   (L = 10)</a:t>
            </a:r>
            <a:endParaRPr b="1" sz="980">
              <a:solidFill>
                <a:srgbClr val="1E293B"/>
              </a:solidFill>
              <a:latin typeface="Roboto Mono"/>
              <a:ea typeface="Roboto Mono"/>
              <a:cs typeface="Roboto Mono"/>
              <a:sym typeface="Roboto Mono"/>
            </a:endParaRPr>
          </a:p>
          <a:p>
            <a:pPr indent="0" lvl="0" marL="0" rtl="0" algn="l">
              <a:lnSpc>
                <a:spcPct val="125000"/>
              </a:lnSpc>
              <a:spcBef>
                <a:spcPts val="0"/>
              </a:spcBef>
              <a:spcAft>
                <a:spcPts val="0"/>
              </a:spcAft>
              <a:buNone/>
            </a:pPr>
            <a:r>
              <a:rPr b="1" lang="vi" sz="980">
                <a:solidFill>
                  <a:srgbClr val="1E293B"/>
                </a:solidFill>
                <a:latin typeface="Roboto Mono"/>
                <a:ea typeface="Roboto Mono"/>
                <a:cs typeface="Roboto Mono"/>
                <a:sym typeface="Roboto Mono"/>
              </a:rPr>
              <a:t>         *  *  *  *  .  *  *  *  :  :   (Cột bảo tồn)</a:t>
            </a:r>
            <a:endParaRPr b="1" sz="980">
              <a:solidFill>
                <a:srgbClr val="1E293B"/>
              </a:solidFill>
              <a:latin typeface="Roboto Mono"/>
              <a:ea typeface="Roboto Mono"/>
              <a:cs typeface="Roboto Mono"/>
              <a:sym typeface="Roboto Mono"/>
            </a:endParaRPr>
          </a:p>
          <a:p>
            <a:pPr indent="0" lvl="0" marL="0" rtl="0" algn="l">
              <a:lnSpc>
                <a:spcPct val="125000"/>
              </a:lnSpc>
              <a:spcBef>
                <a:spcPts val="0"/>
              </a:spcBef>
              <a:spcAft>
                <a:spcPts val="0"/>
              </a:spcAft>
              <a:buNone/>
            </a:pPr>
            <a:r>
              <a:rPr b="1" lang="vi" sz="980">
                <a:solidFill>
                  <a:srgbClr val="1E293B"/>
                </a:solidFill>
                <a:latin typeface="Roboto Mono"/>
                <a:ea typeface="Roboto Mono"/>
                <a:cs typeface="Roboto Mono"/>
                <a:sym typeface="Roboto Mono"/>
              </a:rPr>
              <a:t>• Sao cho Tổng Điểm Tương đồng Toàn cục SP(A) đạt CỰC ĐẠI (MAX)!</a:t>
            </a:r>
            <a:endParaRPr b="1" sz="980">
              <a:solidFill>
                <a:srgbClr val="1E293B"/>
              </a:solidFill>
              <a:latin typeface="Roboto Mono"/>
              <a:ea typeface="Roboto Mono"/>
              <a:cs typeface="Roboto Mono"/>
              <a:sym typeface="Roboto Mono"/>
            </a:endParaRPr>
          </a:p>
        </p:txBody>
      </p:sp>
      <p:sp>
        <p:nvSpPr>
          <p:cNvPr id="99" name="Google Shape;99;p15"/>
          <p:cNvSpPr txBox="1"/>
          <p:nvPr/>
        </p:nvSpPr>
        <p:spPr>
          <a:xfrm>
            <a:off x="304800" y="2844800"/>
            <a:ext cx="8534400" cy="304800"/>
          </a:xfrm>
          <a:prstGeom prst="rect">
            <a:avLst/>
          </a:pr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vi" sz="1050">
                <a:solidFill>
                  <a:srgbClr val="FFFFFF"/>
                </a:solidFill>
                <a:latin typeface="Roboto"/>
                <a:ea typeface="Roboto"/>
                <a:cs typeface="Roboto"/>
                <a:sym typeface="Roboto"/>
              </a:rPr>
              <a:t>3 RÀNG BUỘC BẮT BUỘC &amp; HÀM MỤC TIÊU TOÁN HỌC (OBJECTIVE FUNCTION)</a:t>
            </a:r>
            <a:endParaRPr b="1" sz="1050">
              <a:solidFill>
                <a:srgbClr val="FFFFFF"/>
              </a:solidFill>
              <a:latin typeface="Roboto"/>
              <a:ea typeface="Roboto"/>
              <a:cs typeface="Roboto"/>
              <a:sym typeface="Roboto"/>
            </a:endParaRPr>
          </a:p>
        </p:txBody>
      </p:sp>
      <p:sp>
        <p:nvSpPr>
          <p:cNvPr id="100" name="Google Shape;100;p15"/>
          <p:cNvSpPr txBox="1"/>
          <p:nvPr/>
        </p:nvSpPr>
        <p:spPr>
          <a:xfrm>
            <a:off x="304800" y="3149600"/>
            <a:ext cx="8534400" cy="1828800"/>
          </a:xfrm>
          <a:prstGeom prst="rect">
            <a:avLst/>
          </a:prstGeom>
          <a:solidFill>
            <a:srgbClr val="F8FAFC"/>
          </a:solidFill>
          <a:ln>
            <a:noFill/>
          </a:ln>
        </p:spPr>
        <p:txBody>
          <a:bodyPr anchorCtr="0" anchor="t" bIns="91425" lIns="91425" spcFirstLastPara="1" rIns="91425" wrap="square" tIns="91425">
            <a:noAutofit/>
          </a:bodyPr>
          <a:lstStyle/>
          <a:p>
            <a:pPr indent="0" lvl="0" marL="0" rtl="0" algn="l">
              <a:lnSpc>
                <a:spcPct val="125000"/>
              </a:lnSpc>
              <a:spcBef>
                <a:spcPts val="0"/>
              </a:spcBef>
              <a:spcAft>
                <a:spcPts val="0"/>
              </a:spcAft>
              <a:buNone/>
            </a:pPr>
            <a:r>
              <a:rPr lang="vi" sz="980">
                <a:solidFill>
                  <a:srgbClr val="1E293B"/>
                </a:solidFill>
                <a:latin typeface="Roboto"/>
                <a:ea typeface="Roboto"/>
                <a:cs typeface="Roboto"/>
                <a:sym typeface="Roboto"/>
              </a:rPr>
              <a:t>1. Ràng buộc Đồng nhất Độ dài: Mọi hàng trong ma trận kết quả A đều phải có cùng độ dài L, với max(</a:t>
            </a:r>
            <a:r>
              <a:rPr lang="vi" sz="980">
                <a:solidFill>
                  <a:srgbClr val="1E293B"/>
                </a:solidFill>
                <a:latin typeface="Roboto"/>
                <a:ea typeface="Roboto"/>
                <a:cs typeface="Roboto"/>
                <a:sym typeface="Roboto"/>
              </a:rPr>
              <a:t>n_i</a:t>
            </a:r>
            <a:r>
              <a:rPr lang="vi" sz="980">
                <a:solidFill>
                  <a:srgbClr val="1E293B"/>
                </a:solidFill>
                <a:latin typeface="Roboto"/>
                <a:ea typeface="Roboto"/>
                <a:cs typeface="Roboto"/>
                <a:sym typeface="Roboto"/>
              </a:rPr>
              <a:t>) ≤ L ≤ ∑ </a:t>
            </a:r>
            <a:r>
              <a:rPr lang="vi" sz="980">
                <a:solidFill>
                  <a:srgbClr val="1E293B"/>
                </a:solidFill>
                <a:latin typeface="Roboto"/>
                <a:ea typeface="Roboto"/>
                <a:cs typeface="Roboto"/>
                <a:sym typeface="Roboto"/>
              </a:rPr>
              <a:t>n_i</a:t>
            </a:r>
            <a:r>
              <a:rPr lang="vi" sz="980">
                <a:solidFill>
                  <a:srgbClr val="1E293B"/>
                </a:solidFill>
                <a:latin typeface="Roboto"/>
                <a:ea typeface="Roboto"/>
                <a:cs typeface="Roboto"/>
                <a:sym typeface="Roboto"/>
              </a:rPr>
              <a:t>.</a:t>
            </a:r>
            <a:endParaRPr sz="98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80">
                <a:solidFill>
                  <a:srgbClr val="1E293B"/>
                </a:solidFill>
                <a:latin typeface="Roboto"/>
                <a:ea typeface="Roboto"/>
                <a:cs typeface="Roboto"/>
                <a:sym typeface="Roboto"/>
              </a:rPr>
              <a:t>2. Ràng buộc Bảo toàn Thứ tự Gốc (Order-Preserving): Nếu xóa toàn bộ ký tự '-' trên hàng thứ i của ma trận A, ta phải thu lại chính xác 100% chuỗi gốc </a:t>
            </a:r>
            <a:r>
              <a:rPr lang="vi" sz="980">
                <a:solidFill>
                  <a:srgbClr val="1E293B"/>
                </a:solidFill>
                <a:latin typeface="Roboto"/>
                <a:ea typeface="Roboto"/>
                <a:cs typeface="Roboto"/>
                <a:sym typeface="Roboto"/>
              </a:rPr>
              <a:t>S_i</a:t>
            </a:r>
            <a:r>
              <a:rPr lang="vi" sz="980">
                <a:solidFill>
                  <a:srgbClr val="1E293B"/>
                </a:solidFill>
                <a:latin typeface="Roboto"/>
                <a:ea typeface="Roboto"/>
                <a:cs typeface="Roboto"/>
                <a:sym typeface="Roboto"/>
              </a:rPr>
              <a:t> ban đầu (tuyệt đối không được hoán vị, thêm hay làm rụng Amino Acid).</a:t>
            </a:r>
            <a:endParaRPr sz="98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80">
                <a:solidFill>
                  <a:srgbClr val="1E293B"/>
                </a:solidFill>
                <a:latin typeface="Roboto"/>
                <a:ea typeface="Roboto"/>
                <a:cs typeface="Roboto"/>
                <a:sym typeface="Roboto"/>
              </a:rPr>
              <a:t>3. Ràng buộc Không suy biến (No All-Gap Column): Không tồn tại bất kỳ cột c ∈ [1..L] nào mà cả k hàng đều là dấu '-'.</a:t>
            </a:r>
            <a:endParaRPr sz="98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80">
                <a:solidFill>
                  <a:srgbClr val="1E293B"/>
                </a:solidFill>
                <a:latin typeface="Roboto"/>
                <a:ea typeface="Roboto"/>
                <a:cs typeface="Roboto"/>
                <a:sym typeface="Roboto"/>
              </a:rPr>
              <a:t>4. Hàm Mục tiêu Tối ưu hóa Tổng Cặp đôi (Sum-of-Pairs Score): Tìm ma trận A* = argmax SP(A), với:</a:t>
            </a:r>
            <a:endParaRPr sz="98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80">
                <a:solidFill>
                  <a:srgbClr val="1E293B"/>
                </a:solidFill>
                <a:latin typeface="Roboto"/>
                <a:ea typeface="Roboto"/>
                <a:cs typeface="Roboto"/>
                <a:sym typeface="Roboto"/>
              </a:rPr>
              <a:t>   SP(A) = ∑_{1 ≤ p &lt; q ≤ k} [ ∑_{c=1..L} score(A[p,c], A[q,c])  -  ∑ Phạt_Affine_Gap(chuỗi p, chuỗi q) ]</a:t>
            </a:r>
            <a:endParaRPr sz="980">
              <a:solidFill>
                <a:srgbClr val="1E293B"/>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104" name="Shape 104"/>
        <p:cNvGrpSpPr/>
        <p:nvPr/>
      </p:nvGrpSpPr>
      <p:grpSpPr>
        <a:xfrm>
          <a:off x="0" y="0"/>
          <a:ext cx="0" cy="0"/>
          <a:chOff x="0" y="0"/>
          <a:chExt cx="0" cy="0"/>
        </a:xfrm>
      </p:grpSpPr>
      <p:sp>
        <p:nvSpPr>
          <p:cNvPr id="105" name="Google Shape;105;p16"/>
          <p:cNvSpPr/>
          <p:nvPr/>
        </p:nvSpPr>
        <p:spPr>
          <a:xfrm>
            <a:off x="0" y="0"/>
            <a:ext cx="9144000" cy="736500"/>
          </a:xfrm>
          <a:prstGeom prst="rect">
            <a:avLst/>
          </a:prstGeom>
          <a:solidFill>
            <a:srgbClr val="0F172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 name="Google Shape;106;p16"/>
          <p:cNvSpPr/>
          <p:nvPr/>
        </p:nvSpPr>
        <p:spPr>
          <a:xfrm>
            <a:off x="0" y="711200"/>
            <a:ext cx="9144000" cy="38100"/>
          </a:xfrm>
          <a:prstGeom prst="rect">
            <a:avLst/>
          </a:prstGeom>
          <a:solidFill>
            <a:srgbClr val="0284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 name="Google Shape;107;p16"/>
          <p:cNvSpPr txBox="1"/>
          <p:nvPr/>
        </p:nvSpPr>
        <p:spPr>
          <a:xfrm>
            <a:off x="304800" y="76200"/>
            <a:ext cx="2476500" cy="203100"/>
          </a:xfrm>
          <a:prstGeom prst="rect">
            <a:avLst/>
          </a:prstGeom>
          <a:solidFill>
            <a:srgbClr val="0284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vi" sz="800">
                <a:solidFill>
                  <a:srgbClr val="FFFFFF"/>
                </a:solidFill>
                <a:latin typeface="Roboto"/>
                <a:ea typeface="Roboto"/>
                <a:cs typeface="Roboto"/>
                <a:sym typeface="Roboto"/>
              </a:rPr>
              <a:t>PHẦN 1 • MÔ HÌNH ĐIỂM SỐ SINH HỌC</a:t>
            </a:r>
            <a:endParaRPr b="1" sz="800">
              <a:solidFill>
                <a:srgbClr val="FFFFFF"/>
              </a:solidFill>
              <a:latin typeface="Roboto"/>
              <a:ea typeface="Roboto"/>
              <a:cs typeface="Roboto"/>
              <a:sym typeface="Roboto"/>
            </a:endParaRPr>
          </a:p>
        </p:txBody>
      </p:sp>
      <p:sp>
        <p:nvSpPr>
          <p:cNvPr id="108" name="Google Shape;108;p16"/>
          <p:cNvSpPr txBox="1"/>
          <p:nvPr/>
        </p:nvSpPr>
        <p:spPr>
          <a:xfrm>
            <a:off x="8001000" y="76200"/>
            <a:ext cx="838200" cy="2031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vi" sz="850">
                <a:solidFill>
                  <a:srgbClr val="93C5FD"/>
                </a:solidFill>
                <a:latin typeface="Roboto"/>
                <a:ea typeface="Roboto"/>
                <a:cs typeface="Roboto"/>
                <a:sym typeface="Roboto"/>
              </a:rPr>
              <a:t>Slide 4 / 24</a:t>
            </a:r>
            <a:endParaRPr b="1" sz="850">
              <a:solidFill>
                <a:srgbClr val="93C5FD"/>
              </a:solidFill>
              <a:latin typeface="Roboto"/>
              <a:ea typeface="Roboto"/>
              <a:cs typeface="Roboto"/>
              <a:sym typeface="Roboto"/>
            </a:endParaRPr>
          </a:p>
        </p:txBody>
      </p:sp>
      <p:sp>
        <p:nvSpPr>
          <p:cNvPr id="109" name="Google Shape;109;p16"/>
          <p:cNvSpPr txBox="1"/>
          <p:nvPr/>
        </p:nvSpPr>
        <p:spPr>
          <a:xfrm>
            <a:off x="304800" y="279400"/>
            <a:ext cx="85344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vi" sz="1500">
                <a:solidFill>
                  <a:srgbClr val="FFFFFF"/>
                </a:solidFill>
                <a:latin typeface="Roboto"/>
                <a:ea typeface="Roboto"/>
                <a:cs typeface="Roboto"/>
                <a:sym typeface="Roboto"/>
              </a:rPr>
              <a:t>Tại sao dùng Ma trận BLOSUM62 &amp; Phạt Khoảng trống Affine (-10, -1)?</a:t>
            </a:r>
            <a:endParaRPr b="1" sz="1500">
              <a:solidFill>
                <a:srgbClr val="FFFFFF"/>
              </a:solidFill>
              <a:latin typeface="Roboto"/>
              <a:ea typeface="Roboto"/>
              <a:cs typeface="Roboto"/>
              <a:sym typeface="Roboto"/>
            </a:endParaRPr>
          </a:p>
        </p:txBody>
      </p:sp>
      <p:sp>
        <p:nvSpPr>
          <p:cNvPr id="110" name="Google Shape;110;p16"/>
          <p:cNvSpPr txBox="1"/>
          <p:nvPr/>
        </p:nvSpPr>
        <p:spPr>
          <a:xfrm>
            <a:off x="304800" y="520700"/>
            <a:ext cx="8534400" cy="19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vi" sz="900">
                <a:solidFill>
                  <a:srgbClr val="BAE6FD"/>
                </a:solidFill>
                <a:latin typeface="Roboto"/>
                <a:ea typeface="Roboto"/>
                <a:cs typeface="Roboto"/>
                <a:sym typeface="Roboto"/>
              </a:rPr>
              <a:t>Sự khác biệt giữa bài toán chuỗi thuần túy (LCS) và bài toán Sinh tin học thực tế</a:t>
            </a:r>
            <a:endParaRPr i="1" sz="900">
              <a:solidFill>
                <a:srgbClr val="BAE6FD"/>
              </a:solidFill>
              <a:latin typeface="Roboto"/>
              <a:ea typeface="Roboto"/>
              <a:cs typeface="Roboto"/>
              <a:sym typeface="Roboto"/>
            </a:endParaRPr>
          </a:p>
        </p:txBody>
      </p:sp>
      <p:sp>
        <p:nvSpPr>
          <p:cNvPr id="111" name="Google Shape;111;p16"/>
          <p:cNvSpPr txBox="1"/>
          <p:nvPr/>
        </p:nvSpPr>
        <p:spPr>
          <a:xfrm>
            <a:off x="304800" y="838200"/>
            <a:ext cx="4191000" cy="30480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vi" sz="1050">
                <a:solidFill>
                  <a:srgbClr val="FFFFFF"/>
                </a:solidFill>
                <a:latin typeface="Roboto"/>
                <a:ea typeface="Roboto"/>
                <a:cs typeface="Roboto"/>
                <a:sym typeface="Roboto"/>
              </a:rPr>
              <a:t>1. Ma trận Thay thế BLOSUM62 (20 × 20 Amino Acids)</a:t>
            </a:r>
            <a:endParaRPr b="1" sz="1050">
              <a:solidFill>
                <a:srgbClr val="FFFFFF"/>
              </a:solidFill>
              <a:latin typeface="Roboto"/>
              <a:ea typeface="Roboto"/>
              <a:cs typeface="Roboto"/>
              <a:sym typeface="Roboto"/>
            </a:endParaRPr>
          </a:p>
        </p:txBody>
      </p:sp>
      <p:sp>
        <p:nvSpPr>
          <p:cNvPr id="112" name="Google Shape;112;p16"/>
          <p:cNvSpPr txBox="1"/>
          <p:nvPr/>
        </p:nvSpPr>
        <p:spPr>
          <a:xfrm>
            <a:off x="304800" y="1143000"/>
            <a:ext cx="4191000" cy="38355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lnSpc>
                <a:spcPct val="125000"/>
              </a:lnSpc>
              <a:spcBef>
                <a:spcPts val="0"/>
              </a:spcBef>
              <a:spcAft>
                <a:spcPts val="0"/>
              </a:spcAft>
              <a:buNone/>
            </a:pPr>
            <a:r>
              <a:rPr lang="vi" sz="980">
                <a:solidFill>
                  <a:srgbClr val="1E293B"/>
                </a:solidFill>
                <a:latin typeface="Roboto"/>
                <a:ea typeface="Roboto"/>
                <a:cs typeface="Roboto"/>
                <a:sym typeface="Roboto"/>
              </a:rPr>
              <a:t>• Tại sao KHÔNG chấm điểm kiểu đơn giản (Giống = +1, Khác = -1)?</a:t>
            </a:r>
            <a:endParaRPr sz="98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80">
                <a:solidFill>
                  <a:srgbClr val="1E293B"/>
                </a:solidFill>
                <a:latin typeface="Roboto"/>
                <a:ea typeface="Roboto"/>
                <a:cs typeface="Roboto"/>
                <a:sym typeface="Roboto"/>
              </a:rPr>
              <a:t>  Vì trong sinh học, 20 loại Amino Acid có tính chất hóa lý khác nhau (Kỵ nước, Phân cực, Điện tích dương, Điện tích âm).</a:t>
            </a:r>
            <a:endParaRPr sz="98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t/>
            </a:r>
            <a:endParaRPr sz="98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80">
                <a:solidFill>
                  <a:srgbClr val="1E293B"/>
                </a:solidFill>
                <a:latin typeface="Roboto"/>
                <a:ea typeface="Roboto"/>
                <a:cs typeface="Roboto"/>
                <a:sym typeface="Roboto"/>
              </a:rPr>
              <a:t>• Công thức Log-Odds của BLOSUM62 (Henikoff, 1992):</a:t>
            </a:r>
            <a:endParaRPr sz="98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80">
                <a:solidFill>
                  <a:srgbClr val="1E293B"/>
                </a:solidFill>
                <a:latin typeface="Roboto"/>
                <a:ea typeface="Roboto"/>
                <a:cs typeface="Roboto"/>
                <a:sym typeface="Roboto"/>
              </a:rPr>
              <a:t>  BLOSUM62(a, b) = round( 2 × log₂( P_quan_sát(a,b) / (P(a)·P(b)) ) )</a:t>
            </a:r>
            <a:endParaRPr sz="98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t/>
            </a:r>
            <a:endParaRPr sz="98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80">
                <a:solidFill>
                  <a:srgbClr val="1E293B"/>
                </a:solidFill>
                <a:latin typeface="Roboto"/>
                <a:ea typeface="Roboto"/>
                <a:cs typeface="Roboto"/>
                <a:sym typeface="Roboto"/>
              </a:rPr>
              <a:t>• Ví dụ thực tế trong bảng BLOSUM62:</a:t>
            </a:r>
            <a:endParaRPr sz="98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80">
                <a:solidFill>
                  <a:srgbClr val="1E293B"/>
                </a:solidFill>
                <a:latin typeface="Roboto"/>
                <a:ea typeface="Roboto"/>
                <a:cs typeface="Roboto"/>
                <a:sym typeface="Roboto"/>
              </a:rPr>
              <a:t>  - Khớp Amino Acid hiếm (W – W):  +11 điểm (Rất giá trị)</a:t>
            </a:r>
            <a:endParaRPr sz="98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80">
                <a:solidFill>
                  <a:srgbClr val="1E293B"/>
                </a:solidFill>
                <a:latin typeface="Roboto"/>
                <a:ea typeface="Roboto"/>
                <a:cs typeface="Roboto"/>
                <a:sym typeface="Roboto"/>
              </a:rPr>
              <a:t>  - Khớp Amino Acid phổ biến (A – A): +4 điểm</a:t>
            </a:r>
            <a:endParaRPr sz="98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80">
                <a:solidFill>
                  <a:srgbClr val="1E293B"/>
                </a:solidFill>
                <a:latin typeface="Roboto"/>
                <a:ea typeface="Roboto"/>
                <a:cs typeface="Roboto"/>
                <a:sym typeface="Roboto"/>
              </a:rPr>
              <a:t>  - Thay thế CÙNG tính chất kỵ nước (I ↔ V): +3 điểm (Dễ xảy ra)</a:t>
            </a:r>
            <a:endParaRPr sz="98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80">
                <a:solidFill>
                  <a:srgbClr val="1E293B"/>
                </a:solidFill>
                <a:latin typeface="Roboto"/>
                <a:ea typeface="Roboto"/>
                <a:cs typeface="Roboto"/>
                <a:sym typeface="Roboto"/>
              </a:rPr>
              <a:t>  - Thay thế TRÁI tính chất (L ↔ D): -4 điểm (Bị phạt nặng)</a:t>
            </a:r>
            <a:endParaRPr sz="98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80">
                <a:solidFill>
                  <a:srgbClr val="1E293B"/>
                </a:solidFill>
                <a:latin typeface="Roboto"/>
                <a:ea typeface="Roboto"/>
                <a:cs typeface="Roboto"/>
                <a:sym typeface="Roboto"/>
              </a:rPr>
              <a:t>  - Hai khoảng trống trùng nhau ('-' với '-'): 0 điểm</a:t>
            </a:r>
            <a:endParaRPr sz="980">
              <a:solidFill>
                <a:srgbClr val="1E293B"/>
              </a:solidFill>
              <a:latin typeface="Roboto"/>
              <a:ea typeface="Roboto"/>
              <a:cs typeface="Roboto"/>
              <a:sym typeface="Roboto"/>
            </a:endParaRPr>
          </a:p>
        </p:txBody>
      </p:sp>
      <p:sp>
        <p:nvSpPr>
          <p:cNvPr id="113" name="Google Shape;113;p16"/>
          <p:cNvSpPr txBox="1"/>
          <p:nvPr/>
        </p:nvSpPr>
        <p:spPr>
          <a:xfrm>
            <a:off x="4648200" y="838200"/>
            <a:ext cx="4191000" cy="304800"/>
          </a:xfrm>
          <a:prstGeom prst="rect">
            <a:avLst/>
          </a:prstGeom>
          <a:solidFill>
            <a:srgbClr val="0596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vi" sz="1050">
                <a:solidFill>
                  <a:srgbClr val="FFFFFF"/>
                </a:solidFill>
                <a:latin typeface="Roboto"/>
                <a:ea typeface="Roboto"/>
                <a:cs typeface="Roboto"/>
                <a:sym typeface="Roboto"/>
              </a:rPr>
              <a:t>2. Tại sao dùng Phạt Khoảng trống Affine γ(g) = -10 - (g-1)×1?</a:t>
            </a:r>
            <a:endParaRPr b="1" sz="1050">
              <a:solidFill>
                <a:srgbClr val="FFFFFF"/>
              </a:solidFill>
              <a:latin typeface="Roboto"/>
              <a:ea typeface="Roboto"/>
              <a:cs typeface="Roboto"/>
              <a:sym typeface="Roboto"/>
            </a:endParaRPr>
          </a:p>
        </p:txBody>
      </p:sp>
      <p:sp>
        <p:nvSpPr>
          <p:cNvPr id="114" name="Google Shape;114;p16"/>
          <p:cNvSpPr txBox="1"/>
          <p:nvPr/>
        </p:nvSpPr>
        <p:spPr>
          <a:xfrm>
            <a:off x="4648200" y="1143000"/>
            <a:ext cx="4191000" cy="38355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lnSpc>
                <a:spcPct val="125000"/>
              </a:lnSpc>
              <a:spcBef>
                <a:spcPts val="0"/>
              </a:spcBef>
              <a:spcAft>
                <a:spcPts val="0"/>
              </a:spcAft>
              <a:buNone/>
            </a:pPr>
            <a:r>
              <a:rPr lang="vi" sz="980">
                <a:solidFill>
                  <a:srgbClr val="1E293B"/>
                </a:solidFill>
                <a:latin typeface="Roboto"/>
                <a:ea typeface="Roboto"/>
                <a:cs typeface="Roboto"/>
                <a:sym typeface="Roboto"/>
              </a:rPr>
              <a:t>• Thực tế Sinh học Phân tử:</a:t>
            </a:r>
            <a:endParaRPr sz="98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80">
                <a:solidFill>
                  <a:srgbClr val="1E293B"/>
                </a:solidFill>
                <a:latin typeface="Roboto"/>
                <a:ea typeface="Roboto"/>
                <a:cs typeface="Roboto"/>
                <a:sym typeface="Roboto"/>
              </a:rPr>
              <a:t>  Một sự kiện đứt gãy ADN làm mất liền 3 ký tự liên tiếp dễ xảy ra hơn rất nhiều so với 3 lần đứt gãy độc lập ở 3 nơi khác nhau!</a:t>
            </a:r>
            <a:endParaRPr sz="98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t/>
            </a:r>
            <a:endParaRPr sz="98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80">
                <a:solidFill>
                  <a:srgbClr val="1E293B"/>
                </a:solidFill>
                <a:latin typeface="Roboto"/>
                <a:ea typeface="Roboto"/>
                <a:cs typeface="Roboto"/>
                <a:sym typeface="Roboto"/>
              </a:rPr>
              <a:t>• Công thức Phạt Affine cho khoảng trống dài g ký tự liên tiếp:</a:t>
            </a:r>
            <a:endParaRPr sz="98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80">
                <a:solidFill>
                  <a:srgbClr val="1E293B"/>
                </a:solidFill>
                <a:latin typeface="Roboto"/>
                <a:ea typeface="Roboto"/>
                <a:cs typeface="Roboto"/>
                <a:sym typeface="Roboto"/>
              </a:rPr>
              <a:t>  γ(g) = G_open + (g - 1) × G_ext   (với G_open = -10, G_ext = -1)</a:t>
            </a:r>
            <a:endParaRPr sz="98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t/>
            </a:r>
            <a:endParaRPr sz="98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80">
                <a:solidFill>
                  <a:srgbClr val="1E293B"/>
                </a:solidFill>
                <a:latin typeface="Roboto"/>
                <a:ea typeface="Roboto"/>
                <a:cs typeface="Roboto"/>
                <a:sym typeface="Roboto"/>
              </a:rPr>
              <a:t>• So sánh bằng Con số Cụ thể (Cùng chèn 3 dấu '-'):</a:t>
            </a:r>
            <a:endParaRPr sz="98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80">
                <a:solidFill>
                  <a:srgbClr val="1E293B"/>
                </a:solidFill>
                <a:latin typeface="Roboto"/>
                <a:ea typeface="Roboto"/>
                <a:cs typeface="Roboto"/>
                <a:sym typeface="Roboto"/>
              </a:rPr>
              <a:t>  ❌ Cách 1 (3 gap rời rạc):  M - V - L - S P</a:t>
            </a:r>
            <a:endParaRPr sz="98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80">
                <a:solidFill>
                  <a:srgbClr val="1E293B"/>
                </a:solidFill>
                <a:latin typeface="Roboto"/>
                <a:ea typeface="Roboto"/>
                <a:cs typeface="Roboto"/>
                <a:sym typeface="Roboto"/>
              </a:rPr>
              <a:t>     Điểm phạt = (-10) + (-10) + (-10) = -30 điểm (Rất tệ!)</a:t>
            </a:r>
            <a:endParaRPr sz="98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80">
                <a:solidFill>
                  <a:srgbClr val="1E293B"/>
                </a:solidFill>
                <a:latin typeface="Roboto"/>
                <a:ea typeface="Roboto"/>
                <a:cs typeface="Roboto"/>
                <a:sym typeface="Roboto"/>
              </a:rPr>
              <a:t>  ✅ Cách 2 (1 khối gap dài 3): M V L - - - S P</a:t>
            </a:r>
            <a:endParaRPr sz="98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80">
                <a:solidFill>
                  <a:srgbClr val="1E293B"/>
                </a:solidFill>
                <a:latin typeface="Roboto"/>
                <a:ea typeface="Roboto"/>
                <a:cs typeface="Roboto"/>
                <a:sym typeface="Roboto"/>
              </a:rPr>
              <a:t>     Điểm phạt = -10 + 2×(-1) = -12 điểm (Tối ưu sinh học!)</a:t>
            </a:r>
            <a:endParaRPr sz="98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80">
                <a:solidFill>
                  <a:srgbClr val="1E293B"/>
                </a:solidFill>
                <a:latin typeface="Roboto"/>
                <a:ea typeface="Roboto"/>
                <a:cs typeface="Roboto"/>
                <a:sym typeface="Roboto"/>
              </a:rPr>
              <a:t>⇒ Phạt Affine ép thuật toán gom các dấu '-' thành khối liền mạch!</a:t>
            </a:r>
            <a:endParaRPr sz="980">
              <a:solidFill>
                <a:srgbClr val="1E293B"/>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118" name="Shape 118"/>
        <p:cNvGrpSpPr/>
        <p:nvPr/>
      </p:nvGrpSpPr>
      <p:grpSpPr>
        <a:xfrm>
          <a:off x="0" y="0"/>
          <a:ext cx="0" cy="0"/>
          <a:chOff x="0" y="0"/>
          <a:chExt cx="0" cy="0"/>
        </a:xfrm>
      </p:grpSpPr>
      <p:sp>
        <p:nvSpPr>
          <p:cNvPr id="119" name="Google Shape;119;p17"/>
          <p:cNvSpPr/>
          <p:nvPr/>
        </p:nvSpPr>
        <p:spPr>
          <a:xfrm>
            <a:off x="0" y="0"/>
            <a:ext cx="9144000" cy="736500"/>
          </a:xfrm>
          <a:prstGeom prst="rect">
            <a:avLst/>
          </a:prstGeom>
          <a:solidFill>
            <a:srgbClr val="0F172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 name="Google Shape;120;p17"/>
          <p:cNvSpPr/>
          <p:nvPr/>
        </p:nvSpPr>
        <p:spPr>
          <a:xfrm>
            <a:off x="0" y="711200"/>
            <a:ext cx="9144000" cy="38100"/>
          </a:xfrm>
          <a:prstGeom prst="rect">
            <a:avLst/>
          </a:prstGeom>
          <a:solidFill>
            <a:srgbClr val="0284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 name="Google Shape;121;p17"/>
          <p:cNvSpPr txBox="1"/>
          <p:nvPr/>
        </p:nvSpPr>
        <p:spPr>
          <a:xfrm>
            <a:off x="304800" y="76200"/>
            <a:ext cx="2476500" cy="203100"/>
          </a:xfrm>
          <a:prstGeom prst="rect">
            <a:avLst/>
          </a:prstGeom>
          <a:solidFill>
            <a:srgbClr val="0284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vi" sz="800">
                <a:solidFill>
                  <a:srgbClr val="FFFFFF"/>
                </a:solidFill>
                <a:latin typeface="Roboto"/>
                <a:ea typeface="Roboto"/>
                <a:cs typeface="Roboto"/>
                <a:sym typeface="Roboto"/>
              </a:rPr>
              <a:t>PHẦN 1 • THÁCH THỨC &amp; ĐÓNG GÓP</a:t>
            </a:r>
            <a:endParaRPr b="1" sz="800">
              <a:solidFill>
                <a:srgbClr val="FFFFFF"/>
              </a:solidFill>
              <a:latin typeface="Roboto"/>
              <a:ea typeface="Roboto"/>
              <a:cs typeface="Roboto"/>
              <a:sym typeface="Roboto"/>
            </a:endParaRPr>
          </a:p>
        </p:txBody>
      </p:sp>
      <p:sp>
        <p:nvSpPr>
          <p:cNvPr id="122" name="Google Shape;122;p17"/>
          <p:cNvSpPr txBox="1"/>
          <p:nvPr/>
        </p:nvSpPr>
        <p:spPr>
          <a:xfrm>
            <a:off x="8001000" y="76200"/>
            <a:ext cx="838200" cy="2031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vi" sz="850">
                <a:solidFill>
                  <a:srgbClr val="93C5FD"/>
                </a:solidFill>
                <a:latin typeface="Roboto"/>
                <a:ea typeface="Roboto"/>
                <a:cs typeface="Roboto"/>
                <a:sym typeface="Roboto"/>
              </a:rPr>
              <a:t>Slide 5 / 24</a:t>
            </a:r>
            <a:endParaRPr b="1" sz="850">
              <a:solidFill>
                <a:srgbClr val="93C5FD"/>
              </a:solidFill>
              <a:latin typeface="Roboto"/>
              <a:ea typeface="Roboto"/>
              <a:cs typeface="Roboto"/>
              <a:sym typeface="Roboto"/>
            </a:endParaRPr>
          </a:p>
        </p:txBody>
      </p:sp>
      <p:sp>
        <p:nvSpPr>
          <p:cNvPr id="123" name="Google Shape;123;p17"/>
          <p:cNvSpPr txBox="1"/>
          <p:nvPr/>
        </p:nvSpPr>
        <p:spPr>
          <a:xfrm>
            <a:off x="304800" y="279400"/>
            <a:ext cx="85344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vi" sz="1500">
                <a:solidFill>
                  <a:srgbClr val="FFFFFF"/>
                </a:solidFill>
                <a:latin typeface="Roboto"/>
                <a:ea typeface="Roboto"/>
                <a:cs typeface="Roboto"/>
                <a:sym typeface="Roboto"/>
              </a:rPr>
              <a:t>Tại sao MSA Khó? Sự Bùng nổ NP-Hard O(2^k·N^k) &amp; Nút thắt Bộ nhớ O(mn)</a:t>
            </a:r>
            <a:endParaRPr b="1" sz="1500">
              <a:solidFill>
                <a:srgbClr val="FFFFFF"/>
              </a:solidFill>
              <a:latin typeface="Roboto"/>
              <a:ea typeface="Roboto"/>
              <a:cs typeface="Roboto"/>
              <a:sym typeface="Roboto"/>
            </a:endParaRPr>
          </a:p>
        </p:txBody>
      </p:sp>
      <p:sp>
        <p:nvSpPr>
          <p:cNvPr id="124" name="Google Shape;124;p17"/>
          <p:cNvSpPr txBox="1"/>
          <p:nvPr/>
        </p:nvSpPr>
        <p:spPr>
          <a:xfrm>
            <a:off x="304800" y="520700"/>
            <a:ext cx="8534400" cy="19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vi" sz="900">
                <a:solidFill>
                  <a:srgbClr val="BAE6FD"/>
                </a:solidFill>
                <a:latin typeface="Roboto"/>
                <a:ea typeface="Roboto"/>
                <a:cs typeface="Roboto"/>
                <a:sym typeface="Roboto"/>
              </a:rPr>
              <a:t>Hai rào cản toán học ngăn cản Quy hoạch động truyền thống và Giải pháp 3 Trụ cột của Nhóm 5</a:t>
            </a:r>
            <a:endParaRPr i="1" sz="900">
              <a:solidFill>
                <a:srgbClr val="BAE6FD"/>
              </a:solidFill>
              <a:latin typeface="Roboto"/>
              <a:ea typeface="Roboto"/>
              <a:cs typeface="Roboto"/>
              <a:sym typeface="Roboto"/>
            </a:endParaRPr>
          </a:p>
        </p:txBody>
      </p:sp>
      <p:sp>
        <p:nvSpPr>
          <p:cNvPr id="125" name="Google Shape;125;p17"/>
          <p:cNvSpPr txBox="1"/>
          <p:nvPr/>
        </p:nvSpPr>
        <p:spPr>
          <a:xfrm>
            <a:off x="304800" y="838200"/>
            <a:ext cx="2717700" cy="304800"/>
          </a:xfrm>
          <a:prstGeom prst="rect">
            <a:avLst/>
          </a:prstGeom>
          <a:solidFill>
            <a:srgbClr val="E11D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vi" sz="1050">
                <a:solidFill>
                  <a:srgbClr val="FFFFFF"/>
                </a:solidFill>
                <a:latin typeface="Roboto"/>
                <a:ea typeface="Roboto"/>
                <a:cs typeface="Roboto"/>
                <a:sym typeface="Roboto"/>
              </a:rPr>
              <a:t>Rào cản 1: Bùng nổ Tổ hợp NP-Hard</a:t>
            </a:r>
            <a:endParaRPr b="1" sz="1050">
              <a:solidFill>
                <a:srgbClr val="FFFFFF"/>
              </a:solidFill>
              <a:latin typeface="Roboto"/>
              <a:ea typeface="Roboto"/>
              <a:cs typeface="Roboto"/>
              <a:sym typeface="Roboto"/>
            </a:endParaRPr>
          </a:p>
        </p:txBody>
      </p:sp>
      <p:sp>
        <p:nvSpPr>
          <p:cNvPr id="126" name="Google Shape;126;p17"/>
          <p:cNvSpPr txBox="1"/>
          <p:nvPr/>
        </p:nvSpPr>
        <p:spPr>
          <a:xfrm>
            <a:off x="304800" y="1143000"/>
            <a:ext cx="2717700" cy="2171700"/>
          </a:xfrm>
          <a:prstGeom prst="rect">
            <a:avLst/>
          </a:prstGeom>
          <a:solidFill>
            <a:srgbClr val="FFE4E6"/>
          </a:solidFill>
          <a:ln>
            <a:noFill/>
          </a:ln>
        </p:spPr>
        <p:txBody>
          <a:bodyPr anchorCtr="0" anchor="t" bIns="91425" lIns="91425" spcFirstLastPara="1" rIns="91425" wrap="square" tIns="91425">
            <a:noAutofit/>
          </a:bodyPr>
          <a:lstStyle/>
          <a:p>
            <a:pPr indent="0" lvl="0" marL="0" rtl="0" algn="l">
              <a:lnSpc>
                <a:spcPct val="125000"/>
              </a:lnSpc>
              <a:spcBef>
                <a:spcPts val="0"/>
              </a:spcBef>
              <a:spcAft>
                <a:spcPts val="0"/>
              </a:spcAft>
              <a:buNone/>
            </a:pPr>
            <a:r>
              <a:rPr lang="vi" sz="950">
                <a:solidFill>
                  <a:srgbClr val="1E293B"/>
                </a:solidFill>
                <a:latin typeface="Roboto"/>
                <a:ea typeface="Roboto"/>
                <a:cs typeface="Roboto"/>
                <a:sym typeface="Roboto"/>
              </a:rPr>
              <a:t>• Quy hoạch động chính xác đồng thời k chuỗi cần bảng k chiều (Hypercube).</a:t>
            </a:r>
            <a:endParaRPr sz="95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50">
                <a:solidFill>
                  <a:srgbClr val="1E293B"/>
                </a:solidFill>
                <a:latin typeface="Roboto"/>
                <a:ea typeface="Roboto"/>
                <a:cs typeface="Roboto"/>
                <a:sym typeface="Roboto"/>
              </a:rPr>
              <a:t>• Bộ nhớ: O(N^k).</a:t>
            </a:r>
            <a:endParaRPr sz="95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50">
                <a:solidFill>
                  <a:srgbClr val="1E293B"/>
                </a:solidFill>
                <a:latin typeface="Roboto"/>
                <a:ea typeface="Roboto"/>
                <a:cs typeface="Roboto"/>
                <a:sym typeface="Roboto"/>
              </a:rPr>
              <a:t>• Thời gian: O(2^k · N^k).</a:t>
            </a:r>
            <a:endParaRPr sz="95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50">
                <a:solidFill>
                  <a:srgbClr val="1E293B"/>
                </a:solidFill>
                <a:latin typeface="Roboto"/>
                <a:ea typeface="Roboto"/>
                <a:cs typeface="Roboto"/>
                <a:sym typeface="Roboto"/>
              </a:rPr>
              <a:t>• Với k = 10 chuỗi, N = 500 → Cần 10²⁷ ô nhớ (Bất khả thi!).</a:t>
            </a:r>
            <a:endParaRPr sz="95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50">
                <a:solidFill>
                  <a:srgbClr val="1E293B"/>
                </a:solidFill>
                <a:latin typeface="Roboto"/>
                <a:ea typeface="Roboto"/>
                <a:cs typeface="Roboto"/>
                <a:sym typeface="Roboto"/>
              </a:rPr>
              <a:t>• Đã chứng minh là bài toán NP-Complete (Wang &amp; Jiang, 1994).</a:t>
            </a:r>
            <a:endParaRPr sz="950">
              <a:solidFill>
                <a:srgbClr val="1E293B"/>
              </a:solidFill>
              <a:latin typeface="Roboto"/>
              <a:ea typeface="Roboto"/>
              <a:cs typeface="Roboto"/>
              <a:sym typeface="Roboto"/>
            </a:endParaRPr>
          </a:p>
        </p:txBody>
      </p:sp>
      <p:sp>
        <p:nvSpPr>
          <p:cNvPr id="127" name="Google Shape;127;p17"/>
          <p:cNvSpPr txBox="1"/>
          <p:nvPr/>
        </p:nvSpPr>
        <p:spPr>
          <a:xfrm>
            <a:off x="3213100" y="838200"/>
            <a:ext cx="2717700" cy="304800"/>
          </a:xfrm>
          <a:prstGeom prst="rect">
            <a:avLst/>
          </a:prstGeom>
          <a:solidFill>
            <a:srgbClr val="D977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vi" sz="1050">
                <a:solidFill>
                  <a:srgbClr val="FFFFFF"/>
                </a:solidFill>
                <a:latin typeface="Roboto"/>
                <a:ea typeface="Roboto"/>
                <a:cs typeface="Roboto"/>
                <a:sym typeface="Roboto"/>
              </a:rPr>
              <a:t>Rào cản 2: Tràn RAM Bậc hai Gotoh</a:t>
            </a:r>
            <a:endParaRPr b="1" sz="1050">
              <a:solidFill>
                <a:srgbClr val="FFFFFF"/>
              </a:solidFill>
              <a:latin typeface="Roboto"/>
              <a:ea typeface="Roboto"/>
              <a:cs typeface="Roboto"/>
              <a:sym typeface="Roboto"/>
            </a:endParaRPr>
          </a:p>
        </p:txBody>
      </p:sp>
      <p:sp>
        <p:nvSpPr>
          <p:cNvPr id="128" name="Google Shape;128;p17"/>
          <p:cNvSpPr txBox="1"/>
          <p:nvPr/>
        </p:nvSpPr>
        <p:spPr>
          <a:xfrm>
            <a:off x="3213100" y="1143000"/>
            <a:ext cx="2717700" cy="2171700"/>
          </a:xfrm>
          <a:prstGeom prst="rect">
            <a:avLst/>
          </a:prstGeom>
          <a:solidFill>
            <a:srgbClr val="FEF3C7"/>
          </a:solidFill>
          <a:ln>
            <a:noFill/>
          </a:ln>
        </p:spPr>
        <p:txBody>
          <a:bodyPr anchorCtr="0" anchor="t" bIns="91425" lIns="91425" spcFirstLastPara="1" rIns="91425" wrap="square" tIns="91425">
            <a:noAutofit/>
          </a:bodyPr>
          <a:lstStyle/>
          <a:p>
            <a:pPr indent="0" lvl="0" marL="0" rtl="0" algn="l">
              <a:lnSpc>
                <a:spcPct val="125000"/>
              </a:lnSpc>
              <a:spcBef>
                <a:spcPts val="0"/>
              </a:spcBef>
              <a:spcAft>
                <a:spcPts val="0"/>
              </a:spcAft>
              <a:buNone/>
            </a:pPr>
            <a:r>
              <a:rPr lang="vi" sz="950">
                <a:solidFill>
                  <a:srgbClr val="1E293B"/>
                </a:solidFill>
                <a:latin typeface="Roboto"/>
                <a:ea typeface="Roboto"/>
                <a:cs typeface="Roboto"/>
                <a:sym typeface="Roboto"/>
              </a:rPr>
              <a:t>• Khi căn chỉnh từng cặp 2 chuỗi (m, n) với phạt Affine, thuật toán Gotoh (1982) cần lưu 3 ma trận 2D (M, Ix, Iy).</a:t>
            </a:r>
            <a:endParaRPr sz="95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50">
                <a:solidFill>
                  <a:srgbClr val="1E293B"/>
                </a:solidFill>
                <a:latin typeface="Roboto"/>
                <a:ea typeface="Roboto"/>
                <a:cs typeface="Roboto"/>
                <a:sym typeface="Roboto"/>
              </a:rPr>
              <a:t>• Bộ nhớ: 3 × m × n × 4 bytes = O(mn).</a:t>
            </a:r>
            <a:endParaRPr sz="95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50">
                <a:solidFill>
                  <a:srgbClr val="1E293B"/>
                </a:solidFill>
                <a:latin typeface="Roboto"/>
                <a:ea typeface="Roboto"/>
                <a:cs typeface="Roboto"/>
                <a:sym typeface="Roboto"/>
              </a:rPr>
              <a:t>• Với m = n = 10.000 → Tốn ~1,2 GB RAM cho 1 cặp duy nhất!</a:t>
            </a:r>
            <a:endParaRPr sz="95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50">
                <a:solidFill>
                  <a:srgbClr val="1E293B"/>
                </a:solidFill>
                <a:latin typeface="Roboto"/>
                <a:ea typeface="Roboto"/>
                <a:cs typeface="Roboto"/>
                <a:sym typeface="Roboto"/>
              </a:rPr>
              <a:t>• Chạy đa luồng P cặp cùng lúc sẽ gây tràn RAM (Out-of-Memory).</a:t>
            </a:r>
            <a:endParaRPr sz="950">
              <a:solidFill>
                <a:srgbClr val="1E293B"/>
              </a:solidFill>
              <a:latin typeface="Roboto"/>
              <a:ea typeface="Roboto"/>
              <a:cs typeface="Roboto"/>
              <a:sym typeface="Roboto"/>
            </a:endParaRPr>
          </a:p>
        </p:txBody>
      </p:sp>
      <p:sp>
        <p:nvSpPr>
          <p:cNvPr id="129" name="Google Shape;129;p17"/>
          <p:cNvSpPr txBox="1"/>
          <p:nvPr/>
        </p:nvSpPr>
        <p:spPr>
          <a:xfrm>
            <a:off x="6121400" y="838200"/>
            <a:ext cx="2717700" cy="304800"/>
          </a:xfrm>
          <a:prstGeom prst="rect">
            <a:avLst/>
          </a:prstGeom>
          <a:solidFill>
            <a:srgbClr val="7C3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vi" sz="1050">
                <a:solidFill>
                  <a:srgbClr val="FFFFFF"/>
                </a:solidFill>
                <a:latin typeface="Roboto"/>
                <a:ea typeface="Roboto"/>
                <a:cs typeface="Roboto"/>
                <a:sym typeface="Roboto"/>
              </a:rPr>
              <a:t>Rào cản 3: Chi phí Tuần tự Lớn</a:t>
            </a:r>
            <a:endParaRPr b="1" sz="1050">
              <a:solidFill>
                <a:srgbClr val="FFFFFF"/>
              </a:solidFill>
              <a:latin typeface="Roboto"/>
              <a:ea typeface="Roboto"/>
              <a:cs typeface="Roboto"/>
              <a:sym typeface="Roboto"/>
            </a:endParaRPr>
          </a:p>
        </p:txBody>
      </p:sp>
      <p:sp>
        <p:nvSpPr>
          <p:cNvPr id="130" name="Google Shape;130;p17"/>
          <p:cNvSpPr txBox="1"/>
          <p:nvPr/>
        </p:nvSpPr>
        <p:spPr>
          <a:xfrm>
            <a:off x="6121400" y="1143000"/>
            <a:ext cx="2717700" cy="2171700"/>
          </a:xfrm>
          <a:prstGeom prst="rect">
            <a:avLst/>
          </a:prstGeom>
          <a:solidFill>
            <a:srgbClr val="F3E8FF"/>
          </a:solidFill>
          <a:ln>
            <a:noFill/>
          </a:ln>
        </p:spPr>
        <p:txBody>
          <a:bodyPr anchorCtr="0" anchor="t" bIns="91425" lIns="91425" spcFirstLastPara="1" rIns="91425" wrap="square" tIns="91425">
            <a:noAutofit/>
          </a:bodyPr>
          <a:lstStyle/>
          <a:p>
            <a:pPr indent="0" lvl="0" marL="0" rtl="0" algn="l">
              <a:lnSpc>
                <a:spcPct val="125000"/>
              </a:lnSpc>
              <a:spcBef>
                <a:spcPts val="0"/>
              </a:spcBef>
              <a:spcAft>
                <a:spcPts val="0"/>
              </a:spcAft>
              <a:buNone/>
            </a:pPr>
            <a:r>
              <a:rPr lang="vi" sz="950">
                <a:solidFill>
                  <a:srgbClr val="1E293B"/>
                </a:solidFill>
                <a:latin typeface="Roboto"/>
                <a:ea typeface="Roboto"/>
                <a:cs typeface="Roboto"/>
                <a:sym typeface="Roboto"/>
              </a:rPr>
              <a:t>• Để dựng cây hướng dẫn cho k chuỗi, phải tính k(k-1)/2 cặp khoảng cách (k=40 → 780 cặp DP).</a:t>
            </a:r>
            <a:endParaRPr sz="95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50">
                <a:solidFill>
                  <a:srgbClr val="1E293B"/>
                </a:solidFill>
                <a:latin typeface="Roboto"/>
                <a:ea typeface="Roboto"/>
                <a:cs typeface="Roboto"/>
                <a:sym typeface="Roboto"/>
              </a:rPr>
              <a:t>• Khi căn chỉnh nhóm chuỗi (Profile-to-Profile), mỗi ô DP tốn O(|P₁|·|P₂|) phép tra bảng.</a:t>
            </a:r>
            <a:endParaRPr sz="95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50">
                <a:solidFill>
                  <a:srgbClr val="1E293B"/>
                </a:solidFill>
                <a:latin typeface="Roboto"/>
                <a:ea typeface="Roboto"/>
                <a:cs typeface="Roboto"/>
                <a:sym typeface="Roboto"/>
              </a:rPr>
              <a:t>• Chạy tuần tự 1 luồng trên CPU mất nhiều thời gian.</a:t>
            </a:r>
            <a:endParaRPr sz="950">
              <a:solidFill>
                <a:srgbClr val="1E293B"/>
              </a:solidFill>
              <a:latin typeface="Roboto"/>
              <a:ea typeface="Roboto"/>
              <a:cs typeface="Roboto"/>
              <a:sym typeface="Roboto"/>
            </a:endParaRPr>
          </a:p>
        </p:txBody>
      </p:sp>
      <p:sp>
        <p:nvSpPr>
          <p:cNvPr id="131" name="Google Shape;131;p17"/>
          <p:cNvSpPr txBox="1"/>
          <p:nvPr/>
        </p:nvSpPr>
        <p:spPr>
          <a:xfrm>
            <a:off x="304800" y="3429000"/>
            <a:ext cx="8534400" cy="304800"/>
          </a:xfrm>
          <a:prstGeom prst="rect">
            <a:avLst/>
          </a:prstGeom>
          <a:solidFill>
            <a:srgbClr val="0596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vi" sz="1050">
                <a:solidFill>
                  <a:srgbClr val="FFFFFF"/>
                </a:solidFill>
                <a:latin typeface="Roboto"/>
                <a:ea typeface="Roboto"/>
                <a:cs typeface="Roboto"/>
                <a:sym typeface="Roboto"/>
              </a:rPr>
              <a:t>GIẢI PHÁP ĐỀ XUẤT CỦA NHÓM 5 — KẾT HỢP 3 KỸ THUẬT THUẬT TOÁN HIỆN ĐẠI</a:t>
            </a:r>
            <a:endParaRPr b="1" sz="1050">
              <a:solidFill>
                <a:srgbClr val="FFFFFF"/>
              </a:solidFill>
              <a:latin typeface="Roboto"/>
              <a:ea typeface="Roboto"/>
              <a:cs typeface="Roboto"/>
              <a:sym typeface="Roboto"/>
            </a:endParaRPr>
          </a:p>
        </p:txBody>
      </p:sp>
      <p:sp>
        <p:nvSpPr>
          <p:cNvPr id="132" name="Google Shape;132;p17"/>
          <p:cNvSpPr txBox="1"/>
          <p:nvPr/>
        </p:nvSpPr>
        <p:spPr>
          <a:xfrm>
            <a:off x="304800" y="3733800"/>
            <a:ext cx="8534400" cy="1244700"/>
          </a:xfrm>
          <a:prstGeom prst="rect">
            <a:avLst/>
          </a:prstGeom>
          <a:solidFill>
            <a:srgbClr val="D1FAE5"/>
          </a:solidFill>
          <a:ln>
            <a:noFill/>
          </a:ln>
        </p:spPr>
        <p:txBody>
          <a:bodyPr anchorCtr="0" anchor="t" bIns="91425" lIns="91425" spcFirstLastPara="1" rIns="91425" wrap="square" tIns="91425">
            <a:noAutofit/>
          </a:bodyPr>
          <a:lstStyle/>
          <a:p>
            <a:pPr indent="0" lvl="0" marL="0" rtl="0" algn="l">
              <a:lnSpc>
                <a:spcPct val="125000"/>
              </a:lnSpc>
              <a:spcBef>
                <a:spcPts val="0"/>
              </a:spcBef>
              <a:spcAft>
                <a:spcPts val="0"/>
              </a:spcAft>
              <a:buNone/>
            </a:pPr>
            <a:r>
              <a:rPr lang="vi" sz="950">
                <a:solidFill>
                  <a:srgbClr val="1E293B"/>
                </a:solidFill>
                <a:latin typeface="Roboto"/>
                <a:ea typeface="Roboto"/>
                <a:cs typeface="Roboto"/>
                <a:sym typeface="Roboto"/>
              </a:rPr>
              <a:t>① Chia để trị Không gian Tuyến tính Myers-Miller (Hirschberg Affine Gap): Ép bộ nhớ từ O(mn) xuống O(min(m, n)) — tiết kiệm tới 1.353,5× RAM mà vẫn giữ nguyên 100% điểm số tối ưu toàn cục của Gotoh.</a:t>
            </a:r>
            <a:endParaRPr sz="95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50">
                <a:solidFill>
                  <a:srgbClr val="1E293B"/>
                </a:solidFill>
                <a:latin typeface="Roboto"/>
                <a:ea typeface="Roboto"/>
                <a:cs typeface="Roboto"/>
                <a:sym typeface="Roboto"/>
              </a:rPr>
              <a:t>② Xấp xỉ Tiến bộ UPGMA + Căn chỉnh Profile-to-Profile: Đưa độ phức tạp mũ O(2^k·N^k) về đa thức O(k²N² + kL²) với nguyên lý bảo tồn khoảng trống 'Once a gap, always a gap'.</a:t>
            </a:r>
            <a:endParaRPr sz="95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50">
                <a:solidFill>
                  <a:srgbClr val="1E293B"/>
                </a:solidFill>
                <a:latin typeface="Roboto"/>
                <a:ea typeface="Roboto"/>
                <a:cs typeface="Roboto"/>
                <a:sym typeface="Roboto"/>
              </a:rPr>
              <a:t>③ Tính toán Song song Đa tầng Hybrid (MPI + OpenMP): Song song hóa ma trận khoảng cách, lập lịch cây theo tầng (Level-Set) và đường chéo phụ (Wavefront).</a:t>
            </a:r>
            <a:endParaRPr sz="950">
              <a:solidFill>
                <a:srgbClr val="1E293B"/>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136" name="Shape 136"/>
        <p:cNvGrpSpPr/>
        <p:nvPr/>
      </p:nvGrpSpPr>
      <p:grpSpPr>
        <a:xfrm>
          <a:off x="0" y="0"/>
          <a:ext cx="0" cy="0"/>
          <a:chOff x="0" y="0"/>
          <a:chExt cx="0" cy="0"/>
        </a:xfrm>
      </p:grpSpPr>
      <p:sp>
        <p:nvSpPr>
          <p:cNvPr id="137" name="Google Shape;137;p18"/>
          <p:cNvSpPr/>
          <p:nvPr/>
        </p:nvSpPr>
        <p:spPr>
          <a:xfrm>
            <a:off x="0" y="0"/>
            <a:ext cx="9144000" cy="736500"/>
          </a:xfrm>
          <a:prstGeom prst="rect">
            <a:avLst/>
          </a:prstGeom>
          <a:solidFill>
            <a:srgbClr val="0F172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8" name="Google Shape;138;p18"/>
          <p:cNvSpPr/>
          <p:nvPr/>
        </p:nvSpPr>
        <p:spPr>
          <a:xfrm>
            <a:off x="0" y="711200"/>
            <a:ext cx="9144000" cy="38100"/>
          </a:xfrm>
          <a:prstGeom prst="rect">
            <a:avLst/>
          </a:prstGeom>
          <a:solidFill>
            <a:srgbClr val="0284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9" name="Google Shape;139;p18"/>
          <p:cNvSpPr txBox="1"/>
          <p:nvPr/>
        </p:nvSpPr>
        <p:spPr>
          <a:xfrm>
            <a:off x="304800" y="76200"/>
            <a:ext cx="2476500" cy="203100"/>
          </a:xfrm>
          <a:prstGeom prst="rect">
            <a:avLst/>
          </a:prstGeom>
          <a:solidFill>
            <a:srgbClr val="0284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vi" sz="800">
                <a:solidFill>
                  <a:srgbClr val="FFFFFF"/>
                </a:solidFill>
                <a:latin typeface="Roboto"/>
                <a:ea typeface="Roboto"/>
                <a:cs typeface="Roboto"/>
                <a:sym typeface="Roboto"/>
              </a:rPr>
              <a:t>PHẦN 2 • KIẾN TRÚC PIPELINE</a:t>
            </a:r>
            <a:endParaRPr b="1" sz="800">
              <a:solidFill>
                <a:srgbClr val="FFFFFF"/>
              </a:solidFill>
              <a:latin typeface="Roboto"/>
              <a:ea typeface="Roboto"/>
              <a:cs typeface="Roboto"/>
              <a:sym typeface="Roboto"/>
            </a:endParaRPr>
          </a:p>
        </p:txBody>
      </p:sp>
      <p:sp>
        <p:nvSpPr>
          <p:cNvPr id="140" name="Google Shape;140;p18"/>
          <p:cNvSpPr txBox="1"/>
          <p:nvPr/>
        </p:nvSpPr>
        <p:spPr>
          <a:xfrm>
            <a:off x="8001000" y="76200"/>
            <a:ext cx="838200" cy="2031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vi" sz="850">
                <a:solidFill>
                  <a:srgbClr val="93C5FD"/>
                </a:solidFill>
                <a:latin typeface="Roboto"/>
                <a:ea typeface="Roboto"/>
                <a:cs typeface="Roboto"/>
                <a:sym typeface="Roboto"/>
              </a:rPr>
              <a:t>Slide 6 / 24</a:t>
            </a:r>
            <a:endParaRPr b="1" sz="850">
              <a:solidFill>
                <a:srgbClr val="93C5FD"/>
              </a:solidFill>
              <a:latin typeface="Roboto"/>
              <a:ea typeface="Roboto"/>
              <a:cs typeface="Roboto"/>
              <a:sym typeface="Roboto"/>
            </a:endParaRPr>
          </a:p>
        </p:txBody>
      </p:sp>
      <p:sp>
        <p:nvSpPr>
          <p:cNvPr id="141" name="Google Shape;141;p18"/>
          <p:cNvSpPr txBox="1"/>
          <p:nvPr/>
        </p:nvSpPr>
        <p:spPr>
          <a:xfrm>
            <a:off x="304800" y="279400"/>
            <a:ext cx="85344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vi" sz="1500">
                <a:solidFill>
                  <a:srgbClr val="FFFFFF"/>
                </a:solidFill>
                <a:latin typeface="Roboto"/>
                <a:ea typeface="Roboto"/>
                <a:cs typeface="Roboto"/>
                <a:sym typeface="Roboto"/>
              </a:rPr>
              <a:t>Tổng quan Kiến trúc Pipeline Căn chỉnh Đa chuỗi Tiến bộ (4 Giai đoạn)</a:t>
            </a:r>
            <a:endParaRPr b="1" sz="1500">
              <a:solidFill>
                <a:srgbClr val="FFFFFF"/>
              </a:solidFill>
              <a:latin typeface="Roboto"/>
              <a:ea typeface="Roboto"/>
              <a:cs typeface="Roboto"/>
              <a:sym typeface="Roboto"/>
            </a:endParaRPr>
          </a:p>
        </p:txBody>
      </p:sp>
      <p:sp>
        <p:nvSpPr>
          <p:cNvPr id="142" name="Google Shape;142;p18"/>
          <p:cNvSpPr txBox="1"/>
          <p:nvPr/>
        </p:nvSpPr>
        <p:spPr>
          <a:xfrm>
            <a:off x="304800" y="520700"/>
            <a:ext cx="8534400" cy="19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vi" sz="900">
                <a:solidFill>
                  <a:srgbClr val="BAE6FD"/>
                </a:solidFill>
                <a:latin typeface="Roboto"/>
                <a:ea typeface="Roboto"/>
                <a:cs typeface="Roboto"/>
                <a:sym typeface="Roboto"/>
              </a:rPr>
              <a:t>Sơ đồ luồng xử lý từ tập chuỗi thô đầu vào (FASTA) đến ma trận đa chuỗi hoàn chỉnh</a:t>
            </a:r>
            <a:endParaRPr i="1" sz="900">
              <a:solidFill>
                <a:srgbClr val="BAE6FD"/>
              </a:solidFill>
              <a:latin typeface="Roboto"/>
              <a:ea typeface="Roboto"/>
              <a:cs typeface="Roboto"/>
              <a:sym typeface="Roboto"/>
            </a:endParaRPr>
          </a:p>
        </p:txBody>
      </p:sp>
      <p:sp>
        <p:nvSpPr>
          <p:cNvPr id="143" name="Google Shape;143;p18"/>
          <p:cNvSpPr/>
          <p:nvPr/>
        </p:nvSpPr>
        <p:spPr>
          <a:xfrm>
            <a:off x="254000" y="812800"/>
            <a:ext cx="8636100" cy="3835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4" name="Google Shape;144;p18"/>
          <p:cNvSpPr txBox="1"/>
          <p:nvPr/>
        </p:nvSpPr>
        <p:spPr>
          <a:xfrm>
            <a:off x="254000" y="4699000"/>
            <a:ext cx="8636100" cy="355500"/>
          </a:xfrm>
          <a:prstGeom prst="rect">
            <a:avLst/>
          </a:pr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vi" sz="1000">
                <a:solidFill>
                  <a:srgbClr val="FFFFFF"/>
                </a:solidFill>
                <a:latin typeface="Roboto"/>
                <a:ea typeface="Roboto"/>
                <a:cs typeface="Roboto"/>
                <a:sym typeface="Roboto"/>
              </a:rPr>
              <a:t>Luồng 4 Bước: (1) All-Pairs Distance O(k²N²/P)  →  (2) Cây UPGMA O(k²)  →  (3) Lập lịch Nhánh Độc lập  →  (4) Profile Myers-Miller O(k·L) RAM</a:t>
            </a:r>
            <a:endParaRPr b="1" sz="1000">
              <a:solidFill>
                <a:srgbClr val="FFFFFF"/>
              </a:solidFill>
              <a:latin typeface="Roboto"/>
              <a:ea typeface="Roboto"/>
              <a:cs typeface="Roboto"/>
              <a:sym typeface="Roboto"/>
            </a:endParaRPr>
          </a:p>
        </p:txBody>
      </p:sp>
      <p:pic>
        <p:nvPicPr>
          <p:cNvPr id="145" name="Google Shape;145;p18"/>
          <p:cNvPicPr preferRelativeResize="0"/>
          <p:nvPr/>
        </p:nvPicPr>
        <p:blipFill>
          <a:blip r:embed="rId3">
            <a:alphaModFix/>
          </a:blip>
          <a:stretch>
            <a:fillRect/>
          </a:stretch>
        </p:blipFill>
        <p:spPr>
          <a:xfrm>
            <a:off x="1814830" y="850982"/>
            <a:ext cx="5513072" cy="375903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149" name="Shape 149"/>
        <p:cNvGrpSpPr/>
        <p:nvPr/>
      </p:nvGrpSpPr>
      <p:grpSpPr>
        <a:xfrm>
          <a:off x="0" y="0"/>
          <a:ext cx="0" cy="0"/>
          <a:chOff x="0" y="0"/>
          <a:chExt cx="0" cy="0"/>
        </a:xfrm>
      </p:grpSpPr>
      <p:sp>
        <p:nvSpPr>
          <p:cNvPr id="150" name="Google Shape;150;p19"/>
          <p:cNvSpPr/>
          <p:nvPr/>
        </p:nvSpPr>
        <p:spPr>
          <a:xfrm>
            <a:off x="0" y="0"/>
            <a:ext cx="9144000" cy="736500"/>
          </a:xfrm>
          <a:prstGeom prst="rect">
            <a:avLst/>
          </a:prstGeom>
          <a:solidFill>
            <a:srgbClr val="0F172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 name="Google Shape;151;p19"/>
          <p:cNvSpPr/>
          <p:nvPr/>
        </p:nvSpPr>
        <p:spPr>
          <a:xfrm>
            <a:off x="0" y="711200"/>
            <a:ext cx="9144000" cy="38100"/>
          </a:xfrm>
          <a:prstGeom prst="rect">
            <a:avLst/>
          </a:prstGeom>
          <a:solidFill>
            <a:srgbClr val="0284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2" name="Google Shape;152;p19"/>
          <p:cNvSpPr txBox="1"/>
          <p:nvPr/>
        </p:nvSpPr>
        <p:spPr>
          <a:xfrm>
            <a:off x="304800" y="76200"/>
            <a:ext cx="2476500" cy="203100"/>
          </a:xfrm>
          <a:prstGeom prst="rect">
            <a:avLst/>
          </a:prstGeom>
          <a:solidFill>
            <a:srgbClr val="0284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vi" sz="800">
                <a:solidFill>
                  <a:srgbClr val="FFFFFF"/>
                </a:solidFill>
                <a:latin typeface="Roboto"/>
                <a:ea typeface="Roboto"/>
                <a:cs typeface="Roboto"/>
                <a:sym typeface="Roboto"/>
              </a:rPr>
              <a:t>PHẦN 2 • THIẾT KẾ THUẬT TOÁN LÕI</a:t>
            </a:r>
            <a:endParaRPr b="1" sz="800">
              <a:solidFill>
                <a:srgbClr val="FFFFFF"/>
              </a:solidFill>
              <a:latin typeface="Roboto"/>
              <a:ea typeface="Roboto"/>
              <a:cs typeface="Roboto"/>
              <a:sym typeface="Roboto"/>
            </a:endParaRPr>
          </a:p>
        </p:txBody>
      </p:sp>
      <p:sp>
        <p:nvSpPr>
          <p:cNvPr id="153" name="Google Shape;153;p19"/>
          <p:cNvSpPr txBox="1"/>
          <p:nvPr/>
        </p:nvSpPr>
        <p:spPr>
          <a:xfrm>
            <a:off x="8001000" y="76200"/>
            <a:ext cx="838200" cy="2031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vi" sz="850">
                <a:solidFill>
                  <a:srgbClr val="93C5FD"/>
                </a:solidFill>
                <a:latin typeface="Roboto"/>
                <a:ea typeface="Roboto"/>
                <a:cs typeface="Roboto"/>
                <a:sym typeface="Roboto"/>
              </a:rPr>
              <a:t>Slide 7 / 24</a:t>
            </a:r>
            <a:endParaRPr b="1" sz="850">
              <a:solidFill>
                <a:srgbClr val="93C5FD"/>
              </a:solidFill>
              <a:latin typeface="Roboto"/>
              <a:ea typeface="Roboto"/>
              <a:cs typeface="Roboto"/>
              <a:sym typeface="Roboto"/>
            </a:endParaRPr>
          </a:p>
        </p:txBody>
      </p:sp>
      <p:sp>
        <p:nvSpPr>
          <p:cNvPr id="154" name="Google Shape;154;p19"/>
          <p:cNvSpPr txBox="1"/>
          <p:nvPr/>
        </p:nvSpPr>
        <p:spPr>
          <a:xfrm>
            <a:off x="304800" y="279400"/>
            <a:ext cx="85344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vi" sz="1500">
                <a:solidFill>
                  <a:srgbClr val="FFFFFF"/>
                </a:solidFill>
                <a:latin typeface="Roboto"/>
                <a:ea typeface="Roboto"/>
                <a:cs typeface="Roboto"/>
                <a:sym typeface="Roboto"/>
              </a:rPr>
              <a:t>Quy hoạch Động Gotoh (1982) Baseline: Hệ 3 Phương trình &amp; Nút thắt Bộ nhớ</a:t>
            </a:r>
            <a:endParaRPr b="1" sz="1500">
              <a:solidFill>
                <a:srgbClr val="FFFFFF"/>
              </a:solidFill>
              <a:latin typeface="Roboto"/>
              <a:ea typeface="Roboto"/>
              <a:cs typeface="Roboto"/>
              <a:sym typeface="Roboto"/>
            </a:endParaRPr>
          </a:p>
        </p:txBody>
      </p:sp>
      <p:sp>
        <p:nvSpPr>
          <p:cNvPr id="155" name="Google Shape;155;p19"/>
          <p:cNvSpPr txBox="1"/>
          <p:nvPr/>
        </p:nvSpPr>
        <p:spPr>
          <a:xfrm>
            <a:off x="304800" y="520700"/>
            <a:ext cx="8534400" cy="19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vi" sz="900">
                <a:solidFill>
                  <a:srgbClr val="BAE6FD"/>
                </a:solidFill>
                <a:latin typeface="Roboto"/>
                <a:ea typeface="Roboto"/>
                <a:cs typeface="Roboto"/>
                <a:sym typeface="Roboto"/>
              </a:rPr>
              <a:t>Tại sao phạt khoảng trống Affine cần tới 3 trạng thái quy hoạch động M, Ix, Iy tại mỗi ô (i, j)?</a:t>
            </a:r>
            <a:endParaRPr i="1" sz="900">
              <a:solidFill>
                <a:srgbClr val="BAE6FD"/>
              </a:solidFill>
              <a:latin typeface="Roboto"/>
              <a:ea typeface="Roboto"/>
              <a:cs typeface="Roboto"/>
              <a:sym typeface="Roboto"/>
            </a:endParaRPr>
          </a:p>
        </p:txBody>
      </p:sp>
      <p:sp>
        <p:nvSpPr>
          <p:cNvPr id="156" name="Google Shape;156;p19"/>
          <p:cNvSpPr txBox="1"/>
          <p:nvPr/>
        </p:nvSpPr>
        <p:spPr>
          <a:xfrm>
            <a:off x="304800" y="838200"/>
            <a:ext cx="5016600" cy="30480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vi" sz="1050">
                <a:solidFill>
                  <a:srgbClr val="FFFFFF"/>
                </a:solidFill>
                <a:latin typeface="Roboto"/>
                <a:ea typeface="Roboto"/>
                <a:cs typeface="Roboto"/>
                <a:sym typeface="Roboto"/>
              </a:rPr>
              <a:t>1. Hệ Phương trình Truy hồi 3 Trạng thái của Gotoh (1982)</a:t>
            </a:r>
            <a:endParaRPr b="1" sz="1050">
              <a:solidFill>
                <a:srgbClr val="FFFFFF"/>
              </a:solidFill>
              <a:latin typeface="Roboto"/>
              <a:ea typeface="Roboto"/>
              <a:cs typeface="Roboto"/>
              <a:sym typeface="Roboto"/>
            </a:endParaRPr>
          </a:p>
        </p:txBody>
      </p:sp>
      <p:sp>
        <p:nvSpPr>
          <p:cNvPr id="157" name="Google Shape;157;p19"/>
          <p:cNvSpPr txBox="1"/>
          <p:nvPr/>
        </p:nvSpPr>
        <p:spPr>
          <a:xfrm>
            <a:off x="304800" y="1143000"/>
            <a:ext cx="5016600" cy="38355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lnSpc>
                <a:spcPct val="125000"/>
              </a:lnSpc>
              <a:spcBef>
                <a:spcPts val="0"/>
              </a:spcBef>
              <a:spcAft>
                <a:spcPts val="0"/>
              </a:spcAft>
              <a:buNone/>
            </a:pPr>
            <a:r>
              <a:rPr lang="vi" sz="960">
                <a:solidFill>
                  <a:srgbClr val="1E293B"/>
                </a:solidFill>
                <a:latin typeface="Roboto"/>
                <a:ea typeface="Roboto"/>
                <a:cs typeface="Roboto"/>
                <a:sym typeface="Roboto"/>
              </a:rPr>
              <a:t>Để biết việc chèn dấu '-' tại ô (i, j) là MỞ MỚI (-10) hay KÉO DÀI (-1), ta phải tách thành 3 ma trận trạng thái kích thước (m+1) × (n+1):</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60">
                <a:solidFill>
                  <a:srgbClr val="1E293B"/>
                </a:solidFill>
                <a:latin typeface="Roboto"/>
                <a:ea typeface="Roboto"/>
                <a:cs typeface="Roboto"/>
                <a:sym typeface="Roboto"/>
              </a:rPr>
              <a:t>① M(i, j) — Khớp A[i] với B[j] (Đi chéo ↘):</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60">
                <a:solidFill>
                  <a:srgbClr val="1E293B"/>
                </a:solidFill>
                <a:latin typeface="Roboto"/>
                <a:ea typeface="Roboto"/>
                <a:cs typeface="Roboto"/>
                <a:sym typeface="Roboto"/>
              </a:rPr>
              <a:t>   M(i, j) = BLOSUM62(</a:t>
            </a:r>
            <a:r>
              <a:rPr lang="vi" sz="960">
                <a:solidFill>
                  <a:srgbClr val="1E293B"/>
                </a:solidFill>
                <a:latin typeface="Roboto"/>
                <a:ea typeface="Roboto"/>
                <a:cs typeface="Roboto"/>
                <a:sym typeface="Roboto"/>
              </a:rPr>
              <a:t>A[i]</a:t>
            </a:r>
            <a:r>
              <a:rPr lang="vi" sz="960">
                <a:solidFill>
                  <a:srgbClr val="1E293B"/>
                </a:solidFill>
                <a:latin typeface="Roboto"/>
                <a:ea typeface="Roboto"/>
                <a:cs typeface="Roboto"/>
                <a:sym typeface="Roboto"/>
              </a:rPr>
              <a:t>, </a:t>
            </a:r>
            <a:r>
              <a:rPr lang="vi" sz="960">
                <a:solidFill>
                  <a:srgbClr val="1E293B"/>
                </a:solidFill>
                <a:latin typeface="Roboto"/>
                <a:ea typeface="Roboto"/>
                <a:cs typeface="Roboto"/>
                <a:sym typeface="Roboto"/>
              </a:rPr>
              <a:t>B[j]</a:t>
            </a:r>
            <a:r>
              <a:rPr lang="vi" sz="960">
                <a:solidFill>
                  <a:srgbClr val="1E293B"/>
                </a:solidFill>
                <a:latin typeface="Roboto"/>
                <a:ea typeface="Roboto"/>
                <a:cs typeface="Roboto"/>
                <a:sym typeface="Roboto"/>
              </a:rPr>
              <a:t>) + max { M(i-1, j-1), Ix(i-1, j-1), Iy(i-1, j-1) }</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60">
                <a:solidFill>
                  <a:srgbClr val="1E293B"/>
                </a:solidFill>
                <a:latin typeface="Roboto"/>
                <a:ea typeface="Roboto"/>
                <a:cs typeface="Roboto"/>
                <a:sym typeface="Roboto"/>
              </a:rPr>
              <a:t>② Ix(i, j) — Ký tự A[i] đối diện dấu '-' trên B (Đi xuống ↓):</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60">
                <a:solidFill>
                  <a:srgbClr val="1E293B"/>
                </a:solidFill>
                <a:latin typeface="Roboto"/>
                <a:ea typeface="Roboto"/>
                <a:cs typeface="Roboto"/>
                <a:sym typeface="Roboto"/>
              </a:rPr>
              <a:t>   Ix(i, j) = max { M(i-1, j) + G_open + G_ext,   [Mở gap mới]</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60">
                <a:solidFill>
                  <a:srgbClr val="1E293B"/>
                </a:solidFill>
                <a:latin typeface="Roboto"/>
                <a:ea typeface="Roboto"/>
                <a:cs typeface="Roboto"/>
                <a:sym typeface="Roboto"/>
              </a:rPr>
              <a:t>                    Ix(i-1, j) + G_ext }          [Kéo dài gap cũ]</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60">
                <a:solidFill>
                  <a:srgbClr val="1E293B"/>
                </a:solidFill>
                <a:latin typeface="Roboto"/>
                <a:ea typeface="Roboto"/>
                <a:cs typeface="Roboto"/>
                <a:sym typeface="Roboto"/>
              </a:rPr>
              <a:t>③ Iy(i, j) — Ký tự B[j] đối diện dấu '-' trên A (Đi ngang →):</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60">
                <a:solidFill>
                  <a:srgbClr val="1E293B"/>
                </a:solidFill>
                <a:latin typeface="Roboto"/>
                <a:ea typeface="Roboto"/>
                <a:cs typeface="Roboto"/>
                <a:sym typeface="Roboto"/>
              </a:rPr>
              <a:t>   Iy(i, j) = max { M(i, j-1) + G_open + G_ext,   [Mở gap mới]</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60">
                <a:solidFill>
                  <a:srgbClr val="1E293B"/>
                </a:solidFill>
                <a:latin typeface="Roboto"/>
                <a:ea typeface="Roboto"/>
                <a:cs typeface="Roboto"/>
                <a:sym typeface="Roboto"/>
              </a:rPr>
              <a:t>                    Iy(i, j-1) + G_ext }          [Kéo dài gap cũ]</a:t>
            </a:r>
            <a:endParaRPr sz="960">
              <a:solidFill>
                <a:srgbClr val="1E293B"/>
              </a:solidFill>
              <a:latin typeface="Roboto"/>
              <a:ea typeface="Roboto"/>
              <a:cs typeface="Roboto"/>
              <a:sym typeface="Roboto"/>
            </a:endParaRPr>
          </a:p>
        </p:txBody>
      </p:sp>
      <p:sp>
        <p:nvSpPr>
          <p:cNvPr id="158" name="Google Shape;158;p19"/>
          <p:cNvSpPr txBox="1"/>
          <p:nvPr/>
        </p:nvSpPr>
        <p:spPr>
          <a:xfrm>
            <a:off x="5473700" y="838200"/>
            <a:ext cx="3365400" cy="304800"/>
          </a:xfrm>
          <a:prstGeom prst="rect">
            <a:avLst/>
          </a:prstGeom>
          <a:solidFill>
            <a:srgbClr val="0284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vi" sz="1050">
                <a:solidFill>
                  <a:srgbClr val="FFFFFF"/>
                </a:solidFill>
                <a:latin typeface="Roboto"/>
                <a:ea typeface="Roboto"/>
                <a:cs typeface="Roboto"/>
                <a:sym typeface="Roboto"/>
              </a:rPr>
              <a:t>2. Nhận xét Đột phá (Key Insight)</a:t>
            </a:r>
            <a:endParaRPr b="1" sz="1050">
              <a:solidFill>
                <a:srgbClr val="FFFFFF"/>
              </a:solidFill>
              <a:latin typeface="Roboto"/>
              <a:ea typeface="Roboto"/>
              <a:cs typeface="Roboto"/>
              <a:sym typeface="Roboto"/>
            </a:endParaRPr>
          </a:p>
        </p:txBody>
      </p:sp>
      <p:sp>
        <p:nvSpPr>
          <p:cNvPr id="159" name="Google Shape;159;p19"/>
          <p:cNvSpPr txBox="1"/>
          <p:nvPr/>
        </p:nvSpPr>
        <p:spPr>
          <a:xfrm>
            <a:off x="5473700" y="1143000"/>
            <a:ext cx="3365400" cy="1790700"/>
          </a:xfrm>
          <a:prstGeom prst="rect">
            <a:avLst/>
          </a:prstGeom>
          <a:solidFill>
            <a:srgbClr val="E0F2FE"/>
          </a:solidFill>
          <a:ln>
            <a:noFill/>
          </a:ln>
        </p:spPr>
        <p:txBody>
          <a:bodyPr anchorCtr="0" anchor="t" bIns="91425" lIns="91425" spcFirstLastPara="1" rIns="91425" wrap="square" tIns="91425">
            <a:noAutofit/>
          </a:bodyPr>
          <a:lstStyle/>
          <a:p>
            <a:pPr indent="0" lvl="0" marL="0" rtl="0" algn="l">
              <a:lnSpc>
                <a:spcPct val="125000"/>
              </a:lnSpc>
              <a:spcBef>
                <a:spcPts val="0"/>
              </a:spcBef>
              <a:spcAft>
                <a:spcPts val="0"/>
              </a:spcAft>
              <a:buNone/>
            </a:pPr>
            <a:r>
              <a:rPr lang="vi" sz="960">
                <a:solidFill>
                  <a:srgbClr val="1E293B"/>
                </a:solidFill>
                <a:latin typeface="Roboto"/>
                <a:ea typeface="Roboto"/>
                <a:cs typeface="Roboto"/>
                <a:sym typeface="Roboto"/>
              </a:rPr>
              <a:t>• Khi CHỈ tính điểm số ở ô cuối (m, n):</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60">
                <a:solidFill>
                  <a:srgbClr val="1E293B"/>
                </a:solidFill>
                <a:latin typeface="Roboto"/>
                <a:ea typeface="Roboto"/>
                <a:cs typeface="Roboto"/>
                <a:sym typeface="Roboto"/>
              </a:rPr>
              <a:t>  Dòng thứ i chỉ phụ thuộc vào dòng i-1 liền trước → Chỉ cần giữ 2 dòng trong RAM = O(n) bộ nhớ!</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60">
                <a:solidFill>
                  <a:srgbClr val="1E293B"/>
                </a:solidFill>
                <a:latin typeface="Roboto"/>
                <a:ea typeface="Roboto"/>
                <a:cs typeface="Roboto"/>
                <a:sym typeface="Roboto"/>
              </a:rPr>
              <a:t>• Tại sao Gotoh vẫn tốn O(mn) RAM?</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60">
                <a:solidFill>
                  <a:srgbClr val="1E293B"/>
                </a:solidFill>
                <a:latin typeface="Roboto"/>
                <a:ea typeface="Roboto"/>
                <a:cs typeface="Roboto"/>
                <a:sym typeface="Roboto"/>
              </a:rPr>
              <a:t>  Vì để TRUY VẾT (Backtrack) tìm vị trí chèn dấu '-' từ (m,n) ngược về (0,0), Gotoh phải lưu lại toàn bộ m×n ô của cả 3 ma trận!</a:t>
            </a:r>
            <a:endParaRPr sz="960">
              <a:solidFill>
                <a:srgbClr val="1E293B"/>
              </a:solidFill>
              <a:latin typeface="Roboto"/>
              <a:ea typeface="Roboto"/>
              <a:cs typeface="Roboto"/>
              <a:sym typeface="Roboto"/>
            </a:endParaRPr>
          </a:p>
        </p:txBody>
      </p:sp>
      <p:sp>
        <p:nvSpPr>
          <p:cNvPr id="160" name="Google Shape;160;p19"/>
          <p:cNvSpPr txBox="1"/>
          <p:nvPr/>
        </p:nvSpPr>
        <p:spPr>
          <a:xfrm>
            <a:off x="5473700" y="3060700"/>
            <a:ext cx="3365400" cy="304800"/>
          </a:xfrm>
          <a:prstGeom prst="rect">
            <a:avLst/>
          </a:prstGeom>
          <a:solidFill>
            <a:srgbClr val="E11D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vi" sz="1050">
                <a:solidFill>
                  <a:srgbClr val="FFFFFF"/>
                </a:solidFill>
                <a:latin typeface="Roboto"/>
                <a:ea typeface="Roboto"/>
                <a:cs typeface="Roboto"/>
                <a:sym typeface="Roboto"/>
              </a:rPr>
              <a:t>3. Ý tưởng Chia để trị Myers-Miller</a:t>
            </a:r>
            <a:endParaRPr b="1" sz="1050">
              <a:solidFill>
                <a:srgbClr val="FFFFFF"/>
              </a:solidFill>
              <a:latin typeface="Roboto"/>
              <a:ea typeface="Roboto"/>
              <a:cs typeface="Roboto"/>
              <a:sym typeface="Roboto"/>
            </a:endParaRPr>
          </a:p>
        </p:txBody>
      </p:sp>
      <p:sp>
        <p:nvSpPr>
          <p:cNvPr id="161" name="Google Shape;161;p19"/>
          <p:cNvSpPr txBox="1"/>
          <p:nvPr/>
        </p:nvSpPr>
        <p:spPr>
          <a:xfrm>
            <a:off x="5473700" y="3365500"/>
            <a:ext cx="3365400" cy="1612800"/>
          </a:xfrm>
          <a:prstGeom prst="rect">
            <a:avLst/>
          </a:prstGeom>
          <a:solidFill>
            <a:srgbClr val="FFE4E6"/>
          </a:solidFill>
          <a:ln>
            <a:noFill/>
          </a:ln>
        </p:spPr>
        <p:txBody>
          <a:bodyPr anchorCtr="0" anchor="t" bIns="91425" lIns="91425" spcFirstLastPara="1" rIns="91425" wrap="square" tIns="91425">
            <a:noAutofit/>
          </a:bodyPr>
          <a:lstStyle/>
          <a:p>
            <a:pPr indent="0" lvl="0" marL="0" rtl="0" algn="l">
              <a:lnSpc>
                <a:spcPct val="125000"/>
              </a:lnSpc>
              <a:spcBef>
                <a:spcPts val="0"/>
              </a:spcBef>
              <a:spcAft>
                <a:spcPts val="0"/>
              </a:spcAft>
              <a:buNone/>
            </a:pPr>
            <a:r>
              <a:rPr lang="vi" sz="960">
                <a:solidFill>
                  <a:srgbClr val="1E293B"/>
                </a:solidFill>
                <a:latin typeface="Roboto"/>
                <a:ea typeface="Roboto"/>
                <a:cs typeface="Roboto"/>
                <a:sym typeface="Roboto"/>
              </a:rPr>
              <a:t>• Thay vì lưu cả bảng 2D để lần ngược từ cuối về đầu:</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60">
                <a:solidFill>
                  <a:srgbClr val="1E293B"/>
                </a:solidFill>
                <a:latin typeface="Roboto"/>
                <a:ea typeface="Roboto"/>
                <a:cs typeface="Roboto"/>
                <a:sym typeface="Roboto"/>
              </a:rPr>
              <a:t>  Ta dùng DP 2 dòng (tốn O(n) RAM) chạy từ ĐẦU xuống GIỮA và từ CUỐI lên GIỮA để tìm chính xác tọa độ giao điểm (i*, j*) ở dòng giữa!</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60">
                <a:solidFill>
                  <a:srgbClr val="1E293B"/>
                </a:solidFill>
                <a:latin typeface="Roboto"/>
                <a:ea typeface="Roboto"/>
                <a:cs typeface="Roboto"/>
                <a:sym typeface="Roboto"/>
              </a:rPr>
              <a:t>• Sau đó chia đôi bài toán thành 2 nửa nhỏ hơn và lặp lại đệ quy!</a:t>
            </a:r>
            <a:endParaRPr sz="960">
              <a:solidFill>
                <a:srgbClr val="1E293B"/>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165" name="Shape 165"/>
        <p:cNvGrpSpPr/>
        <p:nvPr/>
      </p:nvGrpSpPr>
      <p:grpSpPr>
        <a:xfrm>
          <a:off x="0" y="0"/>
          <a:ext cx="0" cy="0"/>
          <a:chOff x="0" y="0"/>
          <a:chExt cx="0" cy="0"/>
        </a:xfrm>
      </p:grpSpPr>
      <p:sp>
        <p:nvSpPr>
          <p:cNvPr id="166" name="Google Shape;166;p20"/>
          <p:cNvSpPr/>
          <p:nvPr/>
        </p:nvSpPr>
        <p:spPr>
          <a:xfrm>
            <a:off x="0" y="0"/>
            <a:ext cx="9144000" cy="736500"/>
          </a:xfrm>
          <a:prstGeom prst="rect">
            <a:avLst/>
          </a:prstGeom>
          <a:solidFill>
            <a:srgbClr val="0F172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 name="Google Shape;167;p20"/>
          <p:cNvSpPr/>
          <p:nvPr/>
        </p:nvSpPr>
        <p:spPr>
          <a:xfrm>
            <a:off x="0" y="711200"/>
            <a:ext cx="9144000" cy="38100"/>
          </a:xfrm>
          <a:prstGeom prst="rect">
            <a:avLst/>
          </a:prstGeom>
          <a:solidFill>
            <a:srgbClr val="0284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8" name="Google Shape;168;p20"/>
          <p:cNvSpPr txBox="1"/>
          <p:nvPr/>
        </p:nvSpPr>
        <p:spPr>
          <a:xfrm>
            <a:off x="304800" y="76200"/>
            <a:ext cx="2476500" cy="203100"/>
          </a:xfrm>
          <a:prstGeom prst="rect">
            <a:avLst/>
          </a:prstGeom>
          <a:solidFill>
            <a:srgbClr val="0284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vi" sz="800">
                <a:solidFill>
                  <a:srgbClr val="FFFFFF"/>
                </a:solidFill>
                <a:latin typeface="Roboto"/>
                <a:ea typeface="Roboto"/>
                <a:cs typeface="Roboto"/>
                <a:sym typeface="Roboto"/>
              </a:rPr>
              <a:t>PHẦN 2 • THIẾT KẾ THUẬT TOÁN LÕI</a:t>
            </a:r>
            <a:endParaRPr b="1" sz="800">
              <a:solidFill>
                <a:srgbClr val="FFFFFF"/>
              </a:solidFill>
              <a:latin typeface="Roboto"/>
              <a:ea typeface="Roboto"/>
              <a:cs typeface="Roboto"/>
              <a:sym typeface="Roboto"/>
            </a:endParaRPr>
          </a:p>
        </p:txBody>
      </p:sp>
      <p:sp>
        <p:nvSpPr>
          <p:cNvPr id="169" name="Google Shape;169;p20"/>
          <p:cNvSpPr txBox="1"/>
          <p:nvPr/>
        </p:nvSpPr>
        <p:spPr>
          <a:xfrm>
            <a:off x="8001000" y="76200"/>
            <a:ext cx="838200" cy="2031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vi" sz="850">
                <a:solidFill>
                  <a:srgbClr val="93C5FD"/>
                </a:solidFill>
                <a:latin typeface="Roboto"/>
                <a:ea typeface="Roboto"/>
                <a:cs typeface="Roboto"/>
                <a:sym typeface="Roboto"/>
              </a:rPr>
              <a:t>Slide 8 / 24</a:t>
            </a:r>
            <a:endParaRPr b="1" sz="850">
              <a:solidFill>
                <a:srgbClr val="93C5FD"/>
              </a:solidFill>
              <a:latin typeface="Roboto"/>
              <a:ea typeface="Roboto"/>
              <a:cs typeface="Roboto"/>
              <a:sym typeface="Roboto"/>
            </a:endParaRPr>
          </a:p>
        </p:txBody>
      </p:sp>
      <p:sp>
        <p:nvSpPr>
          <p:cNvPr id="170" name="Google Shape;170;p20"/>
          <p:cNvSpPr txBox="1"/>
          <p:nvPr/>
        </p:nvSpPr>
        <p:spPr>
          <a:xfrm>
            <a:off x="304800" y="279400"/>
            <a:ext cx="85344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vi" sz="1500">
                <a:solidFill>
                  <a:srgbClr val="FFFFFF"/>
                </a:solidFill>
                <a:latin typeface="Roboto"/>
                <a:ea typeface="Roboto"/>
                <a:cs typeface="Roboto"/>
                <a:sym typeface="Roboto"/>
              </a:rPr>
              <a:t>Thuật toán Chia để trị Tuyến tính Myers-Miller / Hirschberg (1988)</a:t>
            </a:r>
            <a:endParaRPr b="1" sz="1500">
              <a:solidFill>
                <a:srgbClr val="FFFFFF"/>
              </a:solidFill>
              <a:latin typeface="Roboto"/>
              <a:ea typeface="Roboto"/>
              <a:cs typeface="Roboto"/>
              <a:sym typeface="Roboto"/>
            </a:endParaRPr>
          </a:p>
        </p:txBody>
      </p:sp>
      <p:sp>
        <p:nvSpPr>
          <p:cNvPr id="171" name="Google Shape;171;p20"/>
          <p:cNvSpPr txBox="1"/>
          <p:nvPr/>
        </p:nvSpPr>
        <p:spPr>
          <a:xfrm>
            <a:off x="304800" y="520700"/>
            <a:ext cx="8534400" cy="19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vi" sz="900">
                <a:solidFill>
                  <a:srgbClr val="BAE6FD"/>
                </a:solidFill>
                <a:latin typeface="Roboto"/>
                <a:ea typeface="Roboto"/>
                <a:cs typeface="Roboto"/>
                <a:sym typeface="Roboto"/>
              </a:rPr>
              <a:t>Cơ chế 4 bước tìm điểm cắt tối ưu (i*, j*) tại dòng giữa i* = ⌊m/2⌋ chỉ bằng các vector 1 chiều O(n)</a:t>
            </a:r>
            <a:endParaRPr i="1" sz="900">
              <a:solidFill>
                <a:srgbClr val="BAE6FD"/>
              </a:solidFill>
              <a:latin typeface="Roboto"/>
              <a:ea typeface="Roboto"/>
              <a:cs typeface="Roboto"/>
              <a:sym typeface="Roboto"/>
            </a:endParaRPr>
          </a:p>
        </p:txBody>
      </p:sp>
      <p:sp>
        <p:nvSpPr>
          <p:cNvPr id="172" name="Google Shape;172;p20"/>
          <p:cNvSpPr txBox="1"/>
          <p:nvPr/>
        </p:nvSpPr>
        <p:spPr>
          <a:xfrm>
            <a:off x="304800" y="838200"/>
            <a:ext cx="4191000" cy="304800"/>
          </a:xfrm>
          <a:prstGeom prst="rect">
            <a:avLst/>
          </a:prstGeom>
          <a:solidFill>
            <a:srgbClr val="0284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vi" sz="1050">
                <a:solidFill>
                  <a:srgbClr val="FFFFFF"/>
                </a:solidFill>
                <a:latin typeface="Roboto"/>
                <a:ea typeface="Roboto"/>
                <a:cs typeface="Roboto"/>
                <a:sym typeface="Roboto"/>
              </a:rPr>
              <a:t>Quy trình Chia để trị 4 Bước (Divide &amp; Conquer)</a:t>
            </a:r>
            <a:endParaRPr b="1" sz="1050">
              <a:solidFill>
                <a:srgbClr val="FFFFFF"/>
              </a:solidFill>
              <a:latin typeface="Roboto"/>
              <a:ea typeface="Roboto"/>
              <a:cs typeface="Roboto"/>
              <a:sym typeface="Roboto"/>
            </a:endParaRPr>
          </a:p>
        </p:txBody>
      </p:sp>
      <p:sp>
        <p:nvSpPr>
          <p:cNvPr id="173" name="Google Shape;173;p20"/>
          <p:cNvSpPr txBox="1"/>
          <p:nvPr/>
        </p:nvSpPr>
        <p:spPr>
          <a:xfrm>
            <a:off x="304800" y="1143000"/>
            <a:ext cx="4191000" cy="38355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lnSpc>
                <a:spcPct val="125000"/>
              </a:lnSpc>
              <a:spcBef>
                <a:spcPts val="0"/>
              </a:spcBef>
              <a:spcAft>
                <a:spcPts val="0"/>
              </a:spcAft>
              <a:buNone/>
            </a:pPr>
            <a:r>
              <a:rPr lang="vi" sz="960">
                <a:solidFill>
                  <a:srgbClr val="1E293B"/>
                </a:solidFill>
                <a:latin typeface="Roboto"/>
                <a:ea typeface="Roboto"/>
                <a:cs typeface="Roboto"/>
                <a:sym typeface="Roboto"/>
              </a:rPr>
              <a:t>• Bước 1 — Chia (Divide):</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60">
                <a:solidFill>
                  <a:srgbClr val="1E293B"/>
                </a:solidFill>
                <a:latin typeface="Roboto"/>
                <a:ea typeface="Roboto"/>
                <a:cs typeface="Roboto"/>
                <a:sym typeface="Roboto"/>
              </a:rPr>
              <a:t>  Chia đôi chuỗi A theo chiều ngang tại dòng giữa i* = ⌊m / 2⌋.</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60">
                <a:solidFill>
                  <a:srgbClr val="1E293B"/>
                </a:solidFill>
                <a:latin typeface="Roboto"/>
                <a:ea typeface="Roboto"/>
                <a:cs typeface="Roboto"/>
                <a:sym typeface="Roboto"/>
              </a:rPr>
              <a:t>• Bước 2 — Quét Xuôi (Forward Pass — O(n) RAM):</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60">
                <a:solidFill>
                  <a:srgbClr val="1E293B"/>
                </a:solidFill>
                <a:latin typeface="Roboto"/>
                <a:ea typeface="Roboto"/>
                <a:cs typeface="Roboto"/>
                <a:sym typeface="Roboto"/>
              </a:rPr>
              <a:t>  Chạy DP 2 dòng cho nửa trên A[1..i*] với B[1..n] từ (0,0) xuống dòng i*.</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60">
                <a:solidFill>
                  <a:srgbClr val="1E293B"/>
                </a:solidFill>
                <a:latin typeface="Roboto"/>
                <a:ea typeface="Roboto"/>
                <a:cs typeface="Roboto"/>
                <a:sym typeface="Roboto"/>
              </a:rPr>
              <a:t>  Thu được vector 1D: Fwd_M[j], Fwd_Ix[j] (với j = 0..n).</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60">
                <a:solidFill>
                  <a:srgbClr val="1E293B"/>
                </a:solidFill>
                <a:latin typeface="Roboto"/>
                <a:ea typeface="Roboto"/>
                <a:cs typeface="Roboto"/>
                <a:sym typeface="Roboto"/>
              </a:rPr>
              <a:t>• Bước 3 — Quét Ngược (Backward Pass — O(n) RAM):</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60">
                <a:solidFill>
                  <a:srgbClr val="1E293B"/>
                </a:solidFill>
                <a:latin typeface="Roboto"/>
                <a:ea typeface="Roboto"/>
                <a:cs typeface="Roboto"/>
                <a:sym typeface="Roboto"/>
              </a:rPr>
              <a:t>  Chạy DP 2 dòng cho nửa dưới A[i*+1..m] với B[1..n] theo chiều ngược từ (m,n) lên dòng i*.</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60">
                <a:solidFill>
                  <a:srgbClr val="1E293B"/>
                </a:solidFill>
                <a:latin typeface="Roboto"/>
                <a:ea typeface="Roboto"/>
                <a:cs typeface="Roboto"/>
                <a:sym typeface="Roboto"/>
              </a:rPr>
              <a:t>  Thu được vector 1D: Bwd_M[j], Bwd_Ix[j] (với j = 0..n).</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60">
                <a:solidFill>
                  <a:srgbClr val="1E293B"/>
                </a:solidFill>
                <a:latin typeface="Roboto"/>
                <a:ea typeface="Roboto"/>
                <a:cs typeface="Roboto"/>
                <a:sym typeface="Roboto"/>
              </a:rPr>
              <a:t>• Bước 4 — Tổ hợp &amp; Đệ quy (Combine &amp; Recurse):</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60">
                <a:solidFill>
                  <a:srgbClr val="1E293B"/>
                </a:solidFill>
                <a:latin typeface="Roboto"/>
                <a:ea typeface="Roboto"/>
                <a:cs typeface="Roboto"/>
                <a:sym typeface="Roboto"/>
              </a:rPr>
              <a:t>  Tìm cột j* tối ưu tại dòng i*, rồi gọi đệ quy độc lập trên:</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60">
                <a:solidFill>
                  <a:srgbClr val="1E293B"/>
                </a:solidFill>
                <a:latin typeface="Roboto"/>
                <a:ea typeface="Roboto"/>
                <a:cs typeface="Roboto"/>
                <a:sym typeface="Roboto"/>
              </a:rPr>
              <a:t>  - Bài toán con Trái-Trên: A[1..i*] với B[1..j*]</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60">
                <a:solidFill>
                  <a:srgbClr val="1E293B"/>
                </a:solidFill>
                <a:latin typeface="Roboto"/>
                <a:ea typeface="Roboto"/>
                <a:cs typeface="Roboto"/>
                <a:sym typeface="Roboto"/>
              </a:rPr>
              <a:t>  - Bài toán con Phải-Dưới: A[i*+1..m] với B[j*+1..n]</a:t>
            </a:r>
            <a:endParaRPr sz="960">
              <a:solidFill>
                <a:srgbClr val="1E293B"/>
              </a:solidFill>
              <a:latin typeface="Roboto"/>
              <a:ea typeface="Roboto"/>
              <a:cs typeface="Roboto"/>
              <a:sym typeface="Roboto"/>
            </a:endParaRPr>
          </a:p>
        </p:txBody>
      </p:sp>
      <p:sp>
        <p:nvSpPr>
          <p:cNvPr id="174" name="Google Shape;174;p20"/>
          <p:cNvSpPr txBox="1"/>
          <p:nvPr/>
        </p:nvSpPr>
        <p:spPr>
          <a:xfrm>
            <a:off x="4648200" y="838200"/>
            <a:ext cx="4191000" cy="30480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vi" sz="1050">
                <a:solidFill>
                  <a:srgbClr val="FFFFFF"/>
                </a:solidFill>
                <a:latin typeface="Roboto"/>
                <a:ea typeface="Roboto"/>
                <a:cs typeface="Roboto"/>
                <a:sym typeface="Roboto"/>
              </a:rPr>
              <a:t>Công thức Tìm Cột Cắt Tối ưu j* tại Dòng Giữa i*</a:t>
            </a:r>
            <a:endParaRPr b="1" sz="1050">
              <a:solidFill>
                <a:srgbClr val="FFFFFF"/>
              </a:solidFill>
              <a:latin typeface="Roboto"/>
              <a:ea typeface="Roboto"/>
              <a:cs typeface="Roboto"/>
              <a:sym typeface="Roboto"/>
            </a:endParaRPr>
          </a:p>
        </p:txBody>
      </p:sp>
      <p:sp>
        <p:nvSpPr>
          <p:cNvPr id="175" name="Google Shape;175;p20"/>
          <p:cNvSpPr txBox="1"/>
          <p:nvPr/>
        </p:nvSpPr>
        <p:spPr>
          <a:xfrm>
            <a:off x="4648200" y="1143000"/>
            <a:ext cx="4191000" cy="1917600"/>
          </a:xfrm>
          <a:prstGeom prst="rect">
            <a:avLst/>
          </a:prstGeom>
          <a:solidFill>
            <a:srgbClr val="E0F2FE"/>
          </a:solidFill>
          <a:ln>
            <a:noFill/>
          </a:ln>
        </p:spPr>
        <p:txBody>
          <a:bodyPr anchorCtr="0" anchor="t" bIns="91425" lIns="91425" spcFirstLastPara="1" rIns="91425" wrap="square" tIns="91425">
            <a:noAutofit/>
          </a:bodyPr>
          <a:lstStyle/>
          <a:p>
            <a:pPr indent="0" lvl="0" marL="0" rtl="0" algn="l">
              <a:lnSpc>
                <a:spcPct val="125000"/>
              </a:lnSpc>
              <a:spcBef>
                <a:spcPts val="0"/>
              </a:spcBef>
              <a:spcAft>
                <a:spcPts val="0"/>
              </a:spcAft>
              <a:buNone/>
            </a:pPr>
            <a:r>
              <a:rPr b="1" lang="vi" sz="980">
                <a:solidFill>
                  <a:srgbClr val="1E293B"/>
                </a:solidFill>
                <a:latin typeface="Roboto Mono"/>
                <a:ea typeface="Roboto Mono"/>
                <a:cs typeface="Roboto Mono"/>
                <a:sym typeface="Roboto Mono"/>
              </a:rPr>
              <a:t>Đường căn chỉnh tối ưu toàn cục từ (0,0) đến (m,n) BẮT BUỘC phải cắt qua dòng i* tại cột j* sao cho tổng điểm tiền tố + hậu tố đạt cực đại:</a:t>
            </a:r>
            <a:endParaRPr b="1" sz="980">
              <a:solidFill>
                <a:srgbClr val="1E293B"/>
              </a:solidFill>
              <a:latin typeface="Roboto Mono"/>
              <a:ea typeface="Roboto Mono"/>
              <a:cs typeface="Roboto Mono"/>
              <a:sym typeface="Roboto Mono"/>
            </a:endParaRPr>
          </a:p>
          <a:p>
            <a:pPr indent="0" lvl="0" marL="0" rtl="0" algn="l">
              <a:lnSpc>
                <a:spcPct val="125000"/>
              </a:lnSpc>
              <a:spcBef>
                <a:spcPts val="0"/>
              </a:spcBef>
              <a:spcAft>
                <a:spcPts val="0"/>
              </a:spcAft>
              <a:buNone/>
            </a:pPr>
            <a:r>
              <a:t/>
            </a:r>
            <a:endParaRPr b="1" sz="980">
              <a:solidFill>
                <a:srgbClr val="1E293B"/>
              </a:solidFill>
              <a:latin typeface="Roboto Mono"/>
              <a:ea typeface="Roboto Mono"/>
              <a:cs typeface="Roboto Mono"/>
              <a:sym typeface="Roboto Mono"/>
            </a:endParaRPr>
          </a:p>
          <a:p>
            <a:pPr indent="0" lvl="0" marL="0" rtl="0" algn="l">
              <a:lnSpc>
                <a:spcPct val="125000"/>
              </a:lnSpc>
              <a:spcBef>
                <a:spcPts val="0"/>
              </a:spcBef>
              <a:spcAft>
                <a:spcPts val="0"/>
              </a:spcAft>
              <a:buNone/>
            </a:pPr>
            <a:r>
              <a:rPr b="1" lang="vi" sz="980">
                <a:solidFill>
                  <a:srgbClr val="1E293B"/>
                </a:solidFill>
                <a:latin typeface="Roboto Mono"/>
                <a:ea typeface="Roboto Mono"/>
                <a:cs typeface="Roboto Mono"/>
                <a:sym typeface="Roboto Mono"/>
              </a:rPr>
              <a:t>  j* = argmax_{0 ≤ j ≤ n}  max {</a:t>
            </a:r>
            <a:endParaRPr b="1" sz="980">
              <a:solidFill>
                <a:srgbClr val="1E293B"/>
              </a:solidFill>
              <a:latin typeface="Roboto Mono"/>
              <a:ea typeface="Roboto Mono"/>
              <a:cs typeface="Roboto Mono"/>
              <a:sym typeface="Roboto Mono"/>
            </a:endParaRPr>
          </a:p>
          <a:p>
            <a:pPr indent="0" lvl="0" marL="0" rtl="0" algn="l">
              <a:lnSpc>
                <a:spcPct val="125000"/>
              </a:lnSpc>
              <a:spcBef>
                <a:spcPts val="0"/>
              </a:spcBef>
              <a:spcAft>
                <a:spcPts val="0"/>
              </a:spcAft>
              <a:buNone/>
            </a:pPr>
            <a:r>
              <a:rPr b="1" lang="vi" sz="980">
                <a:solidFill>
                  <a:srgbClr val="1E293B"/>
                </a:solidFill>
                <a:latin typeface="Roboto Mono"/>
                <a:ea typeface="Roboto Mono"/>
                <a:cs typeface="Roboto Mono"/>
                <a:sym typeface="Roboto Mono"/>
              </a:rPr>
              <a:t>      ① Fwd_M(j)  + Bwd_M(j),</a:t>
            </a:r>
            <a:endParaRPr b="1" sz="980">
              <a:solidFill>
                <a:srgbClr val="1E293B"/>
              </a:solidFill>
              <a:latin typeface="Roboto Mono"/>
              <a:ea typeface="Roboto Mono"/>
              <a:cs typeface="Roboto Mono"/>
              <a:sym typeface="Roboto Mono"/>
            </a:endParaRPr>
          </a:p>
          <a:p>
            <a:pPr indent="0" lvl="0" marL="0" rtl="0" algn="l">
              <a:lnSpc>
                <a:spcPct val="125000"/>
              </a:lnSpc>
              <a:spcBef>
                <a:spcPts val="0"/>
              </a:spcBef>
              <a:spcAft>
                <a:spcPts val="0"/>
              </a:spcAft>
              <a:buNone/>
            </a:pPr>
            <a:r>
              <a:rPr b="1" lang="vi" sz="980">
                <a:solidFill>
                  <a:srgbClr val="1E293B"/>
                </a:solidFill>
                <a:latin typeface="Roboto Mono"/>
                <a:ea typeface="Roboto Mono"/>
                <a:cs typeface="Roboto Mono"/>
                <a:sym typeface="Roboto Mono"/>
              </a:rPr>
              <a:t>      ② Fwd_Ix(j) + Bwd_Ix(j) - G_open + G_ext</a:t>
            </a:r>
            <a:endParaRPr b="1" sz="980">
              <a:solidFill>
                <a:srgbClr val="1E293B"/>
              </a:solidFill>
              <a:latin typeface="Roboto Mono"/>
              <a:ea typeface="Roboto Mono"/>
              <a:cs typeface="Roboto Mono"/>
              <a:sym typeface="Roboto Mono"/>
            </a:endParaRPr>
          </a:p>
          <a:p>
            <a:pPr indent="0" lvl="0" marL="0" rtl="0" algn="l">
              <a:lnSpc>
                <a:spcPct val="125000"/>
              </a:lnSpc>
              <a:spcBef>
                <a:spcPts val="0"/>
              </a:spcBef>
              <a:spcAft>
                <a:spcPts val="0"/>
              </a:spcAft>
              <a:buNone/>
            </a:pPr>
            <a:r>
              <a:rPr b="1" lang="vi" sz="980">
                <a:solidFill>
                  <a:srgbClr val="1E293B"/>
                </a:solidFill>
                <a:latin typeface="Roboto Mono"/>
                <a:ea typeface="Roboto Mono"/>
                <a:cs typeface="Roboto Mono"/>
                <a:sym typeface="Roboto Mono"/>
              </a:rPr>
              <a:t>  }</a:t>
            </a:r>
            <a:endParaRPr b="1" sz="980">
              <a:solidFill>
                <a:srgbClr val="1E293B"/>
              </a:solidFill>
              <a:latin typeface="Roboto Mono"/>
              <a:ea typeface="Roboto Mono"/>
              <a:cs typeface="Roboto Mono"/>
              <a:sym typeface="Roboto Mono"/>
            </a:endParaRPr>
          </a:p>
        </p:txBody>
      </p:sp>
      <p:sp>
        <p:nvSpPr>
          <p:cNvPr id="176" name="Google Shape;176;p20"/>
          <p:cNvSpPr txBox="1"/>
          <p:nvPr/>
        </p:nvSpPr>
        <p:spPr>
          <a:xfrm>
            <a:off x="4648200" y="3175000"/>
            <a:ext cx="4191000" cy="304800"/>
          </a:xfrm>
          <a:prstGeom prst="rect">
            <a:avLst/>
          </a:prstGeom>
          <a:solidFill>
            <a:srgbClr val="E11D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vi" sz="1050">
                <a:solidFill>
                  <a:srgbClr val="FFFFFF"/>
                </a:solidFill>
                <a:latin typeface="Roboto"/>
                <a:ea typeface="Roboto"/>
                <a:cs typeface="Roboto"/>
                <a:sym typeface="Roboto"/>
              </a:rPr>
              <a:t>Tại sao có số hạng hiệu chỉnh (-G_open + G_ext)?</a:t>
            </a:r>
            <a:endParaRPr b="1" sz="1050">
              <a:solidFill>
                <a:srgbClr val="FFFFFF"/>
              </a:solidFill>
              <a:latin typeface="Roboto"/>
              <a:ea typeface="Roboto"/>
              <a:cs typeface="Roboto"/>
              <a:sym typeface="Roboto"/>
            </a:endParaRPr>
          </a:p>
        </p:txBody>
      </p:sp>
      <p:sp>
        <p:nvSpPr>
          <p:cNvPr id="177" name="Google Shape;177;p20"/>
          <p:cNvSpPr txBox="1"/>
          <p:nvPr/>
        </p:nvSpPr>
        <p:spPr>
          <a:xfrm>
            <a:off x="4648200" y="3479800"/>
            <a:ext cx="4191000" cy="1498500"/>
          </a:xfrm>
          <a:prstGeom prst="rect">
            <a:avLst/>
          </a:prstGeom>
          <a:solidFill>
            <a:srgbClr val="FFE4E6"/>
          </a:solidFill>
          <a:ln>
            <a:noFill/>
          </a:ln>
        </p:spPr>
        <p:txBody>
          <a:bodyPr anchorCtr="0" anchor="t" bIns="91425" lIns="91425" spcFirstLastPara="1" rIns="91425" wrap="square" tIns="91425">
            <a:noAutofit/>
          </a:bodyPr>
          <a:lstStyle/>
          <a:p>
            <a:pPr indent="0" lvl="0" marL="0" rtl="0" algn="l">
              <a:lnSpc>
                <a:spcPct val="125000"/>
              </a:lnSpc>
              <a:spcBef>
                <a:spcPts val="0"/>
              </a:spcBef>
              <a:spcAft>
                <a:spcPts val="0"/>
              </a:spcAft>
              <a:buNone/>
            </a:pPr>
            <a:r>
              <a:rPr lang="vi" sz="950">
                <a:solidFill>
                  <a:srgbClr val="1E293B"/>
                </a:solidFill>
                <a:latin typeface="Roboto"/>
                <a:ea typeface="Roboto"/>
                <a:cs typeface="Roboto"/>
                <a:sym typeface="Roboto"/>
              </a:rPr>
              <a:t>• Kỹ thuật Hợp nhất Khoảng trống (Gap Coalescing):</a:t>
            </a:r>
            <a:endParaRPr sz="95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50">
                <a:solidFill>
                  <a:srgbClr val="1E293B"/>
                </a:solidFill>
                <a:latin typeface="Roboto"/>
                <a:ea typeface="Roboto"/>
                <a:cs typeface="Roboto"/>
                <a:sym typeface="Roboto"/>
              </a:rPr>
              <a:t>  Nếu đường đi tối ưu đang nằm trong một khoảng trống dọc (Ix) kéo dài xuyên qua ranh giới dòng i*, cả lượt quét xuôi Fwd_Ix(j) và quét ngược Bwd_Ix(j) đều đã tính phạt mở khoảng trống G_open (-10) một lần.</a:t>
            </a:r>
            <a:endParaRPr sz="95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50">
                <a:solidFill>
                  <a:srgbClr val="1E293B"/>
                </a:solidFill>
                <a:latin typeface="Roboto"/>
                <a:ea typeface="Roboto"/>
                <a:cs typeface="Roboto"/>
                <a:sym typeface="Roboto"/>
              </a:rPr>
              <a:t>• Do đó phải TRỪ đi G_open và CỘNG bù G_ext để gộp 2 nửa khoảng trống thành 1 khoảng trống liên tục duy nhất!</a:t>
            </a:r>
            <a:endParaRPr sz="950">
              <a:solidFill>
                <a:srgbClr val="1E293B"/>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181" name="Shape 181"/>
        <p:cNvGrpSpPr/>
        <p:nvPr/>
      </p:nvGrpSpPr>
      <p:grpSpPr>
        <a:xfrm>
          <a:off x="0" y="0"/>
          <a:ext cx="0" cy="0"/>
          <a:chOff x="0" y="0"/>
          <a:chExt cx="0" cy="0"/>
        </a:xfrm>
      </p:grpSpPr>
      <p:sp>
        <p:nvSpPr>
          <p:cNvPr id="182" name="Google Shape;182;p21"/>
          <p:cNvSpPr/>
          <p:nvPr/>
        </p:nvSpPr>
        <p:spPr>
          <a:xfrm>
            <a:off x="0" y="0"/>
            <a:ext cx="9144000" cy="736500"/>
          </a:xfrm>
          <a:prstGeom prst="rect">
            <a:avLst/>
          </a:prstGeom>
          <a:solidFill>
            <a:srgbClr val="0F172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3" name="Google Shape;183;p21"/>
          <p:cNvSpPr/>
          <p:nvPr/>
        </p:nvSpPr>
        <p:spPr>
          <a:xfrm>
            <a:off x="0" y="711200"/>
            <a:ext cx="9144000" cy="38100"/>
          </a:xfrm>
          <a:prstGeom prst="rect">
            <a:avLst/>
          </a:prstGeom>
          <a:solidFill>
            <a:srgbClr val="0284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4" name="Google Shape;184;p21"/>
          <p:cNvSpPr txBox="1"/>
          <p:nvPr/>
        </p:nvSpPr>
        <p:spPr>
          <a:xfrm>
            <a:off x="304800" y="76200"/>
            <a:ext cx="2476500" cy="203100"/>
          </a:xfrm>
          <a:prstGeom prst="rect">
            <a:avLst/>
          </a:prstGeom>
          <a:solidFill>
            <a:srgbClr val="0284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vi" sz="800">
                <a:solidFill>
                  <a:srgbClr val="FFFFFF"/>
                </a:solidFill>
                <a:latin typeface="Roboto"/>
                <a:ea typeface="Roboto"/>
                <a:cs typeface="Roboto"/>
                <a:sym typeface="Roboto"/>
              </a:rPr>
              <a:t>PHẦN 2 • TRỰC QUAN HÓA CHIA ĐỂ TRỊ</a:t>
            </a:r>
            <a:endParaRPr b="1" sz="800">
              <a:solidFill>
                <a:srgbClr val="FFFFFF"/>
              </a:solidFill>
              <a:latin typeface="Roboto"/>
              <a:ea typeface="Roboto"/>
              <a:cs typeface="Roboto"/>
              <a:sym typeface="Roboto"/>
            </a:endParaRPr>
          </a:p>
        </p:txBody>
      </p:sp>
      <p:sp>
        <p:nvSpPr>
          <p:cNvPr id="185" name="Google Shape;185;p21"/>
          <p:cNvSpPr txBox="1"/>
          <p:nvPr/>
        </p:nvSpPr>
        <p:spPr>
          <a:xfrm>
            <a:off x="8001000" y="76200"/>
            <a:ext cx="838200" cy="2031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vi" sz="850">
                <a:solidFill>
                  <a:srgbClr val="93C5FD"/>
                </a:solidFill>
                <a:latin typeface="Roboto"/>
                <a:ea typeface="Roboto"/>
                <a:cs typeface="Roboto"/>
                <a:sym typeface="Roboto"/>
              </a:rPr>
              <a:t>Slide 9 / 24</a:t>
            </a:r>
            <a:endParaRPr b="1" sz="850">
              <a:solidFill>
                <a:srgbClr val="93C5FD"/>
              </a:solidFill>
              <a:latin typeface="Roboto"/>
              <a:ea typeface="Roboto"/>
              <a:cs typeface="Roboto"/>
              <a:sym typeface="Roboto"/>
            </a:endParaRPr>
          </a:p>
        </p:txBody>
      </p:sp>
      <p:sp>
        <p:nvSpPr>
          <p:cNvPr id="186" name="Google Shape;186;p21"/>
          <p:cNvSpPr txBox="1"/>
          <p:nvPr/>
        </p:nvSpPr>
        <p:spPr>
          <a:xfrm>
            <a:off x="304800" y="279400"/>
            <a:ext cx="85344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vi" sz="1500">
                <a:solidFill>
                  <a:srgbClr val="FFFFFF"/>
                </a:solidFill>
                <a:latin typeface="Roboto"/>
                <a:ea typeface="Roboto"/>
                <a:cs typeface="Roboto"/>
                <a:sym typeface="Roboto"/>
              </a:rPr>
              <a:t>Minh họa Hình học Nhát cắt Giữa i* = ⌊m/2⌋ &amp; Thu hẹp Diện tích Myers-Miller</a:t>
            </a:r>
            <a:endParaRPr b="1" sz="1500">
              <a:solidFill>
                <a:srgbClr val="FFFFFF"/>
              </a:solidFill>
              <a:latin typeface="Roboto"/>
              <a:ea typeface="Roboto"/>
              <a:cs typeface="Roboto"/>
              <a:sym typeface="Roboto"/>
            </a:endParaRPr>
          </a:p>
        </p:txBody>
      </p:sp>
      <p:sp>
        <p:nvSpPr>
          <p:cNvPr id="187" name="Google Shape;187;p21"/>
          <p:cNvSpPr txBox="1"/>
          <p:nvPr/>
        </p:nvSpPr>
        <p:spPr>
          <a:xfrm>
            <a:off x="304800" y="520700"/>
            <a:ext cx="8534400" cy="19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vi" sz="900">
                <a:solidFill>
                  <a:srgbClr val="BAE6FD"/>
                </a:solidFill>
                <a:latin typeface="Roboto"/>
                <a:ea typeface="Roboto"/>
                <a:cs typeface="Roboto"/>
                <a:sym typeface="Roboto"/>
              </a:rPr>
              <a:t>Sau khi tìm được điểm cắt (i*, j*), 2 góc phần tư màu xám bị loại bỏ hoàn toàn — diện tích giảm đúng một nửa!</a:t>
            </a:r>
            <a:endParaRPr i="1" sz="900">
              <a:solidFill>
                <a:srgbClr val="BAE6FD"/>
              </a:solidFill>
              <a:latin typeface="Roboto"/>
              <a:ea typeface="Roboto"/>
              <a:cs typeface="Roboto"/>
              <a:sym typeface="Roboto"/>
            </a:endParaRPr>
          </a:p>
        </p:txBody>
      </p:sp>
      <p:sp>
        <p:nvSpPr>
          <p:cNvPr id="188" name="Google Shape;188;p21"/>
          <p:cNvSpPr/>
          <p:nvPr/>
        </p:nvSpPr>
        <p:spPr>
          <a:xfrm>
            <a:off x="254000" y="812800"/>
            <a:ext cx="8636100" cy="3835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9" name="Google Shape;189;p21"/>
          <p:cNvSpPr txBox="1"/>
          <p:nvPr/>
        </p:nvSpPr>
        <p:spPr>
          <a:xfrm>
            <a:off x="254000" y="4699000"/>
            <a:ext cx="8636100" cy="355500"/>
          </a:xfrm>
          <a:prstGeom prst="rect">
            <a:avLst/>
          </a:pr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vi" sz="1000">
                <a:solidFill>
                  <a:srgbClr val="FFFFFF"/>
                </a:solidFill>
                <a:latin typeface="Roboto"/>
                <a:ea typeface="Roboto"/>
                <a:cs typeface="Roboto"/>
                <a:sym typeface="Roboto"/>
              </a:rPr>
              <a:t>Bất biến Diện tích: Tổng diện tích 2 bài toán con màu xanh = (m/2)·j* + (m/2)·(n - j*) = ½ (m·n)  ⇒  Bộ nhớ O(min(m,n)), Thời gian 2·O(mn)</a:t>
            </a:r>
            <a:endParaRPr b="1" sz="1000">
              <a:solidFill>
                <a:srgbClr val="FFFFFF"/>
              </a:solidFill>
              <a:latin typeface="Roboto"/>
              <a:ea typeface="Roboto"/>
              <a:cs typeface="Roboto"/>
              <a:sym typeface="Roboto"/>
            </a:endParaRPr>
          </a:p>
        </p:txBody>
      </p:sp>
      <p:pic>
        <p:nvPicPr>
          <p:cNvPr id="190" name="Google Shape;190;p21"/>
          <p:cNvPicPr preferRelativeResize="0"/>
          <p:nvPr/>
        </p:nvPicPr>
        <p:blipFill>
          <a:blip r:embed="rId3">
            <a:alphaModFix/>
          </a:blip>
          <a:stretch>
            <a:fillRect/>
          </a:stretch>
        </p:blipFill>
        <p:spPr>
          <a:xfrm>
            <a:off x="1692192" y="850900"/>
            <a:ext cx="5758344" cy="37591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194" name="Shape 194"/>
        <p:cNvGrpSpPr/>
        <p:nvPr/>
      </p:nvGrpSpPr>
      <p:grpSpPr>
        <a:xfrm>
          <a:off x="0" y="0"/>
          <a:ext cx="0" cy="0"/>
          <a:chOff x="0" y="0"/>
          <a:chExt cx="0" cy="0"/>
        </a:xfrm>
      </p:grpSpPr>
      <p:sp>
        <p:nvSpPr>
          <p:cNvPr id="195" name="Google Shape;195;p22"/>
          <p:cNvSpPr/>
          <p:nvPr/>
        </p:nvSpPr>
        <p:spPr>
          <a:xfrm>
            <a:off x="0" y="0"/>
            <a:ext cx="9144000" cy="736500"/>
          </a:xfrm>
          <a:prstGeom prst="rect">
            <a:avLst/>
          </a:prstGeom>
          <a:solidFill>
            <a:srgbClr val="0F172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6" name="Google Shape;196;p22"/>
          <p:cNvSpPr/>
          <p:nvPr/>
        </p:nvSpPr>
        <p:spPr>
          <a:xfrm>
            <a:off x="0" y="711200"/>
            <a:ext cx="9144000" cy="38100"/>
          </a:xfrm>
          <a:prstGeom prst="rect">
            <a:avLst/>
          </a:prstGeom>
          <a:solidFill>
            <a:srgbClr val="0284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7" name="Google Shape;197;p22"/>
          <p:cNvSpPr txBox="1"/>
          <p:nvPr/>
        </p:nvSpPr>
        <p:spPr>
          <a:xfrm>
            <a:off x="304800" y="76200"/>
            <a:ext cx="2476500" cy="203100"/>
          </a:xfrm>
          <a:prstGeom prst="rect">
            <a:avLst/>
          </a:prstGeom>
          <a:solidFill>
            <a:srgbClr val="0284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vi" sz="800">
                <a:solidFill>
                  <a:srgbClr val="FFFFFF"/>
                </a:solidFill>
                <a:latin typeface="Roboto"/>
                <a:ea typeface="Roboto"/>
                <a:cs typeface="Roboto"/>
                <a:sym typeface="Roboto"/>
              </a:rPr>
              <a:t>PHẦN 2 • CÂY HƯỚNG DẪN UPGMA</a:t>
            </a:r>
            <a:endParaRPr b="1" sz="800">
              <a:solidFill>
                <a:srgbClr val="FFFFFF"/>
              </a:solidFill>
              <a:latin typeface="Roboto"/>
              <a:ea typeface="Roboto"/>
              <a:cs typeface="Roboto"/>
              <a:sym typeface="Roboto"/>
            </a:endParaRPr>
          </a:p>
        </p:txBody>
      </p:sp>
      <p:sp>
        <p:nvSpPr>
          <p:cNvPr id="198" name="Google Shape;198;p22"/>
          <p:cNvSpPr txBox="1"/>
          <p:nvPr/>
        </p:nvSpPr>
        <p:spPr>
          <a:xfrm>
            <a:off x="8001000" y="76200"/>
            <a:ext cx="838200" cy="2031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vi" sz="850">
                <a:solidFill>
                  <a:srgbClr val="93C5FD"/>
                </a:solidFill>
                <a:latin typeface="Roboto"/>
                <a:ea typeface="Roboto"/>
                <a:cs typeface="Roboto"/>
                <a:sym typeface="Roboto"/>
              </a:rPr>
              <a:t>Slide 10 / 24</a:t>
            </a:r>
            <a:endParaRPr b="1" sz="850">
              <a:solidFill>
                <a:srgbClr val="93C5FD"/>
              </a:solidFill>
              <a:latin typeface="Roboto"/>
              <a:ea typeface="Roboto"/>
              <a:cs typeface="Roboto"/>
              <a:sym typeface="Roboto"/>
            </a:endParaRPr>
          </a:p>
        </p:txBody>
      </p:sp>
      <p:sp>
        <p:nvSpPr>
          <p:cNvPr id="199" name="Google Shape;199;p22"/>
          <p:cNvSpPr txBox="1"/>
          <p:nvPr/>
        </p:nvSpPr>
        <p:spPr>
          <a:xfrm>
            <a:off x="304800" y="279400"/>
            <a:ext cx="85344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vi" sz="1500">
                <a:solidFill>
                  <a:srgbClr val="FFFFFF"/>
                </a:solidFill>
                <a:latin typeface="Roboto"/>
                <a:ea typeface="Roboto"/>
                <a:cs typeface="Roboto"/>
                <a:sym typeface="Roboto"/>
              </a:rPr>
              <a:t>Xây dựng Cây Hướng dẫn UPGMA (Unweighted Pair Group Method with Arithmetic Mean)</a:t>
            </a:r>
            <a:endParaRPr b="1" sz="1500">
              <a:solidFill>
                <a:srgbClr val="FFFFFF"/>
              </a:solidFill>
              <a:latin typeface="Roboto"/>
              <a:ea typeface="Roboto"/>
              <a:cs typeface="Roboto"/>
              <a:sym typeface="Roboto"/>
            </a:endParaRPr>
          </a:p>
        </p:txBody>
      </p:sp>
      <p:sp>
        <p:nvSpPr>
          <p:cNvPr id="200" name="Google Shape;200;p22"/>
          <p:cNvSpPr txBox="1"/>
          <p:nvPr/>
        </p:nvSpPr>
        <p:spPr>
          <a:xfrm>
            <a:off x="304800" y="520700"/>
            <a:ext cx="8534400" cy="19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vi" sz="900">
                <a:solidFill>
                  <a:srgbClr val="BAE6FD"/>
                </a:solidFill>
                <a:latin typeface="Roboto"/>
                <a:ea typeface="Roboto"/>
                <a:cs typeface="Roboto"/>
                <a:sym typeface="Roboto"/>
              </a:rPr>
              <a:t>Tại sao phải căn chỉnh theo Cây Hướng dẫn thay vì ghép chuỗi theo thứ tự ngẫu nhiên?</a:t>
            </a:r>
            <a:endParaRPr i="1" sz="900">
              <a:solidFill>
                <a:srgbClr val="BAE6FD"/>
              </a:solidFill>
              <a:latin typeface="Roboto"/>
              <a:ea typeface="Roboto"/>
              <a:cs typeface="Roboto"/>
              <a:sym typeface="Roboto"/>
            </a:endParaRPr>
          </a:p>
        </p:txBody>
      </p:sp>
      <p:sp>
        <p:nvSpPr>
          <p:cNvPr id="201" name="Google Shape;201;p22"/>
          <p:cNvSpPr txBox="1"/>
          <p:nvPr/>
        </p:nvSpPr>
        <p:spPr>
          <a:xfrm>
            <a:off x="304800" y="838200"/>
            <a:ext cx="4191000" cy="304800"/>
          </a:xfrm>
          <a:prstGeom prst="rect">
            <a:avLst/>
          </a:prstGeom>
          <a:solidFill>
            <a:srgbClr val="7C3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vi" sz="1050">
                <a:solidFill>
                  <a:srgbClr val="FFFFFF"/>
                </a:solidFill>
                <a:latin typeface="Roboto"/>
                <a:ea typeface="Roboto"/>
                <a:cs typeface="Roboto"/>
                <a:sym typeface="Roboto"/>
              </a:rPr>
              <a:t>1. Ý nghĩa Sinh học của Cây Hướng dẫn (Guide Tree)</a:t>
            </a:r>
            <a:endParaRPr b="1" sz="1050">
              <a:solidFill>
                <a:srgbClr val="FFFFFF"/>
              </a:solidFill>
              <a:latin typeface="Roboto"/>
              <a:ea typeface="Roboto"/>
              <a:cs typeface="Roboto"/>
              <a:sym typeface="Roboto"/>
            </a:endParaRPr>
          </a:p>
        </p:txBody>
      </p:sp>
      <p:sp>
        <p:nvSpPr>
          <p:cNvPr id="202" name="Google Shape;202;p22"/>
          <p:cNvSpPr txBox="1"/>
          <p:nvPr/>
        </p:nvSpPr>
        <p:spPr>
          <a:xfrm>
            <a:off x="304800" y="1143000"/>
            <a:ext cx="4191000" cy="38355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lnSpc>
                <a:spcPct val="125000"/>
              </a:lnSpc>
              <a:spcBef>
                <a:spcPts val="0"/>
              </a:spcBef>
              <a:spcAft>
                <a:spcPts val="0"/>
              </a:spcAft>
              <a:buNone/>
            </a:pPr>
            <a:r>
              <a:rPr lang="vi" sz="960">
                <a:solidFill>
                  <a:srgbClr val="1E293B"/>
                </a:solidFill>
                <a:latin typeface="Roboto"/>
                <a:ea typeface="Roboto"/>
                <a:cs typeface="Roboto"/>
                <a:sym typeface="Roboto"/>
              </a:rPr>
              <a:t>• Tại sao KHÔNG ghép chuỗi theo thứ tự xuất hiện S₁ → S₂ → S₃?</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60">
                <a:solidFill>
                  <a:srgbClr val="1E293B"/>
                </a:solidFill>
                <a:latin typeface="Roboto"/>
                <a:ea typeface="Roboto"/>
                <a:cs typeface="Roboto"/>
                <a:sym typeface="Roboto"/>
              </a:rPr>
              <a:t>  Nếu S₁ (Người) ghép ngay với S₂ (Cá voi - rất xa nhau) trước khi ghép với S₃ (Tinh tinh - rất gần nhau), các dấu '-' chèn sai ở bước đầu sẽ làm hỏng toàn bộ các bước sau!</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60">
                <a:solidFill>
                  <a:srgbClr val="1E293B"/>
                </a:solidFill>
                <a:latin typeface="Roboto"/>
                <a:ea typeface="Roboto"/>
                <a:cs typeface="Roboto"/>
                <a:sym typeface="Roboto"/>
              </a:rPr>
              <a:t>• Nguyên lý Tiến hóa (Phylogenetic Principle):</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60">
                <a:solidFill>
                  <a:srgbClr val="1E293B"/>
                </a:solidFill>
                <a:latin typeface="Roboto"/>
                <a:ea typeface="Roboto"/>
                <a:cs typeface="Roboto"/>
                <a:sym typeface="Roboto"/>
              </a:rPr>
              <a:t>  Các chuỗi có độ tương đồng cao nhất (khoảng cách tiến hóa d nhỏ nhất) phải được ưu tiên căn chỉnh với nhau TRƯỚC ở các nút lá.</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60">
                <a:solidFill>
                  <a:srgbClr val="1E293B"/>
                </a:solidFill>
                <a:latin typeface="Roboto"/>
                <a:ea typeface="Roboto"/>
                <a:cs typeface="Roboto"/>
                <a:sym typeface="Roboto"/>
              </a:rPr>
              <a:t>• Chuẩn hóa Khoảng cách Tiến hóa d(A, B) ∈ [0, 1]:</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60">
                <a:solidFill>
                  <a:srgbClr val="1E293B"/>
                </a:solidFill>
                <a:latin typeface="Roboto"/>
                <a:ea typeface="Roboto"/>
                <a:cs typeface="Roboto"/>
                <a:sym typeface="Roboto"/>
              </a:rPr>
              <a:t>  d(A, B) = 1.0  -  Score(A, B) / max( Score(A, A), Score(B, B) )</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60">
                <a:solidFill>
                  <a:srgbClr val="1E293B"/>
                </a:solidFill>
                <a:latin typeface="Roboto"/>
                <a:ea typeface="Roboto"/>
                <a:cs typeface="Roboto"/>
                <a:sym typeface="Roboto"/>
              </a:rPr>
              <a:t>  - Hai chuỗi giống hệt nhau: d(A, B) = 0.0</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60">
                <a:solidFill>
                  <a:srgbClr val="1E293B"/>
                </a:solidFill>
                <a:latin typeface="Roboto"/>
                <a:ea typeface="Roboto"/>
                <a:cs typeface="Roboto"/>
                <a:sym typeface="Roboto"/>
              </a:rPr>
              <a:t>  - Hai chuỗi rất khác biệt:   d(A, B) → 1.0</a:t>
            </a:r>
            <a:endParaRPr sz="960">
              <a:solidFill>
                <a:srgbClr val="1E293B"/>
              </a:solidFill>
              <a:latin typeface="Roboto"/>
              <a:ea typeface="Roboto"/>
              <a:cs typeface="Roboto"/>
              <a:sym typeface="Roboto"/>
            </a:endParaRPr>
          </a:p>
        </p:txBody>
      </p:sp>
      <p:sp>
        <p:nvSpPr>
          <p:cNvPr id="203" name="Google Shape;203;p22"/>
          <p:cNvSpPr txBox="1"/>
          <p:nvPr/>
        </p:nvSpPr>
        <p:spPr>
          <a:xfrm>
            <a:off x="4648200" y="838200"/>
            <a:ext cx="4191000" cy="30480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vi" sz="1050">
                <a:solidFill>
                  <a:srgbClr val="FFFFFF"/>
                </a:solidFill>
                <a:latin typeface="Roboto"/>
                <a:ea typeface="Roboto"/>
                <a:cs typeface="Roboto"/>
                <a:sym typeface="Roboto"/>
              </a:rPr>
              <a:t>2. Các Bước Gom cụm Phân cấp UPGMA — Độ phức tạp O(k²)</a:t>
            </a:r>
            <a:endParaRPr b="1" sz="1050">
              <a:solidFill>
                <a:srgbClr val="FFFFFF"/>
              </a:solidFill>
              <a:latin typeface="Roboto"/>
              <a:ea typeface="Roboto"/>
              <a:cs typeface="Roboto"/>
              <a:sym typeface="Roboto"/>
            </a:endParaRPr>
          </a:p>
        </p:txBody>
      </p:sp>
      <p:sp>
        <p:nvSpPr>
          <p:cNvPr id="204" name="Google Shape;204;p22"/>
          <p:cNvSpPr txBox="1"/>
          <p:nvPr/>
        </p:nvSpPr>
        <p:spPr>
          <a:xfrm>
            <a:off x="4648200" y="1143000"/>
            <a:ext cx="4191000" cy="3835500"/>
          </a:xfrm>
          <a:prstGeom prst="rect">
            <a:avLst/>
          </a:prstGeom>
          <a:solidFill>
            <a:srgbClr val="F3E8FF"/>
          </a:solidFill>
          <a:ln>
            <a:noFill/>
          </a:ln>
        </p:spPr>
        <p:txBody>
          <a:bodyPr anchorCtr="0" anchor="t" bIns="91425" lIns="91425" spcFirstLastPara="1" rIns="91425" wrap="square" tIns="91425">
            <a:noAutofit/>
          </a:bodyPr>
          <a:lstStyle/>
          <a:p>
            <a:pPr indent="0" lvl="0" marL="0" rtl="0" algn="l">
              <a:lnSpc>
                <a:spcPct val="125000"/>
              </a:lnSpc>
              <a:spcBef>
                <a:spcPts val="0"/>
              </a:spcBef>
              <a:spcAft>
                <a:spcPts val="0"/>
              </a:spcAft>
              <a:buNone/>
            </a:pPr>
            <a:r>
              <a:rPr lang="vi" sz="960">
                <a:solidFill>
                  <a:srgbClr val="1E293B"/>
                </a:solidFill>
                <a:latin typeface="Roboto"/>
                <a:ea typeface="Roboto"/>
                <a:cs typeface="Roboto"/>
                <a:sym typeface="Roboto"/>
              </a:rPr>
              <a:t>• Khởi tạo: Mỗi chuỗi </a:t>
            </a:r>
            <a:r>
              <a:rPr lang="vi" sz="960">
                <a:solidFill>
                  <a:srgbClr val="1E293B"/>
                </a:solidFill>
                <a:latin typeface="Roboto"/>
                <a:ea typeface="Roboto"/>
                <a:cs typeface="Roboto"/>
                <a:sym typeface="Roboto"/>
              </a:rPr>
              <a:t>S_i</a:t>
            </a:r>
            <a:r>
              <a:rPr lang="vi" sz="960">
                <a:solidFill>
                  <a:srgbClr val="1E293B"/>
                </a:solidFill>
                <a:latin typeface="Roboto"/>
                <a:ea typeface="Roboto"/>
                <a:cs typeface="Roboto"/>
                <a:sym typeface="Roboto"/>
              </a:rPr>
              <a:t> là một cụm đơn lẻ </a:t>
            </a:r>
            <a:r>
              <a:rPr lang="vi" sz="960">
                <a:solidFill>
                  <a:srgbClr val="1E293B"/>
                </a:solidFill>
                <a:latin typeface="Roboto"/>
                <a:ea typeface="Roboto"/>
                <a:cs typeface="Roboto"/>
                <a:sym typeface="Roboto"/>
              </a:rPr>
              <a:t>C_i</a:t>
            </a:r>
            <a:r>
              <a:rPr lang="vi" sz="960">
                <a:solidFill>
                  <a:srgbClr val="1E293B"/>
                </a:solidFill>
                <a:latin typeface="Roboto"/>
                <a:ea typeface="Roboto"/>
                <a:cs typeface="Roboto"/>
                <a:sym typeface="Roboto"/>
              </a:rPr>
              <a:t> = {</a:t>
            </a:r>
            <a:r>
              <a:rPr lang="vi" sz="960">
                <a:solidFill>
                  <a:srgbClr val="1E293B"/>
                </a:solidFill>
                <a:latin typeface="Roboto"/>
                <a:ea typeface="Roboto"/>
                <a:cs typeface="Roboto"/>
                <a:sym typeface="Roboto"/>
              </a:rPr>
              <a:t>S_i</a:t>
            </a:r>
            <a:r>
              <a:rPr lang="vi" sz="960">
                <a:solidFill>
                  <a:srgbClr val="1E293B"/>
                </a:solidFill>
                <a:latin typeface="Roboto"/>
                <a:ea typeface="Roboto"/>
                <a:cs typeface="Roboto"/>
                <a:sym typeface="Roboto"/>
              </a:rPr>
              <a:t>} (k nút lá).</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60">
                <a:solidFill>
                  <a:srgbClr val="1E293B"/>
                </a:solidFill>
                <a:latin typeface="Roboto"/>
                <a:ea typeface="Roboto"/>
                <a:cs typeface="Roboto"/>
                <a:sym typeface="Roboto"/>
              </a:rPr>
              <a:t>• Vòng lặp (k - 1 bước hợp nhất):</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60">
                <a:solidFill>
                  <a:srgbClr val="1E293B"/>
                </a:solidFill>
                <a:latin typeface="Roboto"/>
                <a:ea typeface="Roboto"/>
                <a:cs typeface="Roboto"/>
                <a:sym typeface="Roboto"/>
              </a:rPr>
              <a:t>  1. Tìm cặp cụm (C_u, C_v) có khoảng cách d(C_u, C_v) NHỎ NHẤT.</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60">
                <a:solidFill>
                  <a:srgbClr val="1E293B"/>
                </a:solidFill>
                <a:latin typeface="Roboto"/>
                <a:ea typeface="Roboto"/>
                <a:cs typeface="Roboto"/>
                <a:sym typeface="Roboto"/>
              </a:rPr>
              <a:t>  2. Tạo nút cha mới C_w = C_u ∪ C_v với chiều cao nhánh h_w = d(C_u, C_v) / 2.</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60">
                <a:solidFill>
                  <a:srgbClr val="1E293B"/>
                </a:solidFill>
                <a:latin typeface="Roboto"/>
                <a:ea typeface="Roboto"/>
                <a:cs typeface="Roboto"/>
                <a:sym typeface="Roboto"/>
              </a:rPr>
              <a:t>  3. Cập nhật khoảng cách trung bình có trọng số từ C_w tới mọi cụm C_q còn lại:</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60">
                <a:solidFill>
                  <a:srgbClr val="1E293B"/>
                </a:solidFill>
                <a:latin typeface="Roboto"/>
                <a:ea typeface="Roboto"/>
                <a:cs typeface="Roboto"/>
                <a:sym typeface="Roboto"/>
              </a:rPr>
              <a:t>     d(C_w, C_q) = [ |C_u|·d(C_u, C_q) + |C_v|·d(C_v, C_q) ] / (|C_u| + |C_v|)</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60">
                <a:solidFill>
                  <a:srgbClr val="1E293B"/>
                </a:solidFill>
                <a:latin typeface="Roboto"/>
                <a:ea typeface="Roboto"/>
                <a:cs typeface="Roboto"/>
                <a:sym typeface="Roboto"/>
              </a:rPr>
              <a:t>• Kỹ thuật Deterministic Tie-Breaking của Nhóm 5:</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60">
                <a:solidFill>
                  <a:srgbClr val="1E293B"/>
                </a:solidFill>
                <a:latin typeface="Roboto"/>
                <a:ea typeface="Roboto"/>
                <a:cs typeface="Roboto"/>
                <a:sym typeface="Roboto"/>
              </a:rPr>
              <a:t>  Khi 2 cặp có khoảng cách bằng nhau (|Δd| &lt; 10⁻⁹), luôn ưu tiên cặp có chỉ số ID nhỏ hơn → Đảm bảo cây UPGMA giống nhau 100% giữa chạy 1 luồng và đa luồng!</a:t>
            </a:r>
            <a:endParaRPr sz="960">
              <a:solidFill>
                <a:srgbClr val="1E293B"/>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208" name="Shape 208"/>
        <p:cNvGrpSpPr/>
        <p:nvPr/>
      </p:nvGrpSpPr>
      <p:grpSpPr>
        <a:xfrm>
          <a:off x="0" y="0"/>
          <a:ext cx="0" cy="0"/>
          <a:chOff x="0" y="0"/>
          <a:chExt cx="0" cy="0"/>
        </a:xfrm>
      </p:grpSpPr>
      <p:sp>
        <p:nvSpPr>
          <p:cNvPr id="209" name="Google Shape;209;p23"/>
          <p:cNvSpPr/>
          <p:nvPr/>
        </p:nvSpPr>
        <p:spPr>
          <a:xfrm>
            <a:off x="0" y="0"/>
            <a:ext cx="9144000" cy="736500"/>
          </a:xfrm>
          <a:prstGeom prst="rect">
            <a:avLst/>
          </a:prstGeom>
          <a:solidFill>
            <a:srgbClr val="0F172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0" name="Google Shape;210;p23"/>
          <p:cNvSpPr/>
          <p:nvPr/>
        </p:nvSpPr>
        <p:spPr>
          <a:xfrm>
            <a:off x="0" y="711200"/>
            <a:ext cx="9144000" cy="38100"/>
          </a:xfrm>
          <a:prstGeom prst="rect">
            <a:avLst/>
          </a:prstGeom>
          <a:solidFill>
            <a:srgbClr val="0284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1" name="Google Shape;211;p23"/>
          <p:cNvSpPr txBox="1"/>
          <p:nvPr/>
        </p:nvSpPr>
        <p:spPr>
          <a:xfrm>
            <a:off x="304800" y="76200"/>
            <a:ext cx="2476500" cy="203100"/>
          </a:xfrm>
          <a:prstGeom prst="rect">
            <a:avLst/>
          </a:prstGeom>
          <a:solidFill>
            <a:srgbClr val="0284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vi" sz="800">
                <a:solidFill>
                  <a:srgbClr val="FFFFFF"/>
                </a:solidFill>
                <a:latin typeface="Roboto"/>
                <a:ea typeface="Roboto"/>
                <a:cs typeface="Roboto"/>
                <a:sym typeface="Roboto"/>
              </a:rPr>
              <a:t>PHẦN 2 • TRỰC QUAN HÓA UPGMA</a:t>
            </a:r>
            <a:endParaRPr b="1" sz="800">
              <a:solidFill>
                <a:srgbClr val="FFFFFF"/>
              </a:solidFill>
              <a:latin typeface="Roboto"/>
              <a:ea typeface="Roboto"/>
              <a:cs typeface="Roboto"/>
              <a:sym typeface="Roboto"/>
            </a:endParaRPr>
          </a:p>
        </p:txBody>
      </p:sp>
      <p:sp>
        <p:nvSpPr>
          <p:cNvPr id="212" name="Google Shape;212;p23"/>
          <p:cNvSpPr txBox="1"/>
          <p:nvPr/>
        </p:nvSpPr>
        <p:spPr>
          <a:xfrm>
            <a:off x="8001000" y="76200"/>
            <a:ext cx="838200" cy="2031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vi" sz="850">
                <a:solidFill>
                  <a:srgbClr val="93C5FD"/>
                </a:solidFill>
                <a:latin typeface="Roboto"/>
                <a:ea typeface="Roboto"/>
                <a:cs typeface="Roboto"/>
                <a:sym typeface="Roboto"/>
              </a:rPr>
              <a:t>Slide 11 / 24</a:t>
            </a:r>
            <a:endParaRPr b="1" sz="850">
              <a:solidFill>
                <a:srgbClr val="93C5FD"/>
              </a:solidFill>
              <a:latin typeface="Roboto"/>
              <a:ea typeface="Roboto"/>
              <a:cs typeface="Roboto"/>
              <a:sym typeface="Roboto"/>
            </a:endParaRPr>
          </a:p>
        </p:txBody>
      </p:sp>
      <p:sp>
        <p:nvSpPr>
          <p:cNvPr id="213" name="Google Shape;213;p23"/>
          <p:cNvSpPr txBox="1"/>
          <p:nvPr/>
        </p:nvSpPr>
        <p:spPr>
          <a:xfrm>
            <a:off x="304800" y="279400"/>
            <a:ext cx="85344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vi" sz="1500">
                <a:solidFill>
                  <a:srgbClr val="FFFFFF"/>
                </a:solidFill>
                <a:latin typeface="Roboto"/>
                <a:ea typeface="Roboto"/>
                <a:cs typeface="Roboto"/>
                <a:sym typeface="Roboto"/>
              </a:rPr>
              <a:t>Minh họa Quá trình Gom cụm Ma trận Khoảng cách thành Cây Nhị phân UPGMA</a:t>
            </a:r>
            <a:endParaRPr b="1" sz="1500">
              <a:solidFill>
                <a:srgbClr val="FFFFFF"/>
              </a:solidFill>
              <a:latin typeface="Roboto"/>
              <a:ea typeface="Roboto"/>
              <a:cs typeface="Roboto"/>
              <a:sym typeface="Roboto"/>
            </a:endParaRPr>
          </a:p>
        </p:txBody>
      </p:sp>
      <p:sp>
        <p:nvSpPr>
          <p:cNvPr id="214" name="Google Shape;214;p23"/>
          <p:cNvSpPr txBox="1"/>
          <p:nvPr/>
        </p:nvSpPr>
        <p:spPr>
          <a:xfrm>
            <a:off x="304800" y="520700"/>
            <a:ext cx="8534400" cy="19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vi" sz="900">
                <a:solidFill>
                  <a:srgbClr val="BAE6FD"/>
                </a:solidFill>
                <a:latin typeface="Roboto"/>
                <a:ea typeface="Roboto"/>
                <a:cs typeface="Roboto"/>
                <a:sym typeface="Roboto"/>
              </a:rPr>
              <a:t>Từ ma trận khoảng cách đối xứng k×k đến cây phân cấp dẫn đường duyệt từ dưới lên (Bottom-Up)</a:t>
            </a:r>
            <a:endParaRPr i="1" sz="900">
              <a:solidFill>
                <a:srgbClr val="BAE6FD"/>
              </a:solidFill>
              <a:latin typeface="Roboto"/>
              <a:ea typeface="Roboto"/>
              <a:cs typeface="Roboto"/>
              <a:sym typeface="Roboto"/>
            </a:endParaRPr>
          </a:p>
        </p:txBody>
      </p:sp>
      <p:sp>
        <p:nvSpPr>
          <p:cNvPr id="215" name="Google Shape;215;p23"/>
          <p:cNvSpPr/>
          <p:nvPr/>
        </p:nvSpPr>
        <p:spPr>
          <a:xfrm>
            <a:off x="254000" y="812800"/>
            <a:ext cx="8636100" cy="3835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6" name="Google Shape;216;p23"/>
          <p:cNvSpPr txBox="1"/>
          <p:nvPr/>
        </p:nvSpPr>
        <p:spPr>
          <a:xfrm>
            <a:off x="254000" y="4699000"/>
            <a:ext cx="8636100" cy="355500"/>
          </a:xfrm>
          <a:prstGeom prst="rect">
            <a:avLst/>
          </a:pr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vi" sz="1000">
                <a:solidFill>
                  <a:srgbClr val="FFFFFF"/>
                </a:solidFill>
                <a:latin typeface="Roboto"/>
                <a:ea typeface="Roboto"/>
                <a:cs typeface="Roboto"/>
                <a:sym typeface="Roboto"/>
              </a:rPr>
              <a:t>Cây UPGMA xác định chính xác thứ tự căn chỉnh: Các nút lá ghép thành Profile nhỏ → Hợp nhất dần lên nút gốc (Root) để thu được MSA cuối cùng</a:t>
            </a:r>
            <a:endParaRPr b="1" sz="1000">
              <a:solidFill>
                <a:srgbClr val="FFFFFF"/>
              </a:solidFill>
              <a:latin typeface="Roboto"/>
              <a:ea typeface="Roboto"/>
              <a:cs typeface="Roboto"/>
              <a:sym typeface="Roboto"/>
            </a:endParaRPr>
          </a:p>
        </p:txBody>
      </p:sp>
      <p:pic>
        <p:nvPicPr>
          <p:cNvPr id="217" name="Google Shape;217;p23"/>
          <p:cNvPicPr preferRelativeResize="0"/>
          <p:nvPr/>
        </p:nvPicPr>
        <p:blipFill>
          <a:blip r:embed="rId3">
            <a:alphaModFix/>
          </a:blip>
          <a:stretch>
            <a:fillRect/>
          </a:stretch>
        </p:blipFill>
        <p:spPr>
          <a:xfrm>
            <a:off x="1327971" y="850900"/>
            <a:ext cx="6489329" cy="37592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221" name="Shape 221"/>
        <p:cNvGrpSpPr/>
        <p:nvPr/>
      </p:nvGrpSpPr>
      <p:grpSpPr>
        <a:xfrm>
          <a:off x="0" y="0"/>
          <a:ext cx="0" cy="0"/>
          <a:chOff x="0" y="0"/>
          <a:chExt cx="0" cy="0"/>
        </a:xfrm>
      </p:grpSpPr>
      <p:sp>
        <p:nvSpPr>
          <p:cNvPr id="222" name="Google Shape;222;p24"/>
          <p:cNvSpPr/>
          <p:nvPr/>
        </p:nvSpPr>
        <p:spPr>
          <a:xfrm>
            <a:off x="0" y="0"/>
            <a:ext cx="9144000" cy="736500"/>
          </a:xfrm>
          <a:prstGeom prst="rect">
            <a:avLst/>
          </a:prstGeom>
          <a:solidFill>
            <a:srgbClr val="0F172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3" name="Google Shape;223;p24"/>
          <p:cNvSpPr/>
          <p:nvPr/>
        </p:nvSpPr>
        <p:spPr>
          <a:xfrm>
            <a:off x="0" y="711200"/>
            <a:ext cx="9144000" cy="38100"/>
          </a:xfrm>
          <a:prstGeom prst="rect">
            <a:avLst/>
          </a:prstGeom>
          <a:solidFill>
            <a:srgbClr val="0284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4" name="Google Shape;224;p24"/>
          <p:cNvSpPr txBox="1"/>
          <p:nvPr/>
        </p:nvSpPr>
        <p:spPr>
          <a:xfrm>
            <a:off x="304800" y="76200"/>
            <a:ext cx="2476500" cy="203100"/>
          </a:xfrm>
          <a:prstGeom prst="rect">
            <a:avLst/>
          </a:prstGeom>
          <a:solidFill>
            <a:srgbClr val="0284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vi" sz="800">
                <a:solidFill>
                  <a:srgbClr val="FFFFFF"/>
                </a:solidFill>
                <a:latin typeface="Roboto"/>
                <a:ea typeface="Roboto"/>
                <a:cs typeface="Roboto"/>
                <a:sym typeface="Roboto"/>
              </a:rPr>
              <a:t>PHẦN 2 • CĂN CHỈNH PROFILE-TO-PROFILE</a:t>
            </a:r>
            <a:endParaRPr b="1" sz="800">
              <a:solidFill>
                <a:srgbClr val="FFFFFF"/>
              </a:solidFill>
              <a:latin typeface="Roboto"/>
              <a:ea typeface="Roboto"/>
              <a:cs typeface="Roboto"/>
              <a:sym typeface="Roboto"/>
            </a:endParaRPr>
          </a:p>
        </p:txBody>
      </p:sp>
      <p:sp>
        <p:nvSpPr>
          <p:cNvPr id="225" name="Google Shape;225;p24"/>
          <p:cNvSpPr txBox="1"/>
          <p:nvPr/>
        </p:nvSpPr>
        <p:spPr>
          <a:xfrm>
            <a:off x="8001000" y="76200"/>
            <a:ext cx="838200" cy="2031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vi" sz="850">
                <a:solidFill>
                  <a:srgbClr val="93C5FD"/>
                </a:solidFill>
                <a:latin typeface="Roboto"/>
                <a:ea typeface="Roboto"/>
                <a:cs typeface="Roboto"/>
                <a:sym typeface="Roboto"/>
              </a:rPr>
              <a:t>Slide 12 / 24</a:t>
            </a:r>
            <a:endParaRPr b="1" sz="850">
              <a:solidFill>
                <a:srgbClr val="93C5FD"/>
              </a:solidFill>
              <a:latin typeface="Roboto"/>
              <a:ea typeface="Roboto"/>
              <a:cs typeface="Roboto"/>
              <a:sym typeface="Roboto"/>
            </a:endParaRPr>
          </a:p>
        </p:txBody>
      </p:sp>
      <p:sp>
        <p:nvSpPr>
          <p:cNvPr id="226" name="Google Shape;226;p24"/>
          <p:cNvSpPr txBox="1"/>
          <p:nvPr/>
        </p:nvSpPr>
        <p:spPr>
          <a:xfrm>
            <a:off x="304800" y="279400"/>
            <a:ext cx="85344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vi" sz="1500">
                <a:solidFill>
                  <a:srgbClr val="FFFFFF"/>
                </a:solidFill>
                <a:latin typeface="Roboto"/>
                <a:ea typeface="Roboto"/>
                <a:cs typeface="Roboto"/>
                <a:sym typeface="Roboto"/>
              </a:rPr>
              <a:t>Căn chỉnh Profile-to-Profile &amp; Nguyên lý 'Once a gap, always a gap'</a:t>
            </a:r>
            <a:endParaRPr b="1" sz="1500">
              <a:solidFill>
                <a:srgbClr val="FFFFFF"/>
              </a:solidFill>
              <a:latin typeface="Roboto"/>
              <a:ea typeface="Roboto"/>
              <a:cs typeface="Roboto"/>
              <a:sym typeface="Roboto"/>
            </a:endParaRPr>
          </a:p>
        </p:txBody>
      </p:sp>
      <p:sp>
        <p:nvSpPr>
          <p:cNvPr id="227" name="Google Shape;227;p24"/>
          <p:cNvSpPr txBox="1"/>
          <p:nvPr/>
        </p:nvSpPr>
        <p:spPr>
          <a:xfrm>
            <a:off x="304800" y="520700"/>
            <a:ext cx="8534400" cy="19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vi" sz="900">
                <a:solidFill>
                  <a:srgbClr val="BAE6FD"/>
                </a:solidFill>
                <a:latin typeface="Roboto"/>
                <a:ea typeface="Roboto"/>
                <a:cs typeface="Roboto"/>
                <a:sym typeface="Roboto"/>
              </a:rPr>
              <a:t>Làm thế nào để căn chỉnh một nhóm chuỗi (Profile P₁) với một nhóm chuỗi khác (Profile P₂) bằng Myers-Miller?</a:t>
            </a:r>
            <a:endParaRPr i="1" sz="900">
              <a:solidFill>
                <a:srgbClr val="BAE6FD"/>
              </a:solidFill>
              <a:latin typeface="Roboto"/>
              <a:ea typeface="Roboto"/>
              <a:cs typeface="Roboto"/>
              <a:sym typeface="Roboto"/>
            </a:endParaRPr>
          </a:p>
        </p:txBody>
      </p:sp>
      <p:sp>
        <p:nvSpPr>
          <p:cNvPr id="228" name="Google Shape;228;p24"/>
          <p:cNvSpPr txBox="1"/>
          <p:nvPr/>
        </p:nvSpPr>
        <p:spPr>
          <a:xfrm>
            <a:off x="304800" y="838200"/>
            <a:ext cx="4191000" cy="304800"/>
          </a:xfrm>
          <a:prstGeom prst="rect">
            <a:avLst/>
          </a:prstGeom>
          <a:solidFill>
            <a:srgbClr val="0596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vi" sz="1050">
                <a:solidFill>
                  <a:srgbClr val="FFFFFF"/>
                </a:solidFill>
                <a:latin typeface="Roboto"/>
                <a:ea typeface="Roboto"/>
                <a:cs typeface="Roboto"/>
                <a:sym typeface="Roboto"/>
              </a:rPr>
              <a:t>1. Khái niệm Profile &amp; Hàm Điểm Cột-đối-Cột PSP(x, y)</a:t>
            </a:r>
            <a:endParaRPr b="1" sz="1050">
              <a:solidFill>
                <a:srgbClr val="FFFFFF"/>
              </a:solidFill>
              <a:latin typeface="Roboto"/>
              <a:ea typeface="Roboto"/>
              <a:cs typeface="Roboto"/>
              <a:sym typeface="Roboto"/>
            </a:endParaRPr>
          </a:p>
        </p:txBody>
      </p:sp>
      <p:sp>
        <p:nvSpPr>
          <p:cNvPr id="229" name="Google Shape;229;p24"/>
          <p:cNvSpPr txBox="1"/>
          <p:nvPr/>
        </p:nvSpPr>
        <p:spPr>
          <a:xfrm>
            <a:off x="304800" y="1143000"/>
            <a:ext cx="4191000" cy="38355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lnSpc>
                <a:spcPct val="125000"/>
              </a:lnSpc>
              <a:spcBef>
                <a:spcPts val="0"/>
              </a:spcBef>
              <a:spcAft>
                <a:spcPts val="0"/>
              </a:spcAft>
              <a:buNone/>
            </a:pPr>
            <a:r>
              <a:rPr lang="vi" sz="960">
                <a:solidFill>
                  <a:srgbClr val="1E293B"/>
                </a:solidFill>
                <a:latin typeface="Roboto"/>
                <a:ea typeface="Roboto"/>
                <a:cs typeface="Roboto"/>
                <a:sym typeface="Roboto"/>
              </a:rPr>
              <a:t>• Profile là gì?</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60">
                <a:solidFill>
                  <a:srgbClr val="1E293B"/>
                </a:solidFill>
                <a:latin typeface="Roboto"/>
                <a:ea typeface="Roboto"/>
                <a:cs typeface="Roboto"/>
                <a:sym typeface="Roboto"/>
              </a:rPr>
              <a:t>  Tại mỗi nút nhánh của cây UPGMA, kết quả căn chỉnh của các chuỗi con tạo thành một ma trận nhỏ gọi là một Profile P (gồm |P| hàng và L_P cột).</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60">
                <a:solidFill>
                  <a:srgbClr val="1E293B"/>
                </a:solidFill>
                <a:latin typeface="Roboto"/>
                <a:ea typeface="Roboto"/>
                <a:cs typeface="Roboto"/>
                <a:sym typeface="Roboto"/>
              </a:rPr>
              <a:t>• Làm sao đưa 2 Profile P₁ (dài m cột) và P₂ (dài n cột) vào thuật toán Myers-Miller?</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60">
                <a:solidFill>
                  <a:srgbClr val="1E293B"/>
                </a:solidFill>
                <a:latin typeface="Roboto"/>
                <a:ea typeface="Roboto"/>
                <a:cs typeface="Roboto"/>
                <a:sym typeface="Roboto"/>
              </a:rPr>
              <a:t>  Ta coi mỗi CỘT của P₁ như 1 'siêu ký tự' A[x] và mỗi CỘT của P₂ như 1 'siêu ký tự' B[y]!</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60">
                <a:solidFill>
                  <a:srgbClr val="1E293B"/>
                </a:solidFill>
                <a:latin typeface="Roboto"/>
                <a:ea typeface="Roboto"/>
                <a:cs typeface="Roboto"/>
                <a:sym typeface="Roboto"/>
              </a:rPr>
              <a:t>• Hàm Điểm Trung bình Cặp Cột (Profile Sum-of-Pairs — PSP):</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60">
                <a:solidFill>
                  <a:srgbClr val="1E293B"/>
                </a:solidFill>
                <a:latin typeface="Roboto"/>
                <a:ea typeface="Roboto"/>
                <a:cs typeface="Roboto"/>
                <a:sym typeface="Roboto"/>
              </a:rPr>
              <a:t>  PSP(x, y) = [ 1 / (|P₁|·|P₂|) ] × ∑_{r ∈ P₁} ∑_{s ∈ P₂} score(P₁[r,x], P₂[s,y])</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60">
                <a:solidFill>
                  <a:srgbClr val="1E293B"/>
                </a:solidFill>
                <a:latin typeface="Roboto"/>
                <a:ea typeface="Roboto"/>
                <a:cs typeface="Roboto"/>
                <a:sym typeface="Roboto"/>
              </a:rPr>
              <a:t>⇒ Thay thế trực tiếp hàm BLOSUM62(</a:t>
            </a:r>
            <a:r>
              <a:rPr lang="vi" sz="960">
                <a:solidFill>
                  <a:srgbClr val="1E293B"/>
                </a:solidFill>
                <a:latin typeface="Roboto"/>
                <a:ea typeface="Roboto"/>
                <a:cs typeface="Roboto"/>
                <a:sym typeface="Roboto"/>
              </a:rPr>
              <a:t>A[i]</a:t>
            </a:r>
            <a:r>
              <a:rPr lang="vi" sz="960">
                <a:solidFill>
                  <a:srgbClr val="1E293B"/>
                </a:solidFill>
                <a:latin typeface="Roboto"/>
                <a:ea typeface="Roboto"/>
                <a:cs typeface="Roboto"/>
                <a:sym typeface="Roboto"/>
              </a:rPr>
              <a:t>, </a:t>
            </a:r>
            <a:r>
              <a:rPr lang="vi" sz="960">
                <a:solidFill>
                  <a:srgbClr val="1E293B"/>
                </a:solidFill>
                <a:latin typeface="Roboto"/>
                <a:ea typeface="Roboto"/>
                <a:cs typeface="Roboto"/>
                <a:sym typeface="Roboto"/>
              </a:rPr>
              <a:t>B[j]</a:t>
            </a:r>
            <a:r>
              <a:rPr lang="vi" sz="960">
                <a:solidFill>
                  <a:srgbClr val="1E293B"/>
                </a:solidFill>
                <a:latin typeface="Roboto"/>
                <a:ea typeface="Roboto"/>
                <a:cs typeface="Roboto"/>
                <a:sym typeface="Roboto"/>
              </a:rPr>
              <a:t>) trong phương trình Myers-Miller!</a:t>
            </a:r>
            <a:endParaRPr sz="960">
              <a:solidFill>
                <a:srgbClr val="1E293B"/>
              </a:solidFill>
              <a:latin typeface="Roboto"/>
              <a:ea typeface="Roboto"/>
              <a:cs typeface="Roboto"/>
              <a:sym typeface="Roboto"/>
            </a:endParaRPr>
          </a:p>
        </p:txBody>
      </p:sp>
      <p:sp>
        <p:nvSpPr>
          <p:cNvPr id="230" name="Google Shape;230;p24"/>
          <p:cNvSpPr txBox="1"/>
          <p:nvPr/>
        </p:nvSpPr>
        <p:spPr>
          <a:xfrm>
            <a:off x="4648200" y="838200"/>
            <a:ext cx="4191000" cy="30480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vi" sz="1050">
                <a:solidFill>
                  <a:srgbClr val="FFFFFF"/>
                </a:solidFill>
                <a:latin typeface="Roboto"/>
                <a:ea typeface="Roboto"/>
                <a:cs typeface="Roboto"/>
                <a:sym typeface="Roboto"/>
              </a:rPr>
              <a:t>2. Quy tắc 'Once a gap, always a gap' (Feng &amp; Doolittle, 1987)</a:t>
            </a:r>
            <a:endParaRPr b="1" sz="1050">
              <a:solidFill>
                <a:srgbClr val="FFFFFF"/>
              </a:solidFill>
              <a:latin typeface="Roboto"/>
              <a:ea typeface="Roboto"/>
              <a:cs typeface="Roboto"/>
              <a:sym typeface="Roboto"/>
            </a:endParaRPr>
          </a:p>
        </p:txBody>
      </p:sp>
      <p:sp>
        <p:nvSpPr>
          <p:cNvPr id="231" name="Google Shape;231;p24"/>
          <p:cNvSpPr txBox="1"/>
          <p:nvPr/>
        </p:nvSpPr>
        <p:spPr>
          <a:xfrm>
            <a:off x="4648200" y="1143000"/>
            <a:ext cx="4191000" cy="3835500"/>
          </a:xfrm>
          <a:prstGeom prst="rect">
            <a:avLst/>
          </a:prstGeom>
          <a:solidFill>
            <a:srgbClr val="D1FAE5"/>
          </a:solidFill>
          <a:ln>
            <a:noFill/>
          </a:ln>
        </p:spPr>
        <p:txBody>
          <a:bodyPr anchorCtr="0" anchor="t" bIns="91425" lIns="91425" spcFirstLastPara="1" rIns="91425" wrap="square" tIns="91425">
            <a:noAutofit/>
          </a:bodyPr>
          <a:lstStyle/>
          <a:p>
            <a:pPr indent="0" lvl="0" marL="0" rtl="0" algn="l">
              <a:lnSpc>
                <a:spcPct val="125000"/>
              </a:lnSpc>
              <a:spcBef>
                <a:spcPts val="0"/>
              </a:spcBef>
              <a:spcAft>
                <a:spcPts val="0"/>
              </a:spcAft>
              <a:buNone/>
            </a:pPr>
            <a:r>
              <a:rPr lang="vi" sz="960">
                <a:solidFill>
                  <a:srgbClr val="1E293B"/>
                </a:solidFill>
                <a:latin typeface="Roboto"/>
                <a:ea typeface="Roboto"/>
                <a:cs typeface="Roboto"/>
                <a:sym typeface="Roboto"/>
              </a:rPr>
              <a:t>• Khi căn chỉnh Profile P₁ (gồm Seq1, Seq2) với Profile P₂ (gồm Seq3, Seq4):</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60">
                <a:solidFill>
                  <a:srgbClr val="1E293B"/>
                </a:solidFill>
                <a:latin typeface="Roboto"/>
                <a:ea typeface="Roboto"/>
                <a:cs typeface="Roboto"/>
                <a:sym typeface="Roboto"/>
              </a:rPr>
              <a:t>  Nếu thuật toán Myers-Miller quyết định chèn 1 khoảng trống vào P₁ tại vị trí cột x, ta PHẢI chèn nguyên một cột gồm toàn dấu '-' vào CẢ Seq1 lẫn Seq2 tại cùng vị trí đó!</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60">
                <a:solidFill>
                  <a:srgbClr val="1E293B"/>
                </a:solidFill>
                <a:latin typeface="Roboto"/>
                <a:ea typeface="Roboto"/>
                <a:cs typeface="Roboto"/>
                <a:sym typeface="Roboto"/>
              </a:rPr>
              <a:t>• Minh họa Bảo tồn Khoảng trống (Gap Propagation):</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60">
                <a:solidFill>
                  <a:srgbClr val="1E293B"/>
                </a:solidFill>
                <a:latin typeface="Roboto"/>
                <a:ea typeface="Roboto"/>
                <a:cs typeface="Roboto"/>
                <a:sym typeface="Roboto"/>
              </a:rPr>
              <a:t>  Profile P₁ trước khi ghép:      Sau khi chèn cột gap vào P₁:</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60">
                <a:solidFill>
                  <a:srgbClr val="1E293B"/>
                </a:solidFill>
                <a:latin typeface="Roboto"/>
                <a:ea typeface="Roboto"/>
                <a:cs typeface="Roboto"/>
                <a:sym typeface="Roboto"/>
              </a:rPr>
              <a:t>    Seq1: M V L - S P               Seq1: M V L - [ - ] S P</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60">
                <a:solidFill>
                  <a:srgbClr val="1E293B"/>
                </a:solidFill>
                <a:latin typeface="Roboto"/>
                <a:ea typeface="Roboto"/>
                <a:cs typeface="Roboto"/>
                <a:sym typeface="Roboto"/>
              </a:rPr>
              <a:t>    Seq2: M V I K S P               Seq2: M V I K [ - ] S P</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t/>
            </a:r>
            <a:endParaRPr sz="96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60">
                <a:solidFill>
                  <a:srgbClr val="1E293B"/>
                </a:solidFill>
                <a:latin typeface="Roboto"/>
                <a:ea typeface="Roboto"/>
                <a:cs typeface="Roboto"/>
                <a:sym typeface="Roboto"/>
              </a:rPr>
              <a:t>• Ý nghĩa: Các chữ cái đã gióng thẳng hàng với nhau ở nút con (như M-M, V-V, S-S, P-P) KHÔNG BAO GIỜ bị xô lệch khi đi lên nút cha!</a:t>
            </a:r>
            <a:endParaRPr sz="960">
              <a:solidFill>
                <a:srgbClr val="1E293B"/>
              </a:solidFill>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235" name="Shape 235"/>
        <p:cNvGrpSpPr/>
        <p:nvPr/>
      </p:nvGrpSpPr>
      <p:grpSpPr>
        <a:xfrm>
          <a:off x="0" y="0"/>
          <a:ext cx="0" cy="0"/>
          <a:chOff x="0" y="0"/>
          <a:chExt cx="0" cy="0"/>
        </a:xfrm>
      </p:grpSpPr>
      <p:sp>
        <p:nvSpPr>
          <p:cNvPr id="236" name="Google Shape;236;p25"/>
          <p:cNvSpPr/>
          <p:nvPr/>
        </p:nvSpPr>
        <p:spPr>
          <a:xfrm>
            <a:off x="0" y="0"/>
            <a:ext cx="9144000" cy="736500"/>
          </a:xfrm>
          <a:prstGeom prst="rect">
            <a:avLst/>
          </a:prstGeom>
          <a:solidFill>
            <a:srgbClr val="0F172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7" name="Google Shape;237;p25"/>
          <p:cNvSpPr/>
          <p:nvPr/>
        </p:nvSpPr>
        <p:spPr>
          <a:xfrm>
            <a:off x="0" y="711200"/>
            <a:ext cx="9144000" cy="38100"/>
          </a:xfrm>
          <a:prstGeom prst="rect">
            <a:avLst/>
          </a:prstGeom>
          <a:solidFill>
            <a:srgbClr val="0284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8" name="Google Shape;238;p25"/>
          <p:cNvSpPr txBox="1"/>
          <p:nvPr/>
        </p:nvSpPr>
        <p:spPr>
          <a:xfrm>
            <a:off x="304800" y="76200"/>
            <a:ext cx="2476500" cy="203100"/>
          </a:xfrm>
          <a:prstGeom prst="rect">
            <a:avLst/>
          </a:prstGeom>
          <a:solidFill>
            <a:srgbClr val="0284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vi" sz="800">
                <a:solidFill>
                  <a:srgbClr val="FFFFFF"/>
                </a:solidFill>
                <a:latin typeface="Roboto"/>
                <a:ea typeface="Roboto"/>
                <a:cs typeface="Roboto"/>
                <a:sym typeface="Roboto"/>
              </a:rPr>
              <a:t>PHẦN 2 • TRỰC QUAN HÓA PROFILE ALIGNMENT</a:t>
            </a:r>
            <a:endParaRPr b="1" sz="800">
              <a:solidFill>
                <a:srgbClr val="FFFFFF"/>
              </a:solidFill>
              <a:latin typeface="Roboto"/>
              <a:ea typeface="Roboto"/>
              <a:cs typeface="Roboto"/>
              <a:sym typeface="Roboto"/>
            </a:endParaRPr>
          </a:p>
        </p:txBody>
      </p:sp>
      <p:sp>
        <p:nvSpPr>
          <p:cNvPr id="239" name="Google Shape;239;p25"/>
          <p:cNvSpPr txBox="1"/>
          <p:nvPr/>
        </p:nvSpPr>
        <p:spPr>
          <a:xfrm>
            <a:off x="8001000" y="76200"/>
            <a:ext cx="838200" cy="2031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vi" sz="850">
                <a:solidFill>
                  <a:srgbClr val="93C5FD"/>
                </a:solidFill>
                <a:latin typeface="Roboto"/>
                <a:ea typeface="Roboto"/>
                <a:cs typeface="Roboto"/>
                <a:sym typeface="Roboto"/>
              </a:rPr>
              <a:t>Slide 13 / 24</a:t>
            </a:r>
            <a:endParaRPr b="1" sz="850">
              <a:solidFill>
                <a:srgbClr val="93C5FD"/>
              </a:solidFill>
              <a:latin typeface="Roboto"/>
              <a:ea typeface="Roboto"/>
              <a:cs typeface="Roboto"/>
              <a:sym typeface="Roboto"/>
            </a:endParaRPr>
          </a:p>
        </p:txBody>
      </p:sp>
      <p:sp>
        <p:nvSpPr>
          <p:cNvPr id="240" name="Google Shape;240;p25"/>
          <p:cNvSpPr txBox="1"/>
          <p:nvPr/>
        </p:nvSpPr>
        <p:spPr>
          <a:xfrm>
            <a:off x="304800" y="279400"/>
            <a:ext cx="85344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vi" sz="1500">
                <a:solidFill>
                  <a:srgbClr val="FFFFFF"/>
                </a:solidFill>
                <a:latin typeface="Roboto"/>
                <a:ea typeface="Roboto"/>
                <a:cs typeface="Roboto"/>
                <a:sym typeface="Roboto"/>
              </a:rPr>
              <a:t>Sơ đồ Căn chỉnh Profile-to-Profile &amp; Lan truyền Cột Khoảng trống</a:t>
            </a:r>
            <a:endParaRPr b="1" sz="1500">
              <a:solidFill>
                <a:srgbClr val="FFFFFF"/>
              </a:solidFill>
              <a:latin typeface="Roboto"/>
              <a:ea typeface="Roboto"/>
              <a:cs typeface="Roboto"/>
              <a:sym typeface="Roboto"/>
            </a:endParaRPr>
          </a:p>
        </p:txBody>
      </p:sp>
      <p:sp>
        <p:nvSpPr>
          <p:cNvPr id="241" name="Google Shape;241;p25"/>
          <p:cNvSpPr txBox="1"/>
          <p:nvPr/>
        </p:nvSpPr>
        <p:spPr>
          <a:xfrm>
            <a:off x="304800" y="520700"/>
            <a:ext cx="8534400" cy="19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vi" sz="900">
                <a:solidFill>
                  <a:srgbClr val="BAE6FD"/>
                </a:solidFill>
                <a:latin typeface="Roboto"/>
                <a:ea typeface="Roboto"/>
                <a:cs typeface="Roboto"/>
                <a:sym typeface="Roboto"/>
              </a:rPr>
              <a:t>Minh họa cách 2 Profile con hợp nhất thành Profile cha thông qua điểm khớp cột PSP và chèn cột '-' đồng bộ</a:t>
            </a:r>
            <a:endParaRPr i="1" sz="900">
              <a:solidFill>
                <a:srgbClr val="BAE6FD"/>
              </a:solidFill>
              <a:latin typeface="Roboto"/>
              <a:ea typeface="Roboto"/>
              <a:cs typeface="Roboto"/>
              <a:sym typeface="Roboto"/>
            </a:endParaRPr>
          </a:p>
        </p:txBody>
      </p:sp>
      <p:sp>
        <p:nvSpPr>
          <p:cNvPr id="242" name="Google Shape;242;p25"/>
          <p:cNvSpPr/>
          <p:nvPr/>
        </p:nvSpPr>
        <p:spPr>
          <a:xfrm>
            <a:off x="254000" y="812800"/>
            <a:ext cx="8636100" cy="3835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3" name="Google Shape;243;p25"/>
          <p:cNvSpPr txBox="1"/>
          <p:nvPr/>
        </p:nvSpPr>
        <p:spPr>
          <a:xfrm>
            <a:off x="254000" y="4699000"/>
            <a:ext cx="8636100" cy="355500"/>
          </a:xfrm>
          <a:prstGeom prst="rect">
            <a:avLst/>
          </a:pr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vi" sz="1000">
                <a:solidFill>
                  <a:srgbClr val="FFFFFF"/>
                </a:solidFill>
                <a:latin typeface="Roboto"/>
                <a:ea typeface="Roboto"/>
                <a:cs typeface="Roboto"/>
                <a:sym typeface="Roboto"/>
              </a:rPr>
              <a:t>Tối ưu hóa Tần suất Cột: Lưu trữ vector tần suất 20 Amino Acid trên từng cột giúp tính điểm PSP(x,y) nhanh gấp nhiều lần khi |P| lớn</a:t>
            </a:r>
            <a:endParaRPr b="1" sz="1000">
              <a:solidFill>
                <a:srgbClr val="FFFFFF"/>
              </a:solidFill>
              <a:latin typeface="Roboto"/>
              <a:ea typeface="Roboto"/>
              <a:cs typeface="Roboto"/>
              <a:sym typeface="Roboto"/>
            </a:endParaRPr>
          </a:p>
        </p:txBody>
      </p:sp>
      <p:pic>
        <p:nvPicPr>
          <p:cNvPr id="244" name="Google Shape;244;p25"/>
          <p:cNvPicPr preferRelativeResize="0"/>
          <p:nvPr/>
        </p:nvPicPr>
        <p:blipFill>
          <a:blip r:embed="rId3">
            <a:alphaModFix/>
          </a:blip>
          <a:stretch>
            <a:fillRect/>
          </a:stretch>
        </p:blipFill>
        <p:spPr>
          <a:xfrm>
            <a:off x="1156254" y="850900"/>
            <a:ext cx="6831493" cy="37592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248" name="Shape 248"/>
        <p:cNvGrpSpPr/>
        <p:nvPr/>
      </p:nvGrpSpPr>
      <p:grpSpPr>
        <a:xfrm>
          <a:off x="0" y="0"/>
          <a:ext cx="0" cy="0"/>
          <a:chOff x="0" y="0"/>
          <a:chExt cx="0" cy="0"/>
        </a:xfrm>
      </p:grpSpPr>
      <p:sp>
        <p:nvSpPr>
          <p:cNvPr id="249" name="Google Shape;249;p26"/>
          <p:cNvSpPr/>
          <p:nvPr/>
        </p:nvSpPr>
        <p:spPr>
          <a:xfrm>
            <a:off x="0" y="0"/>
            <a:ext cx="9144000" cy="736500"/>
          </a:xfrm>
          <a:prstGeom prst="rect">
            <a:avLst/>
          </a:prstGeom>
          <a:solidFill>
            <a:srgbClr val="0F172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0" name="Google Shape;250;p26"/>
          <p:cNvSpPr/>
          <p:nvPr/>
        </p:nvSpPr>
        <p:spPr>
          <a:xfrm>
            <a:off x="0" y="711200"/>
            <a:ext cx="9144000" cy="38100"/>
          </a:xfrm>
          <a:prstGeom prst="rect">
            <a:avLst/>
          </a:prstGeom>
          <a:solidFill>
            <a:srgbClr val="0284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1" name="Google Shape;251;p26"/>
          <p:cNvSpPr txBox="1"/>
          <p:nvPr/>
        </p:nvSpPr>
        <p:spPr>
          <a:xfrm>
            <a:off x="304800" y="76200"/>
            <a:ext cx="2476500" cy="203100"/>
          </a:xfrm>
          <a:prstGeom prst="rect">
            <a:avLst/>
          </a:prstGeom>
          <a:solidFill>
            <a:srgbClr val="0284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vi" sz="800">
                <a:solidFill>
                  <a:srgbClr val="FFFFFF"/>
                </a:solidFill>
                <a:latin typeface="Roboto"/>
                <a:ea typeface="Roboto"/>
                <a:cs typeface="Roboto"/>
                <a:sym typeface="Roboto"/>
              </a:rPr>
              <a:t>PHẦN 3 • KIẾN TRÚC SONG SONG ĐA TẦNG</a:t>
            </a:r>
            <a:endParaRPr b="1" sz="800">
              <a:solidFill>
                <a:srgbClr val="FFFFFF"/>
              </a:solidFill>
              <a:latin typeface="Roboto"/>
              <a:ea typeface="Roboto"/>
              <a:cs typeface="Roboto"/>
              <a:sym typeface="Roboto"/>
            </a:endParaRPr>
          </a:p>
        </p:txBody>
      </p:sp>
      <p:sp>
        <p:nvSpPr>
          <p:cNvPr id="252" name="Google Shape;252;p26"/>
          <p:cNvSpPr txBox="1"/>
          <p:nvPr/>
        </p:nvSpPr>
        <p:spPr>
          <a:xfrm>
            <a:off x="8001000" y="76200"/>
            <a:ext cx="838200" cy="2031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vi" sz="850">
                <a:solidFill>
                  <a:srgbClr val="93C5FD"/>
                </a:solidFill>
                <a:latin typeface="Roboto"/>
                <a:ea typeface="Roboto"/>
                <a:cs typeface="Roboto"/>
                <a:sym typeface="Roboto"/>
              </a:rPr>
              <a:t>Slide 14 / 24</a:t>
            </a:r>
            <a:endParaRPr b="1" sz="850">
              <a:solidFill>
                <a:srgbClr val="93C5FD"/>
              </a:solidFill>
              <a:latin typeface="Roboto"/>
              <a:ea typeface="Roboto"/>
              <a:cs typeface="Roboto"/>
              <a:sym typeface="Roboto"/>
            </a:endParaRPr>
          </a:p>
        </p:txBody>
      </p:sp>
      <p:sp>
        <p:nvSpPr>
          <p:cNvPr id="253" name="Google Shape;253;p26"/>
          <p:cNvSpPr txBox="1"/>
          <p:nvPr/>
        </p:nvSpPr>
        <p:spPr>
          <a:xfrm>
            <a:off x="304800" y="279400"/>
            <a:ext cx="85344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vi" sz="1500">
                <a:solidFill>
                  <a:srgbClr val="FFFFFF"/>
                </a:solidFill>
                <a:latin typeface="Roboto"/>
                <a:ea typeface="Roboto"/>
                <a:cs typeface="Roboto"/>
                <a:sym typeface="Roboto"/>
              </a:rPr>
              <a:t>Kiến trúc Song song Đa tầng Hybrid: MPI Phân tán + OpenMP Đa luồng</a:t>
            </a:r>
            <a:endParaRPr b="1" sz="1500">
              <a:solidFill>
                <a:srgbClr val="FFFFFF"/>
              </a:solidFill>
              <a:latin typeface="Roboto"/>
              <a:ea typeface="Roboto"/>
              <a:cs typeface="Roboto"/>
              <a:sym typeface="Roboto"/>
            </a:endParaRPr>
          </a:p>
        </p:txBody>
      </p:sp>
      <p:sp>
        <p:nvSpPr>
          <p:cNvPr id="254" name="Google Shape;254;p26"/>
          <p:cNvSpPr txBox="1"/>
          <p:nvPr/>
        </p:nvSpPr>
        <p:spPr>
          <a:xfrm>
            <a:off x="304800" y="520700"/>
            <a:ext cx="8534400" cy="19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vi" sz="900">
                <a:solidFill>
                  <a:srgbClr val="BAE6FD"/>
                </a:solidFill>
                <a:latin typeface="Roboto"/>
                <a:ea typeface="Roboto"/>
                <a:cs typeface="Roboto"/>
                <a:sym typeface="Roboto"/>
              </a:rPr>
              <a:t>Phối hợp chia tải vòng tròn Block-Cyclic liên máy tính (MPI) và lập lịch động đa nhân (OpenMP)</a:t>
            </a:r>
            <a:endParaRPr i="1" sz="900">
              <a:solidFill>
                <a:srgbClr val="BAE6FD"/>
              </a:solidFill>
              <a:latin typeface="Roboto"/>
              <a:ea typeface="Roboto"/>
              <a:cs typeface="Roboto"/>
              <a:sym typeface="Roboto"/>
            </a:endParaRPr>
          </a:p>
        </p:txBody>
      </p:sp>
      <p:sp>
        <p:nvSpPr>
          <p:cNvPr id="255" name="Google Shape;255;p26"/>
          <p:cNvSpPr/>
          <p:nvPr/>
        </p:nvSpPr>
        <p:spPr>
          <a:xfrm>
            <a:off x="254000" y="812800"/>
            <a:ext cx="8636100" cy="3835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6" name="Google Shape;256;p26"/>
          <p:cNvSpPr txBox="1"/>
          <p:nvPr/>
        </p:nvSpPr>
        <p:spPr>
          <a:xfrm>
            <a:off x="254000" y="4699000"/>
            <a:ext cx="8636100" cy="355500"/>
          </a:xfrm>
          <a:prstGeom prst="rect">
            <a:avLst/>
          </a:pr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vi" sz="1000">
                <a:solidFill>
                  <a:srgbClr val="FFFFFF"/>
                </a:solidFill>
                <a:latin typeface="Roboto"/>
                <a:ea typeface="Roboto"/>
                <a:cs typeface="Roboto"/>
                <a:sym typeface="Roboto"/>
              </a:rPr>
              <a:t>Cấp 1 (MPI): Chia k(k-1)/2 cặp theo Block-Cyclic + MPI_Allgatherv  |  Cấp 2 (OpenMP): #pragma omp parallel for schedule(dynamic, 1) &amp; Level-Set Tree</a:t>
            </a:r>
            <a:endParaRPr b="1" sz="1000">
              <a:solidFill>
                <a:srgbClr val="FFFFFF"/>
              </a:solidFill>
              <a:latin typeface="Roboto"/>
              <a:ea typeface="Roboto"/>
              <a:cs typeface="Roboto"/>
              <a:sym typeface="Roboto"/>
            </a:endParaRPr>
          </a:p>
        </p:txBody>
      </p:sp>
      <p:pic>
        <p:nvPicPr>
          <p:cNvPr id="257" name="Google Shape;257;p26"/>
          <p:cNvPicPr preferRelativeResize="0"/>
          <p:nvPr/>
        </p:nvPicPr>
        <p:blipFill>
          <a:blip r:embed="rId3">
            <a:alphaModFix/>
          </a:blip>
          <a:stretch>
            <a:fillRect/>
          </a:stretch>
        </p:blipFill>
        <p:spPr>
          <a:xfrm>
            <a:off x="1156254" y="850900"/>
            <a:ext cx="6831493" cy="375920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261" name="Shape 261"/>
        <p:cNvGrpSpPr/>
        <p:nvPr/>
      </p:nvGrpSpPr>
      <p:grpSpPr>
        <a:xfrm>
          <a:off x="0" y="0"/>
          <a:ext cx="0" cy="0"/>
          <a:chOff x="0" y="0"/>
          <a:chExt cx="0" cy="0"/>
        </a:xfrm>
      </p:grpSpPr>
      <p:sp>
        <p:nvSpPr>
          <p:cNvPr id="262" name="Google Shape;262;p27"/>
          <p:cNvSpPr/>
          <p:nvPr/>
        </p:nvSpPr>
        <p:spPr>
          <a:xfrm>
            <a:off x="0" y="0"/>
            <a:ext cx="9144000" cy="736500"/>
          </a:xfrm>
          <a:prstGeom prst="rect">
            <a:avLst/>
          </a:prstGeom>
          <a:solidFill>
            <a:srgbClr val="0F172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3" name="Google Shape;263;p27"/>
          <p:cNvSpPr/>
          <p:nvPr/>
        </p:nvSpPr>
        <p:spPr>
          <a:xfrm>
            <a:off x="0" y="711200"/>
            <a:ext cx="9144000" cy="38100"/>
          </a:xfrm>
          <a:prstGeom prst="rect">
            <a:avLst/>
          </a:prstGeom>
          <a:solidFill>
            <a:srgbClr val="0284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4" name="Google Shape;264;p27"/>
          <p:cNvSpPr txBox="1"/>
          <p:nvPr/>
        </p:nvSpPr>
        <p:spPr>
          <a:xfrm>
            <a:off x="304800" y="76200"/>
            <a:ext cx="2476500" cy="203100"/>
          </a:xfrm>
          <a:prstGeom prst="rect">
            <a:avLst/>
          </a:prstGeom>
          <a:solidFill>
            <a:srgbClr val="0284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vi" sz="800">
                <a:solidFill>
                  <a:srgbClr val="FFFFFF"/>
                </a:solidFill>
                <a:latin typeface="Roboto"/>
                <a:ea typeface="Roboto"/>
                <a:cs typeface="Roboto"/>
                <a:sym typeface="Roboto"/>
              </a:rPr>
              <a:t>PHẦN 3 • SONG SONG HÓA ĐƯỜNG CHÉO &amp; CÂY</a:t>
            </a:r>
            <a:endParaRPr b="1" sz="800">
              <a:solidFill>
                <a:srgbClr val="FFFFFF"/>
              </a:solidFill>
              <a:latin typeface="Roboto"/>
              <a:ea typeface="Roboto"/>
              <a:cs typeface="Roboto"/>
              <a:sym typeface="Roboto"/>
            </a:endParaRPr>
          </a:p>
        </p:txBody>
      </p:sp>
      <p:sp>
        <p:nvSpPr>
          <p:cNvPr id="265" name="Google Shape;265;p27"/>
          <p:cNvSpPr txBox="1"/>
          <p:nvPr/>
        </p:nvSpPr>
        <p:spPr>
          <a:xfrm>
            <a:off x="8001000" y="76200"/>
            <a:ext cx="838200" cy="2031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vi" sz="850">
                <a:solidFill>
                  <a:srgbClr val="93C5FD"/>
                </a:solidFill>
                <a:latin typeface="Roboto"/>
                <a:ea typeface="Roboto"/>
                <a:cs typeface="Roboto"/>
                <a:sym typeface="Roboto"/>
              </a:rPr>
              <a:t>Slide 15 / 24</a:t>
            </a:r>
            <a:endParaRPr b="1" sz="850">
              <a:solidFill>
                <a:srgbClr val="93C5FD"/>
              </a:solidFill>
              <a:latin typeface="Roboto"/>
              <a:ea typeface="Roboto"/>
              <a:cs typeface="Roboto"/>
              <a:sym typeface="Roboto"/>
            </a:endParaRPr>
          </a:p>
        </p:txBody>
      </p:sp>
      <p:sp>
        <p:nvSpPr>
          <p:cNvPr id="266" name="Google Shape;266;p27"/>
          <p:cNvSpPr txBox="1"/>
          <p:nvPr/>
        </p:nvSpPr>
        <p:spPr>
          <a:xfrm>
            <a:off x="304800" y="279400"/>
            <a:ext cx="85344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vi" sz="1500">
                <a:solidFill>
                  <a:srgbClr val="FFFFFF"/>
                </a:solidFill>
                <a:latin typeface="Roboto"/>
                <a:ea typeface="Roboto"/>
                <a:cs typeface="Roboto"/>
                <a:sym typeface="Roboto"/>
              </a:rPr>
              <a:t>Song song hóa Đường chéo phụ Wavefront Anti-Diagonal DP</a:t>
            </a:r>
            <a:endParaRPr b="1" sz="1500">
              <a:solidFill>
                <a:srgbClr val="FFFFFF"/>
              </a:solidFill>
              <a:latin typeface="Roboto"/>
              <a:ea typeface="Roboto"/>
              <a:cs typeface="Roboto"/>
              <a:sym typeface="Roboto"/>
            </a:endParaRPr>
          </a:p>
        </p:txBody>
      </p:sp>
      <p:sp>
        <p:nvSpPr>
          <p:cNvPr id="267" name="Google Shape;267;p27"/>
          <p:cNvSpPr txBox="1"/>
          <p:nvPr/>
        </p:nvSpPr>
        <p:spPr>
          <a:xfrm>
            <a:off x="304800" y="520700"/>
            <a:ext cx="8534400" cy="19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vi" sz="900">
                <a:solidFill>
                  <a:srgbClr val="BAE6FD"/>
                </a:solidFill>
                <a:latin typeface="Roboto"/>
                <a:ea typeface="Roboto"/>
                <a:cs typeface="Roboto"/>
                <a:sym typeface="Roboto"/>
              </a:rPr>
              <a:t>Khắc phục phụ thuộc dữ liệu ô (i, j) bằng mặt sóng đường chéo phụ i + j = d độc lập dữ liệu</a:t>
            </a:r>
            <a:endParaRPr i="1" sz="900">
              <a:solidFill>
                <a:srgbClr val="BAE6FD"/>
              </a:solidFill>
              <a:latin typeface="Roboto"/>
              <a:ea typeface="Roboto"/>
              <a:cs typeface="Roboto"/>
              <a:sym typeface="Roboto"/>
            </a:endParaRPr>
          </a:p>
        </p:txBody>
      </p:sp>
      <p:sp>
        <p:nvSpPr>
          <p:cNvPr id="268" name="Google Shape;268;p27"/>
          <p:cNvSpPr/>
          <p:nvPr/>
        </p:nvSpPr>
        <p:spPr>
          <a:xfrm>
            <a:off x="254000" y="812800"/>
            <a:ext cx="8636100" cy="3835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9" name="Google Shape;269;p27"/>
          <p:cNvSpPr txBox="1"/>
          <p:nvPr/>
        </p:nvSpPr>
        <p:spPr>
          <a:xfrm>
            <a:off x="254000" y="4699000"/>
            <a:ext cx="8636100" cy="355500"/>
          </a:xfrm>
          <a:prstGeom prst="rect">
            <a:avLst/>
          </a:pr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vi" sz="1000">
                <a:solidFill>
                  <a:srgbClr val="FFFFFF"/>
                </a:solidFill>
                <a:latin typeface="Roboto"/>
                <a:ea typeface="Roboto"/>
                <a:cs typeface="Roboto"/>
                <a:sym typeface="Roboto"/>
              </a:rPr>
              <a:t>Nguyên lý Wavefront: Các ô trên cùng đường chéo phụ d = i + j chỉ phụ thuộc vào đường chéo d-1 và d-2 → Tính song song đồng thời trên nhiều nhân CPU!</a:t>
            </a:r>
            <a:endParaRPr b="1" sz="1000">
              <a:solidFill>
                <a:srgbClr val="FFFFFF"/>
              </a:solidFill>
              <a:latin typeface="Roboto"/>
              <a:ea typeface="Roboto"/>
              <a:cs typeface="Roboto"/>
              <a:sym typeface="Roboto"/>
            </a:endParaRPr>
          </a:p>
        </p:txBody>
      </p:sp>
      <p:pic>
        <p:nvPicPr>
          <p:cNvPr id="270" name="Google Shape;270;p27"/>
          <p:cNvPicPr preferRelativeResize="0"/>
          <p:nvPr/>
        </p:nvPicPr>
        <p:blipFill>
          <a:blip r:embed="rId3">
            <a:alphaModFix/>
          </a:blip>
          <a:stretch>
            <a:fillRect/>
          </a:stretch>
        </p:blipFill>
        <p:spPr>
          <a:xfrm>
            <a:off x="1910373" y="850900"/>
            <a:ext cx="5321983" cy="375919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274" name="Shape 274"/>
        <p:cNvGrpSpPr/>
        <p:nvPr/>
      </p:nvGrpSpPr>
      <p:grpSpPr>
        <a:xfrm>
          <a:off x="0" y="0"/>
          <a:ext cx="0" cy="0"/>
          <a:chOff x="0" y="0"/>
          <a:chExt cx="0" cy="0"/>
        </a:xfrm>
      </p:grpSpPr>
      <p:sp>
        <p:nvSpPr>
          <p:cNvPr id="275" name="Google Shape;275;p28"/>
          <p:cNvSpPr/>
          <p:nvPr/>
        </p:nvSpPr>
        <p:spPr>
          <a:xfrm>
            <a:off x="0" y="0"/>
            <a:ext cx="9144000" cy="736500"/>
          </a:xfrm>
          <a:prstGeom prst="rect">
            <a:avLst/>
          </a:prstGeom>
          <a:solidFill>
            <a:srgbClr val="0F172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6" name="Google Shape;276;p28"/>
          <p:cNvSpPr/>
          <p:nvPr/>
        </p:nvSpPr>
        <p:spPr>
          <a:xfrm>
            <a:off x="0" y="711200"/>
            <a:ext cx="9144000" cy="38100"/>
          </a:xfrm>
          <a:prstGeom prst="rect">
            <a:avLst/>
          </a:prstGeom>
          <a:solidFill>
            <a:srgbClr val="0284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7" name="Google Shape;277;p28"/>
          <p:cNvSpPr txBox="1"/>
          <p:nvPr/>
        </p:nvSpPr>
        <p:spPr>
          <a:xfrm>
            <a:off x="304800" y="76200"/>
            <a:ext cx="2476500" cy="203100"/>
          </a:xfrm>
          <a:prstGeom prst="rect">
            <a:avLst/>
          </a:prstGeom>
          <a:solidFill>
            <a:srgbClr val="0284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vi" sz="800">
                <a:solidFill>
                  <a:srgbClr val="FFFFFF"/>
                </a:solidFill>
                <a:latin typeface="Roboto"/>
                <a:ea typeface="Roboto"/>
                <a:cs typeface="Roboto"/>
                <a:sym typeface="Roboto"/>
              </a:rPr>
              <a:t>PHẦN 3 • PHÂN TÍCH &amp; CHỨNG MINH ĐỘ PHỨC TẠP</a:t>
            </a:r>
            <a:endParaRPr b="1" sz="800">
              <a:solidFill>
                <a:srgbClr val="FFFFFF"/>
              </a:solidFill>
              <a:latin typeface="Roboto"/>
              <a:ea typeface="Roboto"/>
              <a:cs typeface="Roboto"/>
              <a:sym typeface="Roboto"/>
            </a:endParaRPr>
          </a:p>
        </p:txBody>
      </p:sp>
      <p:sp>
        <p:nvSpPr>
          <p:cNvPr id="278" name="Google Shape;278;p28"/>
          <p:cNvSpPr txBox="1"/>
          <p:nvPr/>
        </p:nvSpPr>
        <p:spPr>
          <a:xfrm>
            <a:off x="8001000" y="76200"/>
            <a:ext cx="838200" cy="2031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vi" sz="850">
                <a:solidFill>
                  <a:srgbClr val="93C5FD"/>
                </a:solidFill>
                <a:latin typeface="Roboto"/>
                <a:ea typeface="Roboto"/>
                <a:cs typeface="Roboto"/>
                <a:sym typeface="Roboto"/>
              </a:rPr>
              <a:t>Slide 16 / 24</a:t>
            </a:r>
            <a:endParaRPr b="1" sz="850">
              <a:solidFill>
                <a:srgbClr val="93C5FD"/>
              </a:solidFill>
              <a:latin typeface="Roboto"/>
              <a:ea typeface="Roboto"/>
              <a:cs typeface="Roboto"/>
              <a:sym typeface="Roboto"/>
            </a:endParaRPr>
          </a:p>
        </p:txBody>
      </p:sp>
      <p:sp>
        <p:nvSpPr>
          <p:cNvPr id="279" name="Google Shape;279;p28"/>
          <p:cNvSpPr txBox="1"/>
          <p:nvPr/>
        </p:nvSpPr>
        <p:spPr>
          <a:xfrm>
            <a:off x="304800" y="279400"/>
            <a:ext cx="85344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vi" sz="1500">
                <a:solidFill>
                  <a:srgbClr val="FFFFFF"/>
                </a:solidFill>
                <a:latin typeface="Roboto"/>
                <a:ea typeface="Roboto"/>
                <a:cs typeface="Roboto"/>
                <a:sym typeface="Roboto"/>
              </a:rPr>
              <a:t>Chứng minh Toán học: Bộ nhớ Tuyến tính O(min(m,n)) &amp; Thời gian 2·O(mn)</a:t>
            </a:r>
            <a:endParaRPr b="1" sz="1500">
              <a:solidFill>
                <a:srgbClr val="FFFFFF"/>
              </a:solidFill>
              <a:latin typeface="Roboto"/>
              <a:ea typeface="Roboto"/>
              <a:cs typeface="Roboto"/>
              <a:sym typeface="Roboto"/>
            </a:endParaRPr>
          </a:p>
        </p:txBody>
      </p:sp>
      <p:sp>
        <p:nvSpPr>
          <p:cNvPr id="280" name="Google Shape;280;p28"/>
          <p:cNvSpPr txBox="1"/>
          <p:nvPr/>
        </p:nvSpPr>
        <p:spPr>
          <a:xfrm>
            <a:off x="304800" y="520700"/>
            <a:ext cx="8534400" cy="19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vi" sz="900">
                <a:solidFill>
                  <a:srgbClr val="BAE6FD"/>
                </a:solidFill>
                <a:latin typeface="Roboto"/>
                <a:ea typeface="Roboto"/>
                <a:cs typeface="Roboto"/>
                <a:sym typeface="Roboto"/>
              </a:rPr>
              <a:t>Tại sao gọi đệ quy log₂(m) tầng trong Chia để trị Myers-Miller KHÔNG làm tăng độ phức tạp thời gian lên O(mn·log m)?</a:t>
            </a:r>
            <a:endParaRPr i="1" sz="900">
              <a:solidFill>
                <a:srgbClr val="BAE6FD"/>
              </a:solidFill>
              <a:latin typeface="Roboto"/>
              <a:ea typeface="Roboto"/>
              <a:cs typeface="Roboto"/>
              <a:sym typeface="Roboto"/>
            </a:endParaRPr>
          </a:p>
        </p:txBody>
      </p:sp>
      <p:sp>
        <p:nvSpPr>
          <p:cNvPr id="281" name="Google Shape;281;p28"/>
          <p:cNvSpPr txBox="1"/>
          <p:nvPr/>
        </p:nvSpPr>
        <p:spPr>
          <a:xfrm>
            <a:off x="304800" y="838200"/>
            <a:ext cx="4191000" cy="304800"/>
          </a:xfrm>
          <a:prstGeom prst="rect">
            <a:avLst/>
          </a:prstGeom>
          <a:solidFill>
            <a:srgbClr val="0284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vi" sz="1050">
                <a:solidFill>
                  <a:srgbClr val="FFFFFF"/>
                </a:solidFill>
                <a:latin typeface="Roboto"/>
                <a:ea typeface="Roboto"/>
                <a:cs typeface="Roboto"/>
                <a:sym typeface="Roboto"/>
              </a:rPr>
              <a:t>Định lý 1: Chứng minh Độ phức tạp Bộ nhớ Tuyến tính O(min(m,n))</a:t>
            </a:r>
            <a:endParaRPr b="1" sz="1050">
              <a:solidFill>
                <a:srgbClr val="FFFFFF"/>
              </a:solidFill>
              <a:latin typeface="Roboto"/>
              <a:ea typeface="Roboto"/>
              <a:cs typeface="Roboto"/>
              <a:sym typeface="Roboto"/>
            </a:endParaRPr>
          </a:p>
        </p:txBody>
      </p:sp>
      <p:sp>
        <p:nvSpPr>
          <p:cNvPr id="282" name="Google Shape;282;p28"/>
          <p:cNvSpPr txBox="1"/>
          <p:nvPr/>
        </p:nvSpPr>
        <p:spPr>
          <a:xfrm>
            <a:off x="304800" y="1143000"/>
            <a:ext cx="4191000" cy="38355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lnSpc>
                <a:spcPct val="125000"/>
              </a:lnSpc>
              <a:spcBef>
                <a:spcPts val="0"/>
              </a:spcBef>
              <a:spcAft>
                <a:spcPts val="0"/>
              </a:spcAft>
              <a:buNone/>
            </a:pPr>
            <a:r>
              <a:rPr lang="vi" sz="950">
                <a:solidFill>
                  <a:srgbClr val="1E293B"/>
                </a:solidFill>
                <a:latin typeface="Roboto"/>
                <a:ea typeface="Roboto"/>
                <a:cs typeface="Roboto"/>
                <a:sym typeface="Roboto"/>
              </a:rPr>
              <a:t>• Giả sử m ≥ n (nếu m &lt; n, ta hoán đổi vai trò 2 chuỗi).</a:t>
            </a:r>
            <a:endParaRPr sz="95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t/>
            </a:r>
            <a:endParaRPr sz="95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50">
                <a:solidFill>
                  <a:srgbClr val="1E293B"/>
                </a:solidFill>
                <a:latin typeface="Roboto"/>
                <a:ea typeface="Roboto"/>
                <a:cs typeface="Roboto"/>
                <a:sym typeface="Roboto"/>
              </a:rPr>
              <a:t>• Bộ nhớ Cấp phát tại Mỗi Bước Chia để trị:</a:t>
            </a:r>
            <a:endParaRPr sz="95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50">
                <a:solidFill>
                  <a:srgbClr val="1E293B"/>
                </a:solidFill>
                <a:latin typeface="Roboto"/>
                <a:ea typeface="Roboto"/>
                <a:cs typeface="Roboto"/>
                <a:sym typeface="Roboto"/>
              </a:rPr>
              <a:t>  Lượt quét xuôi và ngược chỉ dùng 6 mảng 1 chiều kích thước (n + 1):</a:t>
            </a:r>
            <a:endParaRPr sz="95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50">
                <a:solidFill>
                  <a:srgbClr val="1E293B"/>
                </a:solidFill>
                <a:latin typeface="Roboto"/>
                <a:ea typeface="Roboto"/>
                <a:cs typeface="Roboto"/>
                <a:sym typeface="Roboto"/>
              </a:rPr>
              <a:t>  fwd_M, fwd_Ix, fwd_Iy  và  bwd_M, bwd_Ix, bwd_Iy.</a:t>
            </a:r>
            <a:endParaRPr sz="95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t/>
            </a:r>
            <a:endParaRPr sz="95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50">
                <a:solidFill>
                  <a:srgbClr val="1E293B"/>
                </a:solidFill>
                <a:latin typeface="Roboto"/>
                <a:ea typeface="Roboto"/>
                <a:cs typeface="Roboto"/>
                <a:sym typeface="Roboto"/>
              </a:rPr>
              <a:t>• Thu hồi / Tái sử dụng Bộ nhớ trước khi Đệ quy:</a:t>
            </a:r>
            <a:endParaRPr sz="95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50">
                <a:solidFill>
                  <a:srgbClr val="1E293B"/>
                </a:solidFill>
                <a:latin typeface="Roboto"/>
                <a:ea typeface="Roboto"/>
                <a:cs typeface="Roboto"/>
                <a:sym typeface="Roboto"/>
              </a:rPr>
              <a:t>  Ngay sau khi tìm được cột cắt j*, các mảng tạm được giải phóng (hoặc dùng chung buffer tĩnh) TRƯỚC khi gọi đệ quy xuống 2 nửa con.</a:t>
            </a:r>
            <a:endParaRPr sz="95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50">
                <a:solidFill>
                  <a:srgbClr val="1E293B"/>
                </a:solidFill>
                <a:latin typeface="Roboto"/>
                <a:ea typeface="Roboto"/>
                <a:cs typeface="Roboto"/>
                <a:sym typeface="Roboto"/>
              </a:rPr>
              <a:t>  ⇒ Bộ nhớ KHÔNG cộng dồn theo số nút của cây đệ quy!</a:t>
            </a:r>
            <a:endParaRPr sz="95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t/>
            </a:r>
            <a:endParaRPr sz="95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50">
                <a:solidFill>
                  <a:srgbClr val="1E293B"/>
                </a:solidFill>
                <a:latin typeface="Roboto"/>
                <a:ea typeface="Roboto"/>
                <a:cs typeface="Roboto"/>
                <a:sym typeface="Roboto"/>
              </a:rPr>
              <a:t>• Ngăn xếp Đệ quy (Call Stack): Tối đa ⌈log₂ m⌉ khung hàm.</a:t>
            </a:r>
            <a:endParaRPr sz="95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50">
                <a:solidFill>
                  <a:srgbClr val="1E293B"/>
                </a:solidFill>
                <a:latin typeface="Roboto"/>
                <a:ea typeface="Roboto"/>
                <a:cs typeface="Roboto"/>
                <a:sym typeface="Roboto"/>
              </a:rPr>
              <a:t>⇒ S_pair(m, n) = 6(n + 1)·sizeof(int) + O(log m) = O(min(m, n)).</a:t>
            </a:r>
            <a:endParaRPr sz="95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50">
                <a:solidFill>
                  <a:srgbClr val="1E293B"/>
                </a:solidFill>
                <a:latin typeface="Roboto"/>
                <a:ea typeface="Roboto"/>
                <a:cs typeface="Roboto"/>
                <a:sym typeface="Roboto"/>
              </a:rPr>
              <a:t>⇒ Toàn bộ hệ thống MSA k chuỗi: S_total = O(k · L).</a:t>
            </a:r>
            <a:endParaRPr sz="950">
              <a:solidFill>
                <a:srgbClr val="1E293B"/>
              </a:solidFill>
              <a:latin typeface="Roboto"/>
              <a:ea typeface="Roboto"/>
              <a:cs typeface="Roboto"/>
              <a:sym typeface="Roboto"/>
            </a:endParaRPr>
          </a:p>
        </p:txBody>
      </p:sp>
      <p:sp>
        <p:nvSpPr>
          <p:cNvPr id="283" name="Google Shape;283;p28"/>
          <p:cNvSpPr txBox="1"/>
          <p:nvPr/>
        </p:nvSpPr>
        <p:spPr>
          <a:xfrm>
            <a:off x="4648200" y="838200"/>
            <a:ext cx="4191000" cy="304800"/>
          </a:xfrm>
          <a:prstGeom prst="rect">
            <a:avLst/>
          </a:prstGeom>
          <a:solidFill>
            <a:srgbClr val="0596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vi" sz="1050">
                <a:solidFill>
                  <a:srgbClr val="FFFFFF"/>
                </a:solidFill>
                <a:latin typeface="Roboto"/>
                <a:ea typeface="Roboto"/>
                <a:cs typeface="Roboto"/>
                <a:sym typeface="Roboto"/>
              </a:rPr>
              <a:t>Định lý 2: Chứng minh Thời gian Hội tụ Chuỗi Hình học T(m,n) ≤ 2c·mn</a:t>
            </a:r>
            <a:endParaRPr b="1" sz="1050">
              <a:solidFill>
                <a:srgbClr val="FFFFFF"/>
              </a:solidFill>
              <a:latin typeface="Roboto"/>
              <a:ea typeface="Roboto"/>
              <a:cs typeface="Roboto"/>
              <a:sym typeface="Roboto"/>
            </a:endParaRPr>
          </a:p>
        </p:txBody>
      </p:sp>
      <p:sp>
        <p:nvSpPr>
          <p:cNvPr id="284" name="Google Shape;284;p28"/>
          <p:cNvSpPr txBox="1"/>
          <p:nvPr/>
        </p:nvSpPr>
        <p:spPr>
          <a:xfrm>
            <a:off x="4648200" y="1143000"/>
            <a:ext cx="4191000" cy="3835500"/>
          </a:xfrm>
          <a:prstGeom prst="rect">
            <a:avLst/>
          </a:prstGeom>
          <a:solidFill>
            <a:srgbClr val="D1FAE5"/>
          </a:solidFill>
          <a:ln>
            <a:noFill/>
          </a:ln>
        </p:spPr>
        <p:txBody>
          <a:bodyPr anchorCtr="0" anchor="t" bIns="91425" lIns="91425" spcFirstLastPara="1" rIns="91425" wrap="square" tIns="91425">
            <a:noAutofit/>
          </a:bodyPr>
          <a:lstStyle/>
          <a:p>
            <a:pPr indent="0" lvl="0" marL="0" rtl="0" algn="l">
              <a:lnSpc>
                <a:spcPct val="125000"/>
              </a:lnSpc>
              <a:spcBef>
                <a:spcPts val="0"/>
              </a:spcBef>
              <a:spcAft>
                <a:spcPts val="0"/>
              </a:spcAft>
              <a:buNone/>
            </a:pPr>
            <a:r>
              <a:rPr lang="vi" sz="950">
                <a:solidFill>
                  <a:srgbClr val="1E293B"/>
                </a:solidFill>
                <a:latin typeface="Roboto"/>
                <a:ea typeface="Roboto"/>
                <a:cs typeface="Roboto"/>
                <a:sym typeface="Roboto"/>
              </a:rPr>
              <a:t>• Mức đệ quy r = 0 (Ma trận gốc m × n):</a:t>
            </a:r>
            <a:endParaRPr sz="95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50">
                <a:solidFill>
                  <a:srgbClr val="1E293B"/>
                </a:solidFill>
                <a:latin typeface="Roboto"/>
                <a:ea typeface="Roboto"/>
                <a:cs typeface="Roboto"/>
                <a:sym typeface="Roboto"/>
              </a:rPr>
              <a:t>  Quét xuôi nửa trên (m/2 × n) + Quét ngược nửa dưới (m/2 × n)</a:t>
            </a:r>
            <a:endParaRPr sz="95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50">
                <a:solidFill>
                  <a:srgbClr val="1E293B"/>
                </a:solidFill>
                <a:latin typeface="Roboto"/>
                <a:ea typeface="Roboto"/>
                <a:cs typeface="Roboto"/>
                <a:sym typeface="Roboto"/>
              </a:rPr>
              <a:t>  tốn:  T₀ = c·(m/2)·n + c·(m/2)·n = c · m · n.</a:t>
            </a:r>
            <a:endParaRPr sz="95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t/>
            </a:r>
            <a:endParaRPr sz="95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50">
                <a:solidFill>
                  <a:srgbClr val="1E293B"/>
                </a:solidFill>
                <a:latin typeface="Roboto"/>
                <a:ea typeface="Roboto"/>
                <a:cs typeface="Roboto"/>
                <a:sym typeface="Roboto"/>
              </a:rPr>
              <a:t>• Mức đệ quy r = 1 (Hai bài toán con kích thước m/2 × j* và m/2 × (n - j*)):</a:t>
            </a:r>
            <a:endParaRPr sz="95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50">
                <a:solidFill>
                  <a:srgbClr val="1E293B"/>
                </a:solidFill>
                <a:latin typeface="Roboto"/>
                <a:ea typeface="Roboto"/>
                <a:cs typeface="Roboto"/>
                <a:sym typeface="Roboto"/>
              </a:rPr>
              <a:t>  T₁ = c·(m/2)·j* + c·(m/2)·(n - j*) = c · (m/2) · (j* + n - j*)</a:t>
            </a:r>
            <a:endParaRPr sz="95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50">
                <a:solidFill>
                  <a:srgbClr val="1E293B"/>
                </a:solidFill>
                <a:latin typeface="Roboto"/>
                <a:ea typeface="Roboto"/>
                <a:cs typeface="Roboto"/>
                <a:sym typeface="Roboto"/>
              </a:rPr>
              <a:t>     = ½ (c · m · n)   [Không phụ thuộc vị trí j*!]</a:t>
            </a:r>
            <a:endParaRPr sz="95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t/>
            </a:r>
            <a:endParaRPr sz="95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50">
                <a:solidFill>
                  <a:srgbClr val="1E293B"/>
                </a:solidFill>
                <a:latin typeface="Roboto"/>
                <a:ea typeface="Roboto"/>
                <a:cs typeface="Roboto"/>
                <a:sym typeface="Roboto"/>
              </a:rPr>
              <a:t>• Tổng thời gian qua tất cả log₂(m) mức đệ quy (Chuỗi hình học công bội ½):</a:t>
            </a:r>
            <a:endParaRPr sz="95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50">
                <a:solidFill>
                  <a:srgbClr val="1E293B"/>
                </a:solidFill>
                <a:latin typeface="Roboto"/>
                <a:ea typeface="Roboto"/>
                <a:cs typeface="Roboto"/>
                <a:sym typeface="Roboto"/>
              </a:rPr>
              <a:t>  T(m, n) = ∑_{r=0..log₂m} (½)^r · c·mn</a:t>
            </a:r>
            <a:endParaRPr sz="95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50">
                <a:solidFill>
                  <a:srgbClr val="1E293B"/>
                </a:solidFill>
                <a:latin typeface="Roboto"/>
                <a:ea typeface="Roboto"/>
                <a:cs typeface="Roboto"/>
                <a:sym typeface="Roboto"/>
              </a:rPr>
              <a:t>          = c·mn × (1 + 1/2 + 1/4 + 1/8 + ...) ≤ 2 · c · m · n = O(mn)!</a:t>
            </a:r>
            <a:endParaRPr sz="950">
              <a:solidFill>
                <a:srgbClr val="1E293B"/>
              </a:solidFill>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288" name="Shape 288"/>
        <p:cNvGrpSpPr/>
        <p:nvPr/>
      </p:nvGrpSpPr>
      <p:grpSpPr>
        <a:xfrm>
          <a:off x="0" y="0"/>
          <a:ext cx="0" cy="0"/>
          <a:chOff x="0" y="0"/>
          <a:chExt cx="0" cy="0"/>
        </a:xfrm>
      </p:grpSpPr>
      <p:sp>
        <p:nvSpPr>
          <p:cNvPr id="289" name="Google Shape;289;p29"/>
          <p:cNvSpPr/>
          <p:nvPr/>
        </p:nvSpPr>
        <p:spPr>
          <a:xfrm>
            <a:off x="0" y="0"/>
            <a:ext cx="9144000" cy="736500"/>
          </a:xfrm>
          <a:prstGeom prst="rect">
            <a:avLst/>
          </a:prstGeom>
          <a:solidFill>
            <a:srgbClr val="0F172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0" name="Google Shape;290;p29"/>
          <p:cNvSpPr/>
          <p:nvPr/>
        </p:nvSpPr>
        <p:spPr>
          <a:xfrm>
            <a:off x="0" y="711200"/>
            <a:ext cx="9144000" cy="38100"/>
          </a:xfrm>
          <a:prstGeom prst="rect">
            <a:avLst/>
          </a:prstGeom>
          <a:solidFill>
            <a:srgbClr val="0284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1" name="Google Shape;291;p29"/>
          <p:cNvSpPr txBox="1"/>
          <p:nvPr/>
        </p:nvSpPr>
        <p:spPr>
          <a:xfrm>
            <a:off x="304800" y="76200"/>
            <a:ext cx="2476500" cy="203100"/>
          </a:xfrm>
          <a:prstGeom prst="rect">
            <a:avLst/>
          </a:prstGeom>
          <a:solidFill>
            <a:srgbClr val="0284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vi" sz="800">
                <a:solidFill>
                  <a:srgbClr val="FFFFFF"/>
                </a:solidFill>
                <a:latin typeface="Roboto"/>
                <a:ea typeface="Roboto"/>
                <a:cs typeface="Roboto"/>
                <a:sym typeface="Roboto"/>
              </a:rPr>
              <a:t>PHẦN 3 • TỔNG HỢP ĐỘ PHỨC TẠP</a:t>
            </a:r>
            <a:endParaRPr b="1" sz="800">
              <a:solidFill>
                <a:srgbClr val="FFFFFF"/>
              </a:solidFill>
              <a:latin typeface="Roboto"/>
              <a:ea typeface="Roboto"/>
              <a:cs typeface="Roboto"/>
              <a:sym typeface="Roboto"/>
            </a:endParaRPr>
          </a:p>
        </p:txBody>
      </p:sp>
      <p:sp>
        <p:nvSpPr>
          <p:cNvPr id="292" name="Google Shape;292;p29"/>
          <p:cNvSpPr txBox="1"/>
          <p:nvPr/>
        </p:nvSpPr>
        <p:spPr>
          <a:xfrm>
            <a:off x="8001000" y="76200"/>
            <a:ext cx="838200" cy="2031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vi" sz="850">
                <a:solidFill>
                  <a:srgbClr val="93C5FD"/>
                </a:solidFill>
                <a:latin typeface="Roboto"/>
                <a:ea typeface="Roboto"/>
                <a:cs typeface="Roboto"/>
                <a:sym typeface="Roboto"/>
              </a:rPr>
              <a:t>Slide 17 / 24</a:t>
            </a:r>
            <a:endParaRPr b="1" sz="850">
              <a:solidFill>
                <a:srgbClr val="93C5FD"/>
              </a:solidFill>
              <a:latin typeface="Roboto"/>
              <a:ea typeface="Roboto"/>
              <a:cs typeface="Roboto"/>
              <a:sym typeface="Roboto"/>
            </a:endParaRPr>
          </a:p>
        </p:txBody>
      </p:sp>
      <p:sp>
        <p:nvSpPr>
          <p:cNvPr id="293" name="Google Shape;293;p29"/>
          <p:cNvSpPr txBox="1"/>
          <p:nvPr/>
        </p:nvSpPr>
        <p:spPr>
          <a:xfrm>
            <a:off x="304800" y="279400"/>
            <a:ext cx="85344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vi" sz="1500">
                <a:solidFill>
                  <a:srgbClr val="FFFFFF"/>
                </a:solidFill>
                <a:latin typeface="Roboto"/>
                <a:ea typeface="Roboto"/>
                <a:cs typeface="Roboto"/>
                <a:sym typeface="Roboto"/>
              </a:rPr>
              <a:t>Bảng Tổng hợp Độ phức tạp Toàn Hệ thống &amp; Định luật Amdahl / Gustafson</a:t>
            </a:r>
            <a:endParaRPr b="1" sz="1500">
              <a:solidFill>
                <a:srgbClr val="FFFFFF"/>
              </a:solidFill>
              <a:latin typeface="Roboto"/>
              <a:ea typeface="Roboto"/>
              <a:cs typeface="Roboto"/>
              <a:sym typeface="Roboto"/>
            </a:endParaRPr>
          </a:p>
        </p:txBody>
      </p:sp>
      <p:sp>
        <p:nvSpPr>
          <p:cNvPr id="294" name="Google Shape;294;p29"/>
          <p:cNvSpPr txBox="1"/>
          <p:nvPr/>
        </p:nvSpPr>
        <p:spPr>
          <a:xfrm>
            <a:off x="304800" y="520700"/>
            <a:ext cx="8534400" cy="19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vi" sz="900">
                <a:solidFill>
                  <a:srgbClr val="BAE6FD"/>
                </a:solidFill>
                <a:latin typeface="Roboto"/>
                <a:ea typeface="Roboto"/>
                <a:cs typeface="Roboto"/>
                <a:sym typeface="Roboto"/>
              </a:rPr>
              <a:t>Đối sánh lý thuyết giữa Baseline và Đề xuất kèm phân tích giới hạn tăng tốc song song</a:t>
            </a:r>
            <a:endParaRPr i="1" sz="900">
              <a:solidFill>
                <a:srgbClr val="BAE6FD"/>
              </a:solidFill>
              <a:latin typeface="Roboto"/>
              <a:ea typeface="Roboto"/>
              <a:cs typeface="Roboto"/>
              <a:sym typeface="Roboto"/>
            </a:endParaRPr>
          </a:p>
        </p:txBody>
      </p:sp>
      <p:graphicFrame>
        <p:nvGraphicFramePr>
          <p:cNvPr id="295" name="Google Shape;295;p29"/>
          <p:cNvGraphicFramePr/>
          <p:nvPr/>
        </p:nvGraphicFramePr>
        <p:xfrm>
          <a:off x="304800" y="838200"/>
          <a:ext cx="3000000" cy="3000000"/>
        </p:xfrm>
        <a:graphic>
          <a:graphicData uri="http://schemas.openxmlformats.org/drawingml/2006/table">
            <a:tbl>
              <a:tblPr>
                <a:noFill/>
                <a:tableStyleId>{F1EB62E4-34B7-4E4F-A14F-2A7B1CF5AB84}</a:tableStyleId>
              </a:tblPr>
              <a:tblGrid>
                <a:gridCol w="1706875"/>
                <a:gridCol w="1706875"/>
                <a:gridCol w="1706875"/>
                <a:gridCol w="1706875"/>
                <a:gridCol w="1706875"/>
              </a:tblGrid>
              <a:tr h="391575">
                <a:tc>
                  <a:txBody>
                    <a:bodyPr/>
                    <a:lstStyle/>
                    <a:p>
                      <a:pPr indent="0" lvl="0" marL="0" rtl="0" algn="l">
                        <a:spcBef>
                          <a:spcPts val="0"/>
                        </a:spcBef>
                        <a:spcAft>
                          <a:spcPts val="0"/>
                        </a:spcAft>
                        <a:buNone/>
                      </a:pPr>
                      <a:r>
                        <a:rPr b="1" lang="vi" sz="950">
                          <a:solidFill>
                            <a:srgbClr val="FFFFFF"/>
                          </a:solidFill>
                          <a:latin typeface="Roboto"/>
                          <a:ea typeface="Roboto"/>
                          <a:cs typeface="Roboto"/>
                          <a:sym typeface="Roboto"/>
                        </a:rPr>
                        <a:t>Giai đoạn / Thuật toán</a:t>
                      </a:r>
                      <a:endParaRPr b="1" sz="950">
                        <a:solidFill>
                          <a:srgbClr val="FFFFFF"/>
                        </a:solidFill>
                        <a:latin typeface="Roboto"/>
                        <a:ea typeface="Roboto"/>
                        <a:cs typeface="Roboto"/>
                        <a:sym typeface="Roboto"/>
                      </a:endParaRPr>
                    </a:p>
                  </a:txBody>
                  <a:tcPr marT="91425" marB="91425" marR="91425" marL="91425">
                    <a:solidFill>
                      <a:srgbClr val="0F172A"/>
                    </a:solidFill>
                  </a:tcPr>
                </a:tc>
                <a:tc>
                  <a:txBody>
                    <a:bodyPr/>
                    <a:lstStyle/>
                    <a:p>
                      <a:pPr indent="0" lvl="0" marL="0" rtl="0" algn="l">
                        <a:spcBef>
                          <a:spcPts val="0"/>
                        </a:spcBef>
                        <a:spcAft>
                          <a:spcPts val="0"/>
                        </a:spcAft>
                        <a:buNone/>
                      </a:pPr>
                      <a:r>
                        <a:rPr b="1" lang="vi" sz="950">
                          <a:solidFill>
                            <a:srgbClr val="FFFFFF"/>
                          </a:solidFill>
                          <a:latin typeface="Roboto"/>
                          <a:ea typeface="Roboto"/>
                          <a:cs typeface="Roboto"/>
                          <a:sym typeface="Roboto"/>
                        </a:rPr>
                        <a:t>Thời gian Tuần tự</a:t>
                      </a:r>
                      <a:endParaRPr b="1" sz="950">
                        <a:solidFill>
                          <a:srgbClr val="FFFFFF"/>
                        </a:solidFill>
                        <a:latin typeface="Roboto"/>
                        <a:ea typeface="Roboto"/>
                        <a:cs typeface="Roboto"/>
                        <a:sym typeface="Roboto"/>
                      </a:endParaRPr>
                    </a:p>
                  </a:txBody>
                  <a:tcPr marT="91425" marB="91425" marR="91425" marL="91425">
                    <a:solidFill>
                      <a:srgbClr val="0F172A"/>
                    </a:solidFill>
                  </a:tcPr>
                </a:tc>
                <a:tc>
                  <a:txBody>
                    <a:bodyPr/>
                    <a:lstStyle/>
                    <a:p>
                      <a:pPr indent="0" lvl="0" marL="0" rtl="0" algn="l">
                        <a:spcBef>
                          <a:spcPts val="0"/>
                        </a:spcBef>
                        <a:spcAft>
                          <a:spcPts val="0"/>
                        </a:spcAft>
                        <a:buNone/>
                      </a:pPr>
                      <a:r>
                        <a:rPr b="1" lang="vi" sz="950">
                          <a:solidFill>
                            <a:srgbClr val="FFFFFF"/>
                          </a:solidFill>
                          <a:latin typeface="Roboto"/>
                          <a:ea typeface="Roboto"/>
                          <a:cs typeface="Roboto"/>
                          <a:sym typeface="Roboto"/>
                        </a:rPr>
                        <a:t>Thời gian Song song</a:t>
                      </a:r>
                      <a:endParaRPr b="1" sz="950">
                        <a:solidFill>
                          <a:srgbClr val="FFFFFF"/>
                        </a:solidFill>
                        <a:latin typeface="Roboto"/>
                        <a:ea typeface="Roboto"/>
                        <a:cs typeface="Roboto"/>
                        <a:sym typeface="Roboto"/>
                      </a:endParaRPr>
                    </a:p>
                  </a:txBody>
                  <a:tcPr marT="91425" marB="91425" marR="91425" marL="91425">
                    <a:solidFill>
                      <a:srgbClr val="0F172A"/>
                    </a:solidFill>
                  </a:tcPr>
                </a:tc>
                <a:tc>
                  <a:txBody>
                    <a:bodyPr/>
                    <a:lstStyle/>
                    <a:p>
                      <a:pPr indent="0" lvl="0" marL="0" rtl="0" algn="l">
                        <a:spcBef>
                          <a:spcPts val="0"/>
                        </a:spcBef>
                        <a:spcAft>
                          <a:spcPts val="0"/>
                        </a:spcAft>
                        <a:buNone/>
                      </a:pPr>
                      <a:r>
                        <a:rPr b="1" lang="vi" sz="950">
                          <a:solidFill>
                            <a:srgbClr val="FFFFFF"/>
                          </a:solidFill>
                          <a:latin typeface="Roboto"/>
                          <a:ea typeface="Roboto"/>
                          <a:cs typeface="Roboto"/>
                          <a:sym typeface="Roboto"/>
                        </a:rPr>
                        <a:t>Bộ nhớ RAM</a:t>
                      </a:r>
                      <a:endParaRPr b="1" sz="950">
                        <a:solidFill>
                          <a:srgbClr val="FFFFFF"/>
                        </a:solidFill>
                        <a:latin typeface="Roboto"/>
                        <a:ea typeface="Roboto"/>
                        <a:cs typeface="Roboto"/>
                        <a:sym typeface="Roboto"/>
                      </a:endParaRPr>
                    </a:p>
                  </a:txBody>
                  <a:tcPr marT="91425" marB="91425" marR="91425" marL="91425">
                    <a:solidFill>
                      <a:srgbClr val="0F172A"/>
                    </a:solidFill>
                  </a:tcPr>
                </a:tc>
                <a:tc>
                  <a:txBody>
                    <a:bodyPr/>
                    <a:lstStyle/>
                    <a:p>
                      <a:pPr indent="0" lvl="0" marL="0" rtl="0" algn="l">
                        <a:spcBef>
                          <a:spcPts val="0"/>
                        </a:spcBef>
                        <a:spcAft>
                          <a:spcPts val="0"/>
                        </a:spcAft>
                        <a:buNone/>
                      </a:pPr>
                      <a:r>
                        <a:rPr b="1" lang="vi" sz="950">
                          <a:solidFill>
                            <a:srgbClr val="FFFFFF"/>
                          </a:solidFill>
                          <a:latin typeface="Roboto"/>
                          <a:ea typeface="Roboto"/>
                          <a:cs typeface="Roboto"/>
                          <a:sym typeface="Roboto"/>
                        </a:rPr>
                        <a:t>Đóng góp &amp; Ý nghĩa</a:t>
                      </a:r>
                      <a:endParaRPr b="1" sz="950">
                        <a:solidFill>
                          <a:srgbClr val="FFFFFF"/>
                        </a:solidFill>
                        <a:latin typeface="Roboto"/>
                        <a:ea typeface="Roboto"/>
                        <a:cs typeface="Roboto"/>
                        <a:sym typeface="Roboto"/>
                      </a:endParaRPr>
                    </a:p>
                  </a:txBody>
                  <a:tcPr marT="91425" marB="91425" marR="91425" marL="91425">
                    <a:solidFill>
                      <a:srgbClr val="0F172A"/>
                    </a:solidFill>
                  </a:tcPr>
                </a:tc>
              </a:tr>
              <a:tr h="391575">
                <a:tc>
                  <a:txBody>
                    <a:bodyPr/>
                    <a:lstStyle/>
                    <a:p>
                      <a:pPr indent="0" lvl="0" marL="0" rtl="0" algn="l">
                        <a:spcBef>
                          <a:spcPts val="0"/>
                        </a:spcBef>
                        <a:spcAft>
                          <a:spcPts val="0"/>
                        </a:spcAft>
                        <a:buNone/>
                      </a:pPr>
                      <a:r>
                        <a:rPr b="1" lang="vi" sz="900">
                          <a:solidFill>
                            <a:srgbClr val="1E293B"/>
                          </a:solidFill>
                          <a:latin typeface="Roboto"/>
                          <a:ea typeface="Roboto"/>
                          <a:cs typeface="Roboto"/>
                          <a:sym typeface="Roboto"/>
                        </a:rPr>
                        <a:t>Gotoh NW (1982) Baseline</a:t>
                      </a:r>
                      <a:endParaRPr b="1" sz="900">
                        <a:solidFill>
                          <a:srgbClr val="1E293B"/>
                        </a:solidFill>
                        <a:latin typeface="Roboto"/>
                        <a:ea typeface="Roboto"/>
                        <a:cs typeface="Roboto"/>
                        <a:sym typeface="Roboto"/>
                      </a:endParaRPr>
                    </a:p>
                  </a:txBody>
                  <a:tcPr marT="91425" marB="91425" marR="91425" marL="91425">
                    <a:solidFill>
                      <a:srgbClr val="FFFFFF"/>
                    </a:solidFill>
                  </a:tcPr>
                </a:tc>
                <a:tc>
                  <a:txBody>
                    <a:bodyPr/>
                    <a:lstStyle/>
                    <a:p>
                      <a:pPr indent="0" lvl="0" marL="0" rtl="0" algn="l">
                        <a:spcBef>
                          <a:spcPts val="0"/>
                        </a:spcBef>
                        <a:spcAft>
                          <a:spcPts val="0"/>
                        </a:spcAft>
                        <a:buNone/>
                      </a:pPr>
                      <a:r>
                        <a:rPr lang="vi" sz="900">
                          <a:solidFill>
                            <a:srgbClr val="1E293B"/>
                          </a:solidFill>
                          <a:latin typeface="Roboto"/>
                          <a:ea typeface="Roboto"/>
                          <a:cs typeface="Roboto"/>
                          <a:sym typeface="Roboto"/>
                        </a:rPr>
                        <a:t>O(m · n)</a:t>
                      </a:r>
                      <a:endParaRPr sz="900">
                        <a:solidFill>
                          <a:srgbClr val="1E293B"/>
                        </a:solidFill>
                        <a:latin typeface="Roboto"/>
                        <a:ea typeface="Roboto"/>
                        <a:cs typeface="Roboto"/>
                        <a:sym typeface="Roboto"/>
                      </a:endParaRPr>
                    </a:p>
                  </a:txBody>
                  <a:tcPr marT="91425" marB="91425" marR="91425" marL="91425">
                    <a:solidFill>
                      <a:srgbClr val="FFFFFF"/>
                    </a:solidFill>
                  </a:tcPr>
                </a:tc>
                <a:tc>
                  <a:txBody>
                    <a:bodyPr/>
                    <a:lstStyle/>
                    <a:p>
                      <a:pPr indent="0" lvl="0" marL="0" rtl="0" algn="l">
                        <a:spcBef>
                          <a:spcPts val="0"/>
                        </a:spcBef>
                        <a:spcAft>
                          <a:spcPts val="0"/>
                        </a:spcAft>
                        <a:buNone/>
                      </a:pPr>
                      <a:r>
                        <a:rPr lang="vi" sz="900">
                          <a:solidFill>
                            <a:srgbClr val="1E293B"/>
                          </a:solidFill>
                          <a:latin typeface="Roboto"/>
                          <a:ea typeface="Roboto"/>
                          <a:cs typeface="Roboto"/>
                          <a:sym typeface="Roboto"/>
                        </a:rPr>
                        <a:t>—</a:t>
                      </a:r>
                      <a:endParaRPr sz="900">
                        <a:solidFill>
                          <a:srgbClr val="1E293B"/>
                        </a:solidFill>
                        <a:latin typeface="Roboto"/>
                        <a:ea typeface="Roboto"/>
                        <a:cs typeface="Roboto"/>
                        <a:sym typeface="Roboto"/>
                      </a:endParaRPr>
                    </a:p>
                  </a:txBody>
                  <a:tcPr marT="91425" marB="91425" marR="91425" marL="91425">
                    <a:solidFill>
                      <a:srgbClr val="FFFFFF"/>
                    </a:solidFill>
                  </a:tcPr>
                </a:tc>
                <a:tc>
                  <a:txBody>
                    <a:bodyPr/>
                    <a:lstStyle/>
                    <a:p>
                      <a:pPr indent="0" lvl="0" marL="0" rtl="0" algn="l">
                        <a:spcBef>
                          <a:spcPts val="0"/>
                        </a:spcBef>
                        <a:spcAft>
                          <a:spcPts val="0"/>
                        </a:spcAft>
                        <a:buNone/>
                      </a:pPr>
                      <a:r>
                        <a:rPr lang="vi" sz="900">
                          <a:solidFill>
                            <a:srgbClr val="1E293B"/>
                          </a:solidFill>
                          <a:latin typeface="Roboto"/>
                          <a:ea typeface="Roboto"/>
                          <a:cs typeface="Roboto"/>
                          <a:sym typeface="Roboto"/>
                        </a:rPr>
                        <a:t>O(m · n) [3 ma trận]</a:t>
                      </a:r>
                      <a:endParaRPr sz="900">
                        <a:solidFill>
                          <a:srgbClr val="1E293B"/>
                        </a:solidFill>
                        <a:latin typeface="Roboto"/>
                        <a:ea typeface="Roboto"/>
                        <a:cs typeface="Roboto"/>
                        <a:sym typeface="Roboto"/>
                      </a:endParaRPr>
                    </a:p>
                  </a:txBody>
                  <a:tcPr marT="91425" marB="91425" marR="91425" marL="91425">
                    <a:solidFill>
                      <a:srgbClr val="FFFFFF"/>
                    </a:solidFill>
                  </a:tcPr>
                </a:tc>
                <a:tc>
                  <a:txBody>
                    <a:bodyPr/>
                    <a:lstStyle/>
                    <a:p>
                      <a:pPr indent="0" lvl="0" marL="0" rtl="0" algn="l">
                        <a:spcBef>
                          <a:spcPts val="0"/>
                        </a:spcBef>
                        <a:spcAft>
                          <a:spcPts val="0"/>
                        </a:spcAft>
                        <a:buNone/>
                      </a:pPr>
                      <a:r>
                        <a:rPr lang="vi" sz="900">
                          <a:solidFill>
                            <a:srgbClr val="1E293B"/>
                          </a:solidFill>
                          <a:latin typeface="Roboto"/>
                          <a:ea typeface="Roboto"/>
                          <a:cs typeface="Roboto"/>
                          <a:sym typeface="Roboto"/>
                        </a:rPr>
                        <a:t>Tràn RAM khi chuỗi dài m,n ≥ 10⁴</a:t>
                      </a:r>
                      <a:endParaRPr sz="900">
                        <a:solidFill>
                          <a:srgbClr val="1E293B"/>
                        </a:solidFill>
                        <a:latin typeface="Roboto"/>
                        <a:ea typeface="Roboto"/>
                        <a:cs typeface="Roboto"/>
                        <a:sym typeface="Roboto"/>
                      </a:endParaRPr>
                    </a:p>
                  </a:txBody>
                  <a:tcPr marT="91425" marB="91425" marR="91425" marL="91425">
                    <a:solidFill>
                      <a:srgbClr val="FFFFFF"/>
                    </a:solidFill>
                  </a:tcPr>
                </a:tc>
              </a:tr>
              <a:tr h="391575">
                <a:tc>
                  <a:txBody>
                    <a:bodyPr/>
                    <a:lstStyle/>
                    <a:p>
                      <a:pPr indent="0" lvl="0" marL="0" rtl="0" algn="l">
                        <a:spcBef>
                          <a:spcPts val="0"/>
                        </a:spcBef>
                        <a:spcAft>
                          <a:spcPts val="0"/>
                        </a:spcAft>
                        <a:buNone/>
                      </a:pPr>
                      <a:r>
                        <a:rPr b="1" lang="vi" sz="900">
                          <a:solidFill>
                            <a:srgbClr val="065F46"/>
                          </a:solidFill>
                          <a:latin typeface="Roboto"/>
                          <a:ea typeface="Roboto"/>
                          <a:cs typeface="Roboto"/>
                          <a:sym typeface="Roboto"/>
                        </a:rPr>
                        <a:t>Myers-Miller D&amp;C (Đề xuất)</a:t>
                      </a:r>
                      <a:endParaRPr b="1" sz="900">
                        <a:solidFill>
                          <a:srgbClr val="065F46"/>
                        </a:solidFill>
                        <a:latin typeface="Roboto"/>
                        <a:ea typeface="Roboto"/>
                        <a:cs typeface="Roboto"/>
                        <a:sym typeface="Roboto"/>
                      </a:endParaRPr>
                    </a:p>
                  </a:txBody>
                  <a:tcPr marT="91425" marB="91425" marR="91425" marL="91425">
                    <a:solidFill>
                      <a:srgbClr val="D1FAE5"/>
                    </a:solidFill>
                  </a:tcPr>
                </a:tc>
                <a:tc>
                  <a:txBody>
                    <a:bodyPr/>
                    <a:lstStyle/>
                    <a:p>
                      <a:pPr indent="0" lvl="0" marL="0" rtl="0" algn="l">
                        <a:spcBef>
                          <a:spcPts val="0"/>
                        </a:spcBef>
                        <a:spcAft>
                          <a:spcPts val="0"/>
                        </a:spcAft>
                        <a:buNone/>
                      </a:pPr>
                      <a:r>
                        <a:rPr b="1" lang="vi" sz="900">
                          <a:solidFill>
                            <a:srgbClr val="065F46"/>
                          </a:solidFill>
                          <a:latin typeface="Roboto"/>
                          <a:ea typeface="Roboto"/>
                          <a:cs typeface="Roboto"/>
                          <a:sym typeface="Roboto"/>
                        </a:rPr>
                        <a:t>2 · O(m · n)</a:t>
                      </a:r>
                      <a:endParaRPr b="1" sz="900">
                        <a:solidFill>
                          <a:srgbClr val="065F46"/>
                        </a:solidFill>
                        <a:latin typeface="Roboto"/>
                        <a:ea typeface="Roboto"/>
                        <a:cs typeface="Roboto"/>
                        <a:sym typeface="Roboto"/>
                      </a:endParaRPr>
                    </a:p>
                  </a:txBody>
                  <a:tcPr marT="91425" marB="91425" marR="91425" marL="91425">
                    <a:solidFill>
                      <a:srgbClr val="D1FAE5"/>
                    </a:solidFill>
                  </a:tcPr>
                </a:tc>
                <a:tc>
                  <a:txBody>
                    <a:bodyPr/>
                    <a:lstStyle/>
                    <a:p>
                      <a:pPr indent="0" lvl="0" marL="0" rtl="0" algn="l">
                        <a:spcBef>
                          <a:spcPts val="0"/>
                        </a:spcBef>
                        <a:spcAft>
                          <a:spcPts val="0"/>
                        </a:spcAft>
                        <a:buNone/>
                      </a:pPr>
                      <a:r>
                        <a:rPr b="1" lang="vi" sz="900">
                          <a:solidFill>
                            <a:srgbClr val="065F46"/>
                          </a:solidFill>
                          <a:latin typeface="Roboto"/>
                          <a:ea typeface="Roboto"/>
                          <a:cs typeface="Roboto"/>
                          <a:sym typeface="Roboto"/>
                        </a:rPr>
                        <a:t>O(m · n / P_wave)</a:t>
                      </a:r>
                      <a:endParaRPr b="1" sz="900">
                        <a:solidFill>
                          <a:srgbClr val="065F46"/>
                        </a:solidFill>
                        <a:latin typeface="Roboto"/>
                        <a:ea typeface="Roboto"/>
                        <a:cs typeface="Roboto"/>
                        <a:sym typeface="Roboto"/>
                      </a:endParaRPr>
                    </a:p>
                  </a:txBody>
                  <a:tcPr marT="91425" marB="91425" marR="91425" marL="91425">
                    <a:solidFill>
                      <a:srgbClr val="D1FAE5"/>
                    </a:solidFill>
                  </a:tcPr>
                </a:tc>
                <a:tc>
                  <a:txBody>
                    <a:bodyPr/>
                    <a:lstStyle/>
                    <a:p>
                      <a:pPr indent="0" lvl="0" marL="0" rtl="0" algn="l">
                        <a:spcBef>
                          <a:spcPts val="0"/>
                        </a:spcBef>
                        <a:spcAft>
                          <a:spcPts val="0"/>
                        </a:spcAft>
                        <a:buNone/>
                      </a:pPr>
                      <a:r>
                        <a:rPr b="1" lang="vi" sz="900">
                          <a:solidFill>
                            <a:srgbClr val="065F46"/>
                          </a:solidFill>
                          <a:latin typeface="Roboto"/>
                          <a:ea typeface="Roboto"/>
                          <a:cs typeface="Roboto"/>
                          <a:sym typeface="Roboto"/>
                        </a:rPr>
                        <a:t>O(min(m, n)) [1D]</a:t>
                      </a:r>
                      <a:endParaRPr b="1" sz="900">
                        <a:solidFill>
                          <a:srgbClr val="065F46"/>
                        </a:solidFill>
                        <a:latin typeface="Roboto"/>
                        <a:ea typeface="Roboto"/>
                        <a:cs typeface="Roboto"/>
                        <a:sym typeface="Roboto"/>
                      </a:endParaRPr>
                    </a:p>
                  </a:txBody>
                  <a:tcPr marT="91425" marB="91425" marR="91425" marL="91425">
                    <a:solidFill>
                      <a:srgbClr val="D1FAE5"/>
                    </a:solidFill>
                  </a:tcPr>
                </a:tc>
                <a:tc>
                  <a:txBody>
                    <a:bodyPr/>
                    <a:lstStyle/>
                    <a:p>
                      <a:pPr indent="0" lvl="0" marL="0" rtl="0" algn="l">
                        <a:spcBef>
                          <a:spcPts val="0"/>
                        </a:spcBef>
                        <a:spcAft>
                          <a:spcPts val="0"/>
                        </a:spcAft>
                        <a:buNone/>
                      </a:pPr>
                      <a:r>
                        <a:rPr b="1" lang="vi" sz="900">
                          <a:solidFill>
                            <a:srgbClr val="065F46"/>
                          </a:solidFill>
                          <a:latin typeface="Roboto"/>
                          <a:ea typeface="Roboto"/>
                          <a:cs typeface="Roboto"/>
                          <a:sym typeface="Roboto"/>
                        </a:rPr>
                        <a:t>Giảm &gt;90× – 1.353× RAM, khớp 100%</a:t>
                      </a:r>
                      <a:endParaRPr b="1" sz="900">
                        <a:solidFill>
                          <a:srgbClr val="065F46"/>
                        </a:solidFill>
                        <a:latin typeface="Roboto"/>
                        <a:ea typeface="Roboto"/>
                        <a:cs typeface="Roboto"/>
                        <a:sym typeface="Roboto"/>
                      </a:endParaRPr>
                    </a:p>
                  </a:txBody>
                  <a:tcPr marT="91425" marB="91425" marR="91425" marL="91425">
                    <a:solidFill>
                      <a:srgbClr val="D1FAE5"/>
                    </a:solidFill>
                  </a:tcPr>
                </a:tc>
              </a:tr>
              <a:tr h="391575">
                <a:tc>
                  <a:txBody>
                    <a:bodyPr/>
                    <a:lstStyle/>
                    <a:p>
                      <a:pPr indent="0" lvl="0" marL="0" rtl="0" algn="l">
                        <a:spcBef>
                          <a:spcPts val="0"/>
                        </a:spcBef>
                        <a:spcAft>
                          <a:spcPts val="0"/>
                        </a:spcAft>
                        <a:buNone/>
                      </a:pPr>
                      <a:r>
                        <a:rPr b="1" lang="vi" sz="900">
                          <a:solidFill>
                            <a:srgbClr val="1E293B"/>
                          </a:solidFill>
                          <a:latin typeface="Roboto"/>
                          <a:ea typeface="Roboto"/>
                          <a:cs typeface="Roboto"/>
                          <a:sym typeface="Roboto"/>
                        </a:rPr>
                        <a:t>GĐ 1: Ma trận Khoảng cách</a:t>
                      </a:r>
                      <a:endParaRPr b="1" sz="900">
                        <a:solidFill>
                          <a:srgbClr val="1E293B"/>
                        </a:solidFill>
                        <a:latin typeface="Roboto"/>
                        <a:ea typeface="Roboto"/>
                        <a:cs typeface="Roboto"/>
                        <a:sym typeface="Roboto"/>
                      </a:endParaRPr>
                    </a:p>
                  </a:txBody>
                  <a:tcPr marT="91425" marB="91425" marR="91425" marL="91425">
                    <a:solidFill>
                      <a:srgbClr val="FFFFFF"/>
                    </a:solidFill>
                  </a:tcPr>
                </a:tc>
                <a:tc>
                  <a:txBody>
                    <a:bodyPr/>
                    <a:lstStyle/>
                    <a:p>
                      <a:pPr indent="0" lvl="0" marL="0" rtl="0" algn="l">
                        <a:spcBef>
                          <a:spcPts val="0"/>
                        </a:spcBef>
                        <a:spcAft>
                          <a:spcPts val="0"/>
                        </a:spcAft>
                        <a:buNone/>
                      </a:pPr>
                      <a:r>
                        <a:rPr lang="vi" sz="900">
                          <a:solidFill>
                            <a:srgbClr val="1E293B"/>
                          </a:solidFill>
                          <a:latin typeface="Roboto"/>
                          <a:ea typeface="Roboto"/>
                          <a:cs typeface="Roboto"/>
                          <a:sym typeface="Roboto"/>
                        </a:rPr>
                        <a:t>O(k² · N²)</a:t>
                      </a:r>
                      <a:endParaRPr sz="900">
                        <a:solidFill>
                          <a:srgbClr val="1E293B"/>
                        </a:solidFill>
                        <a:latin typeface="Roboto"/>
                        <a:ea typeface="Roboto"/>
                        <a:cs typeface="Roboto"/>
                        <a:sym typeface="Roboto"/>
                      </a:endParaRPr>
                    </a:p>
                  </a:txBody>
                  <a:tcPr marT="91425" marB="91425" marR="91425" marL="91425">
                    <a:solidFill>
                      <a:srgbClr val="FFFFFF"/>
                    </a:solidFill>
                  </a:tcPr>
                </a:tc>
                <a:tc>
                  <a:txBody>
                    <a:bodyPr/>
                    <a:lstStyle/>
                    <a:p>
                      <a:pPr indent="0" lvl="0" marL="0" rtl="0" algn="l">
                        <a:spcBef>
                          <a:spcPts val="0"/>
                        </a:spcBef>
                        <a:spcAft>
                          <a:spcPts val="0"/>
                        </a:spcAft>
                        <a:buNone/>
                      </a:pPr>
                      <a:r>
                        <a:rPr lang="vi" sz="900">
                          <a:solidFill>
                            <a:srgbClr val="1E293B"/>
                          </a:solidFill>
                          <a:latin typeface="Roboto"/>
                          <a:ea typeface="Roboto"/>
                          <a:cs typeface="Roboto"/>
                          <a:sym typeface="Roboto"/>
                        </a:rPr>
                        <a:t>O(k² · N² / P)</a:t>
                      </a:r>
                      <a:endParaRPr sz="900">
                        <a:solidFill>
                          <a:srgbClr val="1E293B"/>
                        </a:solidFill>
                        <a:latin typeface="Roboto"/>
                        <a:ea typeface="Roboto"/>
                        <a:cs typeface="Roboto"/>
                        <a:sym typeface="Roboto"/>
                      </a:endParaRPr>
                    </a:p>
                  </a:txBody>
                  <a:tcPr marT="91425" marB="91425" marR="91425" marL="91425">
                    <a:solidFill>
                      <a:srgbClr val="FFFFFF"/>
                    </a:solidFill>
                  </a:tcPr>
                </a:tc>
                <a:tc>
                  <a:txBody>
                    <a:bodyPr/>
                    <a:lstStyle/>
                    <a:p>
                      <a:pPr indent="0" lvl="0" marL="0" rtl="0" algn="l">
                        <a:spcBef>
                          <a:spcPts val="0"/>
                        </a:spcBef>
                        <a:spcAft>
                          <a:spcPts val="0"/>
                        </a:spcAft>
                        <a:buNone/>
                      </a:pPr>
                      <a:r>
                        <a:rPr lang="vi" sz="900">
                          <a:solidFill>
                            <a:srgbClr val="1E293B"/>
                          </a:solidFill>
                          <a:latin typeface="Roboto"/>
                          <a:ea typeface="Roboto"/>
                          <a:cs typeface="Roboto"/>
                          <a:sym typeface="Roboto"/>
                        </a:rPr>
                        <a:t>O(k² + P · N)</a:t>
                      </a:r>
                      <a:endParaRPr sz="900">
                        <a:solidFill>
                          <a:srgbClr val="1E293B"/>
                        </a:solidFill>
                        <a:latin typeface="Roboto"/>
                        <a:ea typeface="Roboto"/>
                        <a:cs typeface="Roboto"/>
                        <a:sym typeface="Roboto"/>
                      </a:endParaRPr>
                    </a:p>
                  </a:txBody>
                  <a:tcPr marT="91425" marB="91425" marR="91425" marL="91425">
                    <a:solidFill>
                      <a:srgbClr val="FFFFFF"/>
                    </a:solidFill>
                  </a:tcPr>
                </a:tc>
                <a:tc>
                  <a:txBody>
                    <a:bodyPr/>
                    <a:lstStyle/>
                    <a:p>
                      <a:pPr indent="0" lvl="0" marL="0" rtl="0" algn="l">
                        <a:spcBef>
                          <a:spcPts val="0"/>
                        </a:spcBef>
                        <a:spcAft>
                          <a:spcPts val="0"/>
                        </a:spcAft>
                        <a:buNone/>
                      </a:pPr>
                      <a:r>
                        <a:rPr lang="vi" sz="900">
                          <a:solidFill>
                            <a:srgbClr val="1E293B"/>
                          </a:solidFill>
                          <a:latin typeface="Roboto"/>
                          <a:ea typeface="Roboto"/>
                          <a:cs typeface="Roboto"/>
                          <a:sym typeface="Roboto"/>
                        </a:rPr>
                        <a:t>Song song lý tưởng k(k-1)/2 cặp</a:t>
                      </a:r>
                      <a:endParaRPr sz="900">
                        <a:solidFill>
                          <a:srgbClr val="1E293B"/>
                        </a:solidFill>
                        <a:latin typeface="Roboto"/>
                        <a:ea typeface="Roboto"/>
                        <a:cs typeface="Roboto"/>
                        <a:sym typeface="Roboto"/>
                      </a:endParaRPr>
                    </a:p>
                  </a:txBody>
                  <a:tcPr marT="91425" marB="91425" marR="91425" marL="91425">
                    <a:solidFill>
                      <a:srgbClr val="FFFFFF"/>
                    </a:solidFill>
                  </a:tcPr>
                </a:tc>
              </a:tr>
              <a:tr h="391575">
                <a:tc>
                  <a:txBody>
                    <a:bodyPr/>
                    <a:lstStyle/>
                    <a:p>
                      <a:pPr indent="0" lvl="0" marL="0" rtl="0" algn="l">
                        <a:spcBef>
                          <a:spcPts val="0"/>
                        </a:spcBef>
                        <a:spcAft>
                          <a:spcPts val="0"/>
                        </a:spcAft>
                        <a:buNone/>
                      </a:pPr>
                      <a:r>
                        <a:rPr b="1" lang="vi" sz="900">
                          <a:solidFill>
                            <a:srgbClr val="1E293B"/>
                          </a:solidFill>
                          <a:latin typeface="Roboto"/>
                          <a:ea typeface="Roboto"/>
                          <a:cs typeface="Roboto"/>
                          <a:sym typeface="Roboto"/>
                        </a:rPr>
                        <a:t>GĐ 2: Cây Hướng dẫn UPGMA</a:t>
                      </a:r>
                      <a:endParaRPr b="1" sz="900">
                        <a:solidFill>
                          <a:srgbClr val="1E293B"/>
                        </a:solidFill>
                        <a:latin typeface="Roboto"/>
                        <a:ea typeface="Roboto"/>
                        <a:cs typeface="Roboto"/>
                        <a:sym typeface="Roboto"/>
                      </a:endParaRPr>
                    </a:p>
                  </a:txBody>
                  <a:tcPr marT="91425" marB="91425" marR="91425" marL="91425">
                    <a:solidFill>
                      <a:srgbClr val="F1F5F9"/>
                    </a:solidFill>
                  </a:tcPr>
                </a:tc>
                <a:tc>
                  <a:txBody>
                    <a:bodyPr/>
                    <a:lstStyle/>
                    <a:p>
                      <a:pPr indent="0" lvl="0" marL="0" rtl="0" algn="l">
                        <a:spcBef>
                          <a:spcPts val="0"/>
                        </a:spcBef>
                        <a:spcAft>
                          <a:spcPts val="0"/>
                        </a:spcAft>
                        <a:buNone/>
                      </a:pPr>
                      <a:r>
                        <a:rPr lang="vi" sz="900">
                          <a:solidFill>
                            <a:srgbClr val="1E293B"/>
                          </a:solidFill>
                          <a:latin typeface="Roboto"/>
                          <a:ea typeface="Roboto"/>
                          <a:cs typeface="Roboto"/>
                          <a:sym typeface="Roboto"/>
                        </a:rPr>
                        <a:t>O(k²)</a:t>
                      </a:r>
                      <a:endParaRPr sz="900">
                        <a:solidFill>
                          <a:srgbClr val="1E293B"/>
                        </a:solidFill>
                        <a:latin typeface="Roboto"/>
                        <a:ea typeface="Roboto"/>
                        <a:cs typeface="Roboto"/>
                        <a:sym typeface="Roboto"/>
                      </a:endParaRPr>
                    </a:p>
                  </a:txBody>
                  <a:tcPr marT="91425" marB="91425" marR="91425" marL="91425">
                    <a:solidFill>
                      <a:srgbClr val="F1F5F9"/>
                    </a:solidFill>
                  </a:tcPr>
                </a:tc>
                <a:tc>
                  <a:txBody>
                    <a:bodyPr/>
                    <a:lstStyle/>
                    <a:p>
                      <a:pPr indent="0" lvl="0" marL="0" rtl="0" algn="l">
                        <a:spcBef>
                          <a:spcPts val="0"/>
                        </a:spcBef>
                        <a:spcAft>
                          <a:spcPts val="0"/>
                        </a:spcAft>
                        <a:buNone/>
                      </a:pPr>
                      <a:r>
                        <a:rPr lang="vi" sz="900">
                          <a:solidFill>
                            <a:srgbClr val="1E293B"/>
                          </a:solidFill>
                          <a:latin typeface="Roboto"/>
                          <a:ea typeface="Roboto"/>
                          <a:cs typeface="Roboto"/>
                          <a:sym typeface="Roboto"/>
                        </a:rPr>
                        <a:t>O(k²) [Siêu nhanh]</a:t>
                      </a:r>
                      <a:endParaRPr sz="900">
                        <a:solidFill>
                          <a:srgbClr val="1E293B"/>
                        </a:solidFill>
                        <a:latin typeface="Roboto"/>
                        <a:ea typeface="Roboto"/>
                        <a:cs typeface="Roboto"/>
                        <a:sym typeface="Roboto"/>
                      </a:endParaRPr>
                    </a:p>
                  </a:txBody>
                  <a:tcPr marT="91425" marB="91425" marR="91425" marL="91425">
                    <a:solidFill>
                      <a:srgbClr val="F1F5F9"/>
                    </a:solidFill>
                  </a:tcPr>
                </a:tc>
                <a:tc>
                  <a:txBody>
                    <a:bodyPr/>
                    <a:lstStyle/>
                    <a:p>
                      <a:pPr indent="0" lvl="0" marL="0" rtl="0" algn="l">
                        <a:spcBef>
                          <a:spcPts val="0"/>
                        </a:spcBef>
                        <a:spcAft>
                          <a:spcPts val="0"/>
                        </a:spcAft>
                        <a:buNone/>
                      </a:pPr>
                      <a:r>
                        <a:rPr lang="vi" sz="900">
                          <a:solidFill>
                            <a:srgbClr val="1E293B"/>
                          </a:solidFill>
                          <a:latin typeface="Roboto"/>
                          <a:ea typeface="Roboto"/>
                          <a:cs typeface="Roboto"/>
                          <a:sym typeface="Roboto"/>
                        </a:rPr>
                        <a:t>O(k²)</a:t>
                      </a:r>
                      <a:endParaRPr sz="900">
                        <a:solidFill>
                          <a:srgbClr val="1E293B"/>
                        </a:solidFill>
                        <a:latin typeface="Roboto"/>
                        <a:ea typeface="Roboto"/>
                        <a:cs typeface="Roboto"/>
                        <a:sym typeface="Roboto"/>
                      </a:endParaRPr>
                    </a:p>
                  </a:txBody>
                  <a:tcPr marT="91425" marB="91425" marR="91425" marL="91425">
                    <a:solidFill>
                      <a:srgbClr val="F1F5F9"/>
                    </a:solidFill>
                  </a:tcPr>
                </a:tc>
                <a:tc>
                  <a:txBody>
                    <a:bodyPr/>
                    <a:lstStyle/>
                    <a:p>
                      <a:pPr indent="0" lvl="0" marL="0" rtl="0" algn="l">
                        <a:spcBef>
                          <a:spcPts val="0"/>
                        </a:spcBef>
                        <a:spcAft>
                          <a:spcPts val="0"/>
                        </a:spcAft>
                        <a:buNone/>
                      </a:pPr>
                      <a:r>
                        <a:rPr lang="vi" sz="900">
                          <a:solidFill>
                            <a:srgbClr val="1E293B"/>
                          </a:solidFill>
                          <a:latin typeface="Roboto"/>
                          <a:ea typeface="Roboto"/>
                          <a:cs typeface="Roboto"/>
                          <a:sym typeface="Roboto"/>
                        </a:rPr>
                        <a:t>Thời gian &lt; 1 ms với k ≤ 100</a:t>
                      </a:r>
                      <a:endParaRPr sz="900">
                        <a:solidFill>
                          <a:srgbClr val="1E293B"/>
                        </a:solidFill>
                        <a:latin typeface="Roboto"/>
                        <a:ea typeface="Roboto"/>
                        <a:cs typeface="Roboto"/>
                        <a:sym typeface="Roboto"/>
                      </a:endParaRPr>
                    </a:p>
                  </a:txBody>
                  <a:tcPr marT="91425" marB="91425" marR="91425" marL="91425">
                    <a:solidFill>
                      <a:srgbClr val="F1F5F9"/>
                    </a:solidFill>
                  </a:tcPr>
                </a:tc>
              </a:tr>
              <a:tr h="391575">
                <a:tc>
                  <a:txBody>
                    <a:bodyPr/>
                    <a:lstStyle/>
                    <a:p>
                      <a:pPr indent="0" lvl="0" marL="0" rtl="0" algn="l">
                        <a:spcBef>
                          <a:spcPts val="0"/>
                        </a:spcBef>
                        <a:spcAft>
                          <a:spcPts val="0"/>
                        </a:spcAft>
                        <a:buNone/>
                      </a:pPr>
                      <a:r>
                        <a:rPr b="1" lang="vi" sz="900">
                          <a:solidFill>
                            <a:srgbClr val="065F46"/>
                          </a:solidFill>
                          <a:latin typeface="Roboto"/>
                          <a:ea typeface="Roboto"/>
                          <a:cs typeface="Roboto"/>
                          <a:sym typeface="Roboto"/>
                        </a:rPr>
                        <a:t>GĐ 3 &amp; 4: Progressive Tree</a:t>
                      </a:r>
                      <a:endParaRPr b="1" sz="900">
                        <a:solidFill>
                          <a:srgbClr val="065F46"/>
                        </a:solidFill>
                        <a:latin typeface="Roboto"/>
                        <a:ea typeface="Roboto"/>
                        <a:cs typeface="Roboto"/>
                        <a:sym typeface="Roboto"/>
                      </a:endParaRPr>
                    </a:p>
                  </a:txBody>
                  <a:tcPr marT="91425" marB="91425" marR="91425" marL="91425">
                    <a:solidFill>
                      <a:srgbClr val="D1FAE5"/>
                    </a:solidFill>
                  </a:tcPr>
                </a:tc>
                <a:tc>
                  <a:txBody>
                    <a:bodyPr/>
                    <a:lstStyle/>
                    <a:p>
                      <a:pPr indent="0" lvl="0" marL="0" rtl="0" algn="l">
                        <a:spcBef>
                          <a:spcPts val="0"/>
                        </a:spcBef>
                        <a:spcAft>
                          <a:spcPts val="0"/>
                        </a:spcAft>
                        <a:buNone/>
                      </a:pPr>
                      <a:r>
                        <a:rPr b="1" lang="vi" sz="900">
                          <a:solidFill>
                            <a:srgbClr val="065F46"/>
                          </a:solidFill>
                          <a:latin typeface="Roboto"/>
                          <a:ea typeface="Roboto"/>
                          <a:cs typeface="Roboto"/>
                          <a:sym typeface="Roboto"/>
                        </a:rPr>
                        <a:t>O(k · L²)</a:t>
                      </a:r>
                      <a:endParaRPr b="1" sz="900">
                        <a:solidFill>
                          <a:srgbClr val="065F46"/>
                        </a:solidFill>
                        <a:latin typeface="Roboto"/>
                        <a:ea typeface="Roboto"/>
                        <a:cs typeface="Roboto"/>
                        <a:sym typeface="Roboto"/>
                      </a:endParaRPr>
                    </a:p>
                  </a:txBody>
                  <a:tcPr marT="91425" marB="91425" marR="91425" marL="91425">
                    <a:solidFill>
                      <a:srgbClr val="D1FAE5"/>
                    </a:solidFill>
                  </a:tcPr>
                </a:tc>
                <a:tc>
                  <a:txBody>
                    <a:bodyPr/>
                    <a:lstStyle/>
                    <a:p>
                      <a:pPr indent="0" lvl="0" marL="0" rtl="0" algn="l">
                        <a:spcBef>
                          <a:spcPts val="0"/>
                        </a:spcBef>
                        <a:spcAft>
                          <a:spcPts val="0"/>
                        </a:spcAft>
                        <a:buNone/>
                      </a:pPr>
                      <a:r>
                        <a:rPr b="1" lang="vi" sz="900">
                          <a:solidFill>
                            <a:srgbClr val="065F46"/>
                          </a:solidFill>
                          <a:latin typeface="Roboto"/>
                          <a:ea typeface="Roboto"/>
                          <a:cs typeface="Roboto"/>
                          <a:sym typeface="Roboto"/>
                        </a:rPr>
                        <a:t>O(k · L² / P_tree)</a:t>
                      </a:r>
                      <a:endParaRPr b="1" sz="900">
                        <a:solidFill>
                          <a:srgbClr val="065F46"/>
                        </a:solidFill>
                        <a:latin typeface="Roboto"/>
                        <a:ea typeface="Roboto"/>
                        <a:cs typeface="Roboto"/>
                        <a:sym typeface="Roboto"/>
                      </a:endParaRPr>
                    </a:p>
                  </a:txBody>
                  <a:tcPr marT="91425" marB="91425" marR="91425" marL="91425">
                    <a:solidFill>
                      <a:srgbClr val="D1FAE5"/>
                    </a:solidFill>
                  </a:tcPr>
                </a:tc>
                <a:tc>
                  <a:txBody>
                    <a:bodyPr/>
                    <a:lstStyle/>
                    <a:p>
                      <a:pPr indent="0" lvl="0" marL="0" rtl="0" algn="l">
                        <a:spcBef>
                          <a:spcPts val="0"/>
                        </a:spcBef>
                        <a:spcAft>
                          <a:spcPts val="0"/>
                        </a:spcAft>
                        <a:buNone/>
                      </a:pPr>
                      <a:r>
                        <a:rPr b="1" lang="vi" sz="900">
                          <a:solidFill>
                            <a:srgbClr val="065F46"/>
                          </a:solidFill>
                          <a:latin typeface="Roboto"/>
                          <a:ea typeface="Roboto"/>
                          <a:cs typeface="Roboto"/>
                          <a:sym typeface="Roboto"/>
                        </a:rPr>
                        <a:t>O(k · L)</a:t>
                      </a:r>
                      <a:endParaRPr b="1" sz="900">
                        <a:solidFill>
                          <a:srgbClr val="065F46"/>
                        </a:solidFill>
                        <a:latin typeface="Roboto"/>
                        <a:ea typeface="Roboto"/>
                        <a:cs typeface="Roboto"/>
                        <a:sym typeface="Roboto"/>
                      </a:endParaRPr>
                    </a:p>
                  </a:txBody>
                  <a:tcPr marT="91425" marB="91425" marR="91425" marL="91425">
                    <a:solidFill>
                      <a:srgbClr val="D1FAE5"/>
                    </a:solidFill>
                  </a:tcPr>
                </a:tc>
                <a:tc>
                  <a:txBody>
                    <a:bodyPr/>
                    <a:lstStyle/>
                    <a:p>
                      <a:pPr indent="0" lvl="0" marL="0" rtl="0" algn="l">
                        <a:spcBef>
                          <a:spcPts val="0"/>
                        </a:spcBef>
                        <a:spcAft>
                          <a:spcPts val="0"/>
                        </a:spcAft>
                        <a:buNone/>
                      </a:pPr>
                      <a:r>
                        <a:rPr b="1" lang="vi" sz="900">
                          <a:solidFill>
                            <a:srgbClr val="065F46"/>
                          </a:solidFill>
                          <a:latin typeface="Roboto"/>
                          <a:ea typeface="Roboto"/>
                          <a:cs typeface="Roboto"/>
                          <a:sym typeface="Roboto"/>
                        </a:rPr>
                        <a:t>Level-Set Tree + Profile Myers-Miller</a:t>
                      </a:r>
                      <a:endParaRPr b="1" sz="900">
                        <a:solidFill>
                          <a:srgbClr val="065F46"/>
                        </a:solidFill>
                        <a:latin typeface="Roboto"/>
                        <a:ea typeface="Roboto"/>
                        <a:cs typeface="Roboto"/>
                        <a:sym typeface="Roboto"/>
                      </a:endParaRPr>
                    </a:p>
                  </a:txBody>
                  <a:tcPr marT="91425" marB="91425" marR="91425" marL="91425">
                    <a:solidFill>
                      <a:srgbClr val="D1FAE5"/>
                    </a:solidFill>
                  </a:tcPr>
                </a:tc>
              </a:tr>
            </a:tbl>
          </a:graphicData>
        </a:graphic>
      </p:graphicFrame>
      <p:sp>
        <p:nvSpPr>
          <p:cNvPr id="296" name="Google Shape;296;p29"/>
          <p:cNvSpPr txBox="1"/>
          <p:nvPr/>
        </p:nvSpPr>
        <p:spPr>
          <a:xfrm>
            <a:off x="304800" y="3302000"/>
            <a:ext cx="4191000" cy="30480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vi" sz="1050">
                <a:solidFill>
                  <a:srgbClr val="FFFFFF"/>
                </a:solidFill>
                <a:latin typeface="Roboto"/>
                <a:ea typeface="Roboto"/>
                <a:cs typeface="Roboto"/>
                <a:sym typeface="Roboto"/>
              </a:rPr>
              <a:t>Định luật Amdahl (Bài toán Kích thước Cố định)</a:t>
            </a:r>
            <a:endParaRPr b="1" sz="1050">
              <a:solidFill>
                <a:srgbClr val="FFFFFF"/>
              </a:solidFill>
              <a:latin typeface="Roboto"/>
              <a:ea typeface="Roboto"/>
              <a:cs typeface="Roboto"/>
              <a:sym typeface="Roboto"/>
            </a:endParaRPr>
          </a:p>
        </p:txBody>
      </p:sp>
      <p:sp>
        <p:nvSpPr>
          <p:cNvPr id="297" name="Google Shape;297;p29"/>
          <p:cNvSpPr txBox="1"/>
          <p:nvPr/>
        </p:nvSpPr>
        <p:spPr>
          <a:xfrm>
            <a:off x="304800" y="3606800"/>
            <a:ext cx="4191000" cy="13716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lnSpc>
                <a:spcPct val="125000"/>
              </a:lnSpc>
              <a:spcBef>
                <a:spcPts val="0"/>
              </a:spcBef>
              <a:spcAft>
                <a:spcPts val="0"/>
              </a:spcAft>
              <a:buNone/>
            </a:pPr>
            <a:r>
              <a:rPr lang="vi" sz="950">
                <a:solidFill>
                  <a:srgbClr val="1E293B"/>
                </a:solidFill>
                <a:latin typeface="Roboto"/>
                <a:ea typeface="Roboto"/>
                <a:cs typeface="Roboto"/>
                <a:sym typeface="Roboto"/>
              </a:rPr>
              <a:t>• Công thức cận trên Speedup:  S(P) ≤ 1 / [ (1 - f) + f / P ]</a:t>
            </a:r>
            <a:endParaRPr sz="95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50">
                <a:solidFill>
                  <a:srgbClr val="1E293B"/>
                </a:solidFill>
                <a:latin typeface="Roboto"/>
                <a:ea typeface="Roboto"/>
                <a:cs typeface="Roboto"/>
                <a:sym typeface="Roboto"/>
              </a:rPr>
              <a:t>• Tại nút gốc của cây UPGMA, 1 luồng phải hợp nhất 2 Profile lớn nhất sau khi chờ các nhánh con hoàn tất → Tạo ra phần tuần tự (1 - f) ≈ 15% – 25%.</a:t>
            </a:r>
            <a:endParaRPr sz="95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50">
                <a:solidFill>
                  <a:srgbClr val="1E293B"/>
                </a:solidFill>
                <a:latin typeface="Roboto"/>
                <a:ea typeface="Roboto"/>
                <a:cs typeface="Roboto"/>
                <a:sym typeface="Roboto"/>
              </a:rPr>
              <a:t>• Với f = 0.85 và P = 8 luồng → Speedup lý thuyết tối đa ≈ 3.9×.</a:t>
            </a:r>
            <a:endParaRPr sz="950">
              <a:solidFill>
                <a:srgbClr val="1E293B"/>
              </a:solidFill>
              <a:latin typeface="Roboto"/>
              <a:ea typeface="Roboto"/>
              <a:cs typeface="Roboto"/>
              <a:sym typeface="Roboto"/>
            </a:endParaRPr>
          </a:p>
        </p:txBody>
      </p:sp>
      <p:sp>
        <p:nvSpPr>
          <p:cNvPr id="298" name="Google Shape;298;p29"/>
          <p:cNvSpPr txBox="1"/>
          <p:nvPr/>
        </p:nvSpPr>
        <p:spPr>
          <a:xfrm>
            <a:off x="4648200" y="3302000"/>
            <a:ext cx="4191000" cy="304800"/>
          </a:xfrm>
          <a:prstGeom prst="rect">
            <a:avLst/>
          </a:prstGeom>
          <a:solidFill>
            <a:srgbClr val="0596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vi" sz="1050">
                <a:solidFill>
                  <a:srgbClr val="FFFFFF"/>
                </a:solidFill>
                <a:latin typeface="Roboto"/>
                <a:ea typeface="Roboto"/>
                <a:cs typeface="Roboto"/>
                <a:sym typeface="Roboto"/>
              </a:rPr>
              <a:t>Định luật Gustafson (Khi Số Chuỗi k Tăng Lớn)</a:t>
            </a:r>
            <a:endParaRPr b="1" sz="1050">
              <a:solidFill>
                <a:srgbClr val="FFFFFF"/>
              </a:solidFill>
              <a:latin typeface="Roboto"/>
              <a:ea typeface="Roboto"/>
              <a:cs typeface="Roboto"/>
              <a:sym typeface="Roboto"/>
            </a:endParaRPr>
          </a:p>
        </p:txBody>
      </p:sp>
      <p:sp>
        <p:nvSpPr>
          <p:cNvPr id="299" name="Google Shape;299;p29"/>
          <p:cNvSpPr txBox="1"/>
          <p:nvPr/>
        </p:nvSpPr>
        <p:spPr>
          <a:xfrm>
            <a:off x="4648200" y="3606800"/>
            <a:ext cx="4191000" cy="13716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lnSpc>
                <a:spcPct val="125000"/>
              </a:lnSpc>
              <a:spcBef>
                <a:spcPts val="0"/>
              </a:spcBef>
              <a:spcAft>
                <a:spcPts val="0"/>
              </a:spcAft>
              <a:buNone/>
            </a:pPr>
            <a:r>
              <a:rPr lang="vi" sz="950">
                <a:solidFill>
                  <a:srgbClr val="1E293B"/>
                </a:solidFill>
                <a:latin typeface="Roboto"/>
                <a:ea typeface="Roboto"/>
                <a:cs typeface="Roboto"/>
                <a:sym typeface="Roboto"/>
              </a:rPr>
              <a:t>• Công thức mở rộng:  S_scaled(P) = (1 - f_seq) + P · f_par</a:t>
            </a:r>
            <a:endParaRPr sz="95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50">
                <a:solidFill>
                  <a:srgbClr val="1E293B"/>
                </a:solidFill>
                <a:latin typeface="Roboto"/>
                <a:ea typeface="Roboto"/>
                <a:cs typeface="Roboto"/>
                <a:sym typeface="Roboto"/>
              </a:rPr>
              <a:t>• Khi số chuỗi k tăng lớn (k = 40, 100...), Giai đoạn 1 tính k(k-1)/2 cặp khoảng cách tăng bậc hai O(k²N²) chiếm tỷ trọng áp đảo so với Giai đoạn cây O(kL²) → Tỷ lệ song song hóa f_par tiến sát tới 100%!</a:t>
            </a:r>
            <a:endParaRPr sz="950">
              <a:solidFill>
                <a:srgbClr val="1E293B"/>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303" name="Shape 303"/>
        <p:cNvGrpSpPr/>
        <p:nvPr/>
      </p:nvGrpSpPr>
      <p:grpSpPr>
        <a:xfrm>
          <a:off x="0" y="0"/>
          <a:ext cx="0" cy="0"/>
          <a:chOff x="0" y="0"/>
          <a:chExt cx="0" cy="0"/>
        </a:xfrm>
      </p:grpSpPr>
      <p:sp>
        <p:nvSpPr>
          <p:cNvPr id="304" name="Google Shape;304;p30"/>
          <p:cNvSpPr/>
          <p:nvPr/>
        </p:nvSpPr>
        <p:spPr>
          <a:xfrm>
            <a:off x="0" y="0"/>
            <a:ext cx="9144000" cy="736500"/>
          </a:xfrm>
          <a:prstGeom prst="rect">
            <a:avLst/>
          </a:prstGeom>
          <a:solidFill>
            <a:srgbClr val="0F172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5" name="Google Shape;305;p30"/>
          <p:cNvSpPr/>
          <p:nvPr/>
        </p:nvSpPr>
        <p:spPr>
          <a:xfrm>
            <a:off x="0" y="711200"/>
            <a:ext cx="9144000" cy="38100"/>
          </a:xfrm>
          <a:prstGeom prst="rect">
            <a:avLst/>
          </a:prstGeom>
          <a:solidFill>
            <a:srgbClr val="0284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6" name="Google Shape;306;p30"/>
          <p:cNvSpPr txBox="1"/>
          <p:nvPr/>
        </p:nvSpPr>
        <p:spPr>
          <a:xfrm>
            <a:off x="304800" y="76200"/>
            <a:ext cx="2476500" cy="203100"/>
          </a:xfrm>
          <a:prstGeom prst="rect">
            <a:avLst/>
          </a:prstGeom>
          <a:solidFill>
            <a:srgbClr val="0284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vi" sz="800">
                <a:solidFill>
                  <a:srgbClr val="FFFFFF"/>
                </a:solidFill>
                <a:latin typeface="Roboto"/>
                <a:ea typeface="Roboto"/>
                <a:cs typeface="Roboto"/>
                <a:sym typeface="Roboto"/>
              </a:rPr>
              <a:t>PHẦN 4 • KẾT QUẢ THỰC NGHIỆM (#1)</a:t>
            </a:r>
            <a:endParaRPr b="1" sz="800">
              <a:solidFill>
                <a:srgbClr val="FFFFFF"/>
              </a:solidFill>
              <a:latin typeface="Roboto"/>
              <a:ea typeface="Roboto"/>
              <a:cs typeface="Roboto"/>
              <a:sym typeface="Roboto"/>
            </a:endParaRPr>
          </a:p>
        </p:txBody>
      </p:sp>
      <p:sp>
        <p:nvSpPr>
          <p:cNvPr id="307" name="Google Shape;307;p30"/>
          <p:cNvSpPr txBox="1"/>
          <p:nvPr/>
        </p:nvSpPr>
        <p:spPr>
          <a:xfrm>
            <a:off x="8001000" y="76200"/>
            <a:ext cx="838200" cy="2031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vi" sz="850">
                <a:solidFill>
                  <a:srgbClr val="93C5FD"/>
                </a:solidFill>
                <a:latin typeface="Roboto"/>
                <a:ea typeface="Roboto"/>
                <a:cs typeface="Roboto"/>
                <a:sym typeface="Roboto"/>
              </a:rPr>
              <a:t>Slide 18 / 24</a:t>
            </a:r>
            <a:endParaRPr b="1" sz="850">
              <a:solidFill>
                <a:srgbClr val="93C5FD"/>
              </a:solidFill>
              <a:latin typeface="Roboto"/>
              <a:ea typeface="Roboto"/>
              <a:cs typeface="Roboto"/>
              <a:sym typeface="Roboto"/>
            </a:endParaRPr>
          </a:p>
        </p:txBody>
      </p:sp>
      <p:sp>
        <p:nvSpPr>
          <p:cNvPr id="308" name="Google Shape;308;p30"/>
          <p:cNvSpPr txBox="1"/>
          <p:nvPr/>
        </p:nvSpPr>
        <p:spPr>
          <a:xfrm>
            <a:off x="304800" y="279400"/>
            <a:ext cx="85344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vi" sz="1500">
                <a:solidFill>
                  <a:srgbClr val="FFFFFF"/>
                </a:solidFill>
                <a:latin typeface="Roboto"/>
                <a:ea typeface="Roboto"/>
                <a:cs typeface="Roboto"/>
                <a:sym typeface="Roboto"/>
              </a:rPr>
              <a:t>Thực nghiệm 1: Kiểm chứng Nén Bộ nhớ Gotoh O(N²) vs. Myers-Miller O(N)</a:t>
            </a:r>
            <a:endParaRPr b="1" sz="1500">
              <a:solidFill>
                <a:srgbClr val="FFFFFF"/>
              </a:solidFill>
              <a:latin typeface="Roboto"/>
              <a:ea typeface="Roboto"/>
              <a:cs typeface="Roboto"/>
              <a:sym typeface="Roboto"/>
            </a:endParaRPr>
          </a:p>
        </p:txBody>
      </p:sp>
      <p:sp>
        <p:nvSpPr>
          <p:cNvPr id="309" name="Google Shape;309;p30"/>
          <p:cNvSpPr txBox="1"/>
          <p:nvPr/>
        </p:nvSpPr>
        <p:spPr>
          <a:xfrm>
            <a:off x="304800" y="520700"/>
            <a:ext cx="8534400" cy="19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vi" sz="900">
                <a:solidFill>
                  <a:srgbClr val="BAE6FD"/>
                </a:solidFill>
                <a:latin typeface="Roboto"/>
                <a:ea typeface="Roboto"/>
                <a:cs typeface="Roboto"/>
                <a:sym typeface="Roboto"/>
              </a:rPr>
              <a:t>Biểu đồ cột thang đo Logarit (KB) và Hệ số giảm bộ nhớ (×) thực tế trên 5 bộ dữ liệu chuẩn</a:t>
            </a:r>
            <a:endParaRPr i="1" sz="900">
              <a:solidFill>
                <a:srgbClr val="BAE6FD"/>
              </a:solidFill>
              <a:latin typeface="Roboto"/>
              <a:ea typeface="Roboto"/>
              <a:cs typeface="Roboto"/>
              <a:sym typeface="Roboto"/>
            </a:endParaRPr>
          </a:p>
        </p:txBody>
      </p:sp>
      <p:sp>
        <p:nvSpPr>
          <p:cNvPr id="310" name="Google Shape;310;p30"/>
          <p:cNvSpPr/>
          <p:nvPr/>
        </p:nvSpPr>
        <p:spPr>
          <a:xfrm>
            <a:off x="254000" y="812800"/>
            <a:ext cx="8636100" cy="3835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1" name="Google Shape;311;p30"/>
          <p:cNvSpPr txBox="1"/>
          <p:nvPr/>
        </p:nvSpPr>
        <p:spPr>
          <a:xfrm>
            <a:off x="254000" y="4699000"/>
            <a:ext cx="8636100" cy="355500"/>
          </a:xfrm>
          <a:prstGeom prst="rect">
            <a:avLst/>
          </a:pr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vi" sz="1000">
                <a:solidFill>
                  <a:srgbClr val="FFFFFF"/>
                </a:solidFill>
                <a:latin typeface="Roboto"/>
                <a:ea typeface="Roboto"/>
                <a:cs typeface="Roboto"/>
                <a:sym typeface="Roboto"/>
              </a:rPr>
              <a:t>Kết quả Đột phá: Tại độ dài 897 aa, Gotoh tốn 9.495,7 KB trong khi Myers-Miller chỉ tốn 7,02 KB (Giảm 1.353,5× RAM) — Điểm số khớp 100%!</a:t>
            </a:r>
            <a:endParaRPr b="1" sz="1000">
              <a:solidFill>
                <a:srgbClr val="FFFFFF"/>
              </a:solidFill>
              <a:latin typeface="Roboto"/>
              <a:ea typeface="Roboto"/>
              <a:cs typeface="Roboto"/>
              <a:sym typeface="Roboto"/>
            </a:endParaRPr>
          </a:p>
        </p:txBody>
      </p:sp>
      <p:pic>
        <p:nvPicPr>
          <p:cNvPr id="312" name="Google Shape;312;p30"/>
          <p:cNvPicPr preferRelativeResize="0"/>
          <p:nvPr/>
        </p:nvPicPr>
        <p:blipFill>
          <a:blip r:embed="rId3">
            <a:alphaModFix/>
          </a:blip>
          <a:stretch>
            <a:fillRect/>
          </a:stretch>
        </p:blipFill>
        <p:spPr>
          <a:xfrm>
            <a:off x="1318274" y="850900"/>
            <a:ext cx="6506180" cy="375919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316" name="Shape 316"/>
        <p:cNvGrpSpPr/>
        <p:nvPr/>
      </p:nvGrpSpPr>
      <p:grpSpPr>
        <a:xfrm>
          <a:off x="0" y="0"/>
          <a:ext cx="0" cy="0"/>
          <a:chOff x="0" y="0"/>
          <a:chExt cx="0" cy="0"/>
        </a:xfrm>
      </p:grpSpPr>
      <p:sp>
        <p:nvSpPr>
          <p:cNvPr id="317" name="Google Shape;317;p31"/>
          <p:cNvSpPr/>
          <p:nvPr/>
        </p:nvSpPr>
        <p:spPr>
          <a:xfrm>
            <a:off x="0" y="0"/>
            <a:ext cx="9144000" cy="736500"/>
          </a:xfrm>
          <a:prstGeom prst="rect">
            <a:avLst/>
          </a:prstGeom>
          <a:solidFill>
            <a:srgbClr val="0F172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8" name="Google Shape;318;p31"/>
          <p:cNvSpPr/>
          <p:nvPr/>
        </p:nvSpPr>
        <p:spPr>
          <a:xfrm>
            <a:off x="0" y="711200"/>
            <a:ext cx="9144000" cy="38100"/>
          </a:xfrm>
          <a:prstGeom prst="rect">
            <a:avLst/>
          </a:prstGeom>
          <a:solidFill>
            <a:srgbClr val="0284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9" name="Google Shape;319;p31"/>
          <p:cNvSpPr txBox="1"/>
          <p:nvPr/>
        </p:nvSpPr>
        <p:spPr>
          <a:xfrm>
            <a:off x="304800" y="76200"/>
            <a:ext cx="2476500" cy="203100"/>
          </a:xfrm>
          <a:prstGeom prst="rect">
            <a:avLst/>
          </a:prstGeom>
          <a:solidFill>
            <a:srgbClr val="0284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vi" sz="800">
                <a:solidFill>
                  <a:srgbClr val="FFFFFF"/>
                </a:solidFill>
                <a:latin typeface="Roboto"/>
                <a:ea typeface="Roboto"/>
                <a:cs typeface="Roboto"/>
                <a:sym typeface="Roboto"/>
              </a:rPr>
              <a:t>PHẦN 4 • KẾT QUẢ THỰC NGHIỆM (#2)</a:t>
            </a:r>
            <a:endParaRPr b="1" sz="800">
              <a:solidFill>
                <a:srgbClr val="FFFFFF"/>
              </a:solidFill>
              <a:latin typeface="Roboto"/>
              <a:ea typeface="Roboto"/>
              <a:cs typeface="Roboto"/>
              <a:sym typeface="Roboto"/>
            </a:endParaRPr>
          </a:p>
        </p:txBody>
      </p:sp>
      <p:sp>
        <p:nvSpPr>
          <p:cNvPr id="320" name="Google Shape;320;p31"/>
          <p:cNvSpPr txBox="1"/>
          <p:nvPr/>
        </p:nvSpPr>
        <p:spPr>
          <a:xfrm>
            <a:off x="8001000" y="76200"/>
            <a:ext cx="838200" cy="2031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vi" sz="850">
                <a:solidFill>
                  <a:srgbClr val="93C5FD"/>
                </a:solidFill>
                <a:latin typeface="Roboto"/>
                <a:ea typeface="Roboto"/>
                <a:cs typeface="Roboto"/>
                <a:sym typeface="Roboto"/>
              </a:rPr>
              <a:t>Slide 19 / 24</a:t>
            </a:r>
            <a:endParaRPr b="1" sz="850">
              <a:solidFill>
                <a:srgbClr val="93C5FD"/>
              </a:solidFill>
              <a:latin typeface="Roboto"/>
              <a:ea typeface="Roboto"/>
              <a:cs typeface="Roboto"/>
              <a:sym typeface="Roboto"/>
            </a:endParaRPr>
          </a:p>
        </p:txBody>
      </p:sp>
      <p:sp>
        <p:nvSpPr>
          <p:cNvPr id="321" name="Google Shape;321;p31"/>
          <p:cNvSpPr txBox="1"/>
          <p:nvPr/>
        </p:nvSpPr>
        <p:spPr>
          <a:xfrm>
            <a:off x="304800" y="279400"/>
            <a:ext cx="85344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vi" sz="1500">
                <a:solidFill>
                  <a:srgbClr val="FFFFFF"/>
                </a:solidFill>
                <a:latin typeface="Roboto"/>
                <a:ea typeface="Roboto"/>
                <a:cs typeface="Roboto"/>
                <a:sym typeface="Roboto"/>
              </a:rPr>
              <a:t>Thực nghiệm 2: Tốc độ Tăng tốc Đa luồng OpenMP (Speedup 1 → 8 Luồng)</a:t>
            </a:r>
            <a:endParaRPr b="1" sz="1500">
              <a:solidFill>
                <a:srgbClr val="FFFFFF"/>
              </a:solidFill>
              <a:latin typeface="Roboto"/>
              <a:ea typeface="Roboto"/>
              <a:cs typeface="Roboto"/>
              <a:sym typeface="Roboto"/>
            </a:endParaRPr>
          </a:p>
        </p:txBody>
      </p:sp>
      <p:sp>
        <p:nvSpPr>
          <p:cNvPr id="322" name="Google Shape;322;p31"/>
          <p:cNvSpPr txBox="1"/>
          <p:nvPr/>
        </p:nvSpPr>
        <p:spPr>
          <a:xfrm>
            <a:off x="304800" y="520700"/>
            <a:ext cx="8534400" cy="19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vi" sz="900">
                <a:solidFill>
                  <a:srgbClr val="BAE6FD"/>
                </a:solidFill>
                <a:latin typeface="Roboto"/>
                <a:ea typeface="Roboto"/>
                <a:cs typeface="Roboto"/>
                <a:sym typeface="Roboto"/>
              </a:rPr>
              <a:t>Đối chiếu đường tăng tốc thực nghiệm với đường tuyến tính lý tưởng S(p)=p và cận trên Định luật Amdahl</a:t>
            </a:r>
            <a:endParaRPr i="1" sz="900">
              <a:solidFill>
                <a:srgbClr val="BAE6FD"/>
              </a:solidFill>
              <a:latin typeface="Roboto"/>
              <a:ea typeface="Roboto"/>
              <a:cs typeface="Roboto"/>
              <a:sym typeface="Roboto"/>
            </a:endParaRPr>
          </a:p>
        </p:txBody>
      </p:sp>
      <p:sp>
        <p:nvSpPr>
          <p:cNvPr id="323" name="Google Shape;323;p31"/>
          <p:cNvSpPr/>
          <p:nvPr/>
        </p:nvSpPr>
        <p:spPr>
          <a:xfrm>
            <a:off x="254000" y="812800"/>
            <a:ext cx="8636100" cy="3835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4" name="Google Shape;324;p31"/>
          <p:cNvSpPr txBox="1"/>
          <p:nvPr/>
        </p:nvSpPr>
        <p:spPr>
          <a:xfrm>
            <a:off x="254000" y="4699000"/>
            <a:ext cx="8636100" cy="355500"/>
          </a:xfrm>
          <a:prstGeom prst="rect">
            <a:avLst/>
          </a:pr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vi" sz="1000">
                <a:solidFill>
                  <a:srgbClr val="FFFFFF"/>
                </a:solidFill>
                <a:latin typeface="Roboto"/>
                <a:ea typeface="Roboto"/>
                <a:cs typeface="Roboto"/>
                <a:sym typeface="Roboto"/>
              </a:rPr>
              <a:t>Trên họ gen lớn BB20001 (RV20) và 40 chuỗi (780 cặp): Thời gian giảm từ 5.423 ms xuống 3.360 ms — Đạt Speedup cực đại 1,73×!</a:t>
            </a:r>
            <a:endParaRPr b="1" sz="1000">
              <a:solidFill>
                <a:srgbClr val="FFFFFF"/>
              </a:solidFill>
              <a:latin typeface="Roboto"/>
              <a:ea typeface="Roboto"/>
              <a:cs typeface="Roboto"/>
              <a:sym typeface="Roboto"/>
            </a:endParaRPr>
          </a:p>
        </p:txBody>
      </p:sp>
      <p:pic>
        <p:nvPicPr>
          <p:cNvPr id="325" name="Google Shape;325;p31"/>
          <p:cNvPicPr preferRelativeResize="0"/>
          <p:nvPr/>
        </p:nvPicPr>
        <p:blipFill>
          <a:blip r:embed="rId3">
            <a:alphaModFix/>
          </a:blip>
          <a:stretch>
            <a:fillRect/>
          </a:stretch>
        </p:blipFill>
        <p:spPr>
          <a:xfrm>
            <a:off x="1499870" y="850953"/>
            <a:ext cx="6144261" cy="375909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329" name="Shape 329"/>
        <p:cNvGrpSpPr/>
        <p:nvPr/>
      </p:nvGrpSpPr>
      <p:grpSpPr>
        <a:xfrm>
          <a:off x="0" y="0"/>
          <a:ext cx="0" cy="0"/>
          <a:chOff x="0" y="0"/>
          <a:chExt cx="0" cy="0"/>
        </a:xfrm>
      </p:grpSpPr>
      <p:sp>
        <p:nvSpPr>
          <p:cNvPr id="330" name="Google Shape;330;p32"/>
          <p:cNvSpPr/>
          <p:nvPr/>
        </p:nvSpPr>
        <p:spPr>
          <a:xfrm>
            <a:off x="0" y="0"/>
            <a:ext cx="9144000" cy="736500"/>
          </a:xfrm>
          <a:prstGeom prst="rect">
            <a:avLst/>
          </a:prstGeom>
          <a:solidFill>
            <a:srgbClr val="0F172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1" name="Google Shape;331;p32"/>
          <p:cNvSpPr/>
          <p:nvPr/>
        </p:nvSpPr>
        <p:spPr>
          <a:xfrm>
            <a:off x="0" y="711200"/>
            <a:ext cx="9144000" cy="38100"/>
          </a:xfrm>
          <a:prstGeom prst="rect">
            <a:avLst/>
          </a:prstGeom>
          <a:solidFill>
            <a:srgbClr val="0284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2" name="Google Shape;332;p32"/>
          <p:cNvSpPr txBox="1"/>
          <p:nvPr/>
        </p:nvSpPr>
        <p:spPr>
          <a:xfrm>
            <a:off x="304800" y="76200"/>
            <a:ext cx="2476500" cy="203100"/>
          </a:xfrm>
          <a:prstGeom prst="rect">
            <a:avLst/>
          </a:prstGeom>
          <a:solidFill>
            <a:srgbClr val="0284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vi" sz="800">
                <a:solidFill>
                  <a:srgbClr val="FFFFFF"/>
                </a:solidFill>
                <a:latin typeface="Roboto"/>
                <a:ea typeface="Roboto"/>
                <a:cs typeface="Roboto"/>
                <a:sym typeface="Roboto"/>
              </a:rPr>
              <a:t>PHẦN 4 • KẾT QUẢ THỰC NGHIỆM (#3)</a:t>
            </a:r>
            <a:endParaRPr b="1" sz="800">
              <a:solidFill>
                <a:srgbClr val="FFFFFF"/>
              </a:solidFill>
              <a:latin typeface="Roboto"/>
              <a:ea typeface="Roboto"/>
              <a:cs typeface="Roboto"/>
              <a:sym typeface="Roboto"/>
            </a:endParaRPr>
          </a:p>
        </p:txBody>
      </p:sp>
      <p:sp>
        <p:nvSpPr>
          <p:cNvPr id="333" name="Google Shape;333;p32"/>
          <p:cNvSpPr txBox="1"/>
          <p:nvPr/>
        </p:nvSpPr>
        <p:spPr>
          <a:xfrm>
            <a:off x="8001000" y="76200"/>
            <a:ext cx="838200" cy="2031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vi" sz="850">
                <a:solidFill>
                  <a:srgbClr val="93C5FD"/>
                </a:solidFill>
                <a:latin typeface="Roboto"/>
                <a:ea typeface="Roboto"/>
                <a:cs typeface="Roboto"/>
                <a:sym typeface="Roboto"/>
              </a:rPr>
              <a:t>Slide 20 / 24</a:t>
            </a:r>
            <a:endParaRPr b="1" sz="850">
              <a:solidFill>
                <a:srgbClr val="93C5FD"/>
              </a:solidFill>
              <a:latin typeface="Roboto"/>
              <a:ea typeface="Roboto"/>
              <a:cs typeface="Roboto"/>
              <a:sym typeface="Roboto"/>
            </a:endParaRPr>
          </a:p>
        </p:txBody>
      </p:sp>
      <p:sp>
        <p:nvSpPr>
          <p:cNvPr id="334" name="Google Shape;334;p32"/>
          <p:cNvSpPr txBox="1"/>
          <p:nvPr/>
        </p:nvSpPr>
        <p:spPr>
          <a:xfrm>
            <a:off x="304800" y="279400"/>
            <a:ext cx="85344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vi" sz="1500">
                <a:solidFill>
                  <a:srgbClr val="FFFFFF"/>
                </a:solidFill>
                <a:latin typeface="Roboto"/>
                <a:ea typeface="Roboto"/>
                <a:cs typeface="Roboto"/>
                <a:sym typeface="Roboto"/>
              </a:rPr>
              <a:t>Thực nghiệm 3: Đánh giá Độ chính xác Sinh học (SP &amp; TC Score) trên BAliBASE 3.0</a:t>
            </a:r>
            <a:endParaRPr b="1" sz="1500">
              <a:solidFill>
                <a:srgbClr val="FFFFFF"/>
              </a:solidFill>
              <a:latin typeface="Roboto"/>
              <a:ea typeface="Roboto"/>
              <a:cs typeface="Roboto"/>
              <a:sym typeface="Roboto"/>
            </a:endParaRPr>
          </a:p>
        </p:txBody>
      </p:sp>
      <p:sp>
        <p:nvSpPr>
          <p:cNvPr id="335" name="Google Shape;335;p32"/>
          <p:cNvSpPr txBox="1"/>
          <p:nvPr/>
        </p:nvSpPr>
        <p:spPr>
          <a:xfrm>
            <a:off x="304800" y="520700"/>
            <a:ext cx="8534400" cy="19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vi" sz="900">
                <a:solidFill>
                  <a:srgbClr val="BAE6FD"/>
                </a:solidFill>
                <a:latin typeface="Roboto"/>
                <a:ea typeface="Roboto"/>
                <a:cs typeface="Roboto"/>
                <a:sym typeface="Roboto"/>
              </a:rPr>
              <a:t>Đối chiếu tự động kết quả căn chỉnh với cấu trúc tinh thể học 3D chuẩn trên 3 phân vùng RV11, RV12, RV20</a:t>
            </a:r>
            <a:endParaRPr i="1" sz="900">
              <a:solidFill>
                <a:srgbClr val="BAE6FD"/>
              </a:solidFill>
              <a:latin typeface="Roboto"/>
              <a:ea typeface="Roboto"/>
              <a:cs typeface="Roboto"/>
              <a:sym typeface="Roboto"/>
            </a:endParaRPr>
          </a:p>
        </p:txBody>
      </p:sp>
      <p:sp>
        <p:nvSpPr>
          <p:cNvPr id="336" name="Google Shape;336;p32"/>
          <p:cNvSpPr/>
          <p:nvPr/>
        </p:nvSpPr>
        <p:spPr>
          <a:xfrm>
            <a:off x="254000" y="812800"/>
            <a:ext cx="8636100" cy="3835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7" name="Google Shape;337;p32"/>
          <p:cNvSpPr txBox="1"/>
          <p:nvPr/>
        </p:nvSpPr>
        <p:spPr>
          <a:xfrm>
            <a:off x="254000" y="4699000"/>
            <a:ext cx="8636100" cy="355500"/>
          </a:xfrm>
          <a:prstGeom prst="rect">
            <a:avLst/>
          </a:pr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vi" sz="1000">
                <a:solidFill>
                  <a:srgbClr val="FFFFFF"/>
                </a:solidFill>
                <a:latin typeface="Roboto"/>
                <a:ea typeface="Roboto"/>
                <a:cs typeface="Roboto"/>
                <a:sym typeface="Roboto"/>
              </a:rPr>
              <a:t>Đạt độ chính xác xuất sắc trên RV12 (SP trung bình = 86,8%, TC = 68,1%); riêng mẫu BB11001 đạt SP = 98,2%, TC = 96,5%!</a:t>
            </a:r>
            <a:endParaRPr b="1" sz="1000">
              <a:solidFill>
                <a:srgbClr val="FFFFFF"/>
              </a:solidFill>
              <a:latin typeface="Roboto"/>
              <a:ea typeface="Roboto"/>
              <a:cs typeface="Roboto"/>
              <a:sym typeface="Roboto"/>
            </a:endParaRPr>
          </a:p>
        </p:txBody>
      </p:sp>
      <p:pic>
        <p:nvPicPr>
          <p:cNvPr id="338" name="Google Shape;338;p32"/>
          <p:cNvPicPr preferRelativeResize="0"/>
          <p:nvPr/>
        </p:nvPicPr>
        <p:blipFill>
          <a:blip r:embed="rId3">
            <a:alphaModFix/>
          </a:blip>
          <a:stretch>
            <a:fillRect/>
          </a:stretch>
        </p:blipFill>
        <p:spPr>
          <a:xfrm>
            <a:off x="1499870" y="850953"/>
            <a:ext cx="6144261" cy="375909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342" name="Shape 342"/>
        <p:cNvGrpSpPr/>
        <p:nvPr/>
      </p:nvGrpSpPr>
      <p:grpSpPr>
        <a:xfrm>
          <a:off x="0" y="0"/>
          <a:ext cx="0" cy="0"/>
          <a:chOff x="0" y="0"/>
          <a:chExt cx="0" cy="0"/>
        </a:xfrm>
      </p:grpSpPr>
      <p:sp>
        <p:nvSpPr>
          <p:cNvPr id="343" name="Google Shape;343;p33"/>
          <p:cNvSpPr/>
          <p:nvPr/>
        </p:nvSpPr>
        <p:spPr>
          <a:xfrm>
            <a:off x="0" y="0"/>
            <a:ext cx="9144000" cy="736500"/>
          </a:xfrm>
          <a:prstGeom prst="rect">
            <a:avLst/>
          </a:prstGeom>
          <a:solidFill>
            <a:srgbClr val="0F172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4" name="Google Shape;344;p33"/>
          <p:cNvSpPr/>
          <p:nvPr/>
        </p:nvSpPr>
        <p:spPr>
          <a:xfrm>
            <a:off x="0" y="711200"/>
            <a:ext cx="9144000" cy="38100"/>
          </a:xfrm>
          <a:prstGeom prst="rect">
            <a:avLst/>
          </a:prstGeom>
          <a:solidFill>
            <a:srgbClr val="0284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5" name="Google Shape;345;p33"/>
          <p:cNvSpPr txBox="1"/>
          <p:nvPr/>
        </p:nvSpPr>
        <p:spPr>
          <a:xfrm>
            <a:off x="304800" y="76200"/>
            <a:ext cx="2476500" cy="203100"/>
          </a:xfrm>
          <a:prstGeom prst="rect">
            <a:avLst/>
          </a:prstGeom>
          <a:solidFill>
            <a:srgbClr val="0284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vi" sz="800">
                <a:solidFill>
                  <a:srgbClr val="FFFFFF"/>
                </a:solidFill>
                <a:latin typeface="Roboto"/>
                <a:ea typeface="Roboto"/>
                <a:cs typeface="Roboto"/>
                <a:sym typeface="Roboto"/>
              </a:rPr>
              <a:t>PHẦN 4 • KẾT QUẢ THỰC NGHIỆM (#4)</a:t>
            </a:r>
            <a:endParaRPr b="1" sz="800">
              <a:solidFill>
                <a:srgbClr val="FFFFFF"/>
              </a:solidFill>
              <a:latin typeface="Roboto"/>
              <a:ea typeface="Roboto"/>
              <a:cs typeface="Roboto"/>
              <a:sym typeface="Roboto"/>
            </a:endParaRPr>
          </a:p>
        </p:txBody>
      </p:sp>
      <p:sp>
        <p:nvSpPr>
          <p:cNvPr id="346" name="Google Shape;346;p33"/>
          <p:cNvSpPr txBox="1"/>
          <p:nvPr/>
        </p:nvSpPr>
        <p:spPr>
          <a:xfrm>
            <a:off x="8001000" y="76200"/>
            <a:ext cx="838200" cy="2031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vi" sz="850">
                <a:solidFill>
                  <a:srgbClr val="93C5FD"/>
                </a:solidFill>
                <a:latin typeface="Roboto"/>
                <a:ea typeface="Roboto"/>
                <a:cs typeface="Roboto"/>
                <a:sym typeface="Roboto"/>
              </a:rPr>
              <a:t>Slide 21 / 24</a:t>
            </a:r>
            <a:endParaRPr b="1" sz="850">
              <a:solidFill>
                <a:srgbClr val="93C5FD"/>
              </a:solidFill>
              <a:latin typeface="Roboto"/>
              <a:ea typeface="Roboto"/>
              <a:cs typeface="Roboto"/>
              <a:sym typeface="Roboto"/>
            </a:endParaRPr>
          </a:p>
        </p:txBody>
      </p:sp>
      <p:sp>
        <p:nvSpPr>
          <p:cNvPr id="347" name="Google Shape;347;p33"/>
          <p:cNvSpPr txBox="1"/>
          <p:nvPr/>
        </p:nvSpPr>
        <p:spPr>
          <a:xfrm>
            <a:off x="304800" y="279400"/>
            <a:ext cx="85344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vi" sz="1500">
                <a:solidFill>
                  <a:srgbClr val="FFFFFF"/>
                </a:solidFill>
                <a:latin typeface="Roboto"/>
                <a:ea typeface="Roboto"/>
                <a:cs typeface="Roboto"/>
                <a:sym typeface="Roboto"/>
              </a:rPr>
              <a:t>Thực nghiệm 4: Đối sánh với Công cụ Tiêu chuẩn Quốc tế (ClustalW 2.1 &amp; MUSCLE v3.8)</a:t>
            </a:r>
            <a:endParaRPr b="1" sz="1500">
              <a:solidFill>
                <a:srgbClr val="FFFFFF"/>
              </a:solidFill>
              <a:latin typeface="Roboto"/>
              <a:ea typeface="Roboto"/>
              <a:cs typeface="Roboto"/>
              <a:sym typeface="Roboto"/>
            </a:endParaRPr>
          </a:p>
        </p:txBody>
      </p:sp>
      <p:sp>
        <p:nvSpPr>
          <p:cNvPr id="348" name="Google Shape;348;p33"/>
          <p:cNvSpPr txBox="1"/>
          <p:nvPr/>
        </p:nvSpPr>
        <p:spPr>
          <a:xfrm>
            <a:off x="304800" y="520700"/>
            <a:ext cx="8534400" cy="19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vi" sz="900">
                <a:solidFill>
                  <a:srgbClr val="BAE6FD"/>
                </a:solidFill>
                <a:latin typeface="Roboto"/>
                <a:ea typeface="Roboto"/>
                <a:cs typeface="Roboto"/>
                <a:sym typeface="Roboto"/>
              </a:rPr>
              <a:t>So sánh song song Dung lượng RAM đỉnh (MB) và Độ chính xác Sinh học (SP Score) trên tập BB20001</a:t>
            </a:r>
            <a:endParaRPr i="1" sz="900">
              <a:solidFill>
                <a:srgbClr val="BAE6FD"/>
              </a:solidFill>
              <a:latin typeface="Roboto"/>
              <a:ea typeface="Roboto"/>
              <a:cs typeface="Roboto"/>
              <a:sym typeface="Roboto"/>
            </a:endParaRPr>
          </a:p>
        </p:txBody>
      </p:sp>
      <p:sp>
        <p:nvSpPr>
          <p:cNvPr id="349" name="Google Shape;349;p33"/>
          <p:cNvSpPr/>
          <p:nvPr/>
        </p:nvSpPr>
        <p:spPr>
          <a:xfrm>
            <a:off x="254000" y="812800"/>
            <a:ext cx="8636100" cy="3835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0" name="Google Shape;350;p33"/>
          <p:cNvSpPr txBox="1"/>
          <p:nvPr/>
        </p:nvSpPr>
        <p:spPr>
          <a:xfrm>
            <a:off x="254000" y="4699000"/>
            <a:ext cx="8636100" cy="355500"/>
          </a:xfrm>
          <a:prstGeom prst="rect">
            <a:avLst/>
          </a:pr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vi" sz="1000">
                <a:solidFill>
                  <a:srgbClr val="FFFFFF"/>
                </a:solidFill>
                <a:latin typeface="Roboto"/>
                <a:ea typeface="Roboto"/>
                <a:cs typeface="Roboto"/>
                <a:sym typeface="Roboto"/>
              </a:rPr>
              <a:t>Nhóm 5 tiêu thụ RAM thấp nhất (26,8 MB — giảm ~45% so với ClustalW 48,5 MB &amp; MUSCLE 52,0 MB) và đạt SP Score (0,488) vượt ClustalW (0,472)!</a:t>
            </a:r>
            <a:endParaRPr b="1" sz="1000">
              <a:solidFill>
                <a:srgbClr val="FFFFFF"/>
              </a:solidFill>
              <a:latin typeface="Roboto"/>
              <a:ea typeface="Roboto"/>
              <a:cs typeface="Roboto"/>
              <a:sym typeface="Roboto"/>
            </a:endParaRPr>
          </a:p>
        </p:txBody>
      </p:sp>
      <p:pic>
        <p:nvPicPr>
          <p:cNvPr id="351" name="Google Shape;351;p33"/>
          <p:cNvPicPr preferRelativeResize="0"/>
          <p:nvPr/>
        </p:nvPicPr>
        <p:blipFill>
          <a:blip r:embed="rId3">
            <a:alphaModFix/>
          </a:blip>
          <a:stretch>
            <a:fillRect/>
          </a:stretch>
        </p:blipFill>
        <p:spPr>
          <a:xfrm>
            <a:off x="308795" y="868680"/>
            <a:ext cx="8526410" cy="372364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355" name="Shape 355"/>
        <p:cNvGrpSpPr/>
        <p:nvPr/>
      </p:nvGrpSpPr>
      <p:grpSpPr>
        <a:xfrm>
          <a:off x="0" y="0"/>
          <a:ext cx="0" cy="0"/>
          <a:chOff x="0" y="0"/>
          <a:chExt cx="0" cy="0"/>
        </a:xfrm>
      </p:grpSpPr>
      <p:sp>
        <p:nvSpPr>
          <p:cNvPr id="356" name="Google Shape;356;p34"/>
          <p:cNvSpPr/>
          <p:nvPr/>
        </p:nvSpPr>
        <p:spPr>
          <a:xfrm>
            <a:off x="0" y="0"/>
            <a:ext cx="9144000" cy="736500"/>
          </a:xfrm>
          <a:prstGeom prst="rect">
            <a:avLst/>
          </a:prstGeom>
          <a:solidFill>
            <a:srgbClr val="0F172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7" name="Google Shape;357;p34"/>
          <p:cNvSpPr/>
          <p:nvPr/>
        </p:nvSpPr>
        <p:spPr>
          <a:xfrm>
            <a:off x="0" y="711200"/>
            <a:ext cx="9144000" cy="38100"/>
          </a:xfrm>
          <a:prstGeom prst="rect">
            <a:avLst/>
          </a:prstGeom>
          <a:solidFill>
            <a:srgbClr val="0284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8" name="Google Shape;358;p34"/>
          <p:cNvSpPr txBox="1"/>
          <p:nvPr/>
        </p:nvSpPr>
        <p:spPr>
          <a:xfrm>
            <a:off x="304800" y="76200"/>
            <a:ext cx="2476500" cy="203100"/>
          </a:xfrm>
          <a:prstGeom prst="rect">
            <a:avLst/>
          </a:prstGeom>
          <a:solidFill>
            <a:srgbClr val="0284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vi" sz="800">
                <a:solidFill>
                  <a:srgbClr val="FFFFFF"/>
                </a:solidFill>
                <a:latin typeface="Roboto"/>
                <a:ea typeface="Roboto"/>
                <a:cs typeface="Roboto"/>
                <a:sym typeface="Roboto"/>
              </a:rPr>
              <a:t>PHẦN 5 • HỆ THỐNG WEB GUI STUDIO (1/2)</a:t>
            </a:r>
            <a:endParaRPr b="1" sz="800">
              <a:solidFill>
                <a:srgbClr val="FFFFFF"/>
              </a:solidFill>
              <a:latin typeface="Roboto"/>
              <a:ea typeface="Roboto"/>
              <a:cs typeface="Roboto"/>
              <a:sym typeface="Roboto"/>
            </a:endParaRPr>
          </a:p>
        </p:txBody>
      </p:sp>
      <p:sp>
        <p:nvSpPr>
          <p:cNvPr id="359" name="Google Shape;359;p34"/>
          <p:cNvSpPr txBox="1"/>
          <p:nvPr/>
        </p:nvSpPr>
        <p:spPr>
          <a:xfrm>
            <a:off x="8001000" y="76200"/>
            <a:ext cx="838200" cy="2031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vi" sz="850">
                <a:solidFill>
                  <a:srgbClr val="93C5FD"/>
                </a:solidFill>
                <a:latin typeface="Roboto"/>
                <a:ea typeface="Roboto"/>
                <a:cs typeface="Roboto"/>
                <a:sym typeface="Roboto"/>
              </a:rPr>
              <a:t>Slide 22 / 24</a:t>
            </a:r>
            <a:endParaRPr b="1" sz="850">
              <a:solidFill>
                <a:srgbClr val="93C5FD"/>
              </a:solidFill>
              <a:latin typeface="Roboto"/>
              <a:ea typeface="Roboto"/>
              <a:cs typeface="Roboto"/>
              <a:sym typeface="Roboto"/>
            </a:endParaRPr>
          </a:p>
        </p:txBody>
      </p:sp>
      <p:sp>
        <p:nvSpPr>
          <p:cNvPr id="360" name="Google Shape;360;p34"/>
          <p:cNvSpPr txBox="1"/>
          <p:nvPr/>
        </p:nvSpPr>
        <p:spPr>
          <a:xfrm>
            <a:off x="304800" y="279400"/>
            <a:ext cx="85344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vi" sz="1500">
                <a:solidFill>
                  <a:srgbClr val="FFFFFF"/>
                </a:solidFill>
                <a:latin typeface="Roboto"/>
                <a:ea typeface="Roboto"/>
                <a:cs typeface="Roboto"/>
                <a:sym typeface="Roboto"/>
              </a:rPr>
              <a:t>Giao diện Web GUI Studio: Ma trận Căn chỉnh Màu Hóa học &amp; Biểu đồ Bảo tồn</a:t>
            </a:r>
            <a:endParaRPr b="1" sz="1500">
              <a:solidFill>
                <a:srgbClr val="FFFFFF"/>
              </a:solidFill>
              <a:latin typeface="Roboto"/>
              <a:ea typeface="Roboto"/>
              <a:cs typeface="Roboto"/>
              <a:sym typeface="Roboto"/>
            </a:endParaRPr>
          </a:p>
        </p:txBody>
      </p:sp>
      <p:sp>
        <p:nvSpPr>
          <p:cNvPr id="361" name="Google Shape;361;p34"/>
          <p:cNvSpPr txBox="1"/>
          <p:nvPr/>
        </p:nvSpPr>
        <p:spPr>
          <a:xfrm>
            <a:off x="304800" y="520700"/>
            <a:ext cx="8534400" cy="19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vi" sz="900">
                <a:solidFill>
                  <a:srgbClr val="BAE6FD"/>
                </a:solidFill>
                <a:latin typeface="Roboto"/>
                <a:ea typeface="Roboto"/>
                <a:cs typeface="Roboto"/>
                <a:sym typeface="Roboto"/>
              </a:rPr>
              <a:t>Trực quan hóa theo chuẩn Jalview / ClustalX (Kỵ nước: Xanh lam, Điện tích dương: Đỏ, Âm: Tím) kèm Conservation Histogram</a:t>
            </a:r>
            <a:endParaRPr i="1" sz="900">
              <a:solidFill>
                <a:srgbClr val="BAE6FD"/>
              </a:solidFill>
              <a:latin typeface="Roboto"/>
              <a:ea typeface="Roboto"/>
              <a:cs typeface="Roboto"/>
              <a:sym typeface="Roboto"/>
            </a:endParaRPr>
          </a:p>
        </p:txBody>
      </p:sp>
      <p:sp>
        <p:nvSpPr>
          <p:cNvPr id="362" name="Google Shape;362;p34"/>
          <p:cNvSpPr/>
          <p:nvPr/>
        </p:nvSpPr>
        <p:spPr>
          <a:xfrm>
            <a:off x="254000" y="812800"/>
            <a:ext cx="8636100" cy="3835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3" name="Google Shape;363;p34"/>
          <p:cNvSpPr txBox="1"/>
          <p:nvPr/>
        </p:nvSpPr>
        <p:spPr>
          <a:xfrm>
            <a:off x="254000" y="4699000"/>
            <a:ext cx="8636100" cy="355500"/>
          </a:xfrm>
          <a:prstGeom prst="rect">
            <a:avLst/>
          </a:pr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vi" sz="1000">
                <a:solidFill>
                  <a:srgbClr val="FFFFFF"/>
                </a:solidFill>
                <a:latin typeface="Roboto"/>
                <a:ea typeface="Roboto"/>
                <a:cs typeface="Roboto"/>
                <a:sym typeface="Roboto"/>
              </a:rPr>
              <a:t>Hỗ trợ 4 Demo Presets (BAliBASE RV11, RV12, Hemoglobin, Long Seq), tuỳ chỉnh số luồng OpenMP (1–8), Gap Open/Extend và xuất FASTA/Newick</a:t>
            </a:r>
            <a:endParaRPr b="1" sz="1000">
              <a:solidFill>
                <a:srgbClr val="FFFFFF"/>
              </a:solidFill>
              <a:latin typeface="Roboto"/>
              <a:ea typeface="Roboto"/>
              <a:cs typeface="Roboto"/>
              <a:sym typeface="Roboto"/>
            </a:endParaRPr>
          </a:p>
        </p:txBody>
      </p:sp>
      <p:pic>
        <p:nvPicPr>
          <p:cNvPr id="364" name="Google Shape;364;p34"/>
          <p:cNvPicPr preferRelativeResize="0"/>
          <p:nvPr/>
        </p:nvPicPr>
        <p:blipFill>
          <a:blip r:embed="rId3">
            <a:alphaModFix/>
          </a:blip>
          <a:stretch>
            <a:fillRect/>
          </a:stretch>
        </p:blipFill>
        <p:spPr>
          <a:xfrm>
            <a:off x="899155" y="850900"/>
            <a:ext cx="7345690" cy="37592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368" name="Shape 368"/>
        <p:cNvGrpSpPr/>
        <p:nvPr/>
      </p:nvGrpSpPr>
      <p:grpSpPr>
        <a:xfrm>
          <a:off x="0" y="0"/>
          <a:ext cx="0" cy="0"/>
          <a:chOff x="0" y="0"/>
          <a:chExt cx="0" cy="0"/>
        </a:xfrm>
      </p:grpSpPr>
      <p:sp>
        <p:nvSpPr>
          <p:cNvPr id="369" name="Google Shape;369;p35"/>
          <p:cNvSpPr/>
          <p:nvPr/>
        </p:nvSpPr>
        <p:spPr>
          <a:xfrm>
            <a:off x="0" y="0"/>
            <a:ext cx="9144000" cy="736500"/>
          </a:xfrm>
          <a:prstGeom prst="rect">
            <a:avLst/>
          </a:prstGeom>
          <a:solidFill>
            <a:srgbClr val="0F172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0" name="Google Shape;370;p35"/>
          <p:cNvSpPr/>
          <p:nvPr/>
        </p:nvSpPr>
        <p:spPr>
          <a:xfrm>
            <a:off x="0" y="711200"/>
            <a:ext cx="9144000" cy="38100"/>
          </a:xfrm>
          <a:prstGeom prst="rect">
            <a:avLst/>
          </a:prstGeom>
          <a:solidFill>
            <a:srgbClr val="0284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1" name="Google Shape;371;p35"/>
          <p:cNvSpPr txBox="1"/>
          <p:nvPr/>
        </p:nvSpPr>
        <p:spPr>
          <a:xfrm>
            <a:off x="304800" y="76200"/>
            <a:ext cx="2476500" cy="203100"/>
          </a:xfrm>
          <a:prstGeom prst="rect">
            <a:avLst/>
          </a:prstGeom>
          <a:solidFill>
            <a:srgbClr val="0284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vi" sz="800">
                <a:solidFill>
                  <a:srgbClr val="FFFFFF"/>
                </a:solidFill>
                <a:latin typeface="Roboto"/>
                <a:ea typeface="Roboto"/>
                <a:cs typeface="Roboto"/>
                <a:sym typeface="Roboto"/>
              </a:rPr>
              <a:t>PHẦN 5 • HỆ THỐNG WEB GUI STUDIO (2/2) &amp; LIVE DEMO</a:t>
            </a:r>
            <a:endParaRPr b="1" sz="800">
              <a:solidFill>
                <a:srgbClr val="FFFFFF"/>
              </a:solidFill>
              <a:latin typeface="Roboto"/>
              <a:ea typeface="Roboto"/>
              <a:cs typeface="Roboto"/>
              <a:sym typeface="Roboto"/>
            </a:endParaRPr>
          </a:p>
        </p:txBody>
      </p:sp>
      <p:sp>
        <p:nvSpPr>
          <p:cNvPr id="372" name="Google Shape;372;p35"/>
          <p:cNvSpPr txBox="1"/>
          <p:nvPr/>
        </p:nvSpPr>
        <p:spPr>
          <a:xfrm>
            <a:off x="8001000" y="76200"/>
            <a:ext cx="838200" cy="2031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vi" sz="850">
                <a:solidFill>
                  <a:srgbClr val="93C5FD"/>
                </a:solidFill>
                <a:latin typeface="Roboto"/>
                <a:ea typeface="Roboto"/>
                <a:cs typeface="Roboto"/>
                <a:sym typeface="Roboto"/>
              </a:rPr>
              <a:t>Slide 23 / 24</a:t>
            </a:r>
            <a:endParaRPr b="1" sz="850">
              <a:solidFill>
                <a:srgbClr val="93C5FD"/>
              </a:solidFill>
              <a:latin typeface="Roboto"/>
              <a:ea typeface="Roboto"/>
              <a:cs typeface="Roboto"/>
              <a:sym typeface="Roboto"/>
            </a:endParaRPr>
          </a:p>
        </p:txBody>
      </p:sp>
      <p:sp>
        <p:nvSpPr>
          <p:cNvPr id="373" name="Google Shape;373;p35"/>
          <p:cNvSpPr txBox="1"/>
          <p:nvPr/>
        </p:nvSpPr>
        <p:spPr>
          <a:xfrm>
            <a:off x="304800" y="279400"/>
            <a:ext cx="85344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vi" sz="1500">
                <a:solidFill>
                  <a:srgbClr val="FFFFFF"/>
                </a:solidFill>
                <a:latin typeface="Roboto"/>
                <a:ea typeface="Roboto"/>
                <a:cs typeface="Roboto"/>
                <a:sym typeface="Roboto"/>
              </a:rPr>
              <a:t>Trực quan hóa Cây Phát sinh UPGMA SVG &amp; Bảng Điều khiển Benchmark Đa luồng</a:t>
            </a:r>
            <a:endParaRPr b="1" sz="1500">
              <a:solidFill>
                <a:srgbClr val="FFFFFF"/>
              </a:solidFill>
              <a:latin typeface="Roboto"/>
              <a:ea typeface="Roboto"/>
              <a:cs typeface="Roboto"/>
              <a:sym typeface="Roboto"/>
            </a:endParaRPr>
          </a:p>
        </p:txBody>
      </p:sp>
      <p:sp>
        <p:nvSpPr>
          <p:cNvPr id="374" name="Google Shape;374;p35"/>
          <p:cNvSpPr txBox="1"/>
          <p:nvPr/>
        </p:nvSpPr>
        <p:spPr>
          <a:xfrm>
            <a:off x="304800" y="520700"/>
            <a:ext cx="8534400" cy="19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vi" sz="900">
                <a:solidFill>
                  <a:srgbClr val="BAE6FD"/>
                </a:solidFill>
                <a:latin typeface="Roboto"/>
                <a:ea typeface="Roboto"/>
                <a:cs typeface="Roboto"/>
                <a:sym typeface="Roboto"/>
              </a:rPr>
              <a:t>Tích hợp đồ họa vector tương tác (Zoom/Pan) và đo đạc Speedup / Memory Reduction thời gian thực</a:t>
            </a:r>
            <a:endParaRPr i="1" sz="900">
              <a:solidFill>
                <a:srgbClr val="BAE6FD"/>
              </a:solidFill>
              <a:latin typeface="Roboto"/>
              <a:ea typeface="Roboto"/>
              <a:cs typeface="Roboto"/>
              <a:sym typeface="Roboto"/>
            </a:endParaRPr>
          </a:p>
        </p:txBody>
      </p:sp>
      <p:sp>
        <p:nvSpPr>
          <p:cNvPr id="375" name="Google Shape;375;p35"/>
          <p:cNvSpPr/>
          <p:nvPr/>
        </p:nvSpPr>
        <p:spPr>
          <a:xfrm>
            <a:off x="254000" y="812800"/>
            <a:ext cx="4241700" cy="3784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6" name="Google Shape;376;p35"/>
          <p:cNvSpPr/>
          <p:nvPr/>
        </p:nvSpPr>
        <p:spPr>
          <a:xfrm>
            <a:off x="4648200" y="812800"/>
            <a:ext cx="4241700" cy="3784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7" name="Google Shape;377;p35"/>
          <p:cNvSpPr txBox="1"/>
          <p:nvPr/>
        </p:nvSpPr>
        <p:spPr>
          <a:xfrm>
            <a:off x="254000" y="4673600"/>
            <a:ext cx="8636100" cy="355500"/>
          </a:xfrm>
          <a:prstGeom prst="rect">
            <a:avLst/>
          </a:prstGeom>
          <a:solidFill>
            <a:srgbClr val="0284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vi" sz="980">
                <a:solidFill>
                  <a:srgbClr val="FFFFFF"/>
                </a:solidFill>
                <a:latin typeface="Roboto"/>
                <a:ea typeface="Roboto"/>
                <a:cs typeface="Roboto"/>
                <a:sym typeface="Roboto"/>
              </a:rPr>
              <a:t>Kịch bản Live Demo (90s): Chọn Preset BAliBASE RV12 → Bật Baseline Compare &amp; 4 Threads → Quan sát Ma trận màu, Cây UPGMA &amp; Thẻ giảm RAM &gt;700×</a:t>
            </a:r>
            <a:endParaRPr b="1" sz="980">
              <a:solidFill>
                <a:srgbClr val="FFFFFF"/>
              </a:solidFill>
              <a:latin typeface="Roboto"/>
              <a:ea typeface="Roboto"/>
              <a:cs typeface="Roboto"/>
              <a:sym typeface="Roboto"/>
            </a:endParaRPr>
          </a:p>
        </p:txBody>
      </p:sp>
      <p:pic>
        <p:nvPicPr>
          <p:cNvPr id="378" name="Google Shape;378;p35"/>
          <p:cNvPicPr preferRelativeResize="0"/>
          <p:nvPr/>
        </p:nvPicPr>
        <p:blipFill>
          <a:blip r:embed="rId3">
            <a:alphaModFix/>
          </a:blip>
          <a:stretch>
            <a:fillRect/>
          </a:stretch>
        </p:blipFill>
        <p:spPr>
          <a:xfrm>
            <a:off x="305215" y="1455420"/>
            <a:ext cx="4139369" cy="2499359"/>
          </a:xfrm>
          <a:prstGeom prst="rect">
            <a:avLst/>
          </a:prstGeom>
          <a:noFill/>
          <a:ln>
            <a:noFill/>
          </a:ln>
        </p:spPr>
      </p:pic>
      <p:pic>
        <p:nvPicPr>
          <p:cNvPr id="379" name="Google Shape;379;p35"/>
          <p:cNvPicPr preferRelativeResize="0"/>
          <p:nvPr/>
        </p:nvPicPr>
        <p:blipFill>
          <a:blip r:embed="rId4">
            <a:alphaModFix/>
          </a:blip>
          <a:stretch>
            <a:fillRect/>
          </a:stretch>
        </p:blipFill>
        <p:spPr>
          <a:xfrm>
            <a:off x="4699415" y="1455420"/>
            <a:ext cx="4139369" cy="249935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383" name="Shape 383"/>
        <p:cNvGrpSpPr/>
        <p:nvPr/>
      </p:nvGrpSpPr>
      <p:grpSpPr>
        <a:xfrm>
          <a:off x="0" y="0"/>
          <a:ext cx="0" cy="0"/>
          <a:chOff x="0" y="0"/>
          <a:chExt cx="0" cy="0"/>
        </a:xfrm>
      </p:grpSpPr>
      <p:sp>
        <p:nvSpPr>
          <p:cNvPr id="384" name="Google Shape;384;p36"/>
          <p:cNvSpPr/>
          <p:nvPr/>
        </p:nvSpPr>
        <p:spPr>
          <a:xfrm>
            <a:off x="0" y="0"/>
            <a:ext cx="9144000" cy="736500"/>
          </a:xfrm>
          <a:prstGeom prst="rect">
            <a:avLst/>
          </a:prstGeom>
          <a:solidFill>
            <a:srgbClr val="0F172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5" name="Google Shape;385;p36"/>
          <p:cNvSpPr/>
          <p:nvPr/>
        </p:nvSpPr>
        <p:spPr>
          <a:xfrm>
            <a:off x="0" y="711200"/>
            <a:ext cx="9144000" cy="38100"/>
          </a:xfrm>
          <a:prstGeom prst="rect">
            <a:avLst/>
          </a:prstGeom>
          <a:solidFill>
            <a:srgbClr val="0284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6" name="Google Shape;386;p36"/>
          <p:cNvSpPr txBox="1"/>
          <p:nvPr/>
        </p:nvSpPr>
        <p:spPr>
          <a:xfrm>
            <a:off x="304800" y="76200"/>
            <a:ext cx="2476500" cy="203100"/>
          </a:xfrm>
          <a:prstGeom prst="rect">
            <a:avLst/>
          </a:prstGeom>
          <a:solidFill>
            <a:srgbClr val="0284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vi" sz="800">
                <a:solidFill>
                  <a:srgbClr val="FFFFFF"/>
                </a:solidFill>
                <a:latin typeface="Roboto"/>
                <a:ea typeface="Roboto"/>
                <a:cs typeface="Roboto"/>
                <a:sym typeface="Roboto"/>
              </a:rPr>
              <a:t>PHẦN 5 • KẾT LUẬN &amp; HƯỚNG PHÁT TRIỂN</a:t>
            </a:r>
            <a:endParaRPr b="1" sz="800">
              <a:solidFill>
                <a:srgbClr val="FFFFFF"/>
              </a:solidFill>
              <a:latin typeface="Roboto"/>
              <a:ea typeface="Roboto"/>
              <a:cs typeface="Roboto"/>
              <a:sym typeface="Roboto"/>
            </a:endParaRPr>
          </a:p>
        </p:txBody>
      </p:sp>
      <p:sp>
        <p:nvSpPr>
          <p:cNvPr id="387" name="Google Shape;387;p36"/>
          <p:cNvSpPr txBox="1"/>
          <p:nvPr/>
        </p:nvSpPr>
        <p:spPr>
          <a:xfrm>
            <a:off x="8001000" y="76200"/>
            <a:ext cx="838200" cy="2031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vi" sz="850">
                <a:solidFill>
                  <a:srgbClr val="93C5FD"/>
                </a:solidFill>
                <a:latin typeface="Roboto"/>
                <a:ea typeface="Roboto"/>
                <a:cs typeface="Roboto"/>
                <a:sym typeface="Roboto"/>
              </a:rPr>
              <a:t>Slide 24 / 24</a:t>
            </a:r>
            <a:endParaRPr b="1" sz="850">
              <a:solidFill>
                <a:srgbClr val="93C5FD"/>
              </a:solidFill>
              <a:latin typeface="Roboto"/>
              <a:ea typeface="Roboto"/>
              <a:cs typeface="Roboto"/>
              <a:sym typeface="Roboto"/>
            </a:endParaRPr>
          </a:p>
        </p:txBody>
      </p:sp>
      <p:sp>
        <p:nvSpPr>
          <p:cNvPr id="388" name="Google Shape;388;p36"/>
          <p:cNvSpPr txBox="1"/>
          <p:nvPr/>
        </p:nvSpPr>
        <p:spPr>
          <a:xfrm>
            <a:off x="304800" y="279400"/>
            <a:ext cx="85344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vi" sz="1500">
                <a:solidFill>
                  <a:srgbClr val="FFFFFF"/>
                </a:solidFill>
                <a:latin typeface="Roboto"/>
                <a:ea typeface="Roboto"/>
                <a:cs typeface="Roboto"/>
                <a:sym typeface="Roboto"/>
              </a:rPr>
              <a:t>Tổng kết Đóng góp Khoa học, Kiểm thử Tự động &amp; Hướng Phát triển</a:t>
            </a:r>
            <a:endParaRPr b="1" sz="1500">
              <a:solidFill>
                <a:srgbClr val="FFFFFF"/>
              </a:solidFill>
              <a:latin typeface="Roboto"/>
              <a:ea typeface="Roboto"/>
              <a:cs typeface="Roboto"/>
              <a:sym typeface="Roboto"/>
            </a:endParaRPr>
          </a:p>
        </p:txBody>
      </p:sp>
      <p:sp>
        <p:nvSpPr>
          <p:cNvPr id="389" name="Google Shape;389;p36"/>
          <p:cNvSpPr txBox="1"/>
          <p:nvPr/>
        </p:nvSpPr>
        <p:spPr>
          <a:xfrm>
            <a:off x="304800" y="520700"/>
            <a:ext cx="8534400" cy="19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vi" sz="900">
                <a:solidFill>
                  <a:srgbClr val="BAE6FD"/>
                </a:solidFill>
                <a:latin typeface="Roboto"/>
                <a:ea typeface="Roboto"/>
                <a:cs typeface="Roboto"/>
                <a:sym typeface="Roboto"/>
              </a:rPr>
              <a:t>Giải quyết trọn vẹn bài toán MSA bằng Chia để trị Tuyến tính O(k·L) kết hợp Song song hóa Đa tầng</a:t>
            </a:r>
            <a:endParaRPr i="1" sz="900">
              <a:solidFill>
                <a:srgbClr val="BAE6FD"/>
              </a:solidFill>
              <a:latin typeface="Roboto"/>
              <a:ea typeface="Roboto"/>
              <a:cs typeface="Roboto"/>
              <a:sym typeface="Roboto"/>
            </a:endParaRPr>
          </a:p>
        </p:txBody>
      </p:sp>
      <p:sp>
        <p:nvSpPr>
          <p:cNvPr id="390" name="Google Shape;390;p36"/>
          <p:cNvSpPr txBox="1"/>
          <p:nvPr/>
        </p:nvSpPr>
        <p:spPr>
          <a:xfrm>
            <a:off x="304800" y="838200"/>
            <a:ext cx="4191000" cy="304800"/>
          </a:xfrm>
          <a:prstGeom prst="rect">
            <a:avLst/>
          </a:prstGeom>
          <a:solidFill>
            <a:srgbClr val="0596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vi" sz="1050">
                <a:solidFill>
                  <a:srgbClr val="FFFFFF"/>
                </a:solidFill>
                <a:latin typeface="Roboto"/>
                <a:ea typeface="Roboto"/>
                <a:cs typeface="Roboto"/>
                <a:sym typeface="Roboto"/>
              </a:rPr>
              <a:t>1. Bốn Kết quả &amp; Đóng góp Cốt lõi Đã Đạt được</a:t>
            </a:r>
            <a:endParaRPr b="1" sz="1050">
              <a:solidFill>
                <a:srgbClr val="FFFFFF"/>
              </a:solidFill>
              <a:latin typeface="Roboto"/>
              <a:ea typeface="Roboto"/>
              <a:cs typeface="Roboto"/>
              <a:sym typeface="Roboto"/>
            </a:endParaRPr>
          </a:p>
        </p:txBody>
      </p:sp>
      <p:sp>
        <p:nvSpPr>
          <p:cNvPr id="391" name="Google Shape;391;p36"/>
          <p:cNvSpPr txBox="1"/>
          <p:nvPr/>
        </p:nvSpPr>
        <p:spPr>
          <a:xfrm>
            <a:off x="304800" y="1143000"/>
            <a:ext cx="4191000" cy="31878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lnSpc>
                <a:spcPct val="125000"/>
              </a:lnSpc>
              <a:spcBef>
                <a:spcPts val="0"/>
              </a:spcBef>
              <a:spcAft>
                <a:spcPts val="0"/>
              </a:spcAft>
              <a:buNone/>
            </a:pPr>
            <a:r>
              <a:rPr lang="vi" sz="950">
                <a:solidFill>
                  <a:srgbClr val="1E293B"/>
                </a:solidFill>
                <a:latin typeface="Roboto"/>
                <a:ea typeface="Roboto"/>
                <a:cs typeface="Roboto"/>
                <a:sym typeface="Roboto"/>
              </a:rPr>
              <a:t>① Tối ưu Bộ nhớ Tuyến tính O(min(m, n)):</a:t>
            </a:r>
            <a:endParaRPr sz="95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50">
                <a:solidFill>
                  <a:srgbClr val="1E293B"/>
                </a:solidFill>
                <a:latin typeface="Roboto"/>
                <a:ea typeface="Roboto"/>
                <a:cs typeface="Roboto"/>
                <a:sym typeface="Roboto"/>
              </a:rPr>
              <a:t>   Thiết kế hoàn chỉnh Myers-Miller + Profile-to-Profile, giảm bộ nhớ tới 1.353,5× RAM và đạt điểm số trùng khớp 100% với Gotoh NW.</a:t>
            </a:r>
            <a:endParaRPr sz="95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t/>
            </a:r>
            <a:endParaRPr sz="95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50">
                <a:solidFill>
                  <a:srgbClr val="1E293B"/>
                </a:solidFill>
                <a:latin typeface="Roboto"/>
                <a:ea typeface="Roboto"/>
                <a:cs typeface="Roboto"/>
                <a:sym typeface="Roboto"/>
              </a:rPr>
              <a:t>② Tăng tốc Song song Đa tầng (OpenMP + MPI):</a:t>
            </a:r>
            <a:endParaRPr sz="95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50">
                <a:solidFill>
                  <a:srgbClr val="1E293B"/>
                </a:solidFill>
                <a:latin typeface="Roboto"/>
                <a:ea typeface="Roboto"/>
                <a:cs typeface="Roboto"/>
                <a:sym typeface="Roboto"/>
              </a:rPr>
              <a:t>   Đạt Speedup 1,73× trên CPU đa nhân và hỗ trợ mở rộng cụm HPC.</a:t>
            </a:r>
            <a:endParaRPr sz="95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t/>
            </a:r>
            <a:endParaRPr sz="95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50">
                <a:solidFill>
                  <a:srgbClr val="1E293B"/>
                </a:solidFill>
                <a:latin typeface="Roboto"/>
                <a:ea typeface="Roboto"/>
                <a:cs typeface="Roboto"/>
                <a:sym typeface="Roboto"/>
              </a:rPr>
              <a:t>③ Độ chính xác Sinh học Cao trên BAliBASE 3.0:</a:t>
            </a:r>
            <a:endParaRPr sz="95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50">
                <a:solidFill>
                  <a:srgbClr val="1E293B"/>
                </a:solidFill>
                <a:latin typeface="Roboto"/>
                <a:ea typeface="Roboto"/>
                <a:cs typeface="Roboto"/>
                <a:sym typeface="Roboto"/>
              </a:rPr>
              <a:t>   Đạt SP = 86,8% trên RV12, tốn ít hơn ~45% RAM so với ClustalW &amp; MUSCLE.</a:t>
            </a:r>
            <a:endParaRPr sz="95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t/>
            </a:r>
            <a:endParaRPr sz="95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50">
                <a:solidFill>
                  <a:srgbClr val="1E293B"/>
                </a:solidFill>
                <a:latin typeface="Roboto"/>
                <a:ea typeface="Roboto"/>
                <a:cs typeface="Roboto"/>
                <a:sym typeface="Roboto"/>
              </a:rPr>
              <a:t>④ Độ tin cậy Phần mềm C++17 Tuyệt đối:</a:t>
            </a:r>
            <a:endParaRPr sz="95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50">
                <a:solidFill>
                  <a:srgbClr val="1E293B"/>
                </a:solidFill>
                <a:latin typeface="Roboto"/>
                <a:ea typeface="Roboto"/>
                <a:cs typeface="Roboto"/>
                <a:sym typeface="Roboto"/>
              </a:rPr>
              <a:t>   Vượt qua 108/108 Unit Tests (139.463 assertions) + 234/234 E2E Tests.</a:t>
            </a:r>
            <a:endParaRPr sz="950">
              <a:solidFill>
                <a:srgbClr val="1E293B"/>
              </a:solidFill>
              <a:latin typeface="Roboto"/>
              <a:ea typeface="Roboto"/>
              <a:cs typeface="Roboto"/>
              <a:sym typeface="Roboto"/>
            </a:endParaRPr>
          </a:p>
        </p:txBody>
      </p:sp>
      <p:sp>
        <p:nvSpPr>
          <p:cNvPr id="392" name="Google Shape;392;p36"/>
          <p:cNvSpPr txBox="1"/>
          <p:nvPr/>
        </p:nvSpPr>
        <p:spPr>
          <a:xfrm>
            <a:off x="4648200" y="838200"/>
            <a:ext cx="4191000" cy="304800"/>
          </a:xfrm>
          <a:prstGeom prst="rect">
            <a:avLst/>
          </a:prstGeom>
          <a:solidFill>
            <a:srgbClr val="0284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vi" sz="1050">
                <a:solidFill>
                  <a:srgbClr val="FFFFFF"/>
                </a:solidFill>
                <a:latin typeface="Roboto"/>
                <a:ea typeface="Roboto"/>
                <a:cs typeface="Roboto"/>
                <a:sym typeface="Roboto"/>
              </a:rPr>
              <a:t>2. Ba Hướng Phát triển Mở rộng Tương lai</a:t>
            </a:r>
            <a:endParaRPr b="1" sz="1050">
              <a:solidFill>
                <a:srgbClr val="FFFFFF"/>
              </a:solidFill>
              <a:latin typeface="Roboto"/>
              <a:ea typeface="Roboto"/>
              <a:cs typeface="Roboto"/>
              <a:sym typeface="Roboto"/>
            </a:endParaRPr>
          </a:p>
        </p:txBody>
      </p:sp>
      <p:sp>
        <p:nvSpPr>
          <p:cNvPr id="393" name="Google Shape;393;p36"/>
          <p:cNvSpPr txBox="1"/>
          <p:nvPr/>
        </p:nvSpPr>
        <p:spPr>
          <a:xfrm>
            <a:off x="4648200" y="1143000"/>
            <a:ext cx="4191000" cy="31878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lnSpc>
                <a:spcPct val="125000"/>
              </a:lnSpc>
              <a:spcBef>
                <a:spcPts val="0"/>
              </a:spcBef>
              <a:spcAft>
                <a:spcPts val="0"/>
              </a:spcAft>
              <a:buNone/>
            </a:pPr>
            <a:r>
              <a:rPr lang="vi" sz="950">
                <a:solidFill>
                  <a:srgbClr val="1E293B"/>
                </a:solidFill>
                <a:latin typeface="Roboto"/>
                <a:ea typeface="Roboto"/>
                <a:cs typeface="Roboto"/>
                <a:sym typeface="Roboto"/>
              </a:rPr>
              <a:t>① Tinh chỉnh Lặp (Iterative Refinement):</a:t>
            </a:r>
            <a:endParaRPr sz="95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50">
                <a:solidFill>
                  <a:srgbClr val="1E293B"/>
                </a:solidFill>
                <a:latin typeface="Roboto"/>
                <a:ea typeface="Roboto"/>
                <a:cs typeface="Roboto"/>
                <a:sym typeface="Roboto"/>
              </a:rPr>
              <a:t>   Cắt đôi cây UPGMA và căn chỉnh lại Profile (kiểu MUSCLE/MAFFT) để khắc phục hạn chế 'Once a gap, always a gap' và nâng điểm TC trên RV20.</a:t>
            </a:r>
            <a:endParaRPr sz="95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t/>
            </a:r>
            <a:endParaRPr sz="95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50">
                <a:solidFill>
                  <a:srgbClr val="1E293B"/>
                </a:solidFill>
                <a:latin typeface="Roboto"/>
                <a:ea typeface="Roboto"/>
                <a:cs typeface="Roboto"/>
                <a:sym typeface="Roboto"/>
              </a:rPr>
              <a:t>② Vector hóa Phần cứng SIMD (AVX-512) &amp; GPU CUDA:</a:t>
            </a:r>
            <a:endParaRPr sz="95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50">
                <a:solidFill>
                  <a:srgbClr val="1E293B"/>
                </a:solidFill>
                <a:latin typeface="Roboto"/>
                <a:ea typeface="Roboto"/>
                <a:cs typeface="Roboto"/>
                <a:sym typeface="Roboto"/>
              </a:rPr>
              <a:t>   Tăng tốc phép tính tích vô hướng tần suất cột PSP(x,y) và đẩy mặt sóng Wavefront lên hàng nghìn nhân GPU.</a:t>
            </a:r>
            <a:endParaRPr sz="95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t/>
            </a:r>
            <a:endParaRPr sz="95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50">
                <a:solidFill>
                  <a:srgbClr val="1E293B"/>
                </a:solidFill>
                <a:latin typeface="Roboto"/>
                <a:ea typeface="Roboto"/>
                <a:cs typeface="Roboto"/>
                <a:sym typeface="Roboto"/>
              </a:rPr>
              <a:t>③ Mô hình Điểm số Thích nghi (Adaptive Matrix):</a:t>
            </a:r>
            <a:endParaRPr sz="95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950">
                <a:solidFill>
                  <a:srgbClr val="1E293B"/>
                </a:solidFill>
                <a:latin typeface="Roboto"/>
                <a:ea typeface="Roboto"/>
                <a:cs typeface="Roboto"/>
                <a:sym typeface="Roboto"/>
              </a:rPr>
              <a:t>   Tự động chọn ma trận BLOSUM80 / BLOSUM62 / BLOSUM45 tùy theo khoảng cách tiến hóa của từng nhánh cây UPGMA.</a:t>
            </a:r>
            <a:endParaRPr sz="950">
              <a:solidFill>
                <a:srgbClr val="1E293B"/>
              </a:solidFill>
              <a:latin typeface="Roboto"/>
              <a:ea typeface="Roboto"/>
              <a:cs typeface="Roboto"/>
              <a:sym typeface="Roboto"/>
            </a:endParaRPr>
          </a:p>
        </p:txBody>
      </p:sp>
      <p:sp>
        <p:nvSpPr>
          <p:cNvPr id="394" name="Google Shape;394;p36"/>
          <p:cNvSpPr txBox="1"/>
          <p:nvPr/>
        </p:nvSpPr>
        <p:spPr>
          <a:xfrm>
            <a:off x="304800" y="4470400"/>
            <a:ext cx="8534400" cy="482700"/>
          </a:xfrm>
          <a:prstGeom prst="rect">
            <a:avLst/>
          </a:prstGeom>
          <a:solidFill>
            <a:srgbClr val="0284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vi" sz="1200">
                <a:solidFill>
                  <a:srgbClr val="FFFFFF"/>
                </a:solidFill>
                <a:latin typeface="Roboto"/>
                <a:ea typeface="Roboto"/>
                <a:cs typeface="Roboto"/>
                <a:sym typeface="Roboto"/>
              </a:rPr>
              <a:t>CẢM ƠN THẦY/CÔ VÀ CÁC BẠN ĐÃ LẮNG NGHE!  •  NHÓM 5 XIN TRÂN TRỌNG ĐÓN NHẬN CÂU HỎI PHẢN BIỆN</a:t>
            </a:r>
            <a:endParaRPr b="1" sz="1200">
              <a:solidFill>
                <a:srgbClr val="FFFFFF"/>
              </a:solidFill>
              <a:latin typeface="Roboto"/>
              <a:ea typeface="Roboto"/>
              <a:cs typeface="Roboto"/>
              <a:sym typeface="Robo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398" name="Shape 398"/>
        <p:cNvGrpSpPr/>
        <p:nvPr/>
      </p:nvGrpSpPr>
      <p:grpSpPr>
        <a:xfrm>
          <a:off x="0" y="0"/>
          <a:ext cx="0" cy="0"/>
          <a:chOff x="0" y="0"/>
          <a:chExt cx="0" cy="0"/>
        </a:xfrm>
      </p:grpSpPr>
      <p:sp>
        <p:nvSpPr>
          <p:cNvPr id="399" name="Google Shape;399;p37"/>
          <p:cNvSpPr/>
          <p:nvPr/>
        </p:nvSpPr>
        <p:spPr>
          <a:xfrm>
            <a:off x="0" y="0"/>
            <a:ext cx="9144000" cy="736500"/>
          </a:xfrm>
          <a:prstGeom prst="rect">
            <a:avLst/>
          </a:prstGeom>
          <a:solidFill>
            <a:srgbClr val="0F172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0" name="Google Shape;400;p37"/>
          <p:cNvSpPr/>
          <p:nvPr/>
        </p:nvSpPr>
        <p:spPr>
          <a:xfrm>
            <a:off x="0" y="711200"/>
            <a:ext cx="9144000" cy="38100"/>
          </a:xfrm>
          <a:prstGeom prst="rect">
            <a:avLst/>
          </a:prstGeom>
          <a:solidFill>
            <a:srgbClr val="0284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1" name="Google Shape;401;p37"/>
          <p:cNvSpPr txBox="1"/>
          <p:nvPr/>
        </p:nvSpPr>
        <p:spPr>
          <a:xfrm>
            <a:off x="304800" y="76200"/>
            <a:ext cx="2476500" cy="203100"/>
          </a:xfrm>
          <a:prstGeom prst="rect">
            <a:avLst/>
          </a:prstGeom>
          <a:solidFill>
            <a:srgbClr val="0284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vi" sz="800">
                <a:solidFill>
                  <a:srgbClr val="FFFFFF"/>
                </a:solidFill>
                <a:latin typeface="Roboto"/>
                <a:ea typeface="Roboto"/>
                <a:cs typeface="Roboto"/>
                <a:sym typeface="Roboto"/>
              </a:rPr>
              <a:t>PHỤ LỤC PHẢN BIỆN • BACKUP Q&amp;A #1</a:t>
            </a:r>
            <a:endParaRPr b="1" sz="800">
              <a:solidFill>
                <a:srgbClr val="FFFFFF"/>
              </a:solidFill>
              <a:latin typeface="Roboto"/>
              <a:ea typeface="Roboto"/>
              <a:cs typeface="Roboto"/>
              <a:sym typeface="Roboto"/>
            </a:endParaRPr>
          </a:p>
        </p:txBody>
      </p:sp>
      <p:sp>
        <p:nvSpPr>
          <p:cNvPr id="402" name="Google Shape;402;p37"/>
          <p:cNvSpPr txBox="1"/>
          <p:nvPr/>
        </p:nvSpPr>
        <p:spPr>
          <a:xfrm>
            <a:off x="8001000" y="76200"/>
            <a:ext cx="838200" cy="2031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vi" sz="850">
                <a:solidFill>
                  <a:srgbClr val="93C5FD"/>
                </a:solidFill>
                <a:latin typeface="Roboto"/>
                <a:ea typeface="Roboto"/>
                <a:cs typeface="Roboto"/>
                <a:sym typeface="Roboto"/>
              </a:rPr>
              <a:t>Slide B1 / 3</a:t>
            </a:r>
            <a:endParaRPr b="1" sz="850">
              <a:solidFill>
                <a:srgbClr val="93C5FD"/>
              </a:solidFill>
              <a:latin typeface="Roboto"/>
              <a:ea typeface="Roboto"/>
              <a:cs typeface="Roboto"/>
              <a:sym typeface="Roboto"/>
            </a:endParaRPr>
          </a:p>
        </p:txBody>
      </p:sp>
      <p:sp>
        <p:nvSpPr>
          <p:cNvPr id="403" name="Google Shape;403;p37"/>
          <p:cNvSpPr txBox="1"/>
          <p:nvPr/>
        </p:nvSpPr>
        <p:spPr>
          <a:xfrm>
            <a:off x="304800" y="279400"/>
            <a:ext cx="85344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vi" sz="1500">
                <a:solidFill>
                  <a:srgbClr val="FFFFFF"/>
                </a:solidFill>
                <a:latin typeface="Roboto"/>
                <a:ea typeface="Roboto"/>
                <a:cs typeface="Roboto"/>
                <a:sym typeface="Roboto"/>
              </a:rPr>
              <a:t>[Q&amp;A Lý thuyết] Xử lý Khoảng trống Xuyên qua Nhát cắt Giữa (Gap Coalescing)</a:t>
            </a:r>
            <a:endParaRPr b="1" sz="1500">
              <a:solidFill>
                <a:srgbClr val="FFFFFF"/>
              </a:solidFill>
              <a:latin typeface="Roboto"/>
              <a:ea typeface="Roboto"/>
              <a:cs typeface="Roboto"/>
              <a:sym typeface="Roboto"/>
            </a:endParaRPr>
          </a:p>
        </p:txBody>
      </p:sp>
      <p:sp>
        <p:nvSpPr>
          <p:cNvPr id="404" name="Google Shape;404;p37"/>
          <p:cNvSpPr txBox="1"/>
          <p:nvPr/>
        </p:nvSpPr>
        <p:spPr>
          <a:xfrm>
            <a:off x="304800" y="520700"/>
            <a:ext cx="8534400" cy="19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vi" sz="900">
                <a:solidFill>
                  <a:srgbClr val="BAE6FD"/>
                </a:solidFill>
                <a:latin typeface="Roboto"/>
                <a:ea typeface="Roboto"/>
                <a:cs typeface="Roboto"/>
                <a:sym typeface="Roboto"/>
              </a:rPr>
              <a:t>Tại sao chia đôi ma trận tại dòng i* = ⌊m/2⌋ không làm phạt mở khoảng trống G_open (-10) hai lần?</a:t>
            </a:r>
            <a:endParaRPr i="1" sz="900">
              <a:solidFill>
                <a:srgbClr val="BAE6FD"/>
              </a:solidFill>
              <a:latin typeface="Roboto"/>
              <a:ea typeface="Roboto"/>
              <a:cs typeface="Roboto"/>
              <a:sym typeface="Roboto"/>
            </a:endParaRPr>
          </a:p>
        </p:txBody>
      </p:sp>
      <p:sp>
        <p:nvSpPr>
          <p:cNvPr id="405" name="Google Shape;405;p37"/>
          <p:cNvSpPr txBox="1"/>
          <p:nvPr/>
        </p:nvSpPr>
        <p:spPr>
          <a:xfrm>
            <a:off x="304800" y="838200"/>
            <a:ext cx="8534400" cy="30480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vi" sz="1050">
                <a:solidFill>
                  <a:srgbClr val="FFFFFF"/>
                </a:solidFill>
                <a:latin typeface="Roboto"/>
                <a:ea typeface="Roboto"/>
                <a:cs typeface="Roboto"/>
                <a:sym typeface="Roboto"/>
              </a:rPr>
              <a:t>Giải thích Toán học Phương trình Hợp nhất Khoảng trống tại Ranh giới i* = ⌊m/2⌋</a:t>
            </a:r>
            <a:endParaRPr b="1" sz="1050">
              <a:solidFill>
                <a:srgbClr val="FFFFFF"/>
              </a:solidFill>
              <a:latin typeface="Roboto"/>
              <a:ea typeface="Roboto"/>
              <a:cs typeface="Roboto"/>
              <a:sym typeface="Roboto"/>
            </a:endParaRPr>
          </a:p>
        </p:txBody>
      </p:sp>
      <p:sp>
        <p:nvSpPr>
          <p:cNvPr id="406" name="Google Shape;406;p37"/>
          <p:cNvSpPr txBox="1"/>
          <p:nvPr/>
        </p:nvSpPr>
        <p:spPr>
          <a:xfrm>
            <a:off x="304800" y="1143000"/>
            <a:ext cx="8534400" cy="38355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lnSpc>
                <a:spcPct val="125000"/>
              </a:lnSpc>
              <a:spcBef>
                <a:spcPts val="0"/>
              </a:spcBef>
              <a:spcAft>
                <a:spcPts val="0"/>
              </a:spcAft>
              <a:buNone/>
            </a:pPr>
            <a:r>
              <a:rPr lang="vi" sz="1020">
                <a:solidFill>
                  <a:srgbClr val="1E293B"/>
                </a:solidFill>
                <a:latin typeface="Roboto"/>
                <a:ea typeface="Roboto"/>
                <a:cs typeface="Roboto"/>
                <a:sym typeface="Roboto"/>
              </a:rPr>
              <a:t>• Câu hỏi: Nếu đường căn chỉnh tối ưu đang nằm trong một khoảng trống mở từ nửa trên kéo dài xuyên qua dòng i* xuống nửa dưới, làm sao thuật toán không tính phạt G_open hai lần?</a:t>
            </a:r>
            <a:endParaRPr sz="102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t/>
            </a:r>
            <a:endParaRPr sz="102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1020">
                <a:solidFill>
                  <a:srgbClr val="1E293B"/>
                </a:solidFill>
                <a:latin typeface="Roboto"/>
                <a:ea typeface="Roboto"/>
                <a:cs typeface="Roboto"/>
                <a:sym typeface="Roboto"/>
              </a:rPr>
              <a:t>• Công thức ghép trạng thái tại dòng giữa i*:</a:t>
            </a:r>
            <a:endParaRPr sz="102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1020">
                <a:solidFill>
                  <a:srgbClr val="1E293B"/>
                </a:solidFill>
                <a:latin typeface="Roboto"/>
                <a:ea typeface="Roboto"/>
                <a:cs typeface="Roboto"/>
                <a:sym typeface="Roboto"/>
              </a:rPr>
              <a:t>  Score(j) = max {</a:t>
            </a:r>
            <a:endParaRPr sz="102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1020">
                <a:solidFill>
                  <a:srgbClr val="1E293B"/>
                </a:solidFill>
                <a:latin typeface="Roboto"/>
                <a:ea typeface="Roboto"/>
                <a:cs typeface="Roboto"/>
                <a:sym typeface="Roboto"/>
              </a:rPr>
              <a:t>      ① Khớp / Thay thế qua ranh giới:      Fwd_M(j)  + Bwd_M(j),</a:t>
            </a:r>
            <a:endParaRPr sz="102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1020">
                <a:solidFill>
                  <a:srgbClr val="1E293B"/>
                </a:solidFill>
                <a:latin typeface="Roboto"/>
                <a:ea typeface="Roboto"/>
                <a:cs typeface="Roboto"/>
                <a:sym typeface="Roboto"/>
              </a:rPr>
              <a:t>      ② Khoảng trống xuyên qua ranh giới:   Fwd_Ix(j) + Bwd_Ix(j) - G_open + G_ext</a:t>
            </a:r>
            <a:endParaRPr sz="102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1020">
                <a:solidFill>
                  <a:srgbClr val="1E293B"/>
                </a:solidFill>
                <a:latin typeface="Roboto"/>
                <a:ea typeface="Roboto"/>
                <a:cs typeface="Roboto"/>
                <a:sym typeface="Roboto"/>
              </a:rPr>
              <a:t>  }</a:t>
            </a:r>
            <a:endParaRPr sz="102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t/>
            </a:r>
            <a:endParaRPr sz="102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1020">
                <a:solidFill>
                  <a:srgbClr val="1E293B"/>
                </a:solidFill>
                <a:latin typeface="Roboto"/>
                <a:ea typeface="Roboto"/>
                <a:cs typeface="Roboto"/>
                <a:sym typeface="Roboto"/>
              </a:rPr>
              <a:t>• Chứng minh: Một khoảng trống độ dài g = g₁ + g₂ có chi phí thực là G_open + (g₁ + g₂ - 1)·G_ext.</a:t>
            </a:r>
            <a:endParaRPr sz="102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1020">
                <a:solidFill>
                  <a:srgbClr val="1E293B"/>
                </a:solidFill>
                <a:latin typeface="Roboto"/>
                <a:ea typeface="Roboto"/>
                <a:cs typeface="Roboto"/>
                <a:sym typeface="Roboto"/>
              </a:rPr>
              <a:t>  Nhưng Fwd_Ix(j) + Bwd_Ix(j) đã tính [G_open + (g₁ - 1)·G_ext] + [G_open + (g₂ - 1)·G_ext] = 2·G_open + (g₁ + g₂ - 2)·G_ext.</a:t>
            </a:r>
            <a:endParaRPr sz="102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1020">
                <a:solidFill>
                  <a:srgbClr val="1E293B"/>
                </a:solidFill>
                <a:latin typeface="Roboto"/>
                <a:ea typeface="Roboto"/>
                <a:cs typeface="Roboto"/>
                <a:sym typeface="Roboto"/>
              </a:rPr>
              <a:t>  ⇒ Phép hiệu chỉnh (-G_open + G_ext) triệt tiêu chính xác 1 lần G_open dư thừa và nối 2 nửa thành 1 khoảng trống liên tục duy nhất!</a:t>
            </a:r>
            <a:endParaRPr sz="1020">
              <a:solidFill>
                <a:srgbClr val="1E293B"/>
              </a:solidFill>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410" name="Shape 410"/>
        <p:cNvGrpSpPr/>
        <p:nvPr/>
      </p:nvGrpSpPr>
      <p:grpSpPr>
        <a:xfrm>
          <a:off x="0" y="0"/>
          <a:ext cx="0" cy="0"/>
          <a:chOff x="0" y="0"/>
          <a:chExt cx="0" cy="0"/>
        </a:xfrm>
      </p:grpSpPr>
      <p:sp>
        <p:nvSpPr>
          <p:cNvPr id="411" name="Google Shape;411;p38"/>
          <p:cNvSpPr/>
          <p:nvPr/>
        </p:nvSpPr>
        <p:spPr>
          <a:xfrm>
            <a:off x="0" y="0"/>
            <a:ext cx="9144000" cy="736500"/>
          </a:xfrm>
          <a:prstGeom prst="rect">
            <a:avLst/>
          </a:prstGeom>
          <a:solidFill>
            <a:srgbClr val="0F172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2" name="Google Shape;412;p38"/>
          <p:cNvSpPr/>
          <p:nvPr/>
        </p:nvSpPr>
        <p:spPr>
          <a:xfrm>
            <a:off x="0" y="711200"/>
            <a:ext cx="9144000" cy="38100"/>
          </a:xfrm>
          <a:prstGeom prst="rect">
            <a:avLst/>
          </a:prstGeom>
          <a:solidFill>
            <a:srgbClr val="0284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3" name="Google Shape;413;p38"/>
          <p:cNvSpPr txBox="1"/>
          <p:nvPr/>
        </p:nvSpPr>
        <p:spPr>
          <a:xfrm>
            <a:off x="304800" y="76200"/>
            <a:ext cx="2476500" cy="203100"/>
          </a:xfrm>
          <a:prstGeom prst="rect">
            <a:avLst/>
          </a:prstGeom>
          <a:solidFill>
            <a:srgbClr val="0284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vi" sz="800">
                <a:solidFill>
                  <a:srgbClr val="FFFFFF"/>
                </a:solidFill>
                <a:latin typeface="Roboto"/>
                <a:ea typeface="Roboto"/>
                <a:cs typeface="Roboto"/>
                <a:sym typeface="Roboto"/>
              </a:rPr>
              <a:t>PHỤ LỤC PHẢN BIỆN • BACKUP Q&amp;A #2</a:t>
            </a:r>
            <a:endParaRPr b="1" sz="800">
              <a:solidFill>
                <a:srgbClr val="FFFFFF"/>
              </a:solidFill>
              <a:latin typeface="Roboto"/>
              <a:ea typeface="Roboto"/>
              <a:cs typeface="Roboto"/>
              <a:sym typeface="Roboto"/>
            </a:endParaRPr>
          </a:p>
        </p:txBody>
      </p:sp>
      <p:sp>
        <p:nvSpPr>
          <p:cNvPr id="414" name="Google Shape;414;p38"/>
          <p:cNvSpPr txBox="1"/>
          <p:nvPr/>
        </p:nvSpPr>
        <p:spPr>
          <a:xfrm>
            <a:off x="8001000" y="76200"/>
            <a:ext cx="838200" cy="2031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vi" sz="850">
                <a:solidFill>
                  <a:srgbClr val="93C5FD"/>
                </a:solidFill>
                <a:latin typeface="Roboto"/>
                <a:ea typeface="Roboto"/>
                <a:cs typeface="Roboto"/>
                <a:sym typeface="Roboto"/>
              </a:rPr>
              <a:t>Slide B2 / 3</a:t>
            </a:r>
            <a:endParaRPr b="1" sz="850">
              <a:solidFill>
                <a:srgbClr val="93C5FD"/>
              </a:solidFill>
              <a:latin typeface="Roboto"/>
              <a:ea typeface="Roboto"/>
              <a:cs typeface="Roboto"/>
              <a:sym typeface="Roboto"/>
            </a:endParaRPr>
          </a:p>
        </p:txBody>
      </p:sp>
      <p:sp>
        <p:nvSpPr>
          <p:cNvPr id="415" name="Google Shape;415;p38"/>
          <p:cNvSpPr txBox="1"/>
          <p:nvPr/>
        </p:nvSpPr>
        <p:spPr>
          <a:xfrm>
            <a:off x="304800" y="279400"/>
            <a:ext cx="85344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vi" sz="1500">
                <a:solidFill>
                  <a:srgbClr val="FFFFFF"/>
                </a:solidFill>
                <a:latin typeface="Roboto"/>
                <a:ea typeface="Roboto"/>
                <a:cs typeface="Roboto"/>
                <a:sym typeface="Roboto"/>
              </a:rPr>
              <a:t>[Q&amp;A Thực nghiệm] Tại sao TC Score trên RV20 bằng 0 dù SP Score đạt tới 92%?</a:t>
            </a:r>
            <a:endParaRPr b="1" sz="1500">
              <a:solidFill>
                <a:srgbClr val="FFFFFF"/>
              </a:solidFill>
              <a:latin typeface="Roboto"/>
              <a:ea typeface="Roboto"/>
              <a:cs typeface="Roboto"/>
              <a:sym typeface="Roboto"/>
            </a:endParaRPr>
          </a:p>
        </p:txBody>
      </p:sp>
      <p:sp>
        <p:nvSpPr>
          <p:cNvPr id="416" name="Google Shape;416;p38"/>
          <p:cNvSpPr txBox="1"/>
          <p:nvPr/>
        </p:nvSpPr>
        <p:spPr>
          <a:xfrm>
            <a:off x="304800" y="520700"/>
            <a:ext cx="8534400" cy="19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vi" sz="900">
                <a:solidFill>
                  <a:srgbClr val="BAE6FD"/>
                </a:solidFill>
                <a:latin typeface="Roboto"/>
                <a:ea typeface="Roboto"/>
                <a:cs typeface="Roboto"/>
                <a:sym typeface="Roboto"/>
              </a:rPr>
              <a:t>Sự khác biệt toán học giữa thước đo SP Score vs. TC Score và đặc trưng của Progressive MSA</a:t>
            </a:r>
            <a:endParaRPr i="1" sz="900">
              <a:solidFill>
                <a:srgbClr val="BAE6FD"/>
              </a:solidFill>
              <a:latin typeface="Roboto"/>
              <a:ea typeface="Roboto"/>
              <a:cs typeface="Roboto"/>
              <a:sym typeface="Roboto"/>
            </a:endParaRPr>
          </a:p>
        </p:txBody>
      </p:sp>
      <p:sp>
        <p:nvSpPr>
          <p:cNvPr id="417" name="Google Shape;417;p38"/>
          <p:cNvSpPr txBox="1"/>
          <p:nvPr/>
        </p:nvSpPr>
        <p:spPr>
          <a:xfrm>
            <a:off x="304800" y="838200"/>
            <a:ext cx="8534400" cy="304800"/>
          </a:xfrm>
          <a:prstGeom prst="rect">
            <a:avLst/>
          </a:prstGeom>
          <a:solidFill>
            <a:srgbClr val="7C3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vi" sz="1050">
                <a:solidFill>
                  <a:srgbClr val="FFFFFF"/>
                </a:solidFill>
                <a:latin typeface="Roboto"/>
                <a:ea typeface="Roboto"/>
                <a:cs typeface="Roboto"/>
                <a:sym typeface="Roboto"/>
              </a:rPr>
              <a:t>Phân tích Thước đo Total Column (TC Score) trên các Họ Gen Lớn (RV20 — 16 đến 40 chuỗi)</a:t>
            </a:r>
            <a:endParaRPr b="1" sz="1050">
              <a:solidFill>
                <a:srgbClr val="FFFFFF"/>
              </a:solidFill>
              <a:latin typeface="Roboto"/>
              <a:ea typeface="Roboto"/>
              <a:cs typeface="Roboto"/>
              <a:sym typeface="Roboto"/>
            </a:endParaRPr>
          </a:p>
        </p:txBody>
      </p:sp>
      <p:sp>
        <p:nvSpPr>
          <p:cNvPr id="418" name="Google Shape;418;p38"/>
          <p:cNvSpPr txBox="1"/>
          <p:nvPr/>
        </p:nvSpPr>
        <p:spPr>
          <a:xfrm>
            <a:off x="304800" y="1143000"/>
            <a:ext cx="8534400" cy="38355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lnSpc>
                <a:spcPct val="125000"/>
              </a:lnSpc>
              <a:spcBef>
                <a:spcPts val="0"/>
              </a:spcBef>
              <a:spcAft>
                <a:spcPts val="0"/>
              </a:spcAft>
              <a:buNone/>
            </a:pPr>
            <a:r>
              <a:rPr lang="vi" sz="1020">
                <a:solidFill>
                  <a:srgbClr val="1E293B"/>
                </a:solidFill>
                <a:latin typeface="Roboto"/>
                <a:ea typeface="Roboto"/>
                <a:cs typeface="Roboto"/>
                <a:sym typeface="Roboto"/>
              </a:rPr>
              <a:t>• Định nghĩa Toán học của 2 Thước đo BAliBASE:</a:t>
            </a:r>
            <a:endParaRPr sz="102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1020">
                <a:solidFill>
                  <a:srgbClr val="1E293B"/>
                </a:solidFill>
                <a:latin typeface="Roboto"/>
                <a:ea typeface="Roboto"/>
                <a:cs typeface="Roboto"/>
                <a:sym typeface="Roboto"/>
              </a:rPr>
              <a:t>  - SP Score (Sum-of-Pairs): Tỷ lệ CẶP ký tự căn chỉnh đúng so với chuẩn Reference.</a:t>
            </a:r>
            <a:endParaRPr sz="102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1020">
                <a:solidFill>
                  <a:srgbClr val="1E293B"/>
                </a:solidFill>
                <a:latin typeface="Roboto"/>
                <a:ea typeface="Roboto"/>
                <a:cs typeface="Roboto"/>
                <a:sym typeface="Roboto"/>
              </a:rPr>
              <a:t>  - TC Score (Total Column): Tỷ lệ CỘT mà TẤT CẢ 100% các chuỗi trong cột đó đều khớp đồng thời với chuẩn Reference.</a:t>
            </a:r>
            <a:endParaRPr sz="102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t/>
            </a:r>
            <a:endParaRPr sz="102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1020">
                <a:solidFill>
                  <a:srgbClr val="1E293B"/>
                </a:solidFill>
                <a:latin typeface="Roboto"/>
                <a:ea typeface="Roboto"/>
                <a:cs typeface="Roboto"/>
                <a:sym typeface="Roboto"/>
              </a:rPr>
              <a:t>• Tại sao trên BB20003 (RV20), SP đạt 0,920 (92% số cặp đúng) nhưng TC = 0,000?</a:t>
            </a:r>
            <a:endParaRPr sz="102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1020">
                <a:solidFill>
                  <a:srgbClr val="1E293B"/>
                </a:solidFill>
                <a:latin typeface="Roboto"/>
                <a:ea typeface="Roboto"/>
                <a:cs typeface="Roboto"/>
                <a:sym typeface="Roboto"/>
              </a:rPr>
              <a:t>  1. Tập RV20 chứa một họ lớn các chuỗi rất giống nhau kèm theo 1–2 chuỗi 'mồ côi' (orphan sequences) cực kỳ phân kỳ.</a:t>
            </a:r>
            <a:endParaRPr sz="102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1020">
                <a:solidFill>
                  <a:srgbClr val="1E293B"/>
                </a:solidFill>
                <a:latin typeface="Roboto"/>
                <a:ea typeface="Roboto"/>
                <a:cs typeface="Roboto"/>
                <a:sym typeface="Roboto"/>
              </a:rPr>
              <a:t>  2. Hệ thống đã căn chỉnh đúng tuyệt đối nhóm chuỗi chính (nên 92% tổng số cặp ký tự trùng khớp chuẩn), nhưng khi ghép chuỗi ngoại lai cuối cùng ở gốc cây UPGMA, chuỗi đó bị lệch đi 1 vị trí gap → Làm điểm TC nhị phân (0 hoặc 1) của cột đó lập tức về 0!</a:t>
            </a:r>
            <a:endParaRPr sz="102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1020">
                <a:solidFill>
                  <a:srgbClr val="1E293B"/>
                </a:solidFill>
                <a:latin typeface="Roboto"/>
                <a:ea typeface="Roboto"/>
                <a:cs typeface="Roboto"/>
                <a:sym typeface="Roboto"/>
              </a:rPr>
              <a:t>  3. Đây là hạn chế kinh điển của phương pháp Progressive 1 lượt ('Once a gap, always a gap') khi chưa có bước hậu kiểm Iterative Refinement.</a:t>
            </a:r>
            <a:endParaRPr sz="1020">
              <a:solidFill>
                <a:srgbClr val="1E293B"/>
              </a:solidFill>
              <a:latin typeface="Roboto"/>
              <a:ea typeface="Roboto"/>
              <a:cs typeface="Roboto"/>
              <a:sym typeface="Robo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422" name="Shape 422"/>
        <p:cNvGrpSpPr/>
        <p:nvPr/>
      </p:nvGrpSpPr>
      <p:grpSpPr>
        <a:xfrm>
          <a:off x="0" y="0"/>
          <a:ext cx="0" cy="0"/>
          <a:chOff x="0" y="0"/>
          <a:chExt cx="0" cy="0"/>
        </a:xfrm>
      </p:grpSpPr>
      <p:sp>
        <p:nvSpPr>
          <p:cNvPr id="423" name="Google Shape;423;p39"/>
          <p:cNvSpPr/>
          <p:nvPr/>
        </p:nvSpPr>
        <p:spPr>
          <a:xfrm>
            <a:off x="0" y="0"/>
            <a:ext cx="9144000" cy="736500"/>
          </a:xfrm>
          <a:prstGeom prst="rect">
            <a:avLst/>
          </a:prstGeom>
          <a:solidFill>
            <a:srgbClr val="0F172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4" name="Google Shape;424;p39"/>
          <p:cNvSpPr/>
          <p:nvPr/>
        </p:nvSpPr>
        <p:spPr>
          <a:xfrm>
            <a:off x="0" y="711200"/>
            <a:ext cx="9144000" cy="38100"/>
          </a:xfrm>
          <a:prstGeom prst="rect">
            <a:avLst/>
          </a:prstGeom>
          <a:solidFill>
            <a:srgbClr val="0284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5" name="Google Shape;425;p39"/>
          <p:cNvSpPr txBox="1"/>
          <p:nvPr/>
        </p:nvSpPr>
        <p:spPr>
          <a:xfrm>
            <a:off x="304800" y="76200"/>
            <a:ext cx="2476500" cy="203100"/>
          </a:xfrm>
          <a:prstGeom prst="rect">
            <a:avLst/>
          </a:prstGeom>
          <a:solidFill>
            <a:srgbClr val="0284C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vi" sz="800">
                <a:solidFill>
                  <a:srgbClr val="FFFFFF"/>
                </a:solidFill>
                <a:latin typeface="Roboto"/>
                <a:ea typeface="Roboto"/>
                <a:cs typeface="Roboto"/>
                <a:sym typeface="Roboto"/>
              </a:rPr>
              <a:t>PHỤ LỤC PHẢN BIỆN • BACKUP Q&amp;A #3</a:t>
            </a:r>
            <a:endParaRPr b="1" sz="800">
              <a:solidFill>
                <a:srgbClr val="FFFFFF"/>
              </a:solidFill>
              <a:latin typeface="Roboto"/>
              <a:ea typeface="Roboto"/>
              <a:cs typeface="Roboto"/>
              <a:sym typeface="Roboto"/>
            </a:endParaRPr>
          </a:p>
        </p:txBody>
      </p:sp>
      <p:sp>
        <p:nvSpPr>
          <p:cNvPr id="426" name="Google Shape;426;p39"/>
          <p:cNvSpPr txBox="1"/>
          <p:nvPr/>
        </p:nvSpPr>
        <p:spPr>
          <a:xfrm>
            <a:off x="8001000" y="76200"/>
            <a:ext cx="838200" cy="2031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vi" sz="850">
                <a:solidFill>
                  <a:srgbClr val="93C5FD"/>
                </a:solidFill>
                <a:latin typeface="Roboto"/>
                <a:ea typeface="Roboto"/>
                <a:cs typeface="Roboto"/>
                <a:sym typeface="Roboto"/>
              </a:rPr>
              <a:t>Slide B3 / 3</a:t>
            </a:r>
            <a:endParaRPr b="1" sz="850">
              <a:solidFill>
                <a:srgbClr val="93C5FD"/>
              </a:solidFill>
              <a:latin typeface="Roboto"/>
              <a:ea typeface="Roboto"/>
              <a:cs typeface="Roboto"/>
              <a:sym typeface="Roboto"/>
            </a:endParaRPr>
          </a:p>
        </p:txBody>
      </p:sp>
      <p:sp>
        <p:nvSpPr>
          <p:cNvPr id="427" name="Google Shape;427;p39"/>
          <p:cNvSpPr txBox="1"/>
          <p:nvPr/>
        </p:nvSpPr>
        <p:spPr>
          <a:xfrm>
            <a:off x="304800" y="279400"/>
            <a:ext cx="85344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vi" sz="1500">
                <a:solidFill>
                  <a:srgbClr val="FFFFFF"/>
                </a:solidFill>
                <a:latin typeface="Roboto"/>
                <a:ea typeface="Roboto"/>
                <a:cs typeface="Roboto"/>
                <a:sym typeface="Roboto"/>
              </a:rPr>
              <a:t>[Q&amp;A Song song hóa] Tại sao Speedup Bão hòa quanh mức 1,61× – 1,73× ở 8 Luồng?</a:t>
            </a:r>
            <a:endParaRPr b="1" sz="1500">
              <a:solidFill>
                <a:srgbClr val="FFFFFF"/>
              </a:solidFill>
              <a:latin typeface="Roboto"/>
              <a:ea typeface="Roboto"/>
              <a:cs typeface="Roboto"/>
              <a:sym typeface="Roboto"/>
            </a:endParaRPr>
          </a:p>
        </p:txBody>
      </p:sp>
      <p:sp>
        <p:nvSpPr>
          <p:cNvPr id="428" name="Google Shape;428;p39"/>
          <p:cNvSpPr txBox="1"/>
          <p:nvPr/>
        </p:nvSpPr>
        <p:spPr>
          <a:xfrm>
            <a:off x="304800" y="520700"/>
            <a:ext cx="8534400" cy="19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vi" sz="900">
                <a:solidFill>
                  <a:srgbClr val="BAE6FD"/>
                </a:solidFill>
                <a:latin typeface="Roboto"/>
                <a:ea typeface="Roboto"/>
                <a:cs typeface="Roboto"/>
                <a:sym typeface="Roboto"/>
              </a:rPr>
              <a:t>Phân tích Nút thắt Hình thái Cây UPGMA (Tree Topology) và Băng thông Bộ nhớ Đệm (Memory Bandwidth)</a:t>
            </a:r>
            <a:endParaRPr i="1" sz="900">
              <a:solidFill>
                <a:srgbClr val="BAE6FD"/>
              </a:solidFill>
              <a:latin typeface="Roboto"/>
              <a:ea typeface="Roboto"/>
              <a:cs typeface="Roboto"/>
              <a:sym typeface="Roboto"/>
            </a:endParaRPr>
          </a:p>
        </p:txBody>
      </p:sp>
      <p:sp>
        <p:nvSpPr>
          <p:cNvPr id="429" name="Google Shape;429;p39"/>
          <p:cNvSpPr txBox="1"/>
          <p:nvPr/>
        </p:nvSpPr>
        <p:spPr>
          <a:xfrm>
            <a:off x="304800" y="838200"/>
            <a:ext cx="8534400" cy="304800"/>
          </a:xfrm>
          <a:prstGeom prst="rect">
            <a:avLst/>
          </a:prstGeom>
          <a:solidFill>
            <a:srgbClr val="D977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vi" sz="1050">
                <a:solidFill>
                  <a:srgbClr val="FFFFFF"/>
                </a:solidFill>
                <a:latin typeface="Roboto"/>
                <a:ea typeface="Roboto"/>
                <a:cs typeface="Roboto"/>
                <a:sym typeface="Roboto"/>
              </a:rPr>
              <a:t>Hai Nguyên nhân Vật lý &amp; Thuật toán Giới hạn Speedup Đa luồng trên 1 Socket CPU</a:t>
            </a:r>
            <a:endParaRPr b="1" sz="1050">
              <a:solidFill>
                <a:srgbClr val="FFFFFF"/>
              </a:solidFill>
              <a:latin typeface="Roboto"/>
              <a:ea typeface="Roboto"/>
              <a:cs typeface="Roboto"/>
              <a:sym typeface="Roboto"/>
            </a:endParaRPr>
          </a:p>
        </p:txBody>
      </p:sp>
      <p:sp>
        <p:nvSpPr>
          <p:cNvPr id="430" name="Google Shape;430;p39"/>
          <p:cNvSpPr txBox="1"/>
          <p:nvPr/>
        </p:nvSpPr>
        <p:spPr>
          <a:xfrm>
            <a:off x="304800" y="1143000"/>
            <a:ext cx="8534400" cy="38355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lnSpc>
                <a:spcPct val="125000"/>
              </a:lnSpc>
              <a:spcBef>
                <a:spcPts val="0"/>
              </a:spcBef>
              <a:spcAft>
                <a:spcPts val="0"/>
              </a:spcAft>
              <a:buNone/>
            </a:pPr>
            <a:r>
              <a:rPr lang="vi" sz="1020">
                <a:solidFill>
                  <a:srgbClr val="1E293B"/>
                </a:solidFill>
                <a:latin typeface="Roboto"/>
                <a:ea typeface="Roboto"/>
                <a:cs typeface="Roboto"/>
                <a:sym typeface="Roboto"/>
              </a:rPr>
              <a:t>1. Nút thắt Hình thái Cây Nhị phân ở Tầng Gốc (Root-Level Serialization):</a:t>
            </a:r>
            <a:endParaRPr sz="102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1020">
                <a:solidFill>
                  <a:srgbClr val="1E293B"/>
                </a:solidFill>
                <a:latin typeface="Roboto"/>
                <a:ea typeface="Roboto"/>
                <a:cs typeface="Roboto"/>
                <a:sym typeface="Roboto"/>
              </a:rPr>
              <a:t>   • Khi duyệt cây UPGMA từ dưới lên, số lượng nhánh độc lập thu hẹp dần: ở tầng sát gốc chỉ còn 2 nút, và tại nút gốc chỉ còn đúng 1 phép hợp nhất Profile.</a:t>
            </a:r>
            <a:endParaRPr sz="102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1020">
                <a:solidFill>
                  <a:srgbClr val="1E293B"/>
                </a:solidFill>
                <a:latin typeface="Roboto"/>
                <a:ea typeface="Roboto"/>
                <a:cs typeface="Roboto"/>
                <a:sym typeface="Roboto"/>
              </a:rPr>
              <a:t>   • Tuy nhiên, nút gốc lại chứa nhiều chuỗi nhất (tích |P₁|×|P₂| lớn nhất), chiếm ~15%–20% tổng thời gian toàn cục nhưng chỉ có 1 luồng làm việc trong khi 7 luồng còn lại chờ.</a:t>
            </a:r>
            <a:endParaRPr sz="102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t/>
            </a:r>
            <a:endParaRPr sz="102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1020">
                <a:solidFill>
                  <a:srgbClr val="1E293B"/>
                </a:solidFill>
                <a:latin typeface="Roboto"/>
                <a:ea typeface="Roboto"/>
                <a:cs typeface="Roboto"/>
                <a:sym typeface="Roboto"/>
              </a:rPr>
              <a:t>2. Giới hạn Băng thông Bộ nhớ (Memory-Bound Kernel):</a:t>
            </a:r>
            <a:endParaRPr sz="102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1020">
                <a:solidFill>
                  <a:srgbClr val="1E293B"/>
                </a:solidFill>
                <a:latin typeface="Roboto"/>
                <a:ea typeface="Roboto"/>
                <a:cs typeface="Roboto"/>
                <a:sym typeface="Roboto"/>
              </a:rPr>
              <a:t>   • Vòng lặp tính điểm cột PSP(x, y) đọc liên tục vector tần suất 20 phần tử từ RAM với mật độ phép tính số học trên mỗi byte thấp.</a:t>
            </a:r>
            <a:endParaRPr sz="1020">
              <a:solidFill>
                <a:srgbClr val="1E293B"/>
              </a:solidFill>
              <a:latin typeface="Roboto"/>
              <a:ea typeface="Roboto"/>
              <a:cs typeface="Roboto"/>
              <a:sym typeface="Roboto"/>
            </a:endParaRPr>
          </a:p>
          <a:p>
            <a:pPr indent="0" lvl="0" marL="0" rtl="0" algn="l">
              <a:lnSpc>
                <a:spcPct val="125000"/>
              </a:lnSpc>
              <a:spcBef>
                <a:spcPts val="0"/>
              </a:spcBef>
              <a:spcAft>
                <a:spcPts val="0"/>
              </a:spcAft>
              <a:buNone/>
            </a:pPr>
            <a:r>
              <a:rPr lang="vi" sz="1020">
                <a:solidFill>
                  <a:srgbClr val="1E293B"/>
                </a:solidFill>
                <a:latin typeface="Roboto"/>
                <a:ea typeface="Roboto"/>
                <a:cs typeface="Roboto"/>
                <a:sym typeface="Roboto"/>
              </a:rPr>
              <a:t>   • Khi 8 luồng cùng quét tốc độ cao trên cùng 1 chip CPU, băng thông bộ nhớ đệm L3 Cache đạt ngưỡng bão hòa.</a:t>
            </a:r>
            <a:endParaRPr sz="1020">
              <a:solidFill>
                <a:srgbClr val="1E293B"/>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