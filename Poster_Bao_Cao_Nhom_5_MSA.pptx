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2428160" cy="4114800"/>
          </a:xfrm>
          <a:prstGeom prst="rect">
            <a:avLst/>
          </a:prstGeom>
          <a:solidFill>
            <a:srgbClr val="0F172A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41696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9488"/>
                </a:solidFill>
              </a:defRPr>
            </a:pPr>
            <a:r>
              <a:t>HỌC PHẦN: PHÂN TÍCH VÀ THIẾT KẾ THUẬT TOÁN • BÁO CÁO CÔNG TRÌNH NGHIÊN CỨU KHOA HỌC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</a:defRPr>
            </a:pPr>
            <a:r>
              <a:t>THUẬT TOÁN CHIA ĐỂ TRỊ SONG SONG KẾT HỢP QUY HOẠCH ĐỘNG CHO BÀI TOÁN CĂN CHỈNH ĐA CHUỖI GEN (MSA)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NHÓM THỰC HIỆN: NHÓM 5 (5 Sinh viên)  |  KHOA CÔNG NGHỆ THÔNG TIN  |  KIỂM NGHIỆM TRÊN TẬP BENCHMARK CHUẨN QUỐC TẾ: BAliBASE 3.0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3533120" cy="1261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13167360" cy="8229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ĐẶT VẤN ĐỀ &amp;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92240"/>
            <a:ext cx="12801600" cy="109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</a:pPr>
            <a:r>
              <a:rPr b="1" sz="1700">
                <a:solidFill>
                  <a:srgbClr val="0F172A"/>
                </a:solidFill>
              </a:rPr>
              <a:t>• Thách Thức Căn Chỉnh Đa Chuỗi Gen (MSA): </a:t>
            </a:r>
            <a:r>
              <a:rPr sz="1650">
                <a:solidFill>
                  <a:srgbClr val="475569"/>
                </a:solidFill>
              </a:rPr>
              <a:t>Bài toán cốt lõi trong sinh tin học nhằm tìm kiếm cấu trúc bảo tồn, đột biến di truyền và dựng cây phát sinh loài.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0F172A"/>
                </a:solidFill>
              </a:rPr>
              <a:t>• Bùng Nổ Trạng Thái Quy Hoạch Động (DP): </a:t>
            </a:r>
            <a:r>
              <a:rPr sz="1650">
                <a:solidFill>
                  <a:srgbClr val="475569"/>
                </a:solidFill>
              </a:rPr>
              <a:t>DP k-chiều truyền thống đòi hỏi O(N^k) thời gian và O(N^k) bộ nhớ. Với k = 10 chuỗi dài 500 ký tự, không gian trạng thái vượt quá 10^26 bytes — hoàn toàn bất khả thi.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0F172A"/>
                </a:solidFill>
              </a:rPr>
              <a:t>• Mô Hình Điểm Số Gotoh Affine Gap: </a:t>
            </a:r>
            <a:r>
              <a:rPr sz="1650">
                <a:solidFill>
                  <a:srgbClr val="475569"/>
                </a:solidFill>
              </a:rPr>
              <a:t>Hàm phạt mở gap g_o = -10, kéo dài g_e = -1 kết hợp ma trận thay thế BLOSUM62. Phân rã 3 ma trận DP M, I_x, I_y để phản ánh đúng hiện tượng sinh học đột biến chèn/xóa chuỗi (Indel).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0F172A"/>
                </a:solidFill>
              </a:rPr>
              <a:t>• Phương Pháp Căn Chỉnh Lũy Tiến: </a:t>
            </a:r>
            <a:r>
              <a:rPr sz="1650">
                <a:solidFill>
                  <a:srgbClr val="475569"/>
                </a:solidFill>
              </a:rPr>
              <a:t>Dựa trên cây hướng dẫn UPGMA để gom cụm các chuỗi tương đồng từ lá lên gốc, chuyển bài toán k-chuỗi về chuỗi các bước căn chỉnh cặp Profile-Profile.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0F172A"/>
                </a:solidFill>
              </a:rPr>
              <a:t>• Rào Cản Bộ Nhớ O(N²) Cặp: </a:t>
            </a:r>
            <a:r>
              <a:rPr sz="1650">
                <a:solidFill>
                  <a:srgbClr val="475569"/>
                </a:solidFill>
              </a:rPr>
              <a:t>Needleman-Wunsch vẫn tiêu tốn O(N²) bảng truy vết ngược. Khi chuỗi dài N ≥ 1,000 aa, bộ nhớ RAM bùng nổ khi chạy song song đa luồng.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379440"/>
            <a:ext cx="13533120" cy="1362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562320"/>
            <a:ext cx="1316736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60804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KỸ THUẬT CHIA ĐỂ TRỊ HIRSCHBERG 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568160"/>
            <a:ext cx="12801600" cy="1207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Nguyên Lý Chia Đôi (Divide): </a:t>
            </a:r>
            <a:r>
              <a:rPr sz="1650">
                <a:solidFill>
                  <a:srgbClr val="475569"/>
                </a:solidFill>
              </a:rPr>
              <a:t>Chia chuỗi X tại trung vị mid = |X|/2 thành hai nửa X_left và X_right.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Quy Hoạch Động Hai Hướng: </a:t>
            </a:r>
            <a:r>
              <a:rPr sz="1650">
                <a:solidFill>
                  <a:srgbClr val="475569"/>
                </a:solidFill>
              </a:rPr>
              <a:t>Tính toán đồng thời vector DP xuôi Forward(mid, j) và vector DP ngược Backward(mid, j) đối sánh với chuỗi Y.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Điểm Cắt Tối Ưu (Optimal Split): </a:t>
            </a:r>
            <a:r>
              <a:rPr sz="1650">
                <a:solidFill>
                  <a:srgbClr val="475569"/>
                </a:solidFill>
              </a:rPr>
              <a:t>Tìm j* = argmax [Forward(mid, j) + Backward(mid, j)]. Đảm bảo đường đi tối ưu toàn cục đi qua điểm cắt (mid, j*).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Tích Hợp Myers-Miller Affine Gap: </a:t>
            </a:r>
            <a:r>
              <a:rPr sz="1650">
                <a:solidFill>
                  <a:srgbClr val="475569"/>
                </a:solidFill>
              </a:rPr>
              <a:t>Quản lý 6 vector trạng thái (fM, fIx, fIy, rM, rIx, rIy) kích thước O(N) thay vì toàn bộ ma trận 2D.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Chứng Minh Toán Học O(k·N) Bộ Nhớ: </a:t>
            </a:r>
            <a:r>
              <a:rPr sz="1650">
                <a:solidFill>
                  <a:srgbClr val="475569"/>
                </a:solidFill>
              </a:rPr>
              <a:t>Không gian lưu trữ profile và vector chỉ phụ thuộc c1·k·N + c2·N = O(k·N). Triệt tiêu 100% nguy cơ Out-Of-Memory!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F172A"/>
                </a:solidFill>
              </a:rPr>
              <a:t>✔ Chứng Minh Toán Học O(M·N) Thời Gian: </a:t>
            </a:r>
            <a:r>
              <a:rPr sz="1650">
                <a:solidFill>
                  <a:srgbClr val="475569"/>
                </a:solidFill>
              </a:rPr>
              <a:t>Tổng số phép tính: M·N · Σ (1/2)^d = 2·M·N. Thời gian chỉ gấp đúng 2 lần Needleman-Wunsch nhưng tiết kiệm hàng nghìn lần 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0" y="5303520"/>
            <a:ext cx="13533120" cy="2670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61920" y="5486400"/>
            <a:ext cx="1316736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0" y="55321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KHUNG TÍNH TOÁN SONG SONG ĐA CẤP (OPENMP + MPI)</a:t>
            </a:r>
          </a:p>
        </p:txBody>
      </p:sp>
      <p:pic>
        <p:nvPicPr>
          <p:cNvPr id="16" name="Picture 15" descr="fig5_parall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6492240"/>
            <a:ext cx="12801600" cy="9601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544800" y="16276320"/>
            <a:ext cx="12801600" cy="150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</a:pPr>
            <a:r>
              <a:rPr b="1" sz="1750">
                <a:solidFill>
                  <a:srgbClr val="2563EB"/>
                </a:solidFill>
              </a:rPr>
              <a:t>CẤP ĐỘ 1: PHÂN TÁN MPI TRÊN CỤM MÁY TÍNH (CLUSTER NODES)</a:t>
            </a:r>
          </a:p>
          <a:p>
            <a:pPr>
              <a:spcBef>
                <a:spcPts val="800"/>
              </a:spcBef>
            </a:pPr>
            <a:r>
              <a:rPr b="1" sz="1650">
                <a:solidFill>
                  <a:srgbClr val="0F172A"/>
                </a:solidFill>
              </a:rPr>
              <a:t>• Phân bổ Block-Cyclic: </a:t>
            </a:r>
            <a:r>
              <a:rPr sz="1600">
                <a:solidFill>
                  <a:srgbClr val="475569"/>
                </a:solidFill>
              </a:rPr>
              <a:t>Với P ranks MPI, tổng số P_total = k·(k-1)/2 cặp chuỗi được phân rã theo công thức: pair_idx % P == rank. Cân bằng tải hoàn hảo trên các cụm tính toán dị thể.</a:t>
            </a:r>
          </a:p>
          <a:p>
            <a:pPr>
              <a:spcBef>
                <a:spcPts val="800"/>
              </a:spcBef>
            </a:pPr>
            <a:r>
              <a:rPr b="1" sz="1650">
                <a:solidFill>
                  <a:srgbClr val="0F172A"/>
                </a:solidFill>
              </a:rPr>
              <a:t>• Gom Cụm MPI_Allreduce: </a:t>
            </a:r>
            <a:r>
              <a:rPr sz="1600">
                <a:solidFill>
                  <a:srgbClr val="475569"/>
                </a:solidFill>
              </a:rPr>
              <a:t>Sau tính toán cục bộ, gọi MPI_Allreduce(MPI_MAX) để tổng hợp ma trận khoảng cách toàn cục mà không tạo điểm nghẽn (Zero Bottleneck).</a:t>
            </a:r>
          </a:p>
          <a:p>
            <a:pPr>
              <a:spcBef>
                <a:spcPts val="1600"/>
              </a:spcBef>
            </a:pPr>
            <a:r>
              <a:rPr b="1" sz="1750">
                <a:solidFill>
                  <a:srgbClr val="2563EB"/>
                </a:solidFill>
              </a:rPr>
              <a:t>CẤP ĐỘ 2: ĐA LUỒNG OPENMP NỘI BỘ CPU ĐA LÕI (MULTI-CORE)</a:t>
            </a:r>
          </a:p>
          <a:p>
            <a:pPr>
              <a:spcBef>
                <a:spcPts val="800"/>
              </a:spcBef>
            </a:pPr>
            <a:r>
              <a:rPr b="1" sz="1650">
                <a:solidFill>
                  <a:srgbClr val="0F172A"/>
                </a:solidFill>
              </a:rPr>
              <a:t>• All-Pairs Dynamic Scheduling: </a:t>
            </a:r>
            <a:r>
              <a:rPr sz="1600">
                <a:solidFill>
                  <a:srgbClr val="475569"/>
                </a:solidFill>
              </a:rPr>
              <a:t>Phẳng hóa vòng lặp 2D thành 1D với `#pragma omp parallel for schedule(dynamic, 4)`. Giải quyết triệt để mất cân bằng tải khi độ dài chuỗi sinh học biến thiên.</a:t>
            </a:r>
          </a:p>
          <a:p>
            <a:pPr>
              <a:spcBef>
                <a:spcPts val="800"/>
              </a:spcBef>
            </a:pPr>
            <a:r>
              <a:rPr b="1" sz="1650">
                <a:solidFill>
                  <a:srgbClr val="0F172A"/>
                </a:solidFill>
              </a:rPr>
              <a:t>• Wavefront Tree Scheduler: </a:t>
            </a:r>
            <a:r>
              <a:rPr sz="1600">
                <a:solidFill>
                  <a:srgbClr val="475569"/>
                </a:solidFill>
              </a:rPr>
              <a:t>Phân tầng cây UPGMA từ lá lên gốc thành các Wavefront batches độc lập. Các nút trong cùng tầng được căn chỉnh song song đồng thời.</a:t>
            </a:r>
          </a:p>
          <a:p>
            <a:pPr>
              <a:spcBef>
                <a:spcPts val="800"/>
              </a:spcBef>
            </a:pPr>
            <a:r>
              <a:rPr b="1" sz="1650">
                <a:solidFill>
                  <a:srgbClr val="0F172A"/>
                </a:solidFill>
              </a:rPr>
              <a:t>• Phân Tích Lý Thuyết Amdahl &amp; Gustafson: </a:t>
            </a:r>
            <a:r>
              <a:rPr sz="1600">
                <a:solidFill>
                  <a:srgbClr val="475569"/>
                </a:solidFill>
              </a:rPr>
              <a:t>Tỷ lệ song song hóa đạt f ≈ 85% - 90%. Khi số chuỗi k mở rộng, hiệu năng tăng tốc tiệm cận tuyến tính theo định luật Gustafson: S_s(P) ≈ 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626560" y="5303520"/>
            <a:ext cx="13533120" cy="2670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09440" y="5486400"/>
            <a:ext cx="131673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0" y="55321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KẾT QUẢ THỰC NGHIỆM TRÊN BALIBASE 3.0 THẬT</a:t>
            </a:r>
          </a:p>
        </p:txBody>
      </p:sp>
      <p:pic>
        <p:nvPicPr>
          <p:cNvPr id="21" name="Picture 20" descr="fig1_memory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0" y="6492240"/>
            <a:ext cx="6217920" cy="3931920"/>
          </a:xfrm>
          <a:prstGeom prst="rect">
            <a:avLst/>
          </a:prstGeom>
        </p:spPr>
      </p:pic>
      <p:pic>
        <p:nvPicPr>
          <p:cNvPr id="22" name="Picture 21" descr="fig2_speedup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0" y="6492240"/>
            <a:ext cx="6217920" cy="3931920"/>
          </a:xfrm>
          <a:prstGeom prst="rect">
            <a:avLst/>
          </a:prstGeom>
        </p:spPr>
      </p:pic>
      <p:pic>
        <p:nvPicPr>
          <p:cNvPr id="23" name="Picture 22" descr="fig4_tools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0" y="10698480"/>
            <a:ext cx="12801600" cy="5486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9992320" y="16459200"/>
            <a:ext cx="12801600" cy="148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50">
                <a:solidFill>
                  <a:srgbClr val="0F172A"/>
                </a:solidFill>
              </a:rPr>
              <a:t>★ Nén Bộ Nhớ Đột Phá 126.5× – 1,353.5×: </a:t>
            </a:r>
            <a:r>
              <a:rPr sz="1600">
                <a:solidFill>
                  <a:srgbClr val="475569"/>
                </a:solidFill>
              </a:rPr>
              <a:t>Trên chuỗi 901 aa, Gotoh tốn 9.7 MB RAM; Hirschberg chỉ tốn 7.1 KB. Score Match = 100% bảo toàn tuyệt đối.</a:t>
            </a:r>
          </a:p>
          <a:p>
            <a:pPr>
              <a:spcBef>
                <a:spcPts val="1200"/>
              </a:spcBef>
            </a:pPr>
            <a:r>
              <a:rPr b="1" sz="1650">
                <a:solidFill>
                  <a:srgbClr val="0F172A"/>
                </a:solidFill>
              </a:rPr>
              <a:t>★ Tốc Độ Tăng Tốc Song Song Đạt Chuẩn: </a:t>
            </a:r>
            <a:r>
              <a:rPr sz="1600">
                <a:solidFill>
                  <a:srgbClr val="475569"/>
                </a:solidFill>
              </a:rPr>
              <a:t>Speedup đạt 1.73x trên BB20001 (16 chuỗi) và 1.61x trên 40 chuỗi (780 cặp), vượt chỉ tiêu nghiên cứu ≥ 1.5x.</a:t>
            </a:r>
          </a:p>
          <a:p>
            <a:pPr>
              <a:spcBef>
                <a:spcPts val="1200"/>
              </a:spcBef>
            </a:pPr>
            <a:r>
              <a:rPr b="1" sz="1650">
                <a:solidFill>
                  <a:srgbClr val="0F172A"/>
                </a:solidFill>
              </a:rPr>
              <a:t>★ Độ Chính Xác Sinh Học Vượt Trội: </a:t>
            </a:r>
            <a:r>
              <a:rPr sz="1600">
                <a:solidFill>
                  <a:srgbClr val="475569"/>
                </a:solidFill>
              </a:rPr>
              <a:t>Bộ RV12 đạt SP-score trung bình 0.8684 (86.8%) và TC-score 0.6806. BB11001 đạt SP = 0.9825 và TC = 0.9649. BB20003 (74 chuỗi) đạt SP = 0.9200 (549,190 / 596,921 cặp chính xác).</a:t>
            </a:r>
          </a:p>
          <a:p>
            <a:pPr>
              <a:spcBef>
                <a:spcPts val="1200"/>
              </a:spcBef>
            </a:pPr>
            <a:r>
              <a:rPr b="1" sz="1650">
                <a:solidFill>
                  <a:srgbClr val="0F172A"/>
                </a:solidFill>
              </a:rPr>
              <a:t>★ Đối Sánh Với ClustalW &amp; MUSCLE: </a:t>
            </a:r>
            <a:r>
              <a:rPr sz="1600">
                <a:solidFill>
                  <a:srgbClr val="475569"/>
                </a:solidFill>
              </a:rPr>
              <a:t>RAM đỉnh thấp hơn ClustalW (26.8 MB vs 48.5 MB) và thấp hơn 12 lần so với Gotoh gốc (320 MB). SP-score đạt 0.488 (vượt ClustalW 0.472).</a:t>
            </a:r>
          </a:p>
          <a:p>
            <a:pPr>
              <a:spcBef>
                <a:spcPts val="1200"/>
              </a:spcBef>
            </a:pPr>
            <a:r>
              <a:rPr b="1" sz="1650">
                <a:solidFill>
                  <a:srgbClr val="0F172A"/>
                </a:solidFill>
              </a:rPr>
              <a:t>★ Gói Sản Phẩm Hoàn Chỉnh Bàn Giao: </a:t>
            </a:r>
            <a:r>
              <a:rPr sz="1600">
                <a:solidFill>
                  <a:srgbClr val="475569"/>
                </a:solidFill>
              </a:rPr>
              <a:t>Mã nguồn C++17 modular, 108 unit tests pass 100%, file Excel tổng hợp 4 sheets định dạng học thuật, Slide thuyết trình 17 trang, Báo cáo Word 35 trang và Bản đánh giá thành viên thang điểm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