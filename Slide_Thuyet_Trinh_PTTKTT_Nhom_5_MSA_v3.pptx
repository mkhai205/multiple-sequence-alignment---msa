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d51695d5a6476a" /><Relationship Type="http://schemas.openxmlformats.org/officeDocument/2006/relationships/extended-properties" Target="/docProps/app.xml" Id="R072446e9befb42e2" /><Relationship Type="http://schemas.openxmlformats.org/officeDocument/2006/relationships/officeDocument" Target="/ppt/presentation.xml" Id="R87e5252b5dea433b" /></Relationships>
</file>

<file path=ppt/presentation.xml><?xml version="1.0" encoding="utf-8"?>
<p:presentation xmlns:p="http://schemas.openxmlformats.org/presentationml/2006/main">
  <p:sldMasterIdLst>
    <p:sldMasterId xmlns:r="http://schemas.openxmlformats.org/officeDocument/2006/relationships" id="2147483648" r:id="R4dee83dd864840c0"/>
  </p:sldMasterIdLst>
  <p:notesMasterIdLst>
    <p:notesMasterId xmlns:r="http://schemas.openxmlformats.org/officeDocument/2006/relationships" r:id="R9cece09c46334729"/>
  </p:notesMasterIdLst>
  <p:sldIdLst>
    <p:sldId xmlns:r="http://schemas.openxmlformats.org/officeDocument/2006/relationships" id="256" r:id="R86c69f38b653446a"/>
    <p:sldId xmlns:r="http://schemas.openxmlformats.org/officeDocument/2006/relationships" id="257" r:id="R12893385518e4bc3"/>
    <p:sldId xmlns:r="http://schemas.openxmlformats.org/officeDocument/2006/relationships" id="258" r:id="Rb9b7d7962c6f44ea"/>
    <p:sldId xmlns:r="http://schemas.openxmlformats.org/officeDocument/2006/relationships" id="259" r:id="R67a251ef0c0e409e"/>
    <p:sldId xmlns:r="http://schemas.openxmlformats.org/officeDocument/2006/relationships" id="260" r:id="R4cb6e7a6490e405d"/>
    <p:sldId xmlns:r="http://schemas.openxmlformats.org/officeDocument/2006/relationships" id="261" r:id="Re643a1d89239441a"/>
    <p:sldId xmlns:r="http://schemas.openxmlformats.org/officeDocument/2006/relationships" id="262" r:id="Rfb661d061303454a"/>
    <p:sldId xmlns:r="http://schemas.openxmlformats.org/officeDocument/2006/relationships" id="263" r:id="Rba06cc2cb30940a5"/>
    <p:sldId xmlns:r="http://schemas.openxmlformats.org/officeDocument/2006/relationships" id="264" r:id="R8803a347523f46f8"/>
    <p:sldId xmlns:r="http://schemas.openxmlformats.org/officeDocument/2006/relationships" id="265" r:id="R9f72ea3c62ed4f0c"/>
    <p:sldId xmlns:r="http://schemas.openxmlformats.org/officeDocument/2006/relationships" id="266" r:id="R33a34959f7ec4507"/>
    <p:sldId xmlns:r="http://schemas.openxmlformats.org/officeDocument/2006/relationships" id="267" r:id="Re17cd03bbe0645e2"/>
    <p:sldId xmlns:r="http://schemas.openxmlformats.org/officeDocument/2006/relationships" id="268" r:id="Ree85f8b590ae4aee"/>
    <p:sldId xmlns:r="http://schemas.openxmlformats.org/officeDocument/2006/relationships" id="269" r:id="R8888391816f9449f"/>
    <p:sldId xmlns:r="http://schemas.openxmlformats.org/officeDocument/2006/relationships" id="270" r:id="Rff78313ef9514047"/>
    <p:sldId xmlns:r="http://schemas.openxmlformats.org/officeDocument/2006/relationships" id="271" r:id="R8c88b9ac19374d69"/>
    <p:sldId xmlns:r="http://schemas.openxmlformats.org/officeDocument/2006/relationships" id="272" r:id="R572053c3fbbe4a85"/>
    <p:sldId xmlns:r="http://schemas.openxmlformats.org/officeDocument/2006/relationships" id="273" r:id="R6de7cdf8d3ab4b94"/>
    <p:sldId xmlns:r="http://schemas.openxmlformats.org/officeDocument/2006/relationships" id="274" r:id="R206e5d123ace4ca9"/>
    <p:sldId xmlns:r="http://schemas.openxmlformats.org/officeDocument/2006/relationships" id="275" r:id="R2e134e799b894343"/>
    <p:sldId xmlns:r="http://schemas.openxmlformats.org/officeDocument/2006/relationships" id="276" r:id="R7f4c3d924d8e408c"/>
    <p:sldId xmlns:r="http://schemas.openxmlformats.org/officeDocument/2006/relationships" id="277" r:id="R67697b3f179d4786"/>
    <p:sldId xmlns:r="http://schemas.openxmlformats.org/officeDocument/2006/relationships" id="278" r:id="Re77ad2f82d084479"/>
    <p:sldId xmlns:r="http://schemas.openxmlformats.org/officeDocument/2006/relationships" id="279" r:id="R8d236b1d0e774368"/>
    <p:sldId xmlns:r="http://schemas.openxmlformats.org/officeDocument/2006/relationships" id="280" r:id="Rc7205ee91e504652"/>
    <p:sldId xmlns:r="http://schemas.openxmlformats.org/officeDocument/2006/relationships" id="281" r:id="R6bccd07e7c42450e"/>
    <p:sldId xmlns:r="http://schemas.openxmlformats.org/officeDocument/2006/relationships" id="282" r:id="Ra0e9694e8d994b47"/>
    <p:sldId xmlns:r="http://schemas.openxmlformats.org/officeDocument/2006/relationships" id="283" r:id="R6ef92b817dbd42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dfcfd82b504d73" /><Relationship Type="http://schemas.openxmlformats.org/officeDocument/2006/relationships/slideMaster" Target="/ppt/slideMasters/slideMaster1.xml" Id="R4dee83dd864840c0" /><Relationship Type="http://schemas.openxmlformats.org/officeDocument/2006/relationships/notesMaster" Target="/ppt/notesMasters/notesMaster1.xml" Id="R9cece09c46334729" /><Relationship Type="http://schemas.openxmlformats.org/officeDocument/2006/relationships/presProps" Target="/ppt/presProps.xml" Id="R616ff7bfd5694d80" /><Relationship Type="http://schemas.openxmlformats.org/officeDocument/2006/relationships/tableStyles" Target="/ppt/tableStyles.xml" Id="R7b418f94da4c41d1" /><Relationship Type="http://schemas.openxmlformats.org/officeDocument/2006/relationships/slide" Target="/ppt/slides/slide1.xml" Id="R86c69f38b653446a" /><Relationship Type="http://schemas.openxmlformats.org/officeDocument/2006/relationships/slide" Target="/ppt/slides/slide2.xml" Id="R12893385518e4bc3" /><Relationship Type="http://schemas.openxmlformats.org/officeDocument/2006/relationships/slide" Target="/ppt/slides/slide3.xml" Id="Rb9b7d7962c6f44ea" /><Relationship Type="http://schemas.openxmlformats.org/officeDocument/2006/relationships/slide" Target="/ppt/slides/slide4.xml" Id="R67a251ef0c0e409e" /><Relationship Type="http://schemas.openxmlformats.org/officeDocument/2006/relationships/slide" Target="/ppt/slides/slide5.xml" Id="R4cb6e7a6490e405d" /><Relationship Type="http://schemas.openxmlformats.org/officeDocument/2006/relationships/slide" Target="/ppt/slides/slide6.xml" Id="Re643a1d89239441a" /><Relationship Type="http://schemas.openxmlformats.org/officeDocument/2006/relationships/slide" Target="/ppt/slides/slide7.xml" Id="Rfb661d061303454a" /><Relationship Type="http://schemas.openxmlformats.org/officeDocument/2006/relationships/slide" Target="/ppt/slides/slide8.xml" Id="Rba06cc2cb30940a5" /><Relationship Type="http://schemas.openxmlformats.org/officeDocument/2006/relationships/slide" Target="/ppt/slides/slide9.xml" Id="R8803a347523f46f8" /><Relationship Type="http://schemas.openxmlformats.org/officeDocument/2006/relationships/slide" Target="/ppt/slides/slide10.xml" Id="R9f72ea3c62ed4f0c" /><Relationship Type="http://schemas.openxmlformats.org/officeDocument/2006/relationships/slide" Target="/ppt/slides/slide11.xml" Id="R33a34959f7ec4507" /><Relationship Type="http://schemas.openxmlformats.org/officeDocument/2006/relationships/slide" Target="/ppt/slides/slide12.xml" Id="Re17cd03bbe0645e2" /><Relationship Type="http://schemas.openxmlformats.org/officeDocument/2006/relationships/slide" Target="/ppt/slides/slide13.xml" Id="Ree85f8b590ae4aee" /><Relationship Type="http://schemas.openxmlformats.org/officeDocument/2006/relationships/slide" Target="/ppt/slides/slide14.xml" Id="R8888391816f9449f" /><Relationship Type="http://schemas.openxmlformats.org/officeDocument/2006/relationships/slide" Target="/ppt/slides/slide15.xml" Id="Rff78313ef9514047" /><Relationship Type="http://schemas.openxmlformats.org/officeDocument/2006/relationships/slide" Target="/ppt/slides/slide16.xml" Id="R8c88b9ac19374d69" /><Relationship Type="http://schemas.openxmlformats.org/officeDocument/2006/relationships/slide" Target="/ppt/slides/slide17.xml" Id="R572053c3fbbe4a85" /><Relationship Type="http://schemas.openxmlformats.org/officeDocument/2006/relationships/slide" Target="/ppt/slides/slide18.xml" Id="R6de7cdf8d3ab4b94" /><Relationship Type="http://schemas.openxmlformats.org/officeDocument/2006/relationships/slide" Target="/ppt/slides/slide19.xml" Id="R206e5d123ace4ca9" /><Relationship Type="http://schemas.openxmlformats.org/officeDocument/2006/relationships/slide" Target="/ppt/slides/slide20.xml" Id="R2e134e799b894343" /><Relationship Type="http://schemas.openxmlformats.org/officeDocument/2006/relationships/slide" Target="/ppt/slides/slide21.xml" Id="R7f4c3d924d8e408c" /><Relationship Type="http://schemas.openxmlformats.org/officeDocument/2006/relationships/slide" Target="/ppt/slides/slide22.xml" Id="R67697b3f179d4786" /><Relationship Type="http://schemas.openxmlformats.org/officeDocument/2006/relationships/slide" Target="/ppt/slides/slide23.xml" Id="Re77ad2f82d084479" /><Relationship Type="http://schemas.openxmlformats.org/officeDocument/2006/relationships/slide" Target="/ppt/slides/slide24.xml" Id="R8d236b1d0e774368" /><Relationship Type="http://schemas.openxmlformats.org/officeDocument/2006/relationships/slide" Target="/ppt/slides/slide25.xml" Id="Rc7205ee91e504652" /><Relationship Type="http://schemas.openxmlformats.org/officeDocument/2006/relationships/slide" Target="/ppt/slides/slide26.xml" Id="R6bccd07e7c42450e" /><Relationship Type="http://schemas.openxmlformats.org/officeDocument/2006/relationships/slide" Target="/ppt/slides/slide27.xml" Id="Ra0e9694e8d994b47" /><Relationship Type="http://schemas.openxmlformats.org/officeDocument/2006/relationships/slide" Target="/ppt/slides/slide28.xml" Id="R6ef92b817dbd42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366f5e12e54e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dc14842d4d4ef8" /><Relationship Type="http://schemas.openxmlformats.org/officeDocument/2006/relationships/notesMaster" Target="/ppt/notesMasters/notesMaster1.xml" Id="Re019345f1c6f43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91597ee7c34a43" /><Relationship Type="http://schemas.openxmlformats.org/officeDocument/2006/relationships/notesMaster" Target="/ppt/notesMasters/notesMaster1.xml" Id="R4a7a6c724fc04d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29be0efc81402f" /><Relationship Type="http://schemas.openxmlformats.org/officeDocument/2006/relationships/notesMaster" Target="/ppt/notesMasters/notesMaster1.xml" Id="Rfafaf2b3160e42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4076478e3146d8" /><Relationship Type="http://schemas.openxmlformats.org/officeDocument/2006/relationships/notesMaster" Target="/ppt/notesMasters/notesMaster1.xml" Id="R47fe7c9c54ac4c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eb6aea1f6d44e4" /><Relationship Type="http://schemas.openxmlformats.org/officeDocument/2006/relationships/notesMaster" Target="/ppt/notesMasters/notesMaster1.xml" Id="Raaa47acc60a64a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8bd1deda51479d" /><Relationship Type="http://schemas.openxmlformats.org/officeDocument/2006/relationships/notesMaster" Target="/ppt/notesMasters/notesMaster1.xml" Id="R21a04e06bba448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05075e4d734a37" /><Relationship Type="http://schemas.openxmlformats.org/officeDocument/2006/relationships/notesMaster" Target="/ppt/notesMasters/notesMaster1.xml" Id="Ra5b5cf5857e64b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2c3156cb0e4121" /><Relationship Type="http://schemas.openxmlformats.org/officeDocument/2006/relationships/notesMaster" Target="/ppt/notesMasters/notesMaster1.xml" Id="Rcc85e628f36447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3f754fc4794a5b" /><Relationship Type="http://schemas.openxmlformats.org/officeDocument/2006/relationships/notesMaster" Target="/ppt/notesMasters/notesMaster1.xml" Id="Rfca552a7cba345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fe231a89544ab6" /><Relationship Type="http://schemas.openxmlformats.org/officeDocument/2006/relationships/notesMaster" Target="/ppt/notesMasters/notesMaster1.xml" Id="R630bccbf843240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3c117422004077" /><Relationship Type="http://schemas.openxmlformats.org/officeDocument/2006/relationships/notesMaster" Target="/ppt/notesMasters/notesMaster1.xml" Id="R663fb1f908f041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d3020369424609" /><Relationship Type="http://schemas.openxmlformats.org/officeDocument/2006/relationships/notesMaster" Target="/ppt/notesMasters/notesMaster1.xml" Id="R50e540c4631f42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ff01480cac4b27" /><Relationship Type="http://schemas.openxmlformats.org/officeDocument/2006/relationships/notesMaster" Target="/ppt/notesMasters/notesMaster1.xml" Id="Rc954f1b776cb42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8b80057b4f4008" /><Relationship Type="http://schemas.openxmlformats.org/officeDocument/2006/relationships/notesMaster" Target="/ppt/notesMasters/notesMaster1.xml" Id="R1838d2b8c2624f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49e25bd83c4dbe" /><Relationship Type="http://schemas.openxmlformats.org/officeDocument/2006/relationships/notesMaster" Target="/ppt/notesMasters/notesMaster1.xml" Id="Re16053690a824a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bb16b3410f4755" /><Relationship Type="http://schemas.openxmlformats.org/officeDocument/2006/relationships/notesMaster" Target="/ppt/notesMasters/notesMaster1.xml" Id="Rc6fb8c11050b47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2f02bc867b481f" /><Relationship Type="http://schemas.openxmlformats.org/officeDocument/2006/relationships/notesMaster" Target="/ppt/notesMasters/notesMaster1.xml" Id="R2f8f33c6071942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8fa55586ef45ab" /><Relationship Type="http://schemas.openxmlformats.org/officeDocument/2006/relationships/notesMaster" Target="/ppt/notesMasters/notesMaster1.xml" Id="Rfd5ed506fb9045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4fe5ca87e2490c" /><Relationship Type="http://schemas.openxmlformats.org/officeDocument/2006/relationships/notesMaster" Target="/ppt/notesMasters/notesMaster1.xml" Id="R5143cb40ab4346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513658b8a194bdf" /><Relationship Type="http://schemas.openxmlformats.org/officeDocument/2006/relationships/notesMaster" Target="/ppt/notesMasters/notesMaster1.xml" Id="R632f5e06e2aa49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91b2414f4d42e2" /><Relationship Type="http://schemas.openxmlformats.org/officeDocument/2006/relationships/notesMaster" Target="/ppt/notesMasters/notesMaster1.xml" Id="Rebe54f891b7541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a0ce7d5d4e41e4" /><Relationship Type="http://schemas.openxmlformats.org/officeDocument/2006/relationships/notesMaster" Target="/ppt/notesMasters/notesMaster1.xml" Id="R9c1b4f74746f41d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bdeabbdc3e417b" /><Relationship Type="http://schemas.openxmlformats.org/officeDocument/2006/relationships/notesMaster" Target="/ppt/notesMasters/notesMaster1.xml" Id="Rce5c4715ab7d4fa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04f14d38d47478a" /><Relationship Type="http://schemas.openxmlformats.org/officeDocument/2006/relationships/notesMaster" Target="/ppt/notesMasters/notesMaster1.xml" Id="R89b32249145747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7238ef881ca4e78" /><Relationship Type="http://schemas.openxmlformats.org/officeDocument/2006/relationships/notesMaster" Target="/ppt/notesMasters/notesMaster1.xml" Id="R69233126608a45a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a149b583d0426e" /><Relationship Type="http://schemas.openxmlformats.org/officeDocument/2006/relationships/notesMaster" Target="/ppt/notesMasters/notesMaster1.xml" Id="Ra4ae763f21d840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d70e5e7c4c44902" /><Relationship Type="http://schemas.openxmlformats.org/officeDocument/2006/relationships/notesMaster" Target="/ppt/notesMasters/notesMaster1.xml" Id="Re726a23151324e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a21b6fed9349aa" /><Relationship Type="http://schemas.openxmlformats.org/officeDocument/2006/relationships/notesMaster" Target="/ppt/notesMasters/notesMaster1.xml" Id="Rd3a91e2c739e4a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20 giây</a:t>
            </a:r>
          </a:p>
          <a:p xmlns:a="http://schemas.openxmlformats.org/drawingml/2006/main">
            <a:r>
              <a:t/>
            </a:r>
          </a:p>
          <a:p xmlns:a="http://schemas.openxmlformats.org/drawingml/2006/main">
            <a:r>
              <a:t>Chào thầy cô và các bạn. Nhóm 5 trình bày cách căn chỉnh nhiều chuỗi sinh học bằng quy hoạch động, chia để trị và tính toán song song. Trước khi vào thuật toán, chúng ta nhìn chuỗi sinh học như một bài toán xử lý chuỗi ký tự. Mục tiêu là hiểu cách sắp các ký tự tương ứng vào cùng cột, rồi xem làm thế nào để tính kết quả với chi phí hợp lý.</a:t>
            </a:r>
          </a:p>
          <a:p xmlns:a="http://schemas.openxmlformats.org/drawingml/2006/main">
            <a:r>
              <a:t/>
            </a:r>
          </a:p>
          <a:p xmlns:a="http://schemas.openxmlformats.org/drawingml/2006/main">
            <a:r>
              <a:t>Nguồn:</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35 giây</a:t>
            </a:r>
          </a:p>
          <a:p xmlns:a="http://schemas.openxmlformats.org/drawingml/2006/main">
            <a:r>
              <a:t/>
            </a:r>
          </a:p>
          <a:p xmlns:a="http://schemas.openxmlformats.org/drawingml/2006/main">
            <a:r>
              <a:t>ADN có thể được biểu diễn bằng bốn ký tự A, C, G, T. Protein là một chuỗi amino acid, thường biểu diễn bằng bảng chữ cái gồm 20 ký tự tiêu chuẩn. Các chuỗi liên quan có thể khác ký tự hoặc khác độ dài, nên so sánh cùng chỉ số trong chuỗi gốc chưa đủ. Căn chỉnh giúp đề xuất các vị trí tương ứng để khảo sát mức độ bảo tồn. Phần nhập môn dùng ADN cho dễ nhìn. Phần thuật toán và dữ liệu thực nghiệm của dự án dùng protein với BLOSUM62; không áp dụng BLOSUM62 như một mô hình điểm dành riêng cho ADN.</a:t>
            </a:r>
          </a:p>
          <a:p xmlns:a="http://schemas.openxmlformats.org/drawingml/2006/main">
            <a:r>
              <a:t/>
            </a:r>
          </a:p>
          <a:p xmlns:a="http://schemas.openxmlformats.org/drawingml/2006/main">
            <a:r>
              <a:t>Nguồn:</a:t>
            </a:r>
          </a:p>
          <a:p xmlns:a="http://schemas.openxmlformats.org/drawingml/2006/main">
            <a:r>
              <a:t>README.md</a:t>
            </a:r>
          </a:p>
          <a:p xmlns:a="http://schemas.openxmlformats.org/drawingml/2006/main">
            <a:r>
              <a:t>https://pmc.ncbi.nlm.nih.gov/articles/PMC50453/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40 giây</a:t>
            </a:r>
          </a:p>
          <a:p xmlns:a="http://schemas.openxmlformats.org/drawingml/2006/main">
            <a:r>
              <a:t/>
            </a:r>
          </a:p>
          <a:p xmlns:a="http://schemas.openxmlformats.org/drawingml/2006/main">
            <a:r>
              <a:t>Đọc ba chuỗi đầu vào: ACGT, AGT và ACT. Nếu đặt sát lề trái, G của chuỗi thứ hai sẽ nằm dưới C của chuỗi thứ nhất. Chèn một gap trước G giúp đặt các G vào cùng cột; làm tương tự với chuỗi thứ ba. Gap là vị trí trống do cách biểu diễn căn chỉnh, không phải một ký tự sinh học mới. Xóa toàn bộ gap phải khôi phục đúng chuỗi gốc. Đây là một phương án hợp lệ, chưa tuyên bố tối ưu vì chúng ta chưa định nghĩa mô hình điểm.</a:t>
            </a:r>
          </a:p>
          <a:p xmlns:a="http://schemas.openxmlformats.org/drawingml/2006/main">
            <a:r>
              <a:t/>
            </a:r>
          </a:p>
          <a:p xmlns:a="http://schemas.openxmlformats.org/drawingml/2006/main">
            <a:r>
              <a:t>Nguồn:</a:t>
            </a:r>
          </a:p>
          <a:p xmlns:a="http://schemas.openxmlformats.org/drawingml/2006/main">
            <a:r>
              <a:t>Ví dụ giảng dạy tự xây dựng; docs/Kich_Ban_Thuyet_Trinh_Va_Demo_Nhom_5.md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40 giây</a:t>
            </a:r>
          </a:p>
          <a:p xmlns:a="http://schemas.openxmlformats.org/drawingml/2006/main">
            <a:r>
              <a:t/>
            </a:r>
          </a:p>
          <a:p xmlns:a="http://schemas.openxmlformats.org/drawingml/2006/main">
            <a:r>
              <a:t>Phát biểu bài toán gồm ba thành phần: dữ liệu đầu vào, điều kiện hợp lệ và hàm mục tiêu. Chúng ta nhận k chuỗi; kết quả có k hàng cùng độ dài. Thuật toán chỉ được thêm gap, không được đổi thứ tự hay làm mất amino acid. Một mô hình thường dùng là Sum-of-Pairs: lấy các căn chỉnh cặp suy ra từ kết quả nhiều hàng rồi cộng điểm. Tìm tối ưu trực tiếp cho nhiều chuỗi rất tốn kém, nên dự án dùng một chiến lược căn chỉnh tiến bộ. Không đồng nhất hàm mục tiêu SP với thước đo SP đối chiếu dữ liệu chuẩn ở phần thực nghiệm.</a:t>
            </a:r>
          </a:p>
          <a:p xmlns:a="http://schemas.openxmlformats.org/drawingml/2006/main">
            <a:r>
              <a:t/>
            </a:r>
          </a:p>
          <a:p xmlns:a="http://schemas.openxmlformats.org/drawingml/2006/main">
            <a:r>
              <a:t>Nguồn:</a:t>
            </a:r>
          </a:p>
          <a:p xmlns:a="http://schemas.openxmlformats.org/drawingml/2006/main">
            <a:r>
              <a:t>include/msa/core/profile.hpp</a:t>
            </a:r>
          </a:p>
          <a:p xmlns:a="http://schemas.openxmlformats.org/drawingml/2006/main">
            <a:r>
              <a:t>src/core/profile.cpp</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45 giây</a:t>
            </a:r>
          </a:p>
          <a:p xmlns:a="http://schemas.openxmlformats.org/drawingml/2006/main">
            <a:r>
              <a:t/>
            </a:r>
          </a:p>
          <a:p xmlns:a="http://schemas.openxmlformats.org/drawingml/2006/main">
            <a:r>
              <a:t>BLOSUM62 cho điểm khác nhau tùy cặp amino acid. Ví dụ A với A được 4 điểm, C với C được 9, E với F bị trừ 3. Một đoạn gap liên tiếp dùng phạt affine: mở gap tốn nhiều hơn kéo dài gap. Theo recurrence Gotoh và Myers–Miller của dự án, g(l)=-10-(l-1), nên một gap tốn -10 và ba gap liên tiếp tốn -12. Việc dùng hai tham số giúp phân biệt một đoạn thiếu liên tiếp với nhiều đoạn thiếu rời rạc. Lưu ý kỹ thuật: helper ScoreModel::gapCost có quy ước khác; ở đây theo recurrence thực thi trong các bộ căn chỉnh, không dùng helper để tính ví dụ.</a:t>
            </a:r>
          </a:p>
          <a:p xmlns:a="http://schemas.openxmlformats.org/drawingml/2006/main">
            <a:r>
              <a:t/>
            </a:r>
          </a:p>
          <a:p xmlns:a="http://schemas.openxmlformats.org/drawingml/2006/main">
            <a:r>
              <a:t>Nguồn:</a:t>
            </a:r>
          </a:p>
          <a:p xmlns:a="http://schemas.openxmlformats.org/drawingml/2006/main">
            <a:r>
              <a:t>src/core/blosum62.cpp</a:t>
            </a:r>
          </a:p>
          <a:p xmlns:a="http://schemas.openxmlformats.org/drawingml/2006/main">
            <a:r>
              <a:t>src/align/needleman_wunsch.cpp</a:t>
            </a:r>
          </a:p>
          <a:p xmlns:a="http://schemas.openxmlformats.org/drawingml/2006/main">
            <a:r>
              <a:t>src/align/hirschberg.cpp</a:t>
            </a:r>
          </a:p>
          <a:p xmlns:a="http://schemas.openxmlformats.org/drawingml/2006/main">
            <a:r>
              <a:t>https://pmc.ncbi.nlm.nih.gov/articles/PMC50453/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30 giây</a:t>
            </a:r>
          </a:p>
          <a:p xmlns:a="http://schemas.openxmlformats.org/drawingml/2006/main">
            <a:r>
              <a:t/>
            </a:r>
          </a:p>
          <a:p xmlns:a="http://schemas.openxmlformats.org/drawingml/2006/main">
            <a:r>
              <a:t>Với hai chuỗi độ dài gần L, bảng DP có khoảng L bình phương ô. Nếu mở rộng trực tiếp để đồng thời xét k chuỗi, bảng có k chiều với khoảng L mũ k ô. Đây mới chỉ là số trạng thái, chưa tính số chuyển trạng thái. Vì vậy dự án dùng progressive alignment: căn chỉnh các chuỗi hoặc nhóm chuỗi theo một cây hướng dẫn. Mỗi bước ghép có thể giải tốt bài toán con theo mô hình của nó, nhưng toàn bộ chiến lược không bảo đảm tìm nghiệm MSA tối ưu toàn cục. Chuyển lời cho người thứ hai để đi vào bộ giải bài toán cặp.</a:t>
            </a:r>
          </a:p>
          <a:p xmlns:a="http://schemas.openxmlformats.org/drawingml/2006/main">
            <a:r>
              <a:t/>
            </a:r>
          </a:p>
          <a:p xmlns:a="http://schemas.openxmlformats.org/drawingml/2006/main">
            <a:r>
              <a:t>Nguồn:</a:t>
            </a:r>
          </a:p>
          <a:p xmlns:a="http://schemas.openxmlformats.org/drawingml/2006/main">
            <a:r>
              <a:t>README.md</a:t>
            </a:r>
          </a:p>
          <a:p xmlns:a="http://schemas.openxmlformats.org/drawingml/2006/main">
            <a:r>
              <a:t>src/tree/guide_tree.cpp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35 giây</a:t>
            </a:r>
          </a:p>
          <a:p xmlns:a="http://schemas.openxmlformats.org/drawingml/2006/main">
            <a:r>
              <a:t/>
            </a:r>
          </a:p>
          <a:p xmlns:a="http://schemas.openxmlformats.org/drawingml/2006/main">
            <a:r>
              <a:t>Đầu tiên hệ thống căn chỉnh các cặp để tạo ma trận khoảng cách. Sau đó UPGMA dựng cây hướng dẫn. Cuối cùng, duyệt cây từ lá lên: mỗi lá là một chuỗi, mỗi nút trong ghép hai profile. Bộ giải Myers–Miller nằm ở các bước ghép profile. Một chi tiết quan trọng của bản triển khai hiện tại: khâu tính khoảng cách vẫn gọi Gotoh lưu bảng đầy đủ, nên không thể lấy bộ nhớ tuyến tính của một bộ giải con để kết luận toàn bộ pipeline dùng bộ nhớ tuyến tính.</a:t>
            </a:r>
          </a:p>
          <a:p xmlns:a="http://schemas.openxmlformats.org/drawingml/2006/main">
            <a:r>
              <a:t/>
            </a:r>
          </a:p>
          <a:p xmlns:a="http://schemas.openxmlformats.org/drawingml/2006/main">
            <a:r>
              <a:t>Nguồn:</a:t>
            </a:r>
          </a:p>
          <a:p xmlns:a="http://schemas.openxmlformats.org/drawingml/2006/main">
            <a:r>
              <a:t>src/tree/distance_matrix.cpp</a:t>
            </a:r>
          </a:p>
          <a:p xmlns:a="http://schemas.openxmlformats.org/drawingml/2006/main">
            <a:r>
              <a:t>src/tree/upgma.cpp</a:t>
            </a:r>
          </a:p>
          <a:p xmlns:a="http://schemas.openxmlformats.org/drawingml/2006/main">
            <a:r>
              <a:t>src/align/profile_aligner.cpp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50 giây</a:t>
            </a:r>
          </a:p>
          <a:p xmlns:a="http://schemas.openxmlformats.org/drawingml/2006/main">
            <a:r>
              <a:t/>
            </a:r>
          </a:p>
          <a:p xmlns:a="http://schemas.openxmlformats.org/drawingml/2006/main">
            <a:r>
              <a:t>Mỗi ô đại diện cho căn chỉnh hai tiền tố. Nếu chỉ lưu một giá trị, chúng ta không biết gap đang được mở hay được kéo dài, nên không tính đúng phạt affine. Gotoh lưu ba trạng thái: M kết thúc bằng hai ký tự, Ix kết thúc bằng một ký tự của chuỗi thứ nhất đối diện gap, Iy là chiều ngược lại. M chuyển từ đường chéo; Ix từ phía trên; Iy từ bên trái. Giá trị tốt nhất của ô là max ba trạng thái. Phần phụ lục chứa công thức đầy đủ, kể cả chuyển từ loại gap này sang loại gap kia theo code hiện có.</a:t>
            </a:r>
          </a:p>
          <a:p xmlns:a="http://schemas.openxmlformats.org/drawingml/2006/main">
            <a:r>
              <a:t/>
            </a:r>
          </a:p>
          <a:p xmlns:a="http://schemas.openxmlformats.org/drawingml/2006/main">
            <a:r>
              <a:t>Nguồn:</a:t>
            </a:r>
          </a:p>
          <a:p xmlns:a="http://schemas.openxmlformats.org/drawingml/2006/main">
            <a:r>
              <a:t>src/align/needleman_wunsch.cpp</a:t>
            </a:r>
          </a:p>
          <a:p xmlns:a="http://schemas.openxmlformats.org/drawingml/2006/main">
            <a:r>
              <a:t>https://pubmed.ncbi.nlm.nih.gov/7166760/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40 giây</a:t>
            </a:r>
          </a:p>
          <a:p xmlns:a="http://schemas.openxmlformats.org/drawingml/2006/main">
            <a:r>
              <a:t/>
            </a:r>
          </a:p>
          <a:p xmlns:a="http://schemas.openxmlformats.org/drawingml/2006/main">
            <a:r>
              <a:t>Bảng hiển thị H, tức giá trị tốt nhất trong ba trạng thái của mỗi ô. Cột và hàng rỗng tương ứng tiền tố có độ dài 0. Với ACDE và ACDF, phương án không có gap cho điểm 4+9+6-3=16. DP cũng cho giá trị kết thúc 16 nên phương án này đạt tối ưu theo mô hình điểm của bài toán cặp. Chúng ta đang giải global alignment, sử dụng toàn bộ hai chuỗi. Ví dụ này nhỏ có chủ đích để người nghe theo được các số.</a:t>
            </a:r>
          </a:p>
          <a:p xmlns:a="http://schemas.openxmlformats.org/drawingml/2006/main">
            <a:r>
              <a:t/>
            </a:r>
          </a:p>
          <a:p xmlns:a="http://schemas.openxmlformats.org/drawingml/2006/main">
            <a:r>
              <a:t>Nguồn:</a:t>
            </a:r>
          </a:p>
          <a:p xmlns:a="http://schemas.openxmlformats.org/drawingml/2006/main">
            <a:r>
              <a:t>src/core/blosum62.cpp</a:t>
            </a:r>
          </a:p>
          <a:p xmlns:a="http://schemas.openxmlformats.org/drawingml/2006/main">
            <a:r>
              <a:t>src/align/needleman_wunsch.cpp</a:t>
            </a:r>
          </a:p>
          <a:p xmlns:a="http://schemas.openxmlformats.org/drawingml/2006/main">
            <a:r>
              <a:t>Ví dụ được tính lại khi tạo slide bằng recurrence của dự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35 giây</a:t>
            </a:r>
          </a:p>
          <a:p xmlns:a="http://schemas.openxmlformats.org/drawingml/2006/main">
            <a:r>
              <a:t/>
            </a:r>
          </a:p>
          <a:p xmlns:a="http://schemas.openxmlformats.org/drawingml/2006/main">
            <a:r>
              <a:t>Từ ô cuối, traceback đi ngược về ô đầu theo các quyết định tối ưu. Trong hình, đường đi của ví dụ nằm trên đường chéo. Với affine gap, traceback phải theo cả loại trạng thái, không chỉ theo giá trị H đã rút gọn trên slide. Cách cài Gotoh cơ bản lưu ba bảng có kích thước m+1 nhân n+1 nên bộ nhớ là bậc hai. Nếu chỉ cần điểm số, có thể cuộn hàng. Nhưng khi cần cả chuỗi căn chỉnh, chúng ta phải có cách khôi phục đường đi mà không giữ mọi ô. Đây là lý do đưa chia để trị vào.</a:t>
            </a:r>
          </a:p>
          <a:p xmlns:a="http://schemas.openxmlformats.org/drawingml/2006/main">
            <a:r>
              <a:t/>
            </a:r>
          </a:p>
          <a:p xmlns:a="http://schemas.openxmlformats.org/drawingml/2006/main">
            <a:r>
              <a:t>Nguồn:</a:t>
            </a:r>
          </a:p>
          <a:p xmlns:a="http://schemas.openxmlformats.org/drawingml/2006/main">
            <a:r>
              <a:t>src/align/needleman_wunsch.cpp</a:t>
            </a:r>
          </a:p>
          <a:p xmlns:a="http://schemas.openxmlformats.org/drawingml/2006/main">
            <a:r>
              <a:t>https://doi.org/10.1093/bioinformatics/4.1.11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50 giây</a:t>
            </a:r>
          </a:p>
          <a:p xmlns:a="http://schemas.openxmlformats.org/drawingml/2006/main">
            <a:r>
              <a:t/>
            </a:r>
          </a:p>
          <a:p xmlns:a="http://schemas.openxmlformats.org/drawingml/2006/main">
            <a:r>
              <a:t>Chọn một hàng giữa của chuỗi thứ nhất, ở đây là sau AC. Câu hỏi then chốt: đường căn chỉnh tối ưu đi qua vị trí nào trên hàng này? Thuật toán tính điểm đi từ đầu đến hàng giữa và điểm đi ngược từ cuối về hàng giữa. Kết hợp thông tin hai phía để tìm cột và trạng thái cắt phù hợp. Sau đó giải hai nửa rồi ghép kết quả. Bảng đầy đủ trên slide chỉ dùng minh họa vị trí cắt. Thuật toán thật dùng các vector điểm. Với affine gap, phải xét trạng thái gap tại ranh giới, không chỉ lấy tổng hai điểm vô điều kiện.</a:t>
            </a:r>
          </a:p>
          <a:p xmlns:a="http://schemas.openxmlformats.org/drawingml/2006/main">
            <a:r>
              <a:t/>
            </a:r>
          </a:p>
          <a:p xmlns:a="http://schemas.openxmlformats.org/drawingml/2006/main">
            <a:r>
              <a:t>Nguồn:</a:t>
            </a:r>
          </a:p>
          <a:p xmlns:a="http://schemas.openxmlformats.org/drawingml/2006/main">
            <a:r>
              <a:t>src/align/hirschberg.cpp</a:t>
            </a:r>
          </a:p>
          <a:p xmlns:a="http://schemas.openxmlformats.org/drawingml/2006/main">
            <a:r>
              <a:t>https://doi.org/10.1093/bioinformatics/4.1.11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45 giây</a:t>
            </a:r>
          </a:p>
          <a:p xmlns:a="http://schemas.openxmlformats.org/drawingml/2006/main">
            <a:r>
              <a:t/>
            </a:r>
          </a:p>
          <a:p xmlns:a="http://schemas.openxmlformats.org/drawingml/2006/main">
            <a:r>
              <a:t>F(j) là điểm tốt nhất khi căn chỉnh AC với tiền tố độ dài j của ACDF. R(j) là điểm tốt nhất khi căn chỉnh DE với hậu tố bắt đầu sau j ký tự của ACDF. Hai lượt DP tiến và lùi cho hai vector trên. Với ví dụ này, tổng lớn nhất là 16 ở j=2 và phép nối không có gap xuyên ranh giới, nên hình minh họa đúng điểm cắt đã chọn. Bài toán trái là AC với AC, đạt 13; bài toán phải là DE với DF, đạt 3. Không dùng bảng F+R này như toàn bộ thuật toán affine gap tổng quát: cần kiểm tra trạng thái biên và hiệu chỉnh khi một gap kéo xuyên qua ranh giới. Tiếp tục chia đến khi một chiều đủ nhỏ thì giải trực tiếp bằng DP, sau đó ghép các phần căn chỉnh.</a:t>
            </a:r>
          </a:p>
          <a:p xmlns:a="http://schemas.openxmlformats.org/drawingml/2006/main">
            <a:r>
              <a:t/>
            </a:r>
          </a:p>
          <a:p xmlns:a="http://schemas.openxmlformats.org/drawingml/2006/main">
            <a:r>
              <a:t>Nguồn:</a:t>
            </a:r>
          </a:p>
          <a:p xmlns:a="http://schemas.openxmlformats.org/drawingml/2006/main">
            <a:r>
              <a:t>src/align/hirschberg.cpp</a:t>
            </a:r>
          </a:p>
          <a:p xmlns:a="http://schemas.openxmlformats.org/drawingml/2006/main">
            <a:r>
              <a:t>Ví dụ vector được tính từ recurrence và BLOSUM62 của dự án</a:t>
            </a:r>
          </a:p>
          <a:p xmlns:a="http://schemas.openxmlformats.org/drawingml/2006/main">
            <a:r>
              <a:t>https://doi.org/10.1093/bioinformatics/4.1.11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45 giây</a:t>
            </a:r>
          </a:p>
          <a:p xmlns:a="http://schemas.openxmlformats.org/drawingml/2006/main">
            <a:r>
              <a:t/>
            </a:r>
          </a:p>
          <a:p xmlns:a="http://schemas.openxmlformats.org/drawingml/2006/main">
            <a:r>
              <a:t>Ở mỗi mức, các lượt quét tiến và lùi có chi phí tỷ lệ diện tích bài toán. Khi chia chiều thứ nhất làm đôi, tổng diện tích các bài toán con giảm theo cấp số nhân, nên tổng vẫn là O(mn). Thuật toán Myers–Miller chuẩn chỉ cần bộ nhớ DP làm việc tuyến tính theo chiều ngắn hơn khi bố trí đúng chiều và tái sử dụng hoặc giải phóng các vector. Chưa tính vùng lưu đầu ra và ngăn xếp đệ quy. Đây là kết quả lý thuyết của bộ giải cặp, không phải phép đo RAM toàn chương trình và không phải kết luận về toàn pipeline hiện có. Phụ lục 26 nêu khác biệt của code thực tế. Chuyển lời cho người thứ ba.</a:t>
            </a:r>
          </a:p>
          <a:p xmlns:a="http://schemas.openxmlformats.org/drawingml/2006/main">
            <a:r>
              <a:t/>
            </a:r>
          </a:p>
          <a:p xmlns:a="http://schemas.openxmlformats.org/drawingml/2006/main">
            <a:r>
              <a:t>Nguồn:</a:t>
            </a:r>
          </a:p>
          <a:p xmlns:a="http://schemas.openxmlformats.org/drawingml/2006/main">
            <a:r>
              <a:t>src/align/hirschberg.cpp</a:t>
            </a:r>
          </a:p>
          <a:p xmlns:a="http://schemas.openxmlformats.org/drawingml/2006/main">
            <a:r>
              <a:t>https://doi.org/10.1093/bioinformatics/4.1.11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45 giây</a:t>
            </a:r>
          </a:p>
          <a:p xmlns:a="http://schemas.openxmlformats.org/drawingml/2006/main">
            <a:r>
              <a:t/>
            </a:r>
          </a:p>
          <a:p xmlns:a="http://schemas.openxmlformats.org/drawingml/2006/main">
            <a:r>
              <a:t>Ma trận này là ví dụ giảng dạy tự xây dựng, không phải số đo khoảng cách của các chuỗi ở slide trước. Cặp S1,S2 gần nhất với 0,1 nên được ghép đầu tiên. Khoảng cách từ cụm mới đến cụm khác được tính bằng trung bình có trọng số theo số chuỗi. S3,S4 tạo nhóm tiếp theo, rồi hai nhóm hợp lại. UPGMA ở đây là cây hướng dẫn thuật toán, không được xem như bằng chứng độc lập về cây tiến hóa thật. Khoảng cách thực trong dự án lấy một trừ điểm cặp chia điểm tự so lớn hơn, chặn trong khoảng 0 đến 2.</a:t>
            </a:r>
          </a:p>
          <a:p xmlns:a="http://schemas.openxmlformats.org/drawingml/2006/main">
            <a:r>
              <a:t/>
            </a:r>
          </a:p>
          <a:p xmlns:a="http://schemas.openxmlformats.org/drawingml/2006/main">
            <a:r>
              <a:t>Nguồn:</a:t>
            </a:r>
          </a:p>
          <a:p xmlns:a="http://schemas.openxmlformats.org/drawingml/2006/main">
            <a:r>
              <a:t>src/tree/upgma.cpp</a:t>
            </a:r>
          </a:p>
          <a:p xmlns:a="http://schemas.openxmlformats.org/drawingml/2006/main">
            <a:r>
              <a:t>src/tree/distance_matrix.cpp</a:t>
            </a:r>
          </a:p>
          <a:p xmlns:a="http://schemas.openxmlformats.org/drawingml/2006/main">
            <a:r>
              <a:t>Ví dụ khoảng cách tự xây dựng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45 giây</a:t>
            </a:r>
          </a:p>
          <a:p xmlns:a="http://schemas.openxmlformats.org/drawingml/2006/main">
            <a:r>
              <a:t/>
            </a:r>
          </a:p>
          <a:p xmlns:a="http://schemas.openxmlformats.org/drawingml/2006/main">
            <a:r>
              <a:t>Một profile lưu nhiều hàng đã căn chỉnh và phân bố amino acid ở mỗi cột. Khi ghép profile với profile, đơn vị DP là cột thay vì một amino acid đơn lẻ. Code tính điểm hai cột bằng tần suất amino acid và BLOSUM62, rồi làm tròn trước khi đưa vào kernel. Hình minh họa nhóm bên phải cần một cột trống, nên cả S3 và S4 đều nhận gap tại cùng vị trí. Nhóm trái giữ các hàng ACD và ACE. Toàn bộ kết quả cuối là ACD, ACE, A-D, A-E. Đây là minh họa phép lan truyền gap, không tuyên bố là kết quả tối ưu của bộ giải cho các nhóm này.</a:t>
            </a:r>
          </a:p>
          <a:p xmlns:a="http://schemas.openxmlformats.org/drawingml/2006/main">
            <a:r>
              <a:t/>
            </a:r>
          </a:p>
          <a:p xmlns:a="http://schemas.openxmlformats.org/drawingml/2006/main">
            <a:r>
              <a:t>Nguồn:</a:t>
            </a:r>
          </a:p>
          <a:p xmlns:a="http://schemas.openxmlformats.org/drawingml/2006/main">
            <a:r>
              <a:t>src/core/profile.cpp</a:t>
            </a:r>
          </a:p>
          <a:p xmlns:a="http://schemas.openxmlformats.org/drawingml/2006/main">
            <a:r>
              <a:t>src/align/profile_aligner.cpp</a:t>
            </a:r>
          </a:p>
          <a:p xmlns:a="http://schemas.openxmlformats.org/drawingml/2006/main">
            <a:r>
              <a:t>src/align/hirschberg.cpp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50 giây</a:t>
            </a:r>
          </a:p>
          <a:p xmlns:a="http://schemas.openxmlformats.org/drawingml/2006/main">
            <a:r>
              <a:t/>
            </a:r>
          </a:p>
          <a:p xmlns:a="http://schemas.openxmlformats.org/drawingml/2006/main">
            <a:r>
              <a:t>Khâu khoảng cách có k nhân k trừ một chia hai cặp. Mỗi cặp có thể được tính độc lập nên thuận lợi chia cho các luồng. Ở cây hướng dẫn, hai nhánh con độc lập có thể được xử lý đồng thời. Nhưng một nút cha chỉ ghép được sau khi cả hai profile con đã xong. Gần gốc, số việc độc lập giảm xuống. Bản cài hiện tại dùng OpenMP parallel for với lịch động cho các cặp và parallel sections đệ quy cho hai nhánh, không phải một bộ lập lịch task toàn cục. Việc chia nhỏ quá nhiều cũng có chi phí tạo luồng và đồng bộ.</a:t>
            </a:r>
          </a:p>
          <a:p xmlns:a="http://schemas.openxmlformats.org/drawingml/2006/main">
            <a:r>
              <a:t/>
            </a:r>
          </a:p>
          <a:p xmlns:a="http://schemas.openxmlformats.org/drawingml/2006/main">
            <a:r>
              <a:t>Nguồn:</a:t>
            </a:r>
          </a:p>
          <a:p xmlns:a="http://schemas.openxmlformats.org/drawingml/2006/main">
            <a:r>
              <a:t>src/tree/distance_matrix.cpp</a:t>
            </a:r>
          </a:p>
          <a:p xmlns:a="http://schemas.openxmlformats.org/drawingml/2006/main">
            <a:r>
              <a:t>src/parallel/tree_scheduler.cpp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40 giây</a:t>
            </a:r>
          </a:p>
          <a:p xmlns:a="http://schemas.openxmlformats.org/drawingml/2006/main">
            <a:r>
              <a:t/>
            </a:r>
          </a:p>
          <a:p xmlns:a="http://schemas.openxmlformats.org/drawingml/2006/main">
            <a:r>
              <a:t>Mỗi ô phụ thuộc các ô phía trên, bên trái và đường chéo trước đó. Những ô có cùng tổng chỉ số i+j không phụ thuộc trực tiếp nhau nên có thể tính đồng thời. Các ô tô xanh là một đợt wavefront; xong đợt này mới tiến sang đợt sau. Cần phân biệt sự tồn tại của module với đường thực thi: benchmark pipeline đang gọi DistanceMatrix dùng NeedlemanWunsch và bộ ghép profile dùng HirschbergAligner, không gọi wavefront. Vì vậy số liệu tăng tốc của pipeline ở phần sau không phải phép đo riêng lợi ích wavefront. Hàm wavefront_gotoh_score và hàm trả căn chỉnh cũng có cấu trúc lưu trữ khác nhau.</a:t>
            </a:r>
          </a:p>
          <a:p xmlns:a="http://schemas.openxmlformats.org/drawingml/2006/main">
            <a:r>
              <a:t/>
            </a:r>
          </a:p>
          <a:p xmlns:a="http://schemas.openxmlformats.org/drawingml/2006/main">
            <a:r>
              <a:t>Nguồn:</a:t>
            </a:r>
          </a:p>
          <a:p xmlns:a="http://schemas.openxmlformats.org/drawingml/2006/main">
            <a:r>
              <a:t>src/parallel/wavefront.cpp</a:t>
            </a:r>
          </a:p>
          <a:p xmlns:a="http://schemas.openxmlformats.org/drawingml/2006/main">
            <a:r>
              <a:t>src/tree/distance_matrix.cpp</a:t>
            </a:r>
          </a:p>
          <a:p xmlns:a="http://schemas.openxmlformats.org/drawingml/2006/main">
            <a:r>
              <a:t>src/eval/benchmark.cpp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40 giây</a:t>
            </a:r>
          </a:p>
          <a:p xmlns:a="http://schemas.openxmlformats.org/drawingml/2006/main">
            <a:r>
              <a:t/>
            </a:r>
          </a:p>
          <a:p xmlns:a="http://schemas.openxmlformats.org/drawingml/2006/main">
            <a:r>
              <a:t>Khi có nhiều máy hoặc nhiều tiến trình, target MPI phân các cặp cho các rank. Bên trong một rank, OpenMP tiếp tục chia các cặp được giao cho nhiều luồng. Các rank tổng hợp ma trận bằng MPI_Allreduce. Theo code hiện tại, rank 0 là nơi dựng cây và thực hiện progressive alignment; không có phân tán toàn cây qua MPI. Đây là hướng mở rộng kiến trúc đã có trong source. Bộ kết quả CSV hiện tại đo OpenMP trên một tiến trình, nên chúng ta không dùng nó để kết luận về mức tăng tốc của cụm MPI. Chuyển lời cho người thứ tư để xem thực nghiệm.</a:t>
            </a:r>
          </a:p>
          <a:p xmlns:a="http://schemas.openxmlformats.org/drawingml/2006/main">
            <a:r>
              <a:t/>
            </a:r>
          </a:p>
          <a:p xmlns:a="http://schemas.openxmlformats.org/drawingml/2006/main">
            <a:r>
              <a:t>Nguồn:</a:t>
            </a:r>
          </a:p>
          <a:p xmlns:a="http://schemas.openxmlformats.org/drawingml/2006/main">
            <a:r>
              <a:t>src/parallel/mpi_distance_matrix.cpp</a:t>
            </a:r>
          </a:p>
          <a:p xmlns:a="http://schemas.openxmlformats.org/drawingml/2006/main">
            <a:r>
              <a:t>src/msa_mpi_main.cpp</a:t>
            </a:r>
          </a:p>
          <a:p xmlns:a="http://schemas.openxmlformats.org/drawingml/2006/main">
            <a:r>
              <a:t>results/benchmark_summary.csv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45 giây</a:t>
            </a:r>
          </a:p>
          <a:p xmlns:a="http://schemas.openxmlformats.org/drawingml/2006/main">
            <a:r>
              <a:t/>
            </a:r>
          </a:p>
          <a:p xmlns:a="http://schemas.openxmlformats.org/drawingml/2006/main">
            <a:r>
              <a:t>Thực nghiệm chia làm ba nhóm. Nhóm đầu so điểm căn chỉnh cặp giữa Gotoh và Myers–Miller. Nhóm thứ hai xem thời gian pipeline khi đổi số luồng. Nhóm thứ ba so căn chỉnh thu được với reference BAliBASE. Bản v3 dùng lại log và CSV trong dự án, không tuyên bố đã chạy benchmark mới. Với phần scaling, runner lấy trung bình các lần lặp, cấu hình từ CLI là hai lần; kết quả chưa kèm khoảng tin cậy hoặc đầy đủ cấu hình máy để khái quát sang máy khác. Các ca accuracy dùng dữ liệu đầu vào khác cách trích xuất ở nhóm scaling nên cần đọc đúng Category trong CSV.</a:t>
            </a:r>
          </a:p>
          <a:p xmlns:a="http://schemas.openxmlformats.org/drawingml/2006/main">
            <a:r>
              <a:t/>
            </a:r>
          </a:p>
          <a:p xmlns:a="http://schemas.openxmlformats.org/drawingml/2006/main">
            <a:r>
              <a:t>Nguồn:</a:t>
            </a:r>
          </a:p>
          <a:p xmlns:a="http://schemas.openxmlformats.org/drawingml/2006/main">
            <a:r>
              <a:t>results/benchmark_summary.csv</a:t>
            </a:r>
          </a:p>
          <a:p xmlns:a="http://schemas.openxmlformats.org/drawingml/2006/main">
            <a:r>
              <a:t>scripts/run_benchmarks.py</a:t>
            </a:r>
          </a:p>
          <a:p xmlns:a="http://schemas.openxmlformats.org/drawingml/2006/main">
            <a:r>
              <a:t>src/eval/benchmark.cpp</a:t>
            </a:r>
          </a:p>
          <a:p xmlns:a="http://schemas.openxmlformats.org/drawingml/2006/main">
            <a:r>
              <a:t>src/main.cpp</a:t>
            </a:r>
          </a:p>
          <a:p xmlns:a="http://schemas.openxmlformats.org/drawingml/2006/main">
            <a:r>
              <a:t>https://pubmed.ncbi.nlm.nih.gov/16044462/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50 giây</a:t>
            </a:r>
          </a:p>
          <a:p xmlns:a="http://schemas.openxmlformats.org/drawingml/2006/main">
            <a:r>
              <a:t/>
            </a:r>
          </a:p>
          <a:p xmlns:a="http://schemas.openxmlformats.org/drawingml/2006/main">
            <a:r>
              <a:t>Ở cặp chuỗi dài trong log, hai bộ giải cùng cho điểm 4159. Đây là đối chiếu điểm bài toán cặp trong ca đo, không có nghĩa toàn bộ MSA đúng sinh học 100%. Cột bộ nhớ cần đọc thận trọng. Trường peak_memory_bytes của Myers–Miller hiện gán bằng 2 nhân min(m,n)+1 nhân sizeof(int); Gotoh báo từ kích thước bảng và dung lượng chuỗi kết quả. Tỷ số 9723566 chia 7184 xấp xỉ 1353,5, nhưng đây là so sánh chỉ số công thức, chưa chứng minh RAM đỉnh thực. Log cũng cho thấy thời gian Myers–Miller ở ca này cao hơn. Chúng ta trình bày đánh đổi bộ nhớ và thời gian, không gán giảm RAM toàn pipeline.</a:t>
            </a:r>
          </a:p>
          <a:p xmlns:a="http://schemas.openxmlformats.org/drawingml/2006/main">
            <a:r>
              <a:t/>
            </a:r>
          </a:p>
          <a:p xmlns:a="http://schemas.openxmlformats.org/drawingml/2006/main">
            <a:r>
              <a:t>Nguồn:</a:t>
            </a:r>
          </a:p>
          <a:p xmlns:a="http://schemas.openxmlformats.org/drawingml/2006/main">
            <a:r>
              <a:t>results/logs/memory_gotoh_vs_hirschberg.log</a:t>
            </a:r>
          </a:p>
          <a:p xmlns:a="http://schemas.openxmlformats.org/drawingml/2006/main">
            <a:r>
              <a:t>src/align/hirschberg.cpp</a:t>
            </a:r>
          </a:p>
          <a:p xmlns:a="http://schemas.openxmlformats.org/drawingml/2006/main">
            <a:r>
              <a:t>src/align/needleman_wunsch.cpp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50 giây</a:t>
            </a:r>
          </a:p>
          <a:p xmlns:a="http://schemas.openxmlformats.org/drawingml/2006/main">
            <a:r>
              <a:t/>
            </a:r>
          </a:p>
          <a:p xmlns:a="http://schemas.openxmlformats.org/drawingml/2006/main">
            <a:r>
              <a:t>Trục ngang là số luồng, trục dọc là speedup so với một luồng. BB20001 đạt khoảng 1,73 lần ở tám luồng, trong khi bộ 40 chuỗi đạt khoảng 1,61 lần. Nhưng BB12001 chỉ còn 0,70 lần, nghĩa là chạy chậm hơn mốc một luồng. Vì vậy kết luận đúng là lợi ích song song phụ thuộc dữ liệu và cách chia tải. Các phụ thuộc ở cây, overhead tạo luồng và đồng bộ là những yếu tố hợp lý để khảo sát tiếp. Chưa có profiling để kết luận chính xác bao nhiêu phần trăm thời gian do từng nguyên nhân, nên không khẳng định bão hòa cache hay băng thông từ biểu đồ này.</a:t>
            </a:r>
          </a:p>
          <a:p xmlns:a="http://schemas.openxmlformats.org/drawingml/2006/main">
            <a:r>
              <a:t/>
            </a:r>
          </a:p>
          <a:p xmlns:a="http://schemas.openxmlformats.org/drawingml/2006/main">
            <a:r>
              <a:t>Nguồn:</a:t>
            </a:r>
          </a:p>
          <a:p xmlns:a="http://schemas.openxmlformats.org/drawingml/2006/main">
            <a:r>
              <a:t>results/benchmark_summary.csv (Category=Scalability)</a:t>
            </a:r>
          </a:p>
          <a:p xmlns:a="http://schemas.openxmlformats.org/drawingml/2006/main">
            <a:r>
              <a:t>results/logs/benchmark_scaling_threads.log</a:t>
            </a:r>
          </a:p>
          <a:p xmlns:a="http://schemas.openxmlformats.org/drawingml/2006/main">
            <a:r>
              <a:t>src/parallel/tree_scheduler.cpp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35 giây</a:t>
            </a:r>
          </a:p>
          <a:p xmlns:a="http://schemas.openxmlformats.org/drawingml/2006/main">
            <a:r>
              <a:t/>
            </a:r>
          </a:p>
          <a:p xmlns:a="http://schemas.openxmlformats.org/drawingml/2006/main">
            <a:r>
              <a:t>Đây là ba ví dụ được chọn từ 13 ca BAliBASE_Accuracy, không phải trung bình của cả BAliBASE. BB11001 có SP khoảng 98,2% và TC khoảng 96,5%; BB12003 có SP khoảng 93,0%, TC khoảng 83,8%; BB20003 có SP khoảng 92,0% nhưng TC bằng 0. SP đếm tỷ lệ các cặp residue tham chiếu còn căn đúng. TC của code yêu cầu tất cả residue trong một cột tham chiếu đủ điều kiện cùng nằm một cột ở kết quả. Do đó nhiều quan hệ cặp vẫn đúng trong khi không cột nào đúng trọn vẹn. Số liệu chưa tự chỉ ra chính xác chuỗi nào gây lệch. Không nói 92% chuỗi đúng hay 100% độ chính xác sinh học.</a:t>
            </a:r>
          </a:p>
          <a:p xmlns:a="http://schemas.openxmlformats.org/drawingml/2006/main">
            <a:r>
              <a:t/>
            </a:r>
          </a:p>
          <a:p xmlns:a="http://schemas.openxmlformats.org/drawingml/2006/main">
            <a:r>
              <a:t>Nguồn:</a:t>
            </a:r>
          </a:p>
          <a:p xmlns:a="http://schemas.openxmlformats.org/drawingml/2006/main">
            <a:r>
              <a:t>results/benchmark_summary.csv (Category=BAliBASE_Accuracy)</a:t>
            </a:r>
          </a:p>
          <a:p xmlns:a="http://schemas.openxmlformats.org/drawingml/2006/main">
            <a:r>
              <a:t>src/eval/sp_score.cpp</a:t>
            </a:r>
          </a:p>
          <a:p xmlns:a="http://schemas.openxmlformats.org/drawingml/2006/main">
            <a:r>
              <a:t>src/eval/tc_score.cpp</a:t>
            </a:r>
          </a:p>
          <a:p xmlns:a="http://schemas.openxmlformats.org/drawingml/2006/main">
            <a:r>
              <a:t>https://pubmed.ncbi.nlm.nih.gov/16044462/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140 giây</a:t>
            </a:r>
          </a:p>
          <a:p xmlns:a="http://schemas.openxmlformats.org/drawingml/2006/main">
            <a:r>
              <a:t/>
            </a:r>
          </a:p>
          <a:p xmlns:a="http://schemas.openxmlformats.org/drawingml/2006/main">
            <a:r>
              <a:t>Chuẩn bị trước buổi: chạy .\run_gui.bat ở thư mục dự án, mở localhost:8000, xác nhận engine sẵn sàng. Đây là hướng dẫn thao tác cho buổi báo cáo; bản slide không tuyên bố đã chạy demo mới. 0–20 giây: chuyển sang trình duyệt, chọn Hemoglobin và chế độ Standard. 20–50 giây: chọn 4 luồng, chạy căn chỉnh. 50–90 giây: chỉ các hàng cùng độ dài, các gap và vùng bảo tồn, chuyển Guide Tree để liên hệ thứ tự ghép. 90–120 giây: xuất FASTA, nói rằng bỏ gap phải khôi phục chuỗi đầu vào. Ảnh trong slide là ảnh đã có của bộ 40 chuỗi, dùng dự phòng, không phải kết quả Hemoglobin. Nếu không khởi động được GUI, dùng CLI đã ghi trong kịch bản v3 hoặc mở ảnh dự phòng và nói rõ đó là kết quả đã lưu.</a:t>
            </a:r>
          </a:p>
          <a:p xmlns:a="http://schemas.openxmlformats.org/drawingml/2006/main">
            <a:r>
              <a:t/>
            </a:r>
          </a:p>
          <a:p xmlns:a="http://schemas.openxmlformats.org/drawingml/2006/main">
            <a:r>
              <a:t>Nguồn:</a:t>
            </a:r>
          </a:p>
          <a:p xmlns:a="http://schemas.openxmlformats.org/drawingml/2006/main">
            <a:r>
              <a:t>docs/images/fig_5_1_web_alignment_matrix.png</a:t>
            </a:r>
          </a:p>
          <a:p xmlns:a="http://schemas.openxmlformats.org/drawingml/2006/main">
            <a:r>
              <a:t>run_gui.bat</a:t>
            </a:r>
          </a:p>
          <a:p xmlns:a="http://schemas.openxmlformats.org/drawingml/2006/main">
            <a:r>
              <a:t>web/static/js/app.js</a:t>
            </a:r>
          </a:p>
          <a:p xmlns:a="http://schemas.openxmlformats.org/drawingml/2006/main">
            <a:r>
              <a:t>data/presets/hemoglobin.fa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50 giây</a:t>
            </a:r>
          </a:p>
          <a:p xmlns:a="http://schemas.openxmlformats.org/drawingml/2006/main">
            <a:r>
              <a:t/>
            </a:r>
          </a:p>
          <a:p xmlns:a="http://schemas.openxmlformats.org/drawingml/2006/main">
            <a:r>
              <a:t>Tổng kết: quy hoạch động xác định điểm và chuyển trạng thái; Myers–Miller dùng chia để trị để giảm nhu cầu lưu bảng của bộ giải cặp; OpenMP khai thác các công việc độc lập. Căn chỉnh đa chuỗi trong dự án dùng chiến lược progressive nên không bảo đảm tối ưu MSA toàn cục. Thực nghiệm đã lưu có ca được lợi khi tăng luồng và có ca chậm hơn. Chỉ số bộ nhớ công thức cần được kiểm chứng bằng đo allocation và RAM thực. Hướng phát triển là profiling trước khi tối ưu thêm, kiểm tra bộ nhớ theo triển khai, và cân nhắc iterative refinement cho chất lượng căn chỉnh. Cảm ơn thầy cô và các bạn, xin nhận câu hỏi.</a:t>
            </a:r>
          </a:p>
          <a:p xmlns:a="http://schemas.openxmlformats.org/drawingml/2006/main">
            <a:r>
              <a:t/>
            </a:r>
          </a:p>
          <a:p xmlns:a="http://schemas.openxmlformats.org/drawingml/2006/main">
            <a:r>
              <a:t>Nguồn:</a:t>
            </a:r>
          </a:p>
          <a:p xmlns:a="http://schemas.openxmlformats.org/drawingml/2006/main">
            <a:r>
              <a:t>src/align/hirschberg.cpp</a:t>
            </a:r>
          </a:p>
          <a:p xmlns:a="http://schemas.openxmlformats.org/drawingml/2006/main">
            <a:r>
              <a:t>src/parallel/tree_scheduler.cpp</a:t>
            </a:r>
          </a:p>
          <a:p xmlns:a="http://schemas.openxmlformats.org/drawingml/2006/main">
            <a:r>
              <a:t>results/benchmark_summary.csv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Công thức phản ánh code thực tế, bao gồm mở loại gap mới từ một trạng thái gap khác. M tại hai biên khác gốc là âm vô cùng. Mỗi bước traceback đi theo trạng thái chứ không chỉ theo H=max(M,Ix,Iy). Khi kết hợp forward và backward trong Myers–Miller, kiểm tra cả trường hợp điểm cắt thông thường và trường hợp gap kéo qua ranh giới. Không dùng F(j)+R(j) như một công thức hoàn chỉnh cho affine gap mà bỏ trạng thái và hiệu chỉnh.</a:t>
            </a:r>
          </a:p>
          <a:p xmlns:a="http://schemas.openxmlformats.org/drawingml/2006/main">
            <a:r>
              <a:t/>
            </a:r>
          </a:p>
          <a:p xmlns:a="http://schemas.openxmlformats.org/drawingml/2006/main">
            <a:r>
              <a:t>Nguồn:</a:t>
            </a:r>
          </a:p>
          <a:p xmlns:a="http://schemas.openxmlformats.org/drawingml/2006/main">
            <a:r>
              <a:t>src/align/needleman_wunsch.cpp</a:t>
            </a:r>
          </a:p>
          <a:p xmlns:a="http://schemas.openxmlformats.org/drawingml/2006/main">
            <a:r>
              <a:t>src/align/hirschberg.cpp</a:t>
            </a:r>
          </a:p>
          <a:p xmlns:a="http://schemas.openxmlformats.org/drawingml/2006/main">
            <a:r>
              <a:t>https://pubmed.ncbi.nlm.nih.gov/7166760/</a:t>
            </a:r>
          </a:p>
          <a:p xmlns:a="http://schemas.openxmlformats.org/drawingml/2006/main">
            <a:r>
              <a:t>https://doi.org/10.1093/bioinformatics/4.1.11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UPGMA đang lặp k-1 lần; ở mỗi lần, quét tất cả cặp cụm còn lại và xóa các phần tử bảng, nên thời gian tổng bậc ba với triển khai này. Không ghi O(k²) chỉ vì ma trận khoảng cách có bậc hai. Bộ giải Myers–Miller chuẩn có kết quả bộ nhớ tuyến tính theo chiều ngắn hơn khi quản lý vector và hướng đúng. Code hiện khởi tạo vector theo chiều thứ hai, chưa hoán đổi m,n, và các vector local forward/backward còn sống khi gọi đệ quy; thêm các chuỗi kết quả. Vì vậy số peak_memory_bytes gán theo hai hàng min không phải phép đo hoặc chứng minh peak thực. Cần một lượt kiểm tra riêng nếu muốn xác nhận bound của bản cài. Thời gian ghép progressive nên biểu diễn theo tổng chi phí từng nút vì profile có thể dài ra do gap.</a:t>
            </a:r>
          </a:p>
          <a:p xmlns:a="http://schemas.openxmlformats.org/drawingml/2006/main">
            <a:r>
              <a:t/>
            </a:r>
          </a:p>
          <a:p xmlns:a="http://schemas.openxmlformats.org/drawingml/2006/main">
            <a:r>
              <a:t>Nguồn:</a:t>
            </a:r>
          </a:p>
          <a:p xmlns:a="http://schemas.openxmlformats.org/drawingml/2006/main">
            <a:r>
              <a:t>src/tree/upgma.cpp</a:t>
            </a:r>
          </a:p>
          <a:p xmlns:a="http://schemas.openxmlformats.org/drawingml/2006/main">
            <a:r>
              <a:t>src/tree/distance_matrix.cpp</a:t>
            </a:r>
          </a:p>
          <a:p xmlns:a="http://schemas.openxmlformats.org/drawingml/2006/main">
            <a:r>
              <a:t>src/align/hirschberg.cpp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Bảng giữ đủ 13 ca trong nhóm accuracy, không chọn riêng các ca thuận lợi. Dữ liệu bảng trái gồm RV11 và hai ca đầu RV12; bảng phải gồm phần còn lại của RV12 và RV20. SP và TC in bốn chữ số thập phân. Code TC bỏ qua cột tham chiếu thiếu residue ở bất kỳ chuỗi nào, và cờ core_blocks_only còn lọc theo core block khi có. Định nghĩa hiển thị ở đây là phép chấm của dự án, chưa tuyên bố đã đối chiếu đồng nhất với một evaluator BAliBASE độc lập. Đầu vào nhóm scaling dùng đường MSF/reference, trong khi accuracy dùng FASTA unaligned, nên tên BB giống nhau không bảo đảm hai dòng thuộc cùng một phép thử.</a:t>
            </a:r>
          </a:p>
          <a:p xmlns:a="http://schemas.openxmlformats.org/drawingml/2006/main">
            <a:r>
              <a:t/>
            </a:r>
          </a:p>
          <a:p xmlns:a="http://schemas.openxmlformats.org/drawingml/2006/main">
            <a:r>
              <a:t>Nguồn:</a:t>
            </a:r>
          </a:p>
          <a:p xmlns:a="http://schemas.openxmlformats.org/drawingml/2006/main">
            <a:r>
              <a:t>results/benchmark_summary.csv</a:t>
            </a:r>
          </a:p>
          <a:p xmlns:a="http://schemas.openxmlformats.org/drawingml/2006/main">
            <a:r>
              <a:t>scripts/run_benchmarks.py</a:t>
            </a:r>
          </a:p>
          <a:p xmlns:a="http://schemas.openxmlformats.org/drawingml/2006/main">
            <a:r>
              <a:t>src/eval/sp_score.cpp</a:t>
            </a:r>
          </a:p>
          <a:p xmlns:a="http://schemas.openxmlformats.org/drawingml/2006/main">
            <a:r>
              <a:t>src/eval/tc_score.cpp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Các đường dẫn đầy đủ bên dưới có thể mở từ ghi chú. Nguồn bài báo dùng cho thuật toán nền tảng và mô hình điểm; kết quả định lượng lấy từ file cục bộ và không gán cho bài báo. Không có phép benchmark mới khi xây dựng bản v3. Hình ảnh giao diện lấy từ docs/images của dự án. Các bảng chuỗi, DP và ví dụ UPGMA được xây dựng cho giảng dạy, với bảng DP tính lại từ BLOSUM62 thực trong source.</a:t>
            </a:r>
          </a:p>
          <a:p xmlns:a="http://schemas.openxmlformats.org/drawingml/2006/main">
            <a:r>
              <a:t/>
            </a:r>
          </a:p>
          <a:p xmlns:a="http://schemas.openxmlformats.org/drawingml/2006/main">
            <a:r>
              <a:t>Nguồn:</a:t>
            </a:r>
          </a:p>
          <a:p xmlns:a="http://schemas.openxmlformats.org/drawingml/2006/main">
            <a:r>
              <a:t>https://pubmed.ncbi.nlm.nih.gov/7166760/</a:t>
            </a:r>
          </a:p>
          <a:p xmlns:a="http://schemas.openxmlformats.org/drawingml/2006/main">
            <a:r>
              <a:t>https://doi.org/10.1093/bioinformatics/4.1.11</a:t>
            </a:r>
          </a:p>
          <a:p xmlns:a="http://schemas.openxmlformats.org/drawingml/2006/main">
            <a:r>
              <a:t>https://pmc.ncbi.nlm.nih.gov/articles/PMC50453/</a:t>
            </a:r>
          </a:p>
          <a:p xmlns:a="http://schemas.openxmlformats.org/drawingml/2006/main">
            <a:r>
              <a:t>https://pubmed.ncbi.nlm.nih.gov/16044462/</a:t>
            </a:r>
          </a:p>
          <a:p xmlns:a="http://schemas.openxmlformats.org/drawingml/2006/main">
            <a:r>
              <a:t>results/benchmark_summary.csv</a:t>
            </a:r>
          </a:p>
          <a:p xmlns:a="http://schemas.openxmlformats.org/drawingml/2006/main">
            <a:r>
              <a:t>results/logs/memory_gotoh_vs_hirschberg.log</a:t>
            </a:r>
          </a:p>
          <a:p xmlns:a="http://schemas.openxmlformats.org/drawingml/2006/main">
            <a:r>
              <a:t>results/logs/benchmark_scaling_threads.log</a:t>
            </a:r>
          </a:p>
          <a:p xmlns:a="http://schemas.openxmlformats.org/drawingml/2006/main">
            <a:r>
              <a:t>results/logs/balibase_accuracy_eval.log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c809dda0d84a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5bd0aed4a34f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ccc06920044d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3b6aff13d34b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f59014363742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1a5f18ba614a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E5722-7921-47AB-8428-46A232854D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83C7483-A086-4257-A676-0E0C65663F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2AA01F-5199-4229-8E8F-932185C9EC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4AE696-4C00-45DD-96A6-B475B04335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10C2F9-3F00-42B5-9CB6-8B67A6037B9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DAF12C-3385-42E5-A4D6-9DA33E2BB0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4D78DF-87FF-40A6-89F6-C2A981474F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C3FFC5-2693-40D0-A508-5223B9C031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2E7484-451A-4424-BFFB-DC043248D1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D23AD9-610A-4EF1-8C72-C80443F04A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0f926f10a64018" /><Relationship Type="http://schemas.openxmlformats.org/officeDocument/2006/relationships/slideLayout" Target="/ppt/slideLayouts/slideLayout1.xml" Id="R96e6b161793a4f5d" /><Relationship Type="http://schemas.openxmlformats.org/officeDocument/2006/relationships/slideLayout" Target="/ppt/slideLayouts/slideLayout2.xml" Id="R986e213b590b4036" /><Relationship Type="http://schemas.openxmlformats.org/officeDocument/2006/relationships/slideLayout" Target="/ppt/slideLayouts/slideLayout3.xml" Id="Re44a851ec1194227" /><Relationship Type="http://schemas.openxmlformats.org/officeDocument/2006/relationships/slideLayout" Target="/ppt/slideLayouts/slideLayout4.xml" Id="Rc24e999babee4f49" /><Relationship Type="http://schemas.openxmlformats.org/officeDocument/2006/relationships/slideLayout" Target="/ppt/slideLayouts/slideLayout5.xml" Id="R4cd97f7bfbc44916" /><Relationship Type="http://schemas.openxmlformats.org/officeDocument/2006/relationships/slideLayout" Target="/ppt/slideLayouts/slideLayout6.xml" Id="R9ec8ab4b401b43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e6b161793a4f5d"/>
    <p:sldLayoutId xmlns:r="http://schemas.openxmlformats.org/officeDocument/2006/relationships" id="2147483650" r:id="R986e213b590b4036"/>
    <p:sldLayoutId xmlns:r="http://schemas.openxmlformats.org/officeDocument/2006/relationships" id="2147483651" r:id="Re44a851ec1194227"/>
    <p:sldLayoutId xmlns:r="http://schemas.openxmlformats.org/officeDocument/2006/relationships" id="2147483652" r:id="Rc24e999babee4f49"/>
    <p:sldLayoutId xmlns:r="http://schemas.openxmlformats.org/officeDocument/2006/relationships" id="2147483653" r:id="R4cd97f7bfbc44916"/>
    <p:sldLayoutId xmlns:r="http://schemas.openxmlformats.org/officeDocument/2006/relationships" id="2147483654" r:id="R9ec8ab4b401b43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5a3d45ba204e3f" /><Relationship Type="http://schemas.openxmlformats.org/officeDocument/2006/relationships/notesSlide" Target="/ppt/notesSlides/notesSlide1.xml" Id="R062eb331a296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b7dbabcc5445ad" /><Relationship Type="http://schemas.openxmlformats.org/officeDocument/2006/relationships/notesSlide" Target="/ppt/notesSlides/notesSlide2.xml" Id="Rda99cdb654ae4c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88aef839b54ce8" /><Relationship Type="http://schemas.openxmlformats.org/officeDocument/2006/relationships/notesSlide" Target="/ppt/notesSlides/notesSlide3.xml" Id="R781ea92dc0474f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3a5fc804cc45b5" /><Relationship Type="http://schemas.openxmlformats.org/officeDocument/2006/relationships/notesSlide" Target="/ppt/notesSlides/notesSlide4.xml" Id="R355a45a1e95848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95a42c6c924958" /><Relationship Type="http://schemas.openxmlformats.org/officeDocument/2006/relationships/notesSlide" Target="/ppt/notesSlides/notesSlide5.xml" Id="Rd2f3a655f94e47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5387064fa44f8f" /><Relationship Type="http://schemas.openxmlformats.org/officeDocument/2006/relationships/notesSlide" Target="/ppt/notesSlides/notesSlide6.xml" Id="R2726ac6dcda440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bbd9676c304d84" /><Relationship Type="http://schemas.openxmlformats.org/officeDocument/2006/relationships/notesSlide" Target="/ppt/notesSlides/notesSlide7.xml" Id="R10f7d1aa910d41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ffcb66747524dc2" /><Relationship Type="http://schemas.openxmlformats.org/officeDocument/2006/relationships/notesSlide" Target="/ppt/notesSlides/notesSlide8.xml" Id="R99bb1d4e576445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d88f0e9fcf4439" /><Relationship Type="http://schemas.openxmlformats.org/officeDocument/2006/relationships/notesSlide" Target="/ppt/notesSlides/notesSlide9.xml" Id="R8ee770da86cd4b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038b02d8dc4331" /><Relationship Type="http://schemas.openxmlformats.org/officeDocument/2006/relationships/notesSlide" Target="/ppt/notesSlides/notesSlide10.xml" Id="R9a5c126aee6444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577481fc064462" /><Relationship Type="http://schemas.openxmlformats.org/officeDocument/2006/relationships/notesSlide" Target="/ppt/notesSlides/notesSlide11.xml" Id="Rd5ea6d85c4a34f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02cdcd22a443a6" /><Relationship Type="http://schemas.openxmlformats.org/officeDocument/2006/relationships/notesSlide" Target="/ppt/notesSlides/notesSlide12.xml" Id="R88ce25604e3942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517774fdce64105" /><Relationship Type="http://schemas.openxmlformats.org/officeDocument/2006/relationships/notesSlide" Target="/ppt/notesSlides/notesSlide13.xml" Id="R99de744648dd4b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be1b5b9cf0d4acd" /><Relationship Type="http://schemas.openxmlformats.org/officeDocument/2006/relationships/notesSlide" Target="/ppt/notesSlides/notesSlide14.xml" Id="R2feae21d111449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5f1340c92bc4792" /><Relationship Type="http://schemas.openxmlformats.org/officeDocument/2006/relationships/notesSlide" Target="/ppt/notesSlides/notesSlide15.xml" Id="Rcf46b9c7697742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92888df420647af" /><Relationship Type="http://schemas.openxmlformats.org/officeDocument/2006/relationships/notesSlide" Target="/ppt/notesSlides/notesSlide16.xml" Id="Ra0d49a89229549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57703ffee34213" /><Relationship Type="http://schemas.openxmlformats.org/officeDocument/2006/relationships/notesSlide" Target="/ppt/notesSlides/notesSlide17.xml" Id="R773ccd3b116242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7d76edb2dce4e53" /><Relationship Type="http://schemas.openxmlformats.org/officeDocument/2006/relationships/notesSlide" Target="/ppt/notesSlides/notesSlide18.xml" Id="Rf4b296c8c7534d0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f8b841d39914ef5" /><Relationship Type="http://schemas.openxmlformats.org/officeDocument/2006/relationships/notesSlide" Target="/ppt/notesSlides/notesSlide19.xml" Id="R5441c8b1beaf4f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8b9573961b44f56" /><Relationship Type="http://schemas.openxmlformats.org/officeDocument/2006/relationships/notesSlide" Target="/ppt/notesSlides/notesSlide20.xml" Id="R8b44943aae2640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09f3bd06d654010" /><Relationship Type="http://schemas.openxmlformats.org/officeDocument/2006/relationships/chart" Target="/ppt/slides/charts/chart1.xml" Id="Rdfbec3b3350e4051" /><Relationship Type="http://schemas.openxmlformats.org/officeDocument/2006/relationships/notesSlide" Target="/ppt/notesSlides/notesSlide21.xml" Id="R78e4c0d2415348b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8f61831560477f" /><Relationship Type="http://schemas.openxmlformats.org/officeDocument/2006/relationships/notesSlide" Target="/ppt/notesSlides/notesSlide22.xml" Id="Rd218fe8c9fd8458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2d3f9e1aa034c79" /><Relationship Type="http://schemas.openxmlformats.org/officeDocument/2006/relationships/image" Target="/ppt/media/image.png" Id="R19ca6511e91f46cc" /><Relationship Type="http://schemas.openxmlformats.org/officeDocument/2006/relationships/notesSlide" Target="/ppt/notesSlides/notesSlide23.xml" Id="Rf792a81de91d467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87d873c8ce7475a" /><Relationship Type="http://schemas.openxmlformats.org/officeDocument/2006/relationships/notesSlide" Target="/ppt/notesSlides/notesSlide24.xml" Id="R895acd3fe20e448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607f50945ae479f" /><Relationship Type="http://schemas.openxmlformats.org/officeDocument/2006/relationships/notesSlide" Target="/ppt/notesSlides/notesSlide25.xml" Id="Rbd3a5b0dc47c43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b25d0c8ca7a420a" /><Relationship Type="http://schemas.openxmlformats.org/officeDocument/2006/relationships/notesSlide" Target="/ppt/notesSlides/notesSlide26.xml" Id="R454ac3122e264c6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dfb069dc69441db" /><Relationship Type="http://schemas.openxmlformats.org/officeDocument/2006/relationships/notesSlide" Target="/ppt/notesSlides/notesSlide27.xml" Id="R94783a1d2a574de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6002a3656574cc8" /><Relationship Type="http://schemas.openxmlformats.org/officeDocument/2006/relationships/notesSlide" Target="/ppt/notesSlides/notesSlide28.xml" Id="R1049d594926245a6" /></Relationships>
</file>

<file path=ppt/slides/charts/chart1.xml><?xml version="1.0" encoding="utf-8"?>
<c:chartSpace xmlns:c="http://schemas.openxmlformats.org/drawingml/2006/chart">
  <c:lang val="en-US"/>
  <c:chart>
    <c:plotArea>
      <c:lineChart>
        <c:grouping val="standard"/>
        <c:varyColors val="0"/>
        <c:ser>
          <c:idx val="0"/>
          <c:order val="0"/>
          <c:tx>
            <c:v>BB20001</c:v>
          </c:tx>
          <c:spPr>
            <a:ln xmlns:a="http://schemas.openxmlformats.org/drawingml/2006/main" w="28575">
              <a:solidFill>
                <a:srgbClr val="147D78"/>
              </a:solidFill>
            </a:ln>
          </c:spPr>
          <c:marker>
            <c:symbol val="circle"/>
            <c:size val="7"/>
            <c:spPr>
              <a:solidFill xmlns:a="http://schemas.openxmlformats.org/drawingml/2006/main">
                <a:srgbClr val="147D78"/>
              </a:solidFill>
            </c:spPr>
          </c:marker>
          <c:cat>
            <c:numLit>
              <c:formatCode>General</c:formatCode>
              <c:ptCount val="4"/>
              <c:pt idx="0">
                <c:v>1</c:v>
              </c:pt>
              <c:pt idx="1">
                <c:v>2</c:v>
              </c:pt>
              <c:pt idx="2">
                <c:v>4</c:v>
              </c:pt>
              <c:pt idx="3">
                <c:v>8</c:v>
              </c:pt>
            </c:numLit>
          </c:cat>
          <c:val>
            <c:numLit>
              <c:formatCode>0.0"×"</c:formatCode>
              <c:ptCount val="4"/>
              <c:pt idx="0">
                <c:v>1</c:v>
              </c:pt>
              <c:pt idx="1">
                <c:v>1.61</c:v>
              </c:pt>
              <c:pt idx="2">
                <c:v>1.7</c:v>
              </c:pt>
              <c:pt idx="3">
                <c:v>1.73</c:v>
              </c:pt>
            </c:numLit>
          </c:val>
          <c:smooth val="0"/>
        </c:ser>
        <c:ser>
          <c:idx val="1"/>
          <c:order val="1"/>
          <c:tx>
            <c:v>40 chuỗi</c:v>
          </c:tx>
          <c:spPr>
            <a:ln xmlns:a="http://schemas.openxmlformats.org/drawingml/2006/main" w="28575">
              <a:solidFill>
                <a:srgbClr val="142D3B"/>
              </a:solidFill>
            </a:ln>
          </c:spPr>
          <c:marker>
            <c:symbol val="circle"/>
            <c:size val="7"/>
            <c:spPr>
              <a:solidFill xmlns:a="http://schemas.openxmlformats.org/drawingml/2006/main">
                <a:srgbClr val="142D3B"/>
              </a:solidFill>
            </c:spPr>
          </c:marker>
          <c:cat>
            <c:numLit>
              <c:formatCode>General</c:formatCode>
              <c:ptCount val="4"/>
              <c:pt idx="0">
                <c:v>1</c:v>
              </c:pt>
              <c:pt idx="1">
                <c:v>2</c:v>
              </c:pt>
              <c:pt idx="2">
                <c:v>4</c:v>
              </c:pt>
              <c:pt idx="3">
                <c:v>8</c:v>
              </c:pt>
            </c:numLit>
          </c:cat>
          <c:val>
            <c:numLit>
              <c:formatCode>0.0"×"</c:formatCode>
              <c:ptCount val="4"/>
              <c:pt idx="0">
                <c:v>1</c:v>
              </c:pt>
              <c:pt idx="1">
                <c:v>1.06</c:v>
              </c:pt>
              <c:pt idx="2">
                <c:v>1.48</c:v>
              </c:pt>
              <c:pt idx="3">
                <c:v>1.61</c:v>
              </c:pt>
            </c:numLit>
          </c:val>
          <c:smooth val="0"/>
        </c:ser>
        <c:ser>
          <c:idx val="2"/>
          <c:order val="2"/>
          <c:tx>
            <c:v>BB12001</c:v>
          </c:tx>
          <c:spPr>
            <a:ln xmlns:a="http://schemas.openxmlformats.org/drawingml/2006/main" w="28575">
              <a:solidFill>
                <a:srgbClr val="A76C4D"/>
              </a:solidFill>
            </a:ln>
          </c:spPr>
          <c:marker>
            <c:symbol val="circle"/>
            <c:size val="7"/>
            <c:spPr>
              <a:solidFill xmlns:a="http://schemas.openxmlformats.org/drawingml/2006/main">
                <a:srgbClr val="A76C4D"/>
              </a:solidFill>
            </c:spPr>
          </c:marker>
          <c:cat>
            <c:numLit>
              <c:formatCode>General</c:formatCode>
              <c:ptCount val="4"/>
              <c:pt idx="0">
                <c:v>1</c:v>
              </c:pt>
              <c:pt idx="1">
                <c:v>2</c:v>
              </c:pt>
              <c:pt idx="2">
                <c:v>4</c:v>
              </c:pt>
              <c:pt idx="3">
                <c:v>8</c:v>
              </c:pt>
            </c:numLit>
          </c:cat>
          <c:val>
            <c:numLit>
              <c:formatCode>0.0"×"</c:formatCode>
              <c:ptCount val="4"/>
              <c:pt idx="0">
                <c:v>1</c:v>
              </c:pt>
              <c:pt idx="1">
                <c:v>1.26</c:v>
              </c:pt>
              <c:pt idx="2">
                <c:v>1.13</c:v>
              </c:pt>
              <c:pt idx="3">
                <c:v>0.7</c:v>
              </c:pt>
            </c:numLit>
          </c:val>
          <c:smooth val="0"/>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solidFill>
                      <a:srgbClr val="61716F"/>
                    </a:solidFill>
                    <a:latin typeface="Segoe UI"/>
                    <a:ea typeface="Segoe UI"/>
                    <a:cs typeface="Segoe UI"/>
                  </a:rPr>
                  <a:t>Số luồng</a:t>
                </a:r>
              </a:p>
            </c:rich>
          </c:tx>
          <c:overlay val="0"/>
          <c:txPr>
            <a:bodyPr xmlns:a="http://schemas.openxmlformats.org/drawingml/2006/main" anchorCtr="1"/>
            <a:lstStyle xmlns:a="http://schemas.openxmlformats.org/drawingml/2006/main"/>
            <a:p xmlns:a="http://schemas.openxmlformats.org/drawingml/2006/main">
              <a:pPr>
                <a:defRPr sz="1350">
                  <a:solidFill>
                    <a:srgbClr val="61716F"/>
                  </a:solidFill>
                  <a:latin typeface="Segoe UI"/>
                  <a:ea typeface="Segoe UI"/>
                  <a:cs typeface="Segoe U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1716F"/>
                </a:solidFill>
                <a:latin typeface="Segoe UI"/>
                <a:ea typeface="Segoe UI"/>
                <a:cs typeface="Segoe UI"/>
              </a:defRPr>
            </a:pPr>
          </a:p>
        </c:txPr>
        <c:crossAx val="48672768"/>
      </c:catAx>
      <c:valAx>
        <c:axId val="48672768"/>
        <c:scaling>
          <c:orientation val="minMax"/>
          <c:max val="2"/>
          <c:min val="0"/>
        </c:scaling>
        <c:delete val="0"/>
        <c:axPos val="l"/>
        <c:majorGridlines>
          <c:spPr>
            <a:ln xmlns:a="http://schemas.openxmlformats.org/drawingml/2006/main" w="9525">
              <a:solidFill>
                <a:srgbClr val="D7DED6"/>
              </a:solidFill>
            </a:ln>
          </c:spPr>
        </c:majorGridlines>
        <c:title>
          <c:tx>
            <c:rich>
              <a:bodyPr xmlns:a="http://schemas.openxmlformats.org/drawingml/2006/main"/>
              <a:lstStyle xmlns:a="http://schemas.openxmlformats.org/drawingml/2006/main"/>
              <a:p xmlns:a="http://schemas.openxmlformats.org/drawingml/2006/main">
                <a:r>
                  <a:rPr sz="1350">
                    <a:solidFill>
                      <a:srgbClr val="61716F"/>
                    </a:solidFill>
                    <a:latin typeface="Segoe UI"/>
                    <a:ea typeface="Segoe UI"/>
                    <a:cs typeface="Segoe UI"/>
                  </a:rPr>
                  <a:t>Speedup</a:t>
                </a:r>
              </a:p>
            </c:rich>
          </c:tx>
          <c:overlay val="0"/>
          <c:txPr>
            <a:bodyPr xmlns:a="http://schemas.openxmlformats.org/drawingml/2006/main" anchorCtr="1"/>
            <a:lstStyle xmlns:a="http://schemas.openxmlformats.org/drawingml/2006/main"/>
            <a:p xmlns:a="http://schemas.openxmlformats.org/drawingml/2006/main">
              <a:pPr>
                <a:defRPr sz="1350">
                  <a:solidFill>
                    <a:srgbClr val="61716F"/>
                  </a:solidFill>
                  <a:latin typeface="Segoe UI"/>
                  <a:ea typeface="Segoe UI"/>
                  <a:cs typeface="Segoe UI"/>
                </a:defRPr>
              </a:pPr>
            </a:p>
          </c:txPr>
        </c:title>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1716F"/>
                </a:solidFill>
                <a:latin typeface="Segoe UI"/>
                <a:ea typeface="Segoe UI"/>
                <a:cs typeface="Segoe UI"/>
              </a:defRPr>
            </a:pPr>
          </a:p>
        </c:txPr>
        <c:crossAx val="48650112"/>
        <c:crossBetween val="between"/>
        <c:majorUnit val="0.5"/>
      </c:valAx>
      <c:spPr>
        <a:solidFill xmlns:a="http://schemas.openxmlformats.org/drawingml/2006/main">
          <a:srgbClr val="F7F5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D3B"/>
              </a:solidFill>
              <a:latin typeface="Segoe UI"/>
              <a:ea typeface="Segoe UI"/>
              <a:cs typeface="Segoe UI"/>
            </a:defRPr>
          </a:pPr>
        </a:p>
      </c:txPr>
    </c:legend>
    <c:plotVisOnly val="1"/>
  </c:chart>
  <c:spPr>
    <a:solidFill xmlns:a="http://schemas.openxmlformats.org/drawingml/2006/main">
      <a:srgbClr val="F7F5E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F5CB5FE8-4D9D-4ED5-AF26-185A91EFD26C}"/>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01</a:t>
            </a:r>
          </a:p>
        </p:txBody>
      </p:sp>
      <p:sp>
        <p:nvSpPr>
          <p:cNvPr id="2" name="NHÓM 5">
            <a:extLst xmlns:a="http://schemas.openxmlformats.org/drawingml/2006/main">
              <a:ext uri="{FF2B5EF4-FFF2-40B4-BE49-F238E27FC236}">
                <a16:creationId xmlns:a16="http://schemas.microsoft.com/office/drawing/2014/main" id="{097FA8EB-46A7-4D8F-B4FD-C6F5C3AD1FA6}"/>
              </a:ext>
            </a:extLst>
          </p:cNvPr>
          <p:cNvSpPr>
            <a:spLocks xmlns:a="http://schemas.openxmlformats.org/drawingml/2006/main" noGrp="1"/>
          </p:cNvSpPr>
          <p:nvPr/>
        </p:nvSpPr>
        <p:spPr>
          <a:xfrm xmlns:a="http://schemas.openxmlformats.org/drawingml/2006/main">
            <a:off x="762000" y="6191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425" b="1">
                <a:solidFill>
                  <a:srgbClr val="147D78"/>
                </a:solidFill>
                <a:latin typeface="Segoe UI"/>
                <a:ea typeface="Segoe UI"/>
                <a:cs typeface="Segoe UI"/>
              </a:defRPr>
            </a:defPPr>
            <a:lvl1pPr algn="l">
              <a:defRPr sz="1425" b="1">
                <a:solidFill>
                  <a:srgbClr val="147D78"/>
                </a:solidFill>
                <a:latin typeface="Segoe UI"/>
                <a:ea typeface="Segoe UI"/>
                <a:cs typeface="Segoe UI"/>
              </a:defRPr>
            </a:lvl1pPr>
            <a:lvl2pPr algn="l">
              <a:defRPr sz="1425" b="1">
                <a:solidFill>
                  <a:srgbClr val="147D78"/>
                </a:solidFill>
                <a:latin typeface="Segoe UI"/>
                <a:ea typeface="Segoe UI"/>
                <a:cs typeface="Segoe UI"/>
              </a:defRPr>
            </a:lvl2pPr>
            <a:lvl3pPr algn="l">
              <a:defRPr sz="1425" b="1">
                <a:solidFill>
                  <a:srgbClr val="147D78"/>
                </a:solidFill>
                <a:latin typeface="Segoe UI"/>
                <a:ea typeface="Segoe UI"/>
                <a:cs typeface="Segoe UI"/>
              </a:defRPr>
            </a:lvl3pPr>
            <a:lvl4pPr algn="l">
              <a:defRPr sz="1425" b="1">
                <a:solidFill>
                  <a:srgbClr val="147D78"/>
                </a:solidFill>
                <a:latin typeface="Segoe UI"/>
                <a:ea typeface="Segoe UI"/>
                <a:cs typeface="Segoe UI"/>
              </a:defRPr>
            </a:lvl4pPr>
            <a:lvl5pPr algn="l">
              <a:defRPr sz="1425" b="1">
                <a:solidFill>
                  <a:srgbClr val="147D78"/>
                </a:solidFill>
                <a:latin typeface="Segoe UI"/>
                <a:ea typeface="Segoe UI"/>
                <a:cs typeface="Segoe UI"/>
              </a:defRPr>
            </a:lvl5pPr>
            <a:lvl6pPr algn="l">
              <a:defRPr sz="1425" b="1">
                <a:solidFill>
                  <a:srgbClr val="147D78"/>
                </a:solidFill>
                <a:latin typeface="Segoe UI"/>
                <a:ea typeface="Segoe UI"/>
                <a:cs typeface="Segoe UI"/>
              </a:defRPr>
            </a:lvl6pPr>
            <a:lvl7pPr algn="l">
              <a:defRPr sz="1425" b="1">
                <a:solidFill>
                  <a:srgbClr val="147D78"/>
                </a:solidFill>
                <a:latin typeface="Segoe UI"/>
                <a:ea typeface="Segoe UI"/>
                <a:cs typeface="Segoe UI"/>
              </a:defRPr>
            </a:lvl7pPr>
            <a:lvl8pPr algn="l">
              <a:defRPr sz="1425" b="1">
                <a:solidFill>
                  <a:srgbClr val="147D78"/>
                </a:solidFill>
                <a:latin typeface="Segoe UI"/>
                <a:ea typeface="Segoe UI"/>
                <a:cs typeface="Segoe UI"/>
              </a:defRPr>
            </a:lvl8pPr>
            <a:lvl9pPr algn="l">
              <a:defRPr sz="1425" b="1">
                <a:solidFill>
                  <a:srgbClr val="147D78"/>
                </a:solidFill>
                <a:latin typeface="Segoe UI"/>
                <a:ea typeface="Segoe UI"/>
                <a:cs typeface="Segoe UI"/>
              </a:defRPr>
            </a:lvl9pPr>
          </a:lstStyle>
          <a:p xmlns:a="http://schemas.openxmlformats.org/drawingml/2006/main">
            <a:pPr algn="l">
              <a:defRPr sz="1425" b="1">
                <a:solidFill>
                  <a:srgbClr val="147D78"/>
                </a:solidFill>
                <a:latin typeface="Segoe UI"/>
                <a:ea typeface="Segoe UI"/>
                <a:cs typeface="Segoe UI"/>
              </a:defRPr>
            </a:pPr>
            <a:r>
              <a:rPr sz="1425" b="1">
                <a:solidFill>
                  <a:srgbClr val="147D78"/>
                </a:solidFill>
                <a:latin typeface="Segoe UI"/>
                <a:ea typeface="Segoe UI"/>
                <a:cs typeface="Segoe UI"/>
              </a:rPr>
              <a:t>NHÓM 5</a:t>
            </a:r>
          </a:p>
        </p:txBody>
      </p:sp>
      <p:sp>
        <p:nvSpPr>
          <p:cNvPr id="3" name="PHÂN TÍCH VÀ THIẾT KẾ THUẬT TOÁN">
            <a:extLst xmlns:a="http://schemas.openxmlformats.org/drawingml/2006/main">
              <a:ext uri="{FF2B5EF4-FFF2-40B4-BE49-F238E27FC236}">
                <a16:creationId xmlns:a16="http://schemas.microsoft.com/office/drawing/2014/main" id="{7AD2F3CE-B4EA-4496-8FBF-1D43BA54CF83}"/>
              </a:ext>
            </a:extLst>
          </p:cNvPr>
          <p:cNvSpPr>
            <a:spLocks xmlns:a="http://schemas.openxmlformats.org/drawingml/2006/main" noGrp="1"/>
          </p:cNvSpPr>
          <p:nvPr/>
        </p:nvSpPr>
        <p:spPr>
          <a:xfrm xmlns:a="http://schemas.openxmlformats.org/drawingml/2006/main">
            <a:off x="762000" y="100012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425" b="0">
                <a:solidFill>
                  <a:srgbClr val="61716F"/>
                </a:solidFill>
                <a:latin typeface="Segoe UI"/>
                <a:ea typeface="Segoe UI"/>
                <a:cs typeface="Segoe UI"/>
              </a:defRPr>
            </a:defPPr>
            <a:lvl1pPr algn="l">
              <a:defRPr sz="1425" b="0">
                <a:solidFill>
                  <a:srgbClr val="61716F"/>
                </a:solidFill>
                <a:latin typeface="Segoe UI"/>
                <a:ea typeface="Segoe UI"/>
                <a:cs typeface="Segoe UI"/>
              </a:defRPr>
            </a:lvl1pPr>
            <a:lvl2pPr algn="l">
              <a:defRPr sz="1425" b="0">
                <a:solidFill>
                  <a:srgbClr val="61716F"/>
                </a:solidFill>
                <a:latin typeface="Segoe UI"/>
                <a:ea typeface="Segoe UI"/>
                <a:cs typeface="Segoe UI"/>
              </a:defRPr>
            </a:lvl2pPr>
            <a:lvl3pPr algn="l">
              <a:defRPr sz="1425" b="0">
                <a:solidFill>
                  <a:srgbClr val="61716F"/>
                </a:solidFill>
                <a:latin typeface="Segoe UI"/>
                <a:ea typeface="Segoe UI"/>
                <a:cs typeface="Segoe UI"/>
              </a:defRPr>
            </a:lvl3pPr>
            <a:lvl4pPr algn="l">
              <a:defRPr sz="1425" b="0">
                <a:solidFill>
                  <a:srgbClr val="61716F"/>
                </a:solidFill>
                <a:latin typeface="Segoe UI"/>
                <a:ea typeface="Segoe UI"/>
                <a:cs typeface="Segoe UI"/>
              </a:defRPr>
            </a:lvl4pPr>
            <a:lvl5pPr algn="l">
              <a:defRPr sz="1425" b="0">
                <a:solidFill>
                  <a:srgbClr val="61716F"/>
                </a:solidFill>
                <a:latin typeface="Segoe UI"/>
                <a:ea typeface="Segoe UI"/>
                <a:cs typeface="Segoe UI"/>
              </a:defRPr>
            </a:lvl5pPr>
            <a:lvl6pPr algn="l">
              <a:defRPr sz="1425" b="0">
                <a:solidFill>
                  <a:srgbClr val="61716F"/>
                </a:solidFill>
                <a:latin typeface="Segoe UI"/>
                <a:ea typeface="Segoe UI"/>
                <a:cs typeface="Segoe UI"/>
              </a:defRPr>
            </a:lvl6pPr>
            <a:lvl7pPr algn="l">
              <a:defRPr sz="1425" b="0">
                <a:solidFill>
                  <a:srgbClr val="61716F"/>
                </a:solidFill>
                <a:latin typeface="Segoe UI"/>
                <a:ea typeface="Segoe UI"/>
                <a:cs typeface="Segoe UI"/>
              </a:defRPr>
            </a:lvl7pPr>
            <a:lvl8pPr algn="l">
              <a:defRPr sz="1425" b="0">
                <a:solidFill>
                  <a:srgbClr val="61716F"/>
                </a:solidFill>
                <a:latin typeface="Segoe UI"/>
                <a:ea typeface="Segoe UI"/>
                <a:cs typeface="Segoe UI"/>
              </a:defRPr>
            </a:lvl8pPr>
            <a:lvl9pPr algn="l">
              <a:defRPr sz="1425" b="0">
                <a:solidFill>
                  <a:srgbClr val="61716F"/>
                </a:solidFill>
                <a:latin typeface="Segoe UI"/>
                <a:ea typeface="Segoe UI"/>
                <a:cs typeface="Segoe UI"/>
              </a:defRPr>
            </a:lvl9pPr>
          </a:lstStyle>
          <a:p xmlns:a="http://schemas.openxmlformats.org/drawingml/2006/main">
            <a:pPr algn="l">
              <a:defRPr sz="1425" b="0">
                <a:solidFill>
                  <a:srgbClr val="61716F"/>
                </a:solidFill>
                <a:latin typeface="Segoe UI"/>
                <a:ea typeface="Segoe UI"/>
                <a:cs typeface="Segoe UI"/>
              </a:defRPr>
            </a:pPr>
            <a:r>
              <a:rPr sz="1425" b="0">
                <a:solidFill>
                  <a:srgbClr val="61716F"/>
                </a:solidFill>
                <a:latin typeface="Segoe UI"/>
                <a:ea typeface="Segoe UI"/>
                <a:cs typeface="Segoe UI"/>
              </a:rPr>
              <a:t>PHÂN TÍCH VÀ THIẾT KẾ THUẬT TOÁN</a:t>
            </a:r>
          </a:p>
        </p:txBody>
      </p:sp>
      <p:sp>
        <p:nvSpPr>
          <p:cNvPr id="4" name="Căn chỉnh đa chuỗi">
            <a:extLst xmlns:a="http://schemas.openxmlformats.org/drawingml/2006/main">
              <a:ext uri="{FF2B5EF4-FFF2-40B4-BE49-F238E27FC236}">
                <a16:creationId xmlns:a16="http://schemas.microsoft.com/office/drawing/2014/main" id="{0FFEA91F-7000-4139-85D7-530302A0EF24}"/>
              </a:ext>
            </a:extLst>
          </p:cNvPr>
          <p:cNvSpPr>
            <a:spLocks xmlns:a="http://schemas.openxmlformats.org/drawingml/2006/main" noGrp="1"/>
          </p:cNvSpPr>
          <p:nvPr/>
        </p:nvSpPr>
        <p:spPr>
          <a:xfrm xmlns:a="http://schemas.openxmlformats.org/drawingml/2006/main">
            <a:off x="714375" y="204787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5700" b="1">
                <a:solidFill>
                  <a:srgbClr val="142D3B"/>
                </a:solidFill>
                <a:latin typeface="Segoe UI"/>
                <a:ea typeface="Segoe UI"/>
                <a:cs typeface="Segoe UI"/>
              </a:defRPr>
            </a:defPPr>
            <a:lvl1pPr algn="l">
              <a:defRPr sz="5700" b="1">
                <a:solidFill>
                  <a:srgbClr val="142D3B"/>
                </a:solidFill>
                <a:latin typeface="Segoe UI"/>
                <a:ea typeface="Segoe UI"/>
                <a:cs typeface="Segoe UI"/>
              </a:defRPr>
            </a:lvl1pPr>
            <a:lvl2pPr algn="l">
              <a:defRPr sz="5700" b="1">
                <a:solidFill>
                  <a:srgbClr val="142D3B"/>
                </a:solidFill>
                <a:latin typeface="Segoe UI"/>
                <a:ea typeface="Segoe UI"/>
                <a:cs typeface="Segoe UI"/>
              </a:defRPr>
            </a:lvl2pPr>
            <a:lvl3pPr algn="l">
              <a:defRPr sz="5700" b="1">
                <a:solidFill>
                  <a:srgbClr val="142D3B"/>
                </a:solidFill>
                <a:latin typeface="Segoe UI"/>
                <a:ea typeface="Segoe UI"/>
                <a:cs typeface="Segoe UI"/>
              </a:defRPr>
            </a:lvl3pPr>
            <a:lvl4pPr algn="l">
              <a:defRPr sz="5700" b="1">
                <a:solidFill>
                  <a:srgbClr val="142D3B"/>
                </a:solidFill>
                <a:latin typeface="Segoe UI"/>
                <a:ea typeface="Segoe UI"/>
                <a:cs typeface="Segoe UI"/>
              </a:defRPr>
            </a:lvl4pPr>
            <a:lvl5pPr algn="l">
              <a:defRPr sz="5700" b="1">
                <a:solidFill>
                  <a:srgbClr val="142D3B"/>
                </a:solidFill>
                <a:latin typeface="Segoe UI"/>
                <a:ea typeface="Segoe UI"/>
                <a:cs typeface="Segoe UI"/>
              </a:defRPr>
            </a:lvl5pPr>
            <a:lvl6pPr algn="l">
              <a:defRPr sz="5700" b="1">
                <a:solidFill>
                  <a:srgbClr val="142D3B"/>
                </a:solidFill>
                <a:latin typeface="Segoe UI"/>
                <a:ea typeface="Segoe UI"/>
                <a:cs typeface="Segoe UI"/>
              </a:defRPr>
            </a:lvl6pPr>
            <a:lvl7pPr algn="l">
              <a:defRPr sz="5700" b="1">
                <a:solidFill>
                  <a:srgbClr val="142D3B"/>
                </a:solidFill>
                <a:latin typeface="Segoe UI"/>
                <a:ea typeface="Segoe UI"/>
                <a:cs typeface="Segoe UI"/>
              </a:defRPr>
            </a:lvl7pPr>
            <a:lvl8pPr algn="l">
              <a:defRPr sz="5700" b="1">
                <a:solidFill>
                  <a:srgbClr val="142D3B"/>
                </a:solidFill>
                <a:latin typeface="Segoe UI"/>
                <a:ea typeface="Segoe UI"/>
                <a:cs typeface="Segoe UI"/>
              </a:defRPr>
            </a:lvl8pPr>
            <a:lvl9pPr algn="l">
              <a:defRPr sz="5700" b="1">
                <a:solidFill>
                  <a:srgbClr val="142D3B"/>
                </a:solidFill>
                <a:latin typeface="Segoe UI"/>
                <a:ea typeface="Segoe UI"/>
                <a:cs typeface="Segoe UI"/>
              </a:defRPr>
            </a:lvl9pPr>
          </a:lstStyle>
          <a:p xmlns:a="http://schemas.openxmlformats.org/drawingml/2006/main">
            <a:pPr algn="l">
              <a:defRPr sz="5700" b="1">
                <a:solidFill>
                  <a:srgbClr val="142D3B"/>
                </a:solidFill>
                <a:latin typeface="Segoe UI"/>
                <a:ea typeface="Segoe UI"/>
                <a:cs typeface="Segoe UI"/>
              </a:defRPr>
            </a:pPr>
            <a:r>
              <a:rPr sz="5700" b="1">
                <a:solidFill>
                  <a:srgbClr val="142D3B"/>
                </a:solidFill>
                <a:latin typeface="Segoe UI"/>
                <a:ea typeface="Segoe UI"/>
                <a:cs typeface="Segoe UI"/>
              </a:rPr>
              <a:t>Căn chỉnh đa chuỗi</a:t>
            </a:r>
          </a:p>
        </p:txBody>
      </p:sp>
      <p:sp>
        <p:nvSpPr>
          <p:cNvPr id="5" name="Protein / ADN">
            <a:extLst xmlns:a="http://schemas.openxmlformats.org/drawingml/2006/main">
              <a:ext uri="{FF2B5EF4-FFF2-40B4-BE49-F238E27FC236}">
                <a16:creationId xmlns:a16="http://schemas.microsoft.com/office/drawing/2014/main" id="{DAE28C7B-9F17-404F-AE2E-6B0712DFB12E}"/>
              </a:ext>
            </a:extLst>
          </p:cNvPr>
          <p:cNvSpPr>
            <a:spLocks xmlns:a="http://schemas.openxmlformats.org/drawingml/2006/main" noGrp="1"/>
          </p:cNvSpPr>
          <p:nvPr/>
        </p:nvSpPr>
        <p:spPr>
          <a:xfrm xmlns:a="http://schemas.openxmlformats.org/drawingml/2006/main">
            <a:off x="714375" y="29527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5700" b="1">
                <a:solidFill>
                  <a:srgbClr val="142D3B"/>
                </a:solidFill>
                <a:latin typeface="Segoe UI"/>
                <a:ea typeface="Segoe UI"/>
                <a:cs typeface="Segoe UI"/>
              </a:defRPr>
            </a:defPPr>
            <a:lvl1pPr algn="l">
              <a:defRPr sz="5700" b="1">
                <a:solidFill>
                  <a:srgbClr val="142D3B"/>
                </a:solidFill>
                <a:latin typeface="Segoe UI"/>
                <a:ea typeface="Segoe UI"/>
                <a:cs typeface="Segoe UI"/>
              </a:defRPr>
            </a:lvl1pPr>
            <a:lvl2pPr algn="l">
              <a:defRPr sz="5700" b="1">
                <a:solidFill>
                  <a:srgbClr val="142D3B"/>
                </a:solidFill>
                <a:latin typeface="Segoe UI"/>
                <a:ea typeface="Segoe UI"/>
                <a:cs typeface="Segoe UI"/>
              </a:defRPr>
            </a:lvl2pPr>
            <a:lvl3pPr algn="l">
              <a:defRPr sz="5700" b="1">
                <a:solidFill>
                  <a:srgbClr val="142D3B"/>
                </a:solidFill>
                <a:latin typeface="Segoe UI"/>
                <a:ea typeface="Segoe UI"/>
                <a:cs typeface="Segoe UI"/>
              </a:defRPr>
            </a:lvl3pPr>
            <a:lvl4pPr algn="l">
              <a:defRPr sz="5700" b="1">
                <a:solidFill>
                  <a:srgbClr val="142D3B"/>
                </a:solidFill>
                <a:latin typeface="Segoe UI"/>
                <a:ea typeface="Segoe UI"/>
                <a:cs typeface="Segoe UI"/>
              </a:defRPr>
            </a:lvl4pPr>
            <a:lvl5pPr algn="l">
              <a:defRPr sz="5700" b="1">
                <a:solidFill>
                  <a:srgbClr val="142D3B"/>
                </a:solidFill>
                <a:latin typeface="Segoe UI"/>
                <a:ea typeface="Segoe UI"/>
                <a:cs typeface="Segoe UI"/>
              </a:defRPr>
            </a:lvl5pPr>
            <a:lvl6pPr algn="l">
              <a:defRPr sz="5700" b="1">
                <a:solidFill>
                  <a:srgbClr val="142D3B"/>
                </a:solidFill>
                <a:latin typeface="Segoe UI"/>
                <a:ea typeface="Segoe UI"/>
                <a:cs typeface="Segoe UI"/>
              </a:defRPr>
            </a:lvl6pPr>
            <a:lvl7pPr algn="l">
              <a:defRPr sz="5700" b="1">
                <a:solidFill>
                  <a:srgbClr val="142D3B"/>
                </a:solidFill>
                <a:latin typeface="Segoe UI"/>
                <a:ea typeface="Segoe UI"/>
                <a:cs typeface="Segoe UI"/>
              </a:defRPr>
            </a:lvl7pPr>
            <a:lvl8pPr algn="l">
              <a:defRPr sz="5700" b="1">
                <a:solidFill>
                  <a:srgbClr val="142D3B"/>
                </a:solidFill>
                <a:latin typeface="Segoe UI"/>
                <a:ea typeface="Segoe UI"/>
                <a:cs typeface="Segoe UI"/>
              </a:defRPr>
            </a:lvl8pPr>
            <a:lvl9pPr algn="l">
              <a:defRPr sz="5700" b="1">
                <a:solidFill>
                  <a:srgbClr val="142D3B"/>
                </a:solidFill>
                <a:latin typeface="Segoe UI"/>
                <a:ea typeface="Segoe UI"/>
                <a:cs typeface="Segoe UI"/>
              </a:defRPr>
            </a:lvl9pPr>
          </a:lstStyle>
          <a:p xmlns:a="http://schemas.openxmlformats.org/drawingml/2006/main">
            <a:pPr algn="l">
              <a:defRPr sz="5700" b="1">
                <a:solidFill>
                  <a:srgbClr val="142D3B"/>
                </a:solidFill>
                <a:latin typeface="Segoe UI"/>
                <a:ea typeface="Segoe UI"/>
                <a:cs typeface="Segoe UI"/>
              </a:defRPr>
            </a:pPr>
            <a:r>
              <a:rPr sz="5700" b="1">
                <a:solidFill>
                  <a:srgbClr val="142D3B"/>
                </a:solidFill>
                <a:latin typeface="Segoe UI"/>
                <a:ea typeface="Segoe UI"/>
                <a:cs typeface="Segoe UI"/>
              </a:rPr>
              <a:t>Protein / ADN</a:t>
            </a:r>
          </a:p>
        </p:txBody>
      </p:sp>
      <p:sp>
        <p:nvSpPr>
          <p:cNvPr id="6" name="Chia để trị song song">
            <a:extLst xmlns:a="http://schemas.openxmlformats.org/drawingml/2006/main">
              <a:ext uri="{FF2B5EF4-FFF2-40B4-BE49-F238E27FC236}">
                <a16:creationId xmlns:a16="http://schemas.microsoft.com/office/drawing/2014/main" id="{01CAA2AA-8B17-4B6F-93FC-0769562419DF}"/>
              </a:ext>
            </a:extLst>
          </p:cNvPr>
          <p:cNvSpPr>
            <a:spLocks xmlns:a="http://schemas.openxmlformats.org/drawingml/2006/main" noGrp="1"/>
          </p:cNvSpPr>
          <p:nvPr/>
        </p:nvSpPr>
        <p:spPr>
          <a:xfrm xmlns:a="http://schemas.openxmlformats.org/drawingml/2006/main">
            <a:off x="7620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550" b="0">
                <a:solidFill>
                  <a:srgbClr val="147D78"/>
                </a:solidFill>
                <a:latin typeface="Segoe UI"/>
                <a:ea typeface="Segoe UI"/>
                <a:cs typeface="Segoe UI"/>
              </a:defRPr>
            </a:defPPr>
            <a:lvl1pPr algn="l">
              <a:defRPr sz="2550" b="0">
                <a:solidFill>
                  <a:srgbClr val="147D78"/>
                </a:solidFill>
                <a:latin typeface="Segoe UI"/>
                <a:ea typeface="Segoe UI"/>
                <a:cs typeface="Segoe UI"/>
              </a:defRPr>
            </a:lvl1pPr>
            <a:lvl2pPr algn="l">
              <a:defRPr sz="2550" b="0">
                <a:solidFill>
                  <a:srgbClr val="147D78"/>
                </a:solidFill>
                <a:latin typeface="Segoe UI"/>
                <a:ea typeface="Segoe UI"/>
                <a:cs typeface="Segoe UI"/>
              </a:defRPr>
            </a:lvl2pPr>
            <a:lvl3pPr algn="l">
              <a:defRPr sz="2550" b="0">
                <a:solidFill>
                  <a:srgbClr val="147D78"/>
                </a:solidFill>
                <a:latin typeface="Segoe UI"/>
                <a:ea typeface="Segoe UI"/>
                <a:cs typeface="Segoe UI"/>
              </a:defRPr>
            </a:lvl3pPr>
            <a:lvl4pPr algn="l">
              <a:defRPr sz="2550" b="0">
                <a:solidFill>
                  <a:srgbClr val="147D78"/>
                </a:solidFill>
                <a:latin typeface="Segoe UI"/>
                <a:ea typeface="Segoe UI"/>
                <a:cs typeface="Segoe UI"/>
              </a:defRPr>
            </a:lvl4pPr>
            <a:lvl5pPr algn="l">
              <a:defRPr sz="2550" b="0">
                <a:solidFill>
                  <a:srgbClr val="147D78"/>
                </a:solidFill>
                <a:latin typeface="Segoe UI"/>
                <a:ea typeface="Segoe UI"/>
                <a:cs typeface="Segoe UI"/>
              </a:defRPr>
            </a:lvl5pPr>
            <a:lvl6pPr algn="l">
              <a:defRPr sz="2550" b="0">
                <a:solidFill>
                  <a:srgbClr val="147D78"/>
                </a:solidFill>
                <a:latin typeface="Segoe UI"/>
                <a:ea typeface="Segoe UI"/>
                <a:cs typeface="Segoe UI"/>
              </a:defRPr>
            </a:lvl6pPr>
            <a:lvl7pPr algn="l">
              <a:defRPr sz="2550" b="0">
                <a:solidFill>
                  <a:srgbClr val="147D78"/>
                </a:solidFill>
                <a:latin typeface="Segoe UI"/>
                <a:ea typeface="Segoe UI"/>
                <a:cs typeface="Segoe UI"/>
              </a:defRPr>
            </a:lvl7pPr>
            <a:lvl8pPr algn="l">
              <a:defRPr sz="2550" b="0">
                <a:solidFill>
                  <a:srgbClr val="147D78"/>
                </a:solidFill>
                <a:latin typeface="Segoe UI"/>
                <a:ea typeface="Segoe UI"/>
                <a:cs typeface="Segoe UI"/>
              </a:defRPr>
            </a:lvl8pPr>
            <a:lvl9pPr algn="l">
              <a:defRPr sz="2550" b="0">
                <a:solidFill>
                  <a:srgbClr val="147D78"/>
                </a:solidFill>
                <a:latin typeface="Segoe UI"/>
                <a:ea typeface="Segoe UI"/>
                <a:cs typeface="Segoe UI"/>
              </a:defRPr>
            </a:lvl9pPr>
          </a:lstStyle>
          <a:p xmlns:a="http://schemas.openxmlformats.org/drawingml/2006/main">
            <a:pPr algn="l">
              <a:defRPr sz="2550" b="0">
                <a:solidFill>
                  <a:srgbClr val="147D78"/>
                </a:solidFill>
                <a:latin typeface="Segoe UI"/>
                <a:ea typeface="Segoe UI"/>
                <a:cs typeface="Segoe UI"/>
              </a:defRPr>
            </a:pPr>
            <a:r>
              <a:rPr sz="2550" b="0">
                <a:solidFill>
                  <a:srgbClr val="147D78"/>
                </a:solidFill>
                <a:latin typeface="Segoe UI"/>
                <a:ea typeface="Segoe UI"/>
                <a:cs typeface="Segoe UI"/>
              </a:rPr>
              <a:t>Chia để trị song song</a:t>
            </a:r>
          </a:p>
        </p:txBody>
      </p:sp>
      <p:sp>
        <p:nvSpPr>
          <p:cNvPr id="7" name="kết hợp quy hoạch động">
            <a:extLst xmlns:a="http://schemas.openxmlformats.org/drawingml/2006/main">
              <a:ext uri="{FF2B5EF4-FFF2-40B4-BE49-F238E27FC236}">
                <a16:creationId xmlns:a16="http://schemas.microsoft.com/office/drawing/2014/main" id="{6A6C0942-5B14-484D-81C7-F125D103AA75}"/>
              </a:ext>
            </a:extLst>
          </p:cNvPr>
          <p:cNvSpPr>
            <a:spLocks xmlns:a="http://schemas.openxmlformats.org/drawingml/2006/main" noGrp="1"/>
          </p:cNvSpPr>
          <p:nvPr/>
        </p:nvSpPr>
        <p:spPr>
          <a:xfrm xmlns:a="http://schemas.openxmlformats.org/drawingml/2006/main">
            <a:off x="762000" y="48577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550" b="0">
                <a:solidFill>
                  <a:srgbClr val="147D78"/>
                </a:solidFill>
                <a:latin typeface="Segoe UI"/>
                <a:ea typeface="Segoe UI"/>
                <a:cs typeface="Segoe UI"/>
              </a:defRPr>
            </a:defPPr>
            <a:lvl1pPr algn="l">
              <a:defRPr sz="2550" b="0">
                <a:solidFill>
                  <a:srgbClr val="147D78"/>
                </a:solidFill>
                <a:latin typeface="Segoe UI"/>
                <a:ea typeface="Segoe UI"/>
                <a:cs typeface="Segoe UI"/>
              </a:defRPr>
            </a:lvl1pPr>
            <a:lvl2pPr algn="l">
              <a:defRPr sz="2550" b="0">
                <a:solidFill>
                  <a:srgbClr val="147D78"/>
                </a:solidFill>
                <a:latin typeface="Segoe UI"/>
                <a:ea typeface="Segoe UI"/>
                <a:cs typeface="Segoe UI"/>
              </a:defRPr>
            </a:lvl2pPr>
            <a:lvl3pPr algn="l">
              <a:defRPr sz="2550" b="0">
                <a:solidFill>
                  <a:srgbClr val="147D78"/>
                </a:solidFill>
                <a:latin typeface="Segoe UI"/>
                <a:ea typeface="Segoe UI"/>
                <a:cs typeface="Segoe UI"/>
              </a:defRPr>
            </a:lvl3pPr>
            <a:lvl4pPr algn="l">
              <a:defRPr sz="2550" b="0">
                <a:solidFill>
                  <a:srgbClr val="147D78"/>
                </a:solidFill>
                <a:latin typeface="Segoe UI"/>
                <a:ea typeface="Segoe UI"/>
                <a:cs typeface="Segoe UI"/>
              </a:defRPr>
            </a:lvl4pPr>
            <a:lvl5pPr algn="l">
              <a:defRPr sz="2550" b="0">
                <a:solidFill>
                  <a:srgbClr val="147D78"/>
                </a:solidFill>
                <a:latin typeface="Segoe UI"/>
                <a:ea typeface="Segoe UI"/>
                <a:cs typeface="Segoe UI"/>
              </a:defRPr>
            </a:lvl5pPr>
            <a:lvl6pPr algn="l">
              <a:defRPr sz="2550" b="0">
                <a:solidFill>
                  <a:srgbClr val="147D78"/>
                </a:solidFill>
                <a:latin typeface="Segoe UI"/>
                <a:ea typeface="Segoe UI"/>
                <a:cs typeface="Segoe UI"/>
              </a:defRPr>
            </a:lvl6pPr>
            <a:lvl7pPr algn="l">
              <a:defRPr sz="2550" b="0">
                <a:solidFill>
                  <a:srgbClr val="147D78"/>
                </a:solidFill>
                <a:latin typeface="Segoe UI"/>
                <a:ea typeface="Segoe UI"/>
                <a:cs typeface="Segoe UI"/>
              </a:defRPr>
            </a:lvl7pPr>
            <a:lvl8pPr algn="l">
              <a:defRPr sz="2550" b="0">
                <a:solidFill>
                  <a:srgbClr val="147D78"/>
                </a:solidFill>
                <a:latin typeface="Segoe UI"/>
                <a:ea typeface="Segoe UI"/>
                <a:cs typeface="Segoe UI"/>
              </a:defRPr>
            </a:lvl8pPr>
            <a:lvl9pPr algn="l">
              <a:defRPr sz="2550" b="0">
                <a:solidFill>
                  <a:srgbClr val="147D78"/>
                </a:solidFill>
                <a:latin typeface="Segoe UI"/>
                <a:ea typeface="Segoe UI"/>
                <a:cs typeface="Segoe UI"/>
              </a:defRPr>
            </a:lvl9pPr>
          </a:lstStyle>
          <a:p xmlns:a="http://schemas.openxmlformats.org/drawingml/2006/main">
            <a:pPr algn="l">
              <a:defRPr sz="2550" b="0">
                <a:solidFill>
                  <a:srgbClr val="147D78"/>
                </a:solidFill>
                <a:latin typeface="Segoe UI"/>
                <a:ea typeface="Segoe UI"/>
                <a:cs typeface="Segoe UI"/>
              </a:defRPr>
            </a:pPr>
            <a:r>
              <a:rPr sz="2550" b="0">
                <a:solidFill>
                  <a:srgbClr val="147D78"/>
                </a:solidFill>
                <a:latin typeface="Segoe UI"/>
                <a:ea typeface="Segoe UI"/>
                <a:cs typeface="Segoe UI"/>
              </a:rPr>
              <a:t>kết hợp quy hoạch động</a:t>
            </a:r>
          </a:p>
        </p:txBody>
      </p:sp>
      <p:sp>
        <p:nvSpPr>
          <p:cNvPr id="8" name="Multiple Sequence Alignment">
            <a:extLst xmlns:a="http://schemas.openxmlformats.org/drawingml/2006/main">
              <a:ext uri="{FF2B5EF4-FFF2-40B4-BE49-F238E27FC236}">
                <a16:creationId xmlns:a16="http://schemas.microsoft.com/office/drawing/2014/main" id="{2A197969-DB6D-49C1-B31B-6B0019C0295B}"/>
              </a:ext>
            </a:extLst>
          </p:cNvPr>
          <p:cNvSpPr>
            <a:spLocks xmlns:a="http://schemas.openxmlformats.org/drawingml/2006/main" noGrp="1"/>
          </p:cNvSpPr>
          <p:nvPr/>
        </p:nvSpPr>
        <p:spPr>
          <a:xfrm xmlns:a="http://schemas.openxmlformats.org/drawingml/2006/main">
            <a:off x="762000" y="6191250"/>
            <a:ext cx="857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500" b="0">
                <a:solidFill>
                  <a:srgbClr val="61716F"/>
                </a:solidFill>
                <a:latin typeface="Segoe UI"/>
                <a:ea typeface="Segoe UI"/>
                <a:cs typeface="Segoe UI"/>
              </a:defRPr>
            </a:defPPr>
            <a:lvl1pPr algn="l">
              <a:defRPr sz="1500" b="0">
                <a:solidFill>
                  <a:srgbClr val="61716F"/>
                </a:solidFill>
                <a:latin typeface="Segoe UI"/>
                <a:ea typeface="Segoe UI"/>
                <a:cs typeface="Segoe UI"/>
              </a:defRPr>
            </a:lvl1pPr>
            <a:lvl2pPr algn="l">
              <a:defRPr sz="1500" b="0">
                <a:solidFill>
                  <a:srgbClr val="61716F"/>
                </a:solidFill>
                <a:latin typeface="Segoe UI"/>
                <a:ea typeface="Segoe UI"/>
                <a:cs typeface="Segoe UI"/>
              </a:defRPr>
            </a:lvl2pPr>
            <a:lvl3pPr algn="l">
              <a:defRPr sz="1500" b="0">
                <a:solidFill>
                  <a:srgbClr val="61716F"/>
                </a:solidFill>
                <a:latin typeface="Segoe UI"/>
                <a:ea typeface="Segoe UI"/>
                <a:cs typeface="Segoe UI"/>
              </a:defRPr>
            </a:lvl3pPr>
            <a:lvl4pPr algn="l">
              <a:defRPr sz="1500" b="0">
                <a:solidFill>
                  <a:srgbClr val="61716F"/>
                </a:solidFill>
                <a:latin typeface="Segoe UI"/>
                <a:ea typeface="Segoe UI"/>
                <a:cs typeface="Segoe UI"/>
              </a:defRPr>
            </a:lvl4pPr>
            <a:lvl5pPr algn="l">
              <a:defRPr sz="1500" b="0">
                <a:solidFill>
                  <a:srgbClr val="61716F"/>
                </a:solidFill>
                <a:latin typeface="Segoe UI"/>
                <a:ea typeface="Segoe UI"/>
                <a:cs typeface="Segoe UI"/>
              </a:defRPr>
            </a:lvl5pPr>
            <a:lvl6pPr algn="l">
              <a:defRPr sz="1500" b="0">
                <a:solidFill>
                  <a:srgbClr val="61716F"/>
                </a:solidFill>
                <a:latin typeface="Segoe UI"/>
                <a:ea typeface="Segoe UI"/>
                <a:cs typeface="Segoe UI"/>
              </a:defRPr>
            </a:lvl6pPr>
            <a:lvl7pPr algn="l">
              <a:defRPr sz="1500" b="0">
                <a:solidFill>
                  <a:srgbClr val="61716F"/>
                </a:solidFill>
                <a:latin typeface="Segoe UI"/>
                <a:ea typeface="Segoe UI"/>
                <a:cs typeface="Segoe UI"/>
              </a:defRPr>
            </a:lvl7pPr>
            <a:lvl8pPr algn="l">
              <a:defRPr sz="1500" b="0">
                <a:solidFill>
                  <a:srgbClr val="61716F"/>
                </a:solidFill>
                <a:latin typeface="Segoe UI"/>
                <a:ea typeface="Segoe UI"/>
                <a:cs typeface="Segoe UI"/>
              </a:defRPr>
            </a:lvl8pPr>
            <a:lvl9pPr algn="l">
              <a:defRPr sz="1500" b="0">
                <a:solidFill>
                  <a:srgbClr val="61716F"/>
                </a:solidFill>
                <a:latin typeface="Segoe UI"/>
                <a:ea typeface="Segoe UI"/>
                <a:cs typeface="Segoe UI"/>
              </a:defRPr>
            </a:lvl9pPr>
          </a:lstStyle>
          <a:p xmlns:a="http://schemas.openxmlformats.org/drawingml/2006/main">
            <a:pPr algn="l">
              <a:defRPr sz="1500" b="0">
                <a:solidFill>
                  <a:srgbClr val="61716F"/>
                </a:solidFill>
                <a:latin typeface="Segoe UI"/>
                <a:ea typeface="Segoe UI"/>
                <a:cs typeface="Segoe UI"/>
              </a:defRPr>
            </a:pPr>
            <a:r>
              <a:rPr sz="1500" b="0">
                <a:solidFill>
                  <a:srgbClr val="61716F"/>
                </a:solidFill>
                <a:latin typeface="Segoe UI"/>
                <a:ea typeface="Segoe UI"/>
                <a:cs typeface="Segoe UI"/>
              </a:rPr>
              <a:t>Multiple Sequence Alignment</a:t>
            </a:r>
          </a:p>
        </p:txBody>
      </p:sp>
    </p:spTree>
    <p:extLst>
      <p:ext uri="{BB962C8B-B14F-4D97-AF65-F5344CB8AC3E}">
        <p14:creationId xmlns:p14="http://schemas.microsoft.com/office/powerpoint/2010/main" val="157047985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02">
            <a:extLst xmlns:a="http://schemas.openxmlformats.org/drawingml/2006/main">
              <a:ext uri="{FF2B5EF4-FFF2-40B4-BE49-F238E27FC236}">
                <a16:creationId xmlns:a16="http://schemas.microsoft.com/office/drawing/2014/main" id="{02D8FC3A-9A99-4D47-A4E4-362D2AC620F9}"/>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02</a:t>
            </a:r>
          </a:p>
        </p:txBody>
      </p:sp>
      <p:sp>
        <p:nvSpPr>
          <p:cNvPr id="2" name="Chuỗi sinh học dưới góc nhìn tin học">
            <a:extLst xmlns:a="http://schemas.openxmlformats.org/drawingml/2006/main">
              <a:ext uri="{FF2B5EF4-FFF2-40B4-BE49-F238E27FC236}">
                <a16:creationId xmlns:a16="http://schemas.microsoft.com/office/drawing/2014/main" id="{CC0149F0-6503-4369-B439-CE492B860744}"/>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Chuỗi sinh học dưới góc nhìn tin học</a:t>
            </a:r>
          </a:p>
        </p:txBody>
      </p:sp>
      <p:sp>
        <p:nvSpPr>
          <p:cNvPr id="3" name="Mỗi ký tự biểu diễn một đơn vị cấu tạo của chuỗi">
            <a:extLst xmlns:a="http://schemas.openxmlformats.org/drawingml/2006/main">
              <a:ext uri="{FF2B5EF4-FFF2-40B4-BE49-F238E27FC236}">
                <a16:creationId xmlns:a16="http://schemas.microsoft.com/office/drawing/2014/main" id="{1E20295C-B9B1-4916-9951-18F3761AC6B0}"/>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Mỗi ký tự biểu diễn một đơn vị cấu tạo của chuỗi</a:t>
            </a:r>
          </a:p>
        </p:txBody>
      </p:sp>
      <p:sp>
        <p:nvSpPr>
          <p:cNvPr id="4" name="ADN">
            <a:extLst xmlns:a="http://schemas.openxmlformats.org/drawingml/2006/main">
              <a:ext uri="{FF2B5EF4-FFF2-40B4-BE49-F238E27FC236}">
                <a16:creationId xmlns:a16="http://schemas.microsoft.com/office/drawing/2014/main" id="{00798F94-383C-4428-A752-FEA04E6F80B2}"/>
              </a:ext>
            </a:extLst>
          </p:cNvPr>
          <p:cNvSpPr>
            <a:spLocks xmlns:a="http://schemas.openxmlformats.org/drawingml/2006/main" noGrp="1"/>
          </p:cNvSpPr>
          <p:nvPr/>
        </p:nvSpPr>
        <p:spPr>
          <a:xfrm xmlns:a="http://schemas.openxmlformats.org/drawingml/2006/main">
            <a:off x="762000" y="24098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7D78"/>
                </a:solidFill>
                <a:latin typeface="Segoe UI"/>
                <a:ea typeface="Segoe UI"/>
                <a:cs typeface="Segoe UI"/>
              </a:defRPr>
            </a:defPPr>
            <a:lvl1pPr algn="l">
              <a:defRPr sz="3825" b="1">
                <a:solidFill>
                  <a:srgbClr val="147D78"/>
                </a:solidFill>
                <a:latin typeface="Segoe UI"/>
                <a:ea typeface="Segoe UI"/>
                <a:cs typeface="Segoe UI"/>
              </a:defRPr>
            </a:lvl1pPr>
            <a:lvl2pPr algn="l">
              <a:defRPr sz="3825" b="1">
                <a:solidFill>
                  <a:srgbClr val="147D78"/>
                </a:solidFill>
                <a:latin typeface="Segoe UI"/>
                <a:ea typeface="Segoe UI"/>
                <a:cs typeface="Segoe UI"/>
              </a:defRPr>
            </a:lvl2pPr>
            <a:lvl3pPr algn="l">
              <a:defRPr sz="3825" b="1">
                <a:solidFill>
                  <a:srgbClr val="147D78"/>
                </a:solidFill>
                <a:latin typeface="Segoe UI"/>
                <a:ea typeface="Segoe UI"/>
                <a:cs typeface="Segoe UI"/>
              </a:defRPr>
            </a:lvl3pPr>
            <a:lvl4pPr algn="l">
              <a:defRPr sz="3825" b="1">
                <a:solidFill>
                  <a:srgbClr val="147D78"/>
                </a:solidFill>
                <a:latin typeface="Segoe UI"/>
                <a:ea typeface="Segoe UI"/>
                <a:cs typeface="Segoe UI"/>
              </a:defRPr>
            </a:lvl4pPr>
            <a:lvl5pPr algn="l">
              <a:defRPr sz="3825" b="1">
                <a:solidFill>
                  <a:srgbClr val="147D78"/>
                </a:solidFill>
                <a:latin typeface="Segoe UI"/>
                <a:ea typeface="Segoe UI"/>
                <a:cs typeface="Segoe UI"/>
              </a:defRPr>
            </a:lvl5pPr>
            <a:lvl6pPr algn="l">
              <a:defRPr sz="3825" b="1">
                <a:solidFill>
                  <a:srgbClr val="147D78"/>
                </a:solidFill>
                <a:latin typeface="Segoe UI"/>
                <a:ea typeface="Segoe UI"/>
                <a:cs typeface="Segoe UI"/>
              </a:defRPr>
            </a:lvl6pPr>
            <a:lvl7pPr algn="l">
              <a:defRPr sz="3825" b="1">
                <a:solidFill>
                  <a:srgbClr val="147D78"/>
                </a:solidFill>
                <a:latin typeface="Segoe UI"/>
                <a:ea typeface="Segoe UI"/>
                <a:cs typeface="Segoe UI"/>
              </a:defRPr>
            </a:lvl7pPr>
            <a:lvl8pPr algn="l">
              <a:defRPr sz="3825" b="1">
                <a:solidFill>
                  <a:srgbClr val="147D78"/>
                </a:solidFill>
                <a:latin typeface="Segoe UI"/>
                <a:ea typeface="Segoe UI"/>
                <a:cs typeface="Segoe UI"/>
              </a:defRPr>
            </a:lvl8pPr>
            <a:lvl9pPr algn="l">
              <a:defRPr sz="3825" b="1">
                <a:solidFill>
                  <a:srgbClr val="147D78"/>
                </a:solidFill>
                <a:latin typeface="Segoe UI"/>
                <a:ea typeface="Segoe UI"/>
                <a:cs typeface="Segoe UI"/>
              </a:defRPr>
            </a:lvl9pPr>
          </a:lstStyle>
          <a:p xmlns:a="http://schemas.openxmlformats.org/drawingml/2006/main">
            <a:pPr algn="l">
              <a:defRPr sz="3825" b="1">
                <a:solidFill>
                  <a:srgbClr val="147D78"/>
                </a:solidFill>
                <a:latin typeface="Segoe UI"/>
                <a:ea typeface="Segoe UI"/>
                <a:cs typeface="Segoe UI"/>
              </a:defRPr>
            </a:pPr>
            <a:r>
              <a:rPr sz="3825" b="1">
                <a:solidFill>
                  <a:srgbClr val="147D78"/>
                </a:solidFill>
                <a:latin typeface="Segoe UI"/>
                <a:ea typeface="Segoe UI"/>
                <a:cs typeface="Segoe UI"/>
              </a:rPr>
              <a:t>ADN</a:t>
            </a:r>
          </a:p>
        </p:txBody>
      </p:sp>
      <p:sp>
        <p:nvSpPr>
          <p:cNvPr id="5" name="Protein">
            <a:extLst xmlns:a="http://schemas.openxmlformats.org/drawingml/2006/main">
              <a:ext uri="{FF2B5EF4-FFF2-40B4-BE49-F238E27FC236}">
                <a16:creationId xmlns:a16="http://schemas.microsoft.com/office/drawing/2014/main" id="{5440946C-55F3-43B2-8F6B-4C81A5682C04}"/>
              </a:ext>
            </a:extLst>
          </p:cNvPr>
          <p:cNvSpPr>
            <a:spLocks xmlns:a="http://schemas.openxmlformats.org/drawingml/2006/main" noGrp="1"/>
          </p:cNvSpPr>
          <p:nvPr/>
        </p:nvSpPr>
        <p:spPr>
          <a:xfrm xmlns:a="http://schemas.openxmlformats.org/drawingml/2006/main">
            <a:off x="6572250" y="2409825"/>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7D78"/>
                </a:solidFill>
                <a:latin typeface="Segoe UI"/>
                <a:ea typeface="Segoe UI"/>
                <a:cs typeface="Segoe UI"/>
              </a:defRPr>
            </a:defPPr>
            <a:lvl1pPr algn="l">
              <a:defRPr sz="3825" b="1">
                <a:solidFill>
                  <a:srgbClr val="147D78"/>
                </a:solidFill>
                <a:latin typeface="Segoe UI"/>
                <a:ea typeface="Segoe UI"/>
                <a:cs typeface="Segoe UI"/>
              </a:defRPr>
            </a:lvl1pPr>
            <a:lvl2pPr algn="l">
              <a:defRPr sz="3825" b="1">
                <a:solidFill>
                  <a:srgbClr val="147D78"/>
                </a:solidFill>
                <a:latin typeface="Segoe UI"/>
                <a:ea typeface="Segoe UI"/>
                <a:cs typeface="Segoe UI"/>
              </a:defRPr>
            </a:lvl2pPr>
            <a:lvl3pPr algn="l">
              <a:defRPr sz="3825" b="1">
                <a:solidFill>
                  <a:srgbClr val="147D78"/>
                </a:solidFill>
                <a:latin typeface="Segoe UI"/>
                <a:ea typeface="Segoe UI"/>
                <a:cs typeface="Segoe UI"/>
              </a:defRPr>
            </a:lvl3pPr>
            <a:lvl4pPr algn="l">
              <a:defRPr sz="3825" b="1">
                <a:solidFill>
                  <a:srgbClr val="147D78"/>
                </a:solidFill>
                <a:latin typeface="Segoe UI"/>
                <a:ea typeface="Segoe UI"/>
                <a:cs typeface="Segoe UI"/>
              </a:defRPr>
            </a:lvl4pPr>
            <a:lvl5pPr algn="l">
              <a:defRPr sz="3825" b="1">
                <a:solidFill>
                  <a:srgbClr val="147D78"/>
                </a:solidFill>
                <a:latin typeface="Segoe UI"/>
                <a:ea typeface="Segoe UI"/>
                <a:cs typeface="Segoe UI"/>
              </a:defRPr>
            </a:lvl5pPr>
            <a:lvl6pPr algn="l">
              <a:defRPr sz="3825" b="1">
                <a:solidFill>
                  <a:srgbClr val="147D78"/>
                </a:solidFill>
                <a:latin typeface="Segoe UI"/>
                <a:ea typeface="Segoe UI"/>
                <a:cs typeface="Segoe UI"/>
              </a:defRPr>
            </a:lvl6pPr>
            <a:lvl7pPr algn="l">
              <a:defRPr sz="3825" b="1">
                <a:solidFill>
                  <a:srgbClr val="147D78"/>
                </a:solidFill>
                <a:latin typeface="Segoe UI"/>
                <a:ea typeface="Segoe UI"/>
                <a:cs typeface="Segoe UI"/>
              </a:defRPr>
            </a:lvl7pPr>
            <a:lvl8pPr algn="l">
              <a:defRPr sz="3825" b="1">
                <a:solidFill>
                  <a:srgbClr val="147D78"/>
                </a:solidFill>
                <a:latin typeface="Segoe UI"/>
                <a:ea typeface="Segoe UI"/>
                <a:cs typeface="Segoe UI"/>
              </a:defRPr>
            </a:lvl8pPr>
            <a:lvl9pPr algn="l">
              <a:defRPr sz="3825" b="1">
                <a:solidFill>
                  <a:srgbClr val="147D78"/>
                </a:solidFill>
                <a:latin typeface="Segoe UI"/>
                <a:ea typeface="Segoe UI"/>
                <a:cs typeface="Segoe UI"/>
              </a:defRPr>
            </a:lvl9pPr>
          </a:lstStyle>
          <a:p xmlns:a="http://schemas.openxmlformats.org/drawingml/2006/main">
            <a:pPr algn="l">
              <a:defRPr sz="3825" b="1">
                <a:solidFill>
                  <a:srgbClr val="147D78"/>
                </a:solidFill>
                <a:latin typeface="Segoe UI"/>
                <a:ea typeface="Segoe UI"/>
                <a:cs typeface="Segoe UI"/>
              </a:defRPr>
            </a:pPr>
            <a:r>
              <a:rPr sz="3825" b="1">
                <a:solidFill>
                  <a:srgbClr val="147D78"/>
                </a:solidFill>
                <a:latin typeface="Segoe UI"/>
                <a:ea typeface="Segoe UI"/>
                <a:cs typeface="Segoe UI"/>
              </a:rPr>
              <a:t>Protein</a:t>
            </a:r>
          </a:p>
        </p:txBody>
      </p:sp>
      <p:sp>
        <p:nvSpPr>
          <p:cNvPr id="6" name="A  C  G  T">
            <a:extLst xmlns:a="http://schemas.openxmlformats.org/drawingml/2006/main">
              <a:ext uri="{FF2B5EF4-FFF2-40B4-BE49-F238E27FC236}">
                <a16:creationId xmlns:a16="http://schemas.microsoft.com/office/drawing/2014/main" id="{3E96876F-EC0A-436A-BE00-406A50707755}"/>
              </a:ext>
            </a:extLst>
          </p:cNvPr>
          <p:cNvSpPr>
            <a:spLocks xmlns:a="http://schemas.openxmlformats.org/drawingml/2006/main" noGrp="1"/>
          </p:cNvSpPr>
          <p:nvPr/>
        </p:nvSpPr>
        <p:spPr>
          <a:xfrm xmlns:a="http://schemas.openxmlformats.org/drawingml/2006/main">
            <a:off x="762000" y="33147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225" b="1">
                <a:solidFill>
                  <a:srgbClr val="142D3B"/>
                </a:solidFill>
                <a:latin typeface="Consolas"/>
                <a:ea typeface="Consolas"/>
                <a:cs typeface="Consolas"/>
              </a:defRPr>
            </a:defPPr>
            <a:lvl1pPr algn="l">
              <a:defRPr sz="3225" b="1">
                <a:solidFill>
                  <a:srgbClr val="142D3B"/>
                </a:solidFill>
                <a:latin typeface="Consolas"/>
                <a:ea typeface="Consolas"/>
                <a:cs typeface="Consolas"/>
              </a:defRPr>
            </a:lvl1pPr>
            <a:lvl2pPr algn="l">
              <a:defRPr sz="3225" b="1">
                <a:solidFill>
                  <a:srgbClr val="142D3B"/>
                </a:solidFill>
                <a:latin typeface="Consolas"/>
                <a:ea typeface="Consolas"/>
                <a:cs typeface="Consolas"/>
              </a:defRPr>
            </a:lvl2pPr>
            <a:lvl3pPr algn="l">
              <a:defRPr sz="3225" b="1">
                <a:solidFill>
                  <a:srgbClr val="142D3B"/>
                </a:solidFill>
                <a:latin typeface="Consolas"/>
                <a:ea typeface="Consolas"/>
                <a:cs typeface="Consolas"/>
              </a:defRPr>
            </a:lvl3pPr>
            <a:lvl4pPr algn="l">
              <a:defRPr sz="3225" b="1">
                <a:solidFill>
                  <a:srgbClr val="142D3B"/>
                </a:solidFill>
                <a:latin typeface="Consolas"/>
                <a:ea typeface="Consolas"/>
                <a:cs typeface="Consolas"/>
              </a:defRPr>
            </a:lvl4pPr>
            <a:lvl5pPr algn="l">
              <a:defRPr sz="3225" b="1">
                <a:solidFill>
                  <a:srgbClr val="142D3B"/>
                </a:solidFill>
                <a:latin typeface="Consolas"/>
                <a:ea typeface="Consolas"/>
                <a:cs typeface="Consolas"/>
              </a:defRPr>
            </a:lvl5pPr>
            <a:lvl6pPr algn="l">
              <a:defRPr sz="3225" b="1">
                <a:solidFill>
                  <a:srgbClr val="142D3B"/>
                </a:solidFill>
                <a:latin typeface="Consolas"/>
                <a:ea typeface="Consolas"/>
                <a:cs typeface="Consolas"/>
              </a:defRPr>
            </a:lvl6pPr>
            <a:lvl7pPr algn="l">
              <a:defRPr sz="3225" b="1">
                <a:solidFill>
                  <a:srgbClr val="142D3B"/>
                </a:solidFill>
                <a:latin typeface="Consolas"/>
                <a:ea typeface="Consolas"/>
                <a:cs typeface="Consolas"/>
              </a:defRPr>
            </a:lvl7pPr>
            <a:lvl8pPr algn="l">
              <a:defRPr sz="3225" b="1">
                <a:solidFill>
                  <a:srgbClr val="142D3B"/>
                </a:solidFill>
                <a:latin typeface="Consolas"/>
                <a:ea typeface="Consolas"/>
                <a:cs typeface="Consolas"/>
              </a:defRPr>
            </a:lvl8pPr>
            <a:lvl9pPr algn="l">
              <a:defRPr sz="3225" b="1">
                <a:solidFill>
                  <a:srgbClr val="142D3B"/>
                </a:solidFill>
                <a:latin typeface="Consolas"/>
                <a:ea typeface="Consolas"/>
                <a:cs typeface="Consolas"/>
              </a:defRPr>
            </a:lvl9pPr>
          </a:lstStyle>
          <a:p xmlns:a="http://schemas.openxmlformats.org/drawingml/2006/main">
            <a:pPr algn="l">
              <a:defRPr sz="3225" b="1">
                <a:solidFill>
                  <a:srgbClr val="142D3B"/>
                </a:solidFill>
                <a:latin typeface="Consolas"/>
                <a:ea typeface="Consolas"/>
                <a:cs typeface="Consolas"/>
              </a:defRPr>
            </a:pPr>
            <a:r>
              <a:rPr sz="3225" b="1">
                <a:solidFill>
                  <a:srgbClr val="142D3B"/>
                </a:solidFill>
                <a:latin typeface="Consolas"/>
                <a:ea typeface="Consolas"/>
                <a:cs typeface="Consolas"/>
              </a:rPr>
              <a:t>A  C  G  T</a:t>
            </a:r>
          </a:p>
        </p:txBody>
      </p:sp>
      <p:sp>
        <p:nvSpPr>
          <p:cNvPr id="7" name="M  A  L  W  K  V">
            <a:extLst xmlns:a="http://schemas.openxmlformats.org/drawingml/2006/main">
              <a:ext uri="{FF2B5EF4-FFF2-40B4-BE49-F238E27FC236}">
                <a16:creationId xmlns:a16="http://schemas.microsoft.com/office/drawing/2014/main" id="{D3667B21-C7A5-4C9C-BB4D-31B508DE242F}"/>
              </a:ext>
            </a:extLst>
          </p:cNvPr>
          <p:cNvSpPr>
            <a:spLocks xmlns:a="http://schemas.openxmlformats.org/drawingml/2006/main" noGrp="1"/>
          </p:cNvSpPr>
          <p:nvPr/>
        </p:nvSpPr>
        <p:spPr>
          <a:xfrm xmlns:a="http://schemas.openxmlformats.org/drawingml/2006/main">
            <a:off x="6572250" y="33147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225" b="1">
                <a:solidFill>
                  <a:srgbClr val="142D3B"/>
                </a:solidFill>
                <a:latin typeface="Consolas"/>
                <a:ea typeface="Consolas"/>
                <a:cs typeface="Consolas"/>
              </a:defRPr>
            </a:defPPr>
            <a:lvl1pPr algn="l">
              <a:defRPr sz="3225" b="1">
                <a:solidFill>
                  <a:srgbClr val="142D3B"/>
                </a:solidFill>
                <a:latin typeface="Consolas"/>
                <a:ea typeface="Consolas"/>
                <a:cs typeface="Consolas"/>
              </a:defRPr>
            </a:lvl1pPr>
            <a:lvl2pPr algn="l">
              <a:defRPr sz="3225" b="1">
                <a:solidFill>
                  <a:srgbClr val="142D3B"/>
                </a:solidFill>
                <a:latin typeface="Consolas"/>
                <a:ea typeface="Consolas"/>
                <a:cs typeface="Consolas"/>
              </a:defRPr>
            </a:lvl2pPr>
            <a:lvl3pPr algn="l">
              <a:defRPr sz="3225" b="1">
                <a:solidFill>
                  <a:srgbClr val="142D3B"/>
                </a:solidFill>
                <a:latin typeface="Consolas"/>
                <a:ea typeface="Consolas"/>
                <a:cs typeface="Consolas"/>
              </a:defRPr>
            </a:lvl3pPr>
            <a:lvl4pPr algn="l">
              <a:defRPr sz="3225" b="1">
                <a:solidFill>
                  <a:srgbClr val="142D3B"/>
                </a:solidFill>
                <a:latin typeface="Consolas"/>
                <a:ea typeface="Consolas"/>
                <a:cs typeface="Consolas"/>
              </a:defRPr>
            </a:lvl4pPr>
            <a:lvl5pPr algn="l">
              <a:defRPr sz="3225" b="1">
                <a:solidFill>
                  <a:srgbClr val="142D3B"/>
                </a:solidFill>
                <a:latin typeface="Consolas"/>
                <a:ea typeface="Consolas"/>
                <a:cs typeface="Consolas"/>
              </a:defRPr>
            </a:lvl5pPr>
            <a:lvl6pPr algn="l">
              <a:defRPr sz="3225" b="1">
                <a:solidFill>
                  <a:srgbClr val="142D3B"/>
                </a:solidFill>
                <a:latin typeface="Consolas"/>
                <a:ea typeface="Consolas"/>
                <a:cs typeface="Consolas"/>
              </a:defRPr>
            </a:lvl6pPr>
            <a:lvl7pPr algn="l">
              <a:defRPr sz="3225" b="1">
                <a:solidFill>
                  <a:srgbClr val="142D3B"/>
                </a:solidFill>
                <a:latin typeface="Consolas"/>
                <a:ea typeface="Consolas"/>
                <a:cs typeface="Consolas"/>
              </a:defRPr>
            </a:lvl7pPr>
            <a:lvl8pPr algn="l">
              <a:defRPr sz="3225" b="1">
                <a:solidFill>
                  <a:srgbClr val="142D3B"/>
                </a:solidFill>
                <a:latin typeface="Consolas"/>
                <a:ea typeface="Consolas"/>
                <a:cs typeface="Consolas"/>
              </a:defRPr>
            </a:lvl8pPr>
            <a:lvl9pPr algn="l">
              <a:defRPr sz="3225" b="1">
                <a:solidFill>
                  <a:srgbClr val="142D3B"/>
                </a:solidFill>
                <a:latin typeface="Consolas"/>
                <a:ea typeface="Consolas"/>
                <a:cs typeface="Consolas"/>
              </a:defRPr>
            </a:lvl9pPr>
          </a:lstStyle>
          <a:p xmlns:a="http://schemas.openxmlformats.org/drawingml/2006/main">
            <a:pPr algn="l">
              <a:defRPr sz="3225" b="1">
                <a:solidFill>
                  <a:srgbClr val="142D3B"/>
                </a:solidFill>
                <a:latin typeface="Consolas"/>
                <a:ea typeface="Consolas"/>
                <a:cs typeface="Consolas"/>
              </a:defRPr>
            </a:pPr>
            <a:r>
              <a:rPr sz="3225" b="1">
                <a:solidFill>
                  <a:srgbClr val="142D3B"/>
                </a:solidFill>
                <a:latin typeface="Consolas"/>
                <a:ea typeface="Consolas"/>
                <a:cs typeface="Consolas"/>
              </a:rPr>
              <a:t>M  A  L  W  K  V</a:t>
            </a:r>
          </a:p>
        </p:txBody>
      </p:sp>
      <p:sp>
        <p:nvSpPr>
          <p:cNvPr id="8" name="4 loại nucleotide">
            <a:extLst xmlns:a="http://schemas.openxmlformats.org/drawingml/2006/main">
              <a:ext uri="{FF2B5EF4-FFF2-40B4-BE49-F238E27FC236}">
                <a16:creationId xmlns:a16="http://schemas.microsoft.com/office/drawing/2014/main" id="{E3E617AF-C505-47D0-94E9-A3EC5C0FC5E4}"/>
              </a:ext>
            </a:extLst>
          </p:cNvPr>
          <p:cNvSpPr>
            <a:spLocks xmlns:a="http://schemas.openxmlformats.org/drawingml/2006/main" noGrp="1"/>
          </p:cNvSpPr>
          <p:nvPr/>
        </p:nvSpPr>
        <p:spPr>
          <a:xfrm xmlns:a="http://schemas.openxmlformats.org/drawingml/2006/main">
            <a:off x="762000" y="42291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4 loại nucleotide</a:t>
            </a:r>
          </a:p>
        </p:txBody>
      </p:sp>
      <p:sp>
        <p:nvSpPr>
          <p:cNvPr id="9" name="Lưu trữ thông tin di truyền">
            <a:extLst xmlns:a="http://schemas.openxmlformats.org/drawingml/2006/main">
              <a:ext uri="{FF2B5EF4-FFF2-40B4-BE49-F238E27FC236}">
                <a16:creationId xmlns:a16="http://schemas.microsoft.com/office/drawing/2014/main" id="{47FF81D5-DF7F-4682-BF37-25EF03CEEA09}"/>
              </a:ext>
            </a:extLst>
          </p:cNvPr>
          <p:cNvSpPr>
            <a:spLocks xmlns:a="http://schemas.openxmlformats.org/drawingml/2006/main" noGrp="1"/>
          </p:cNvSpPr>
          <p:nvPr/>
        </p:nvSpPr>
        <p:spPr>
          <a:xfrm xmlns:a="http://schemas.openxmlformats.org/drawingml/2006/main">
            <a:off x="762000" y="46482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Lưu trữ thông tin di truyền</a:t>
            </a:r>
          </a:p>
        </p:txBody>
      </p:sp>
      <p:sp>
        <p:nvSpPr>
          <p:cNvPr id="10" name="20 loại amino acid tiêu chuẩn">
            <a:extLst xmlns:a="http://schemas.openxmlformats.org/drawingml/2006/main">
              <a:ext uri="{FF2B5EF4-FFF2-40B4-BE49-F238E27FC236}">
                <a16:creationId xmlns:a16="http://schemas.microsoft.com/office/drawing/2014/main" id="{6BA35330-4D8D-407C-AB51-7CC7C22491F3}"/>
              </a:ext>
            </a:extLst>
          </p:cNvPr>
          <p:cNvSpPr>
            <a:spLocks xmlns:a="http://schemas.openxmlformats.org/drawingml/2006/main" noGrp="1"/>
          </p:cNvSpPr>
          <p:nvPr/>
        </p:nvSpPr>
        <p:spPr>
          <a:xfrm xmlns:a="http://schemas.openxmlformats.org/drawingml/2006/main">
            <a:off x="6572250" y="42291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20 loại amino acid tiêu chuẩn</a:t>
            </a:r>
          </a:p>
        </p:txBody>
      </p:sp>
      <p:sp>
        <p:nvSpPr>
          <p:cNvPr id="11" name="Có thể so sánh bằng BLOSUM62">
            <a:extLst xmlns:a="http://schemas.openxmlformats.org/drawingml/2006/main">
              <a:ext uri="{FF2B5EF4-FFF2-40B4-BE49-F238E27FC236}">
                <a16:creationId xmlns:a16="http://schemas.microsoft.com/office/drawing/2014/main" id="{D85BD982-5592-4F72-A528-B7377301C133}"/>
              </a:ext>
            </a:extLst>
          </p:cNvPr>
          <p:cNvSpPr>
            <a:spLocks xmlns:a="http://schemas.openxmlformats.org/drawingml/2006/main" noGrp="1"/>
          </p:cNvSpPr>
          <p:nvPr/>
        </p:nvSpPr>
        <p:spPr>
          <a:xfrm xmlns:a="http://schemas.openxmlformats.org/drawingml/2006/main">
            <a:off x="6572250" y="46482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Có thể so sánh bằng BLOSUM62</a:t>
            </a:r>
          </a:p>
        </p:txBody>
      </p:sp>
      <p:sp>
        <p:nvSpPr>
          <p:cNvPr id="12" name="Căn chỉnh giúp nhận ra các vị trí tương ứng giữa các chuỗi">
            <a:extLst xmlns:a="http://schemas.openxmlformats.org/drawingml/2006/main">
              <a:ext uri="{FF2B5EF4-FFF2-40B4-BE49-F238E27FC236}">
                <a16:creationId xmlns:a16="http://schemas.microsoft.com/office/drawing/2014/main" id="{EFBD7588-3B38-4EAA-80EF-CB8045E15177}"/>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Căn chỉnh giúp nhận ra các vị trí tương ứng giữa các chuỗi</a:t>
            </a:r>
          </a:p>
        </p:txBody>
      </p:sp>
    </p:spTree>
    <p:extLst>
      <p:ext uri="{BB962C8B-B14F-4D97-AF65-F5344CB8AC3E}">
        <p14:creationId xmlns:p14="http://schemas.microsoft.com/office/powerpoint/2010/main" val="412956341"/>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03">
            <a:extLst xmlns:a="http://schemas.openxmlformats.org/drawingml/2006/main">
              <a:ext uri="{FF2B5EF4-FFF2-40B4-BE49-F238E27FC236}">
                <a16:creationId xmlns:a16="http://schemas.microsoft.com/office/drawing/2014/main" id="{28AC1AB7-DCDD-415F-A458-6E59E6BB925B}"/>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03</a:t>
            </a:r>
          </a:p>
        </p:txBody>
      </p:sp>
      <p:sp>
        <p:nvSpPr>
          <p:cNvPr id="2" name="Căn chỉnh chuỗi ADN">
            <a:extLst xmlns:a="http://schemas.openxmlformats.org/drawingml/2006/main">
              <a:ext uri="{FF2B5EF4-FFF2-40B4-BE49-F238E27FC236}">
                <a16:creationId xmlns:a16="http://schemas.microsoft.com/office/drawing/2014/main" id="{417383E0-E919-432A-8DF2-6DECC01C766A}"/>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Căn chỉnh chuỗi ADN</a:t>
            </a:r>
          </a:p>
        </p:txBody>
      </p:sp>
      <p:sp>
        <p:nvSpPr>
          <p:cNvPr id="3" name="Thêm khoảng trống để so sánh các vị trí tương ứng">
            <a:extLst xmlns:a="http://schemas.openxmlformats.org/drawingml/2006/main">
              <a:ext uri="{FF2B5EF4-FFF2-40B4-BE49-F238E27FC236}">
                <a16:creationId xmlns:a16="http://schemas.microsoft.com/office/drawing/2014/main" id="{06C84AFA-8BAE-4451-BE2C-7D86D6306E05}"/>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Thêm khoảng trống để so sánh các vị trí tương ứng</a:t>
            </a:r>
          </a:p>
        </p:txBody>
      </p:sp>
      <p:sp>
        <p:nvSpPr>
          <p:cNvPr id="4" name="Đầu vào">
            <a:extLst xmlns:a="http://schemas.openxmlformats.org/drawingml/2006/main">
              <a:ext uri="{FF2B5EF4-FFF2-40B4-BE49-F238E27FC236}">
                <a16:creationId xmlns:a16="http://schemas.microsoft.com/office/drawing/2014/main" id="{0D3159B3-806D-49CF-ACAE-0361133E9570}"/>
              </a:ext>
            </a:extLst>
          </p:cNvPr>
          <p:cNvSpPr>
            <a:spLocks xmlns:a="http://schemas.openxmlformats.org/drawingml/2006/main" noGrp="1"/>
          </p:cNvSpPr>
          <p:nvPr/>
        </p:nvSpPr>
        <p:spPr>
          <a:xfrm xmlns:a="http://schemas.openxmlformats.org/drawingml/2006/main">
            <a:off x="762000" y="23622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1">
                <a:solidFill>
                  <a:srgbClr val="147D78"/>
                </a:solidFill>
                <a:latin typeface="Segoe UI"/>
                <a:ea typeface="Segoe UI"/>
                <a:cs typeface="Segoe UI"/>
              </a:defRPr>
            </a:defPPr>
            <a:lvl1pPr algn="l">
              <a:defRPr sz="1950" b="1">
                <a:solidFill>
                  <a:srgbClr val="147D78"/>
                </a:solidFill>
                <a:latin typeface="Segoe UI"/>
                <a:ea typeface="Segoe UI"/>
                <a:cs typeface="Segoe UI"/>
              </a:defRPr>
            </a:lvl1pPr>
            <a:lvl2pPr algn="l">
              <a:defRPr sz="1950" b="1">
                <a:solidFill>
                  <a:srgbClr val="147D78"/>
                </a:solidFill>
                <a:latin typeface="Segoe UI"/>
                <a:ea typeface="Segoe UI"/>
                <a:cs typeface="Segoe UI"/>
              </a:defRPr>
            </a:lvl2pPr>
            <a:lvl3pPr algn="l">
              <a:defRPr sz="1950" b="1">
                <a:solidFill>
                  <a:srgbClr val="147D78"/>
                </a:solidFill>
                <a:latin typeface="Segoe UI"/>
                <a:ea typeface="Segoe UI"/>
                <a:cs typeface="Segoe UI"/>
              </a:defRPr>
            </a:lvl3pPr>
            <a:lvl4pPr algn="l">
              <a:defRPr sz="1950" b="1">
                <a:solidFill>
                  <a:srgbClr val="147D78"/>
                </a:solidFill>
                <a:latin typeface="Segoe UI"/>
                <a:ea typeface="Segoe UI"/>
                <a:cs typeface="Segoe UI"/>
              </a:defRPr>
            </a:lvl4pPr>
            <a:lvl5pPr algn="l">
              <a:defRPr sz="1950" b="1">
                <a:solidFill>
                  <a:srgbClr val="147D78"/>
                </a:solidFill>
                <a:latin typeface="Segoe UI"/>
                <a:ea typeface="Segoe UI"/>
                <a:cs typeface="Segoe UI"/>
              </a:defRPr>
            </a:lvl5pPr>
            <a:lvl6pPr algn="l">
              <a:defRPr sz="1950" b="1">
                <a:solidFill>
                  <a:srgbClr val="147D78"/>
                </a:solidFill>
                <a:latin typeface="Segoe UI"/>
                <a:ea typeface="Segoe UI"/>
                <a:cs typeface="Segoe UI"/>
              </a:defRPr>
            </a:lvl6pPr>
            <a:lvl7pPr algn="l">
              <a:defRPr sz="1950" b="1">
                <a:solidFill>
                  <a:srgbClr val="147D78"/>
                </a:solidFill>
                <a:latin typeface="Segoe UI"/>
                <a:ea typeface="Segoe UI"/>
                <a:cs typeface="Segoe UI"/>
              </a:defRPr>
            </a:lvl7pPr>
            <a:lvl8pPr algn="l">
              <a:defRPr sz="1950" b="1">
                <a:solidFill>
                  <a:srgbClr val="147D78"/>
                </a:solidFill>
                <a:latin typeface="Segoe UI"/>
                <a:ea typeface="Segoe UI"/>
                <a:cs typeface="Segoe UI"/>
              </a:defRPr>
            </a:lvl8pPr>
            <a:lvl9pPr algn="l">
              <a:defRPr sz="1950" b="1">
                <a:solidFill>
                  <a:srgbClr val="147D78"/>
                </a:solidFill>
                <a:latin typeface="Segoe UI"/>
                <a:ea typeface="Segoe UI"/>
                <a:cs typeface="Segoe UI"/>
              </a:defRPr>
            </a:lvl9pPr>
          </a:lstStyle>
          <a:p xmlns:a="http://schemas.openxmlformats.org/drawingml/2006/main">
            <a:pPr algn="l">
              <a:defRPr sz="1950" b="1">
                <a:solidFill>
                  <a:srgbClr val="147D78"/>
                </a:solidFill>
                <a:latin typeface="Segoe UI"/>
                <a:ea typeface="Segoe UI"/>
                <a:cs typeface="Segoe UI"/>
              </a:defRPr>
            </a:pPr>
            <a:r>
              <a:rPr sz="1950" b="1">
                <a:solidFill>
                  <a:srgbClr val="147D78"/>
                </a:solidFill>
                <a:latin typeface="Segoe UI"/>
                <a:ea typeface="Segoe UI"/>
                <a:cs typeface="Segoe UI"/>
              </a:rPr>
              <a:t>Đầu vào</a:t>
            </a:r>
          </a:p>
        </p:txBody>
      </p:sp>
      <p:sp>
        <p:nvSpPr>
          <p:cNvPr id="5" name="Một phương án căn chỉnh">
            <a:extLst xmlns:a="http://schemas.openxmlformats.org/drawingml/2006/main">
              <a:ext uri="{FF2B5EF4-FFF2-40B4-BE49-F238E27FC236}">
                <a16:creationId xmlns:a16="http://schemas.microsoft.com/office/drawing/2014/main" id="{35A62D4F-5170-4CDD-8A0E-1338C241424D}"/>
              </a:ext>
            </a:extLst>
          </p:cNvPr>
          <p:cNvSpPr>
            <a:spLocks xmlns:a="http://schemas.openxmlformats.org/drawingml/2006/main" noGrp="1"/>
          </p:cNvSpPr>
          <p:nvPr/>
        </p:nvSpPr>
        <p:spPr>
          <a:xfrm xmlns:a="http://schemas.openxmlformats.org/drawingml/2006/main">
            <a:off x="6191250" y="23622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1">
                <a:solidFill>
                  <a:srgbClr val="147D78"/>
                </a:solidFill>
                <a:latin typeface="Segoe UI"/>
                <a:ea typeface="Segoe UI"/>
                <a:cs typeface="Segoe UI"/>
              </a:defRPr>
            </a:defPPr>
            <a:lvl1pPr algn="l">
              <a:defRPr sz="1950" b="1">
                <a:solidFill>
                  <a:srgbClr val="147D78"/>
                </a:solidFill>
                <a:latin typeface="Segoe UI"/>
                <a:ea typeface="Segoe UI"/>
                <a:cs typeface="Segoe UI"/>
              </a:defRPr>
            </a:lvl1pPr>
            <a:lvl2pPr algn="l">
              <a:defRPr sz="1950" b="1">
                <a:solidFill>
                  <a:srgbClr val="147D78"/>
                </a:solidFill>
                <a:latin typeface="Segoe UI"/>
                <a:ea typeface="Segoe UI"/>
                <a:cs typeface="Segoe UI"/>
              </a:defRPr>
            </a:lvl2pPr>
            <a:lvl3pPr algn="l">
              <a:defRPr sz="1950" b="1">
                <a:solidFill>
                  <a:srgbClr val="147D78"/>
                </a:solidFill>
                <a:latin typeface="Segoe UI"/>
                <a:ea typeface="Segoe UI"/>
                <a:cs typeface="Segoe UI"/>
              </a:defRPr>
            </a:lvl3pPr>
            <a:lvl4pPr algn="l">
              <a:defRPr sz="1950" b="1">
                <a:solidFill>
                  <a:srgbClr val="147D78"/>
                </a:solidFill>
                <a:latin typeface="Segoe UI"/>
                <a:ea typeface="Segoe UI"/>
                <a:cs typeface="Segoe UI"/>
              </a:defRPr>
            </a:lvl4pPr>
            <a:lvl5pPr algn="l">
              <a:defRPr sz="1950" b="1">
                <a:solidFill>
                  <a:srgbClr val="147D78"/>
                </a:solidFill>
                <a:latin typeface="Segoe UI"/>
                <a:ea typeface="Segoe UI"/>
                <a:cs typeface="Segoe UI"/>
              </a:defRPr>
            </a:lvl5pPr>
            <a:lvl6pPr algn="l">
              <a:defRPr sz="1950" b="1">
                <a:solidFill>
                  <a:srgbClr val="147D78"/>
                </a:solidFill>
                <a:latin typeface="Segoe UI"/>
                <a:ea typeface="Segoe UI"/>
                <a:cs typeface="Segoe UI"/>
              </a:defRPr>
            </a:lvl6pPr>
            <a:lvl7pPr algn="l">
              <a:defRPr sz="1950" b="1">
                <a:solidFill>
                  <a:srgbClr val="147D78"/>
                </a:solidFill>
                <a:latin typeface="Segoe UI"/>
                <a:ea typeface="Segoe UI"/>
                <a:cs typeface="Segoe UI"/>
              </a:defRPr>
            </a:lvl7pPr>
            <a:lvl8pPr algn="l">
              <a:defRPr sz="1950" b="1">
                <a:solidFill>
                  <a:srgbClr val="147D78"/>
                </a:solidFill>
                <a:latin typeface="Segoe UI"/>
                <a:ea typeface="Segoe UI"/>
                <a:cs typeface="Segoe UI"/>
              </a:defRPr>
            </a:lvl8pPr>
            <a:lvl9pPr algn="l">
              <a:defRPr sz="1950" b="1">
                <a:solidFill>
                  <a:srgbClr val="147D78"/>
                </a:solidFill>
                <a:latin typeface="Segoe UI"/>
                <a:ea typeface="Segoe UI"/>
                <a:cs typeface="Segoe UI"/>
              </a:defRPr>
            </a:lvl9pPr>
          </a:lstStyle>
          <a:p xmlns:a="http://schemas.openxmlformats.org/drawingml/2006/main">
            <a:pPr algn="l">
              <a:defRPr sz="1950" b="1">
                <a:solidFill>
                  <a:srgbClr val="147D78"/>
                </a:solidFill>
                <a:latin typeface="Segoe UI"/>
                <a:ea typeface="Segoe UI"/>
                <a:cs typeface="Segoe UI"/>
              </a:defRPr>
            </a:pPr>
            <a:r>
              <a:rPr sz="1950" b="1">
                <a:solidFill>
                  <a:srgbClr val="147D78"/>
                </a:solidFill>
                <a:latin typeface="Segoe UI"/>
                <a:ea typeface="Segoe UI"/>
                <a:cs typeface="Segoe UI"/>
              </a:rPr>
              <a:t>Một phương án căn chỉnh</a:t>
            </a:r>
          </a:p>
        </p:txBody>
      </p:sp>
      <p:graphicFrame>
        <p:nvGraphicFramePr>
          <p:cNvPr id="6" name="">
            <a:extLst xmlns:a="http://schemas.openxmlformats.org/drawingml/2006/main">
              <a:ext uri="{FF2B5EF4-FFF2-40B4-BE49-F238E27FC236}">
                <a16:creationId xmlns:a16="http://schemas.microsoft.com/office/drawing/2014/main" id="{F3C6301C-9EF2-407A-91EC-8571D0D322DE}"/>
              </a:ext>
            </a:extLst>
          </p:cNvPr>
          <p:cNvGraphicFramePr/>
          <p:nvPr/>
        </p:nvGraphicFramePr>
        <p:xfrm>
          <a:off xmlns:a="http://schemas.openxmlformats.org/drawingml/2006/main" x="704850" y="2886075"/>
          <a:ext xmlns:a="http://schemas.openxmlformats.org/drawingml/2006/main" cx="4191000" cy="1676400"/>
        </p:xfrm>
        <a:graphic xmlns:a="http://schemas.openxmlformats.org/drawingml/2006/main">
          <a:graphicData uri="http://schemas.openxmlformats.org/drawingml/2006/table">
            <a:tbl>
              <a:tblPr firstRow="0" firstCol="0" bandRow="0"/>
              <a:tblGrid>
                <a:gridCol w="1066800"/>
                <a:gridCol w="781050"/>
                <a:gridCol w="781050"/>
                <a:gridCol w="781050"/>
                <a:gridCol w="781050"/>
              </a:tblGrid>
              <a:tr h="558800">
                <a:tc>
                  <a:txBody>
                    <a:bodyPr anchor="ctr"/>
                    <a:lstStyle/>
                    <a:p>
                      <a:pPr algn="ctr"/>
                      <a:r>
                        <a:rPr sz="2625">
                          <a:solidFill>
                            <a:srgbClr val="142D3B"/>
                          </a:solidFill>
                          <a:latin typeface="Consolas"/>
                          <a:ea typeface="Consolas"/>
                          <a:cs typeface="Consolas"/>
                        </a:rPr>
                        <a:t>S₁</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C</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G</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T</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r>
              <a:tr h="558800">
                <a:tc>
                  <a:txBody>
                    <a:bodyPr anchor="ctr"/>
                    <a:lstStyle/>
                    <a:p>
                      <a:pPr algn="ctr"/>
                      <a:r>
                        <a:rPr sz="2625">
                          <a:solidFill>
                            <a:srgbClr val="142D3B"/>
                          </a:solidFill>
                          <a:latin typeface="Consolas"/>
                          <a:ea typeface="Consolas"/>
                          <a:cs typeface="Consolas"/>
                        </a:rPr>
                        <a:t>S₂</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G</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T</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
                      </a:r>
                    </a:p>
                  </a:txBody>
                  <a:tcPr marL="76200" marR="76200" marT="57150" marB="57150" anchor="ctr">
                    <a:lnR w="0">
                      <a:solidFill>
                        <a:srgbClr val="F7F5EF"/>
                      </a:solidFill>
                    </a:lnR>
                    <a:lnB w="0">
                      <a:solidFill>
                        <a:srgbClr val="F7F5EF"/>
                      </a:solidFill>
                    </a:lnB>
                    <a:solidFill>
                      <a:srgbClr val="F7F5EF"/>
                    </a:solidFill>
                  </a:tcPr>
                </a:tc>
              </a:tr>
              <a:tr h="558800">
                <a:tc>
                  <a:txBody>
                    <a:bodyPr anchor="ctr"/>
                    <a:lstStyle/>
                    <a:p>
                      <a:pPr algn="ctr"/>
                      <a:r>
                        <a:rPr sz="2625">
                          <a:solidFill>
                            <a:srgbClr val="142D3B"/>
                          </a:solidFill>
                          <a:latin typeface="Consolas"/>
                          <a:ea typeface="Consolas"/>
                          <a:cs typeface="Consolas"/>
                        </a:rPr>
                        <a:t>S₃</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C</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T</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
                      </a:r>
                    </a:p>
                  </a:txBody>
                  <a:tcPr marL="76200" marR="76200" marT="57150" marB="57150" anchor="ctr">
                    <a:lnR w="0">
                      <a:solidFill>
                        <a:srgbClr val="F7F5EF"/>
                      </a:solidFill>
                    </a:lnR>
                    <a:lnB w="0">
                      <a:solidFill>
                        <a:srgbClr val="F7F5EF"/>
                      </a:solidFill>
                    </a:lnB>
                    <a:solidFill>
                      <a:srgbClr val="F7F5EF"/>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B418B5F2-AFB1-41C7-B353-D1BE033F6693}"/>
              </a:ext>
            </a:extLst>
          </p:cNvPr>
          <p:cNvGraphicFramePr/>
          <p:nvPr/>
        </p:nvGraphicFramePr>
        <p:xfrm>
          <a:off xmlns:a="http://schemas.openxmlformats.org/drawingml/2006/main" x="6134100" y="2886075"/>
          <a:ext xmlns:a="http://schemas.openxmlformats.org/drawingml/2006/main" cx="5143500" cy="1676400"/>
        </p:xfrm>
        <a:graphic xmlns:a="http://schemas.openxmlformats.org/drawingml/2006/main">
          <a:graphicData uri="http://schemas.openxmlformats.org/drawingml/2006/table">
            <a:tbl>
              <a:tblPr firstRow="0" firstCol="0" bandRow="0"/>
              <a:tblGrid>
                <a:gridCol w="1257300"/>
                <a:gridCol w="971550"/>
                <a:gridCol w="971550"/>
                <a:gridCol w="971550"/>
                <a:gridCol w="971550"/>
              </a:tblGrid>
              <a:tr h="558800">
                <a:tc>
                  <a:txBody>
                    <a:bodyPr anchor="ctr"/>
                    <a:lstStyle/>
                    <a:p>
                      <a:pPr algn="ctr"/>
                      <a:r>
                        <a:rPr sz="2625">
                          <a:solidFill>
                            <a:srgbClr val="142D3B"/>
                          </a:solidFill>
                          <a:latin typeface="Consolas"/>
                          <a:ea typeface="Consolas"/>
                          <a:cs typeface="Consolas"/>
                        </a:rPr>
                        <a:t>S₁</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C</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G</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T</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r>
              <a:tr h="558800">
                <a:tc>
                  <a:txBody>
                    <a:bodyPr anchor="ctr"/>
                    <a:lstStyle/>
                    <a:p>
                      <a:pPr algn="ctr"/>
                      <a:r>
                        <a:rPr sz="2625">
                          <a:solidFill>
                            <a:srgbClr val="142D3B"/>
                          </a:solidFill>
                          <a:latin typeface="Consolas"/>
                          <a:ea typeface="Consolas"/>
                          <a:cs typeface="Consolas"/>
                        </a:rPr>
                        <a:t>S₂</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b="1">
                          <a:solidFill>
                            <a:srgbClr val="147D78"/>
                          </a:solidFill>
                          <a:latin typeface="Consolas"/>
                          <a:ea typeface="Consolas"/>
                          <a:cs typeface="Consolas"/>
                        </a:rPr>
                        <a:t>–</a:t>
                      </a:r>
                    </a:p>
                  </a:txBody>
                  <a:tcPr marL="76200" marR="76200" marT="57150" marB="57150" anchor="ctr">
                    <a:lnR w="0">
                      <a:solidFill>
                        <a:srgbClr val="F7F5EF"/>
                      </a:solidFill>
                    </a:lnR>
                    <a:lnB w="0">
                      <a:solidFill>
                        <a:srgbClr val="F7F5EF"/>
                      </a:solidFill>
                    </a:lnB>
                    <a:solidFill>
                      <a:srgbClr val="DDECE6"/>
                    </a:solidFill>
                  </a:tcPr>
                </a:tc>
                <a:tc>
                  <a:txBody>
                    <a:bodyPr anchor="ctr"/>
                    <a:lstStyle/>
                    <a:p>
                      <a:pPr algn="ctr"/>
                      <a:r>
                        <a:rPr sz="2625">
                          <a:solidFill>
                            <a:srgbClr val="142D3B"/>
                          </a:solidFill>
                          <a:latin typeface="Consolas"/>
                          <a:ea typeface="Consolas"/>
                          <a:cs typeface="Consolas"/>
                        </a:rPr>
                        <a:t>G</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T</a:t>
                      </a:r>
                    </a:p>
                  </a:txBody>
                  <a:tcPr marL="76200" marR="76200" marT="57150" marB="57150" anchor="ctr">
                    <a:lnR w="0">
                      <a:solidFill>
                        <a:srgbClr val="F7F5EF"/>
                      </a:solidFill>
                    </a:lnR>
                    <a:lnB w="0">
                      <a:solidFill>
                        <a:srgbClr val="F7F5EF"/>
                      </a:solidFill>
                    </a:lnB>
                    <a:solidFill>
                      <a:srgbClr val="F7F5EF"/>
                    </a:solidFill>
                  </a:tcPr>
                </a:tc>
              </a:tr>
              <a:tr h="558800">
                <a:tc>
                  <a:txBody>
                    <a:bodyPr anchor="ctr"/>
                    <a:lstStyle/>
                    <a:p>
                      <a:pPr algn="ctr"/>
                      <a:r>
                        <a:rPr sz="2625">
                          <a:solidFill>
                            <a:srgbClr val="142D3B"/>
                          </a:solidFill>
                          <a:latin typeface="Consolas"/>
                          <a:ea typeface="Consolas"/>
                          <a:cs typeface="Consolas"/>
                        </a:rPr>
                        <a:t>S₃</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C</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b="1">
                          <a:solidFill>
                            <a:srgbClr val="147D78"/>
                          </a:solidFill>
                          <a:latin typeface="Consolas"/>
                          <a:ea typeface="Consolas"/>
                          <a:cs typeface="Consolas"/>
                        </a:rPr>
                        <a:t>–</a:t>
                      </a:r>
                    </a:p>
                  </a:txBody>
                  <a:tcPr marL="76200" marR="76200" marT="57150" marB="57150" anchor="ctr">
                    <a:lnR w="0">
                      <a:solidFill>
                        <a:srgbClr val="F7F5EF"/>
                      </a:solidFill>
                    </a:lnR>
                    <a:lnB w="0">
                      <a:solidFill>
                        <a:srgbClr val="F7F5EF"/>
                      </a:solidFill>
                    </a:lnB>
                    <a:solidFill>
                      <a:srgbClr val="DDECE6"/>
                    </a:solidFill>
                  </a:tcPr>
                </a:tc>
                <a:tc>
                  <a:txBody>
                    <a:bodyPr anchor="ctr"/>
                    <a:lstStyle/>
                    <a:p>
                      <a:pPr algn="ctr"/>
                      <a:r>
                        <a:rPr sz="2625">
                          <a:solidFill>
                            <a:srgbClr val="142D3B"/>
                          </a:solidFill>
                          <a:latin typeface="Consolas"/>
                          <a:ea typeface="Consolas"/>
                          <a:cs typeface="Consolas"/>
                        </a:rPr>
                        <a:t>T</a:t>
                      </a:r>
                    </a:p>
                  </a:txBody>
                  <a:tcPr marL="76200" marR="76200" marT="57150" marB="57150" anchor="ctr">
                    <a:lnR w="0">
                      <a:solidFill>
                        <a:srgbClr val="F7F5EF"/>
                      </a:solidFill>
                    </a:lnR>
                    <a:lnB w="0">
                      <a:solidFill>
                        <a:srgbClr val="F7F5EF"/>
                      </a:solidFill>
                    </a:lnB>
                    <a:solidFill>
                      <a:srgbClr val="F7F5EF"/>
                    </a:solidFill>
                  </a:tcPr>
                </a:tc>
              </a:tr>
            </a:tbl>
          </a:graphicData>
        </a:graphic>
      </p:graphicFrame>
      <p:sp>
        <p:nvSpPr>
          <p:cNvPr id="8" name="Gap “–” biểu diễn một vị trí trống trong căn chỉnh">
            <a:extLst xmlns:a="http://schemas.openxmlformats.org/drawingml/2006/main">
              <a:ext uri="{FF2B5EF4-FFF2-40B4-BE49-F238E27FC236}">
                <a16:creationId xmlns:a16="http://schemas.microsoft.com/office/drawing/2014/main" id="{C8C3BB06-4BFE-46B7-9D4E-78E483D9554F}"/>
              </a:ext>
            </a:extLst>
          </p:cNvPr>
          <p:cNvSpPr>
            <a:spLocks xmlns:a="http://schemas.openxmlformats.org/drawingml/2006/main" noGrp="1"/>
          </p:cNvSpPr>
          <p:nvPr/>
        </p:nvSpPr>
        <p:spPr>
          <a:xfrm xmlns:a="http://schemas.openxmlformats.org/drawingml/2006/main">
            <a:off x="762000" y="52578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1">
                <a:solidFill>
                  <a:srgbClr val="142D3B"/>
                </a:solidFill>
                <a:latin typeface="Segoe UI"/>
                <a:ea typeface="Segoe UI"/>
                <a:cs typeface="Segoe UI"/>
              </a:defRPr>
            </a:defPPr>
            <a:lvl1pPr algn="l">
              <a:defRPr sz="2175" b="1">
                <a:solidFill>
                  <a:srgbClr val="142D3B"/>
                </a:solidFill>
                <a:latin typeface="Segoe UI"/>
                <a:ea typeface="Segoe UI"/>
                <a:cs typeface="Segoe UI"/>
              </a:defRPr>
            </a:lvl1pPr>
            <a:lvl2pPr algn="l">
              <a:defRPr sz="2175" b="1">
                <a:solidFill>
                  <a:srgbClr val="142D3B"/>
                </a:solidFill>
                <a:latin typeface="Segoe UI"/>
                <a:ea typeface="Segoe UI"/>
                <a:cs typeface="Segoe UI"/>
              </a:defRPr>
            </a:lvl2pPr>
            <a:lvl3pPr algn="l">
              <a:defRPr sz="2175" b="1">
                <a:solidFill>
                  <a:srgbClr val="142D3B"/>
                </a:solidFill>
                <a:latin typeface="Segoe UI"/>
                <a:ea typeface="Segoe UI"/>
                <a:cs typeface="Segoe UI"/>
              </a:defRPr>
            </a:lvl3pPr>
            <a:lvl4pPr algn="l">
              <a:defRPr sz="2175" b="1">
                <a:solidFill>
                  <a:srgbClr val="142D3B"/>
                </a:solidFill>
                <a:latin typeface="Segoe UI"/>
                <a:ea typeface="Segoe UI"/>
                <a:cs typeface="Segoe UI"/>
              </a:defRPr>
            </a:lvl4pPr>
            <a:lvl5pPr algn="l">
              <a:defRPr sz="2175" b="1">
                <a:solidFill>
                  <a:srgbClr val="142D3B"/>
                </a:solidFill>
                <a:latin typeface="Segoe UI"/>
                <a:ea typeface="Segoe UI"/>
                <a:cs typeface="Segoe UI"/>
              </a:defRPr>
            </a:lvl5pPr>
            <a:lvl6pPr algn="l">
              <a:defRPr sz="2175" b="1">
                <a:solidFill>
                  <a:srgbClr val="142D3B"/>
                </a:solidFill>
                <a:latin typeface="Segoe UI"/>
                <a:ea typeface="Segoe UI"/>
                <a:cs typeface="Segoe UI"/>
              </a:defRPr>
            </a:lvl6pPr>
            <a:lvl7pPr algn="l">
              <a:defRPr sz="2175" b="1">
                <a:solidFill>
                  <a:srgbClr val="142D3B"/>
                </a:solidFill>
                <a:latin typeface="Segoe UI"/>
                <a:ea typeface="Segoe UI"/>
                <a:cs typeface="Segoe UI"/>
              </a:defRPr>
            </a:lvl7pPr>
            <a:lvl8pPr algn="l">
              <a:defRPr sz="2175" b="1">
                <a:solidFill>
                  <a:srgbClr val="142D3B"/>
                </a:solidFill>
                <a:latin typeface="Segoe UI"/>
                <a:ea typeface="Segoe UI"/>
                <a:cs typeface="Segoe UI"/>
              </a:defRPr>
            </a:lvl8pPr>
            <a:lvl9pPr algn="l">
              <a:defRPr sz="2175" b="1">
                <a:solidFill>
                  <a:srgbClr val="142D3B"/>
                </a:solidFill>
                <a:latin typeface="Segoe UI"/>
                <a:ea typeface="Segoe UI"/>
                <a:cs typeface="Segoe UI"/>
              </a:defRPr>
            </a:lvl9pPr>
          </a:lstStyle>
          <a:p xmlns:a="http://schemas.openxmlformats.org/drawingml/2006/main">
            <a:pPr algn="l">
              <a:defRPr sz="2175" b="1">
                <a:solidFill>
                  <a:srgbClr val="142D3B"/>
                </a:solidFill>
                <a:latin typeface="Segoe UI"/>
                <a:ea typeface="Segoe UI"/>
                <a:cs typeface="Segoe UI"/>
              </a:defRPr>
            </a:pPr>
            <a:r>
              <a:rPr sz="2175" b="1">
                <a:solidFill>
                  <a:srgbClr val="142D3B"/>
                </a:solidFill>
                <a:latin typeface="Segoe UI"/>
                <a:ea typeface="Segoe UI"/>
                <a:cs typeface="Segoe UI"/>
              </a:rPr>
              <a:t>Gap “–” biểu diễn một vị trí trống trong căn chỉnh</a:t>
            </a:r>
          </a:p>
        </p:txBody>
      </p:sp>
      <p:sp>
        <p:nvSpPr>
          <p:cNvPr id="9" name="Giữ nguyên thứ tự ký tự. Các hàng kết quả có cùng số cột.">
            <a:extLst xmlns:a="http://schemas.openxmlformats.org/drawingml/2006/main">
              <a:ext uri="{FF2B5EF4-FFF2-40B4-BE49-F238E27FC236}">
                <a16:creationId xmlns:a16="http://schemas.microsoft.com/office/drawing/2014/main" id="{2D1C09EA-E6D4-43A6-9306-DCCD81DC2C69}"/>
              </a:ext>
            </a:extLst>
          </p:cNvPr>
          <p:cNvSpPr>
            <a:spLocks xmlns:a="http://schemas.openxmlformats.org/drawingml/2006/main" noGrp="1"/>
          </p:cNvSpPr>
          <p:nvPr/>
        </p:nvSpPr>
        <p:spPr>
          <a:xfrm xmlns:a="http://schemas.openxmlformats.org/drawingml/2006/main">
            <a:off x="762000" y="57721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61716F"/>
                </a:solidFill>
                <a:latin typeface="Segoe UI"/>
                <a:ea typeface="Segoe UI"/>
                <a:cs typeface="Segoe UI"/>
              </a:defRPr>
            </a:defPPr>
            <a:lvl1pPr algn="l">
              <a:defRPr sz="1800" b="0">
                <a:solidFill>
                  <a:srgbClr val="61716F"/>
                </a:solidFill>
                <a:latin typeface="Segoe UI"/>
                <a:ea typeface="Segoe UI"/>
                <a:cs typeface="Segoe UI"/>
              </a:defRPr>
            </a:lvl1pPr>
            <a:lvl2pPr algn="l">
              <a:defRPr sz="1800" b="0">
                <a:solidFill>
                  <a:srgbClr val="61716F"/>
                </a:solidFill>
                <a:latin typeface="Segoe UI"/>
                <a:ea typeface="Segoe UI"/>
                <a:cs typeface="Segoe UI"/>
              </a:defRPr>
            </a:lvl2pPr>
            <a:lvl3pPr algn="l">
              <a:defRPr sz="1800" b="0">
                <a:solidFill>
                  <a:srgbClr val="61716F"/>
                </a:solidFill>
                <a:latin typeface="Segoe UI"/>
                <a:ea typeface="Segoe UI"/>
                <a:cs typeface="Segoe UI"/>
              </a:defRPr>
            </a:lvl3pPr>
            <a:lvl4pPr algn="l">
              <a:defRPr sz="1800" b="0">
                <a:solidFill>
                  <a:srgbClr val="61716F"/>
                </a:solidFill>
                <a:latin typeface="Segoe UI"/>
                <a:ea typeface="Segoe UI"/>
                <a:cs typeface="Segoe UI"/>
              </a:defRPr>
            </a:lvl4pPr>
            <a:lvl5pPr algn="l">
              <a:defRPr sz="1800" b="0">
                <a:solidFill>
                  <a:srgbClr val="61716F"/>
                </a:solidFill>
                <a:latin typeface="Segoe UI"/>
                <a:ea typeface="Segoe UI"/>
                <a:cs typeface="Segoe UI"/>
              </a:defRPr>
            </a:lvl5pPr>
            <a:lvl6pPr algn="l">
              <a:defRPr sz="1800" b="0">
                <a:solidFill>
                  <a:srgbClr val="61716F"/>
                </a:solidFill>
                <a:latin typeface="Segoe UI"/>
                <a:ea typeface="Segoe UI"/>
                <a:cs typeface="Segoe UI"/>
              </a:defRPr>
            </a:lvl6pPr>
            <a:lvl7pPr algn="l">
              <a:defRPr sz="1800" b="0">
                <a:solidFill>
                  <a:srgbClr val="61716F"/>
                </a:solidFill>
                <a:latin typeface="Segoe UI"/>
                <a:ea typeface="Segoe UI"/>
                <a:cs typeface="Segoe UI"/>
              </a:defRPr>
            </a:lvl7pPr>
            <a:lvl8pPr algn="l">
              <a:defRPr sz="1800" b="0">
                <a:solidFill>
                  <a:srgbClr val="61716F"/>
                </a:solidFill>
                <a:latin typeface="Segoe UI"/>
                <a:ea typeface="Segoe UI"/>
                <a:cs typeface="Segoe UI"/>
              </a:defRPr>
            </a:lvl8pPr>
            <a:lvl9pPr algn="l">
              <a:defRPr sz="1800" b="0">
                <a:solidFill>
                  <a:srgbClr val="61716F"/>
                </a:solidFill>
                <a:latin typeface="Segoe UI"/>
                <a:ea typeface="Segoe UI"/>
                <a:cs typeface="Segoe UI"/>
              </a:defRPr>
            </a:lvl9pPr>
          </a:lstStyle>
          <a:p xmlns:a="http://schemas.openxmlformats.org/drawingml/2006/main">
            <a:pPr algn="l">
              <a:defRPr sz="1800" b="0">
                <a:solidFill>
                  <a:srgbClr val="61716F"/>
                </a:solidFill>
                <a:latin typeface="Segoe UI"/>
                <a:ea typeface="Segoe UI"/>
                <a:cs typeface="Segoe UI"/>
              </a:defRPr>
            </a:pPr>
            <a:r>
              <a:rPr sz="1800" b="0">
                <a:solidFill>
                  <a:srgbClr val="61716F"/>
                </a:solidFill>
                <a:latin typeface="Segoe UI"/>
                <a:ea typeface="Segoe UI"/>
                <a:cs typeface="Segoe UI"/>
              </a:rPr>
              <a:t>Giữ nguyên thứ tự ký tự. Các hàng kết quả có cùng số cột.</a:t>
            </a:r>
          </a:p>
        </p:txBody>
      </p:sp>
    </p:spTree>
    <p:extLst>
      <p:ext uri="{BB962C8B-B14F-4D97-AF65-F5344CB8AC3E}">
        <p14:creationId xmlns:p14="http://schemas.microsoft.com/office/powerpoint/2010/main" val="490972080"/>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04">
            <a:extLst xmlns:a="http://schemas.openxmlformats.org/drawingml/2006/main">
              <a:ext uri="{FF2B5EF4-FFF2-40B4-BE49-F238E27FC236}">
                <a16:creationId xmlns:a16="http://schemas.microsoft.com/office/drawing/2014/main" id="{58B08257-95C8-4D12-B53A-75FE223C0B80}"/>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04</a:t>
            </a:r>
          </a:p>
        </p:txBody>
      </p:sp>
      <p:sp>
        <p:nvSpPr>
          <p:cNvPr id="2" name="Bài toán căn chỉnh đa chuỗi">
            <a:extLst xmlns:a="http://schemas.openxmlformats.org/drawingml/2006/main">
              <a:ext uri="{FF2B5EF4-FFF2-40B4-BE49-F238E27FC236}">
                <a16:creationId xmlns:a16="http://schemas.microsoft.com/office/drawing/2014/main" id="{1547DF9B-393D-476C-A6B5-9D985841886A}"/>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Bài toán căn chỉnh đa chuỗi</a:t>
            </a:r>
          </a:p>
        </p:txBody>
      </p:sp>
      <p:sp>
        <p:nvSpPr>
          <p:cNvPr id="3" name="Đầu vào là k chuỗi có thể khác nhau về độ dài">
            <a:extLst xmlns:a="http://schemas.openxmlformats.org/drawingml/2006/main">
              <a:ext uri="{FF2B5EF4-FFF2-40B4-BE49-F238E27FC236}">
                <a16:creationId xmlns:a16="http://schemas.microsoft.com/office/drawing/2014/main" id="{8A033AE4-0133-4F5E-B0BC-5A3B6E969727}"/>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Đầu vào là k chuỗi có thể khác nhau về độ dài</a:t>
            </a:r>
          </a:p>
        </p:txBody>
      </p:sp>
      <p:sp>
        <p:nvSpPr>
          <p:cNvPr id="4" name="S₁, S₂, …, Sₖ">
            <a:extLst xmlns:a="http://schemas.openxmlformats.org/drawingml/2006/main">
              <a:ext uri="{FF2B5EF4-FFF2-40B4-BE49-F238E27FC236}">
                <a16:creationId xmlns:a16="http://schemas.microsoft.com/office/drawing/2014/main" id="{56077701-7A49-4428-B666-5F8565C45FFC}"/>
              </a:ext>
            </a:extLst>
          </p:cNvPr>
          <p:cNvSpPr>
            <a:spLocks xmlns:a="http://schemas.openxmlformats.org/drawingml/2006/main" noGrp="1"/>
          </p:cNvSpPr>
          <p:nvPr/>
        </p:nvSpPr>
        <p:spPr>
          <a:xfrm xmlns:a="http://schemas.openxmlformats.org/drawingml/2006/main">
            <a:off x="762000" y="23622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4200" b="1">
                <a:solidFill>
                  <a:srgbClr val="147D78"/>
                </a:solidFill>
                <a:latin typeface="Consolas"/>
                <a:ea typeface="Consolas"/>
                <a:cs typeface="Consolas"/>
              </a:defRPr>
            </a:defPPr>
            <a:lvl1pPr algn="l">
              <a:defRPr sz="4200" b="1">
                <a:solidFill>
                  <a:srgbClr val="147D78"/>
                </a:solidFill>
                <a:latin typeface="Consolas"/>
                <a:ea typeface="Consolas"/>
                <a:cs typeface="Consolas"/>
              </a:defRPr>
            </a:lvl1pPr>
            <a:lvl2pPr algn="l">
              <a:defRPr sz="4200" b="1">
                <a:solidFill>
                  <a:srgbClr val="147D78"/>
                </a:solidFill>
                <a:latin typeface="Consolas"/>
                <a:ea typeface="Consolas"/>
                <a:cs typeface="Consolas"/>
              </a:defRPr>
            </a:lvl2pPr>
            <a:lvl3pPr algn="l">
              <a:defRPr sz="4200" b="1">
                <a:solidFill>
                  <a:srgbClr val="147D78"/>
                </a:solidFill>
                <a:latin typeface="Consolas"/>
                <a:ea typeface="Consolas"/>
                <a:cs typeface="Consolas"/>
              </a:defRPr>
            </a:lvl3pPr>
            <a:lvl4pPr algn="l">
              <a:defRPr sz="4200" b="1">
                <a:solidFill>
                  <a:srgbClr val="147D78"/>
                </a:solidFill>
                <a:latin typeface="Consolas"/>
                <a:ea typeface="Consolas"/>
                <a:cs typeface="Consolas"/>
              </a:defRPr>
            </a:lvl4pPr>
            <a:lvl5pPr algn="l">
              <a:defRPr sz="4200" b="1">
                <a:solidFill>
                  <a:srgbClr val="147D78"/>
                </a:solidFill>
                <a:latin typeface="Consolas"/>
                <a:ea typeface="Consolas"/>
                <a:cs typeface="Consolas"/>
              </a:defRPr>
            </a:lvl5pPr>
            <a:lvl6pPr algn="l">
              <a:defRPr sz="4200" b="1">
                <a:solidFill>
                  <a:srgbClr val="147D78"/>
                </a:solidFill>
                <a:latin typeface="Consolas"/>
                <a:ea typeface="Consolas"/>
                <a:cs typeface="Consolas"/>
              </a:defRPr>
            </a:lvl6pPr>
            <a:lvl7pPr algn="l">
              <a:defRPr sz="4200" b="1">
                <a:solidFill>
                  <a:srgbClr val="147D78"/>
                </a:solidFill>
                <a:latin typeface="Consolas"/>
                <a:ea typeface="Consolas"/>
                <a:cs typeface="Consolas"/>
              </a:defRPr>
            </a:lvl7pPr>
            <a:lvl8pPr algn="l">
              <a:defRPr sz="4200" b="1">
                <a:solidFill>
                  <a:srgbClr val="147D78"/>
                </a:solidFill>
                <a:latin typeface="Consolas"/>
                <a:ea typeface="Consolas"/>
                <a:cs typeface="Consolas"/>
              </a:defRPr>
            </a:lvl8pPr>
            <a:lvl9pPr algn="l">
              <a:defRPr sz="4200" b="1">
                <a:solidFill>
                  <a:srgbClr val="147D78"/>
                </a:solidFill>
                <a:latin typeface="Consolas"/>
                <a:ea typeface="Consolas"/>
                <a:cs typeface="Consolas"/>
              </a:defRPr>
            </a:lvl9pPr>
          </a:lstStyle>
          <a:p xmlns:a="http://schemas.openxmlformats.org/drawingml/2006/main">
            <a:pPr algn="l">
              <a:defRPr sz="4200" b="1">
                <a:solidFill>
                  <a:srgbClr val="147D78"/>
                </a:solidFill>
                <a:latin typeface="Consolas"/>
                <a:ea typeface="Consolas"/>
                <a:cs typeface="Consolas"/>
              </a:defRPr>
            </a:pPr>
            <a:r>
              <a:rPr sz="4200" b="1">
                <a:solidFill>
                  <a:srgbClr val="147D78"/>
                </a:solidFill>
                <a:latin typeface="Consolas"/>
                <a:ea typeface="Consolas"/>
                <a:cs typeface="Consolas"/>
              </a:rPr>
              <a:t>S₁, S₂, …, Sₖ</a:t>
            </a:r>
          </a:p>
        </p:txBody>
      </p:sp>
      <p:sp>
        <p:nvSpPr>
          <p:cNvPr id="5" name="Đầu ra: k hàng căn chỉnh có cùng số cột">
            <a:extLst xmlns:a="http://schemas.openxmlformats.org/drawingml/2006/main">
              <a:ext uri="{FF2B5EF4-FFF2-40B4-BE49-F238E27FC236}">
                <a16:creationId xmlns:a16="http://schemas.microsoft.com/office/drawing/2014/main" id="{DB909816-A55B-49F9-BD25-79C2F6873F67}"/>
              </a:ext>
            </a:extLst>
          </p:cNvPr>
          <p:cNvSpPr>
            <a:spLocks xmlns:a="http://schemas.openxmlformats.org/drawingml/2006/main" noGrp="1"/>
          </p:cNvSpPr>
          <p:nvPr/>
        </p:nvSpPr>
        <p:spPr>
          <a:xfrm xmlns:a="http://schemas.openxmlformats.org/drawingml/2006/main">
            <a:off x="762000" y="3476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0">
                <a:solidFill>
                  <a:srgbClr val="142D3B"/>
                </a:solidFill>
                <a:latin typeface="Segoe UI"/>
                <a:ea typeface="Segoe UI"/>
                <a:cs typeface="Segoe UI"/>
              </a:defRPr>
            </a:defPPr>
            <a:lvl1pPr algn="l">
              <a:defRPr sz="2175" b="0">
                <a:solidFill>
                  <a:srgbClr val="142D3B"/>
                </a:solidFill>
                <a:latin typeface="Segoe UI"/>
                <a:ea typeface="Segoe UI"/>
                <a:cs typeface="Segoe UI"/>
              </a:defRPr>
            </a:lvl1pPr>
            <a:lvl2pPr algn="l">
              <a:defRPr sz="2175" b="0">
                <a:solidFill>
                  <a:srgbClr val="142D3B"/>
                </a:solidFill>
                <a:latin typeface="Segoe UI"/>
                <a:ea typeface="Segoe UI"/>
                <a:cs typeface="Segoe UI"/>
              </a:defRPr>
            </a:lvl2pPr>
            <a:lvl3pPr algn="l">
              <a:defRPr sz="2175" b="0">
                <a:solidFill>
                  <a:srgbClr val="142D3B"/>
                </a:solidFill>
                <a:latin typeface="Segoe UI"/>
                <a:ea typeface="Segoe UI"/>
                <a:cs typeface="Segoe UI"/>
              </a:defRPr>
            </a:lvl3pPr>
            <a:lvl4pPr algn="l">
              <a:defRPr sz="2175" b="0">
                <a:solidFill>
                  <a:srgbClr val="142D3B"/>
                </a:solidFill>
                <a:latin typeface="Segoe UI"/>
                <a:ea typeface="Segoe UI"/>
                <a:cs typeface="Segoe UI"/>
              </a:defRPr>
            </a:lvl4pPr>
            <a:lvl5pPr algn="l">
              <a:defRPr sz="2175" b="0">
                <a:solidFill>
                  <a:srgbClr val="142D3B"/>
                </a:solidFill>
                <a:latin typeface="Segoe UI"/>
                <a:ea typeface="Segoe UI"/>
                <a:cs typeface="Segoe UI"/>
              </a:defRPr>
            </a:lvl5pPr>
            <a:lvl6pPr algn="l">
              <a:defRPr sz="2175" b="0">
                <a:solidFill>
                  <a:srgbClr val="142D3B"/>
                </a:solidFill>
                <a:latin typeface="Segoe UI"/>
                <a:ea typeface="Segoe UI"/>
                <a:cs typeface="Segoe UI"/>
              </a:defRPr>
            </a:lvl6pPr>
            <a:lvl7pPr algn="l">
              <a:defRPr sz="2175" b="0">
                <a:solidFill>
                  <a:srgbClr val="142D3B"/>
                </a:solidFill>
                <a:latin typeface="Segoe UI"/>
                <a:ea typeface="Segoe UI"/>
                <a:cs typeface="Segoe UI"/>
              </a:defRPr>
            </a:lvl7pPr>
            <a:lvl8pPr algn="l">
              <a:defRPr sz="2175" b="0">
                <a:solidFill>
                  <a:srgbClr val="142D3B"/>
                </a:solidFill>
                <a:latin typeface="Segoe UI"/>
                <a:ea typeface="Segoe UI"/>
                <a:cs typeface="Segoe UI"/>
              </a:defRPr>
            </a:lvl8pPr>
            <a:lvl9pPr algn="l">
              <a:defRPr sz="2175" b="0">
                <a:solidFill>
                  <a:srgbClr val="142D3B"/>
                </a:solidFill>
                <a:latin typeface="Segoe UI"/>
                <a:ea typeface="Segoe UI"/>
                <a:cs typeface="Segoe UI"/>
              </a:defRPr>
            </a:lvl9pPr>
          </a:lstStyle>
          <a:p xmlns:a="http://schemas.openxmlformats.org/drawingml/2006/main">
            <a:pPr algn="l">
              <a:defRPr sz="2175" b="0">
                <a:solidFill>
                  <a:srgbClr val="142D3B"/>
                </a:solidFill>
                <a:latin typeface="Segoe UI"/>
                <a:ea typeface="Segoe UI"/>
                <a:cs typeface="Segoe UI"/>
              </a:defRPr>
            </a:pPr>
            <a:r>
              <a:rPr sz="2175" b="0">
                <a:solidFill>
                  <a:srgbClr val="142D3B"/>
                </a:solidFill>
                <a:latin typeface="Segoe UI"/>
                <a:ea typeface="Segoe UI"/>
                <a:cs typeface="Segoe UI"/>
              </a:rPr>
              <a:t>Đầu ra: k hàng căn chỉnh có cùng số cột</a:t>
            </a:r>
          </a:p>
        </p:txBody>
      </p:sp>
      <p:sp>
        <p:nvSpPr>
          <p:cNvPr id="6" name="Chỉ chèn gap, giữ nguyên ký tự và thứ tự của từng chuỗi">
            <a:extLst xmlns:a="http://schemas.openxmlformats.org/drawingml/2006/main">
              <a:ext uri="{FF2B5EF4-FFF2-40B4-BE49-F238E27FC236}">
                <a16:creationId xmlns:a16="http://schemas.microsoft.com/office/drawing/2014/main" id="{43275725-BD14-435C-BFAD-4E8E0ED3E33E}"/>
              </a:ext>
            </a:extLst>
          </p:cNvPr>
          <p:cNvSpPr>
            <a:spLocks xmlns:a="http://schemas.openxmlformats.org/drawingml/2006/main" noGrp="1"/>
          </p:cNvSpPr>
          <p:nvPr/>
        </p:nvSpPr>
        <p:spPr>
          <a:xfrm xmlns:a="http://schemas.openxmlformats.org/drawingml/2006/main">
            <a:off x="762000" y="4095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0">
                <a:solidFill>
                  <a:srgbClr val="142D3B"/>
                </a:solidFill>
                <a:latin typeface="Segoe UI"/>
                <a:ea typeface="Segoe UI"/>
                <a:cs typeface="Segoe UI"/>
              </a:defRPr>
            </a:defPPr>
            <a:lvl1pPr algn="l">
              <a:defRPr sz="2175" b="0">
                <a:solidFill>
                  <a:srgbClr val="142D3B"/>
                </a:solidFill>
                <a:latin typeface="Segoe UI"/>
                <a:ea typeface="Segoe UI"/>
                <a:cs typeface="Segoe UI"/>
              </a:defRPr>
            </a:lvl1pPr>
            <a:lvl2pPr algn="l">
              <a:defRPr sz="2175" b="0">
                <a:solidFill>
                  <a:srgbClr val="142D3B"/>
                </a:solidFill>
                <a:latin typeface="Segoe UI"/>
                <a:ea typeface="Segoe UI"/>
                <a:cs typeface="Segoe UI"/>
              </a:defRPr>
            </a:lvl2pPr>
            <a:lvl3pPr algn="l">
              <a:defRPr sz="2175" b="0">
                <a:solidFill>
                  <a:srgbClr val="142D3B"/>
                </a:solidFill>
                <a:latin typeface="Segoe UI"/>
                <a:ea typeface="Segoe UI"/>
                <a:cs typeface="Segoe UI"/>
              </a:defRPr>
            </a:lvl3pPr>
            <a:lvl4pPr algn="l">
              <a:defRPr sz="2175" b="0">
                <a:solidFill>
                  <a:srgbClr val="142D3B"/>
                </a:solidFill>
                <a:latin typeface="Segoe UI"/>
                <a:ea typeface="Segoe UI"/>
                <a:cs typeface="Segoe UI"/>
              </a:defRPr>
            </a:lvl4pPr>
            <a:lvl5pPr algn="l">
              <a:defRPr sz="2175" b="0">
                <a:solidFill>
                  <a:srgbClr val="142D3B"/>
                </a:solidFill>
                <a:latin typeface="Segoe UI"/>
                <a:ea typeface="Segoe UI"/>
                <a:cs typeface="Segoe UI"/>
              </a:defRPr>
            </a:lvl5pPr>
            <a:lvl6pPr algn="l">
              <a:defRPr sz="2175" b="0">
                <a:solidFill>
                  <a:srgbClr val="142D3B"/>
                </a:solidFill>
                <a:latin typeface="Segoe UI"/>
                <a:ea typeface="Segoe UI"/>
                <a:cs typeface="Segoe UI"/>
              </a:defRPr>
            </a:lvl6pPr>
            <a:lvl7pPr algn="l">
              <a:defRPr sz="2175" b="0">
                <a:solidFill>
                  <a:srgbClr val="142D3B"/>
                </a:solidFill>
                <a:latin typeface="Segoe UI"/>
                <a:ea typeface="Segoe UI"/>
                <a:cs typeface="Segoe UI"/>
              </a:defRPr>
            </a:lvl7pPr>
            <a:lvl8pPr algn="l">
              <a:defRPr sz="2175" b="0">
                <a:solidFill>
                  <a:srgbClr val="142D3B"/>
                </a:solidFill>
                <a:latin typeface="Segoe UI"/>
                <a:ea typeface="Segoe UI"/>
                <a:cs typeface="Segoe UI"/>
              </a:defRPr>
            </a:lvl8pPr>
            <a:lvl9pPr algn="l">
              <a:defRPr sz="2175" b="0">
                <a:solidFill>
                  <a:srgbClr val="142D3B"/>
                </a:solidFill>
                <a:latin typeface="Segoe UI"/>
                <a:ea typeface="Segoe UI"/>
                <a:cs typeface="Segoe UI"/>
              </a:defRPr>
            </a:lvl9pPr>
          </a:lstStyle>
          <a:p xmlns:a="http://schemas.openxmlformats.org/drawingml/2006/main">
            <a:pPr algn="l">
              <a:defRPr sz="2175" b="0">
                <a:solidFill>
                  <a:srgbClr val="142D3B"/>
                </a:solidFill>
                <a:latin typeface="Segoe UI"/>
                <a:ea typeface="Segoe UI"/>
                <a:cs typeface="Segoe UI"/>
              </a:defRPr>
            </a:pPr>
            <a:r>
              <a:rPr sz="2175" b="0">
                <a:solidFill>
                  <a:srgbClr val="142D3B"/>
                </a:solidFill>
                <a:latin typeface="Segoe UI"/>
                <a:ea typeface="Segoe UI"/>
                <a:cs typeface="Segoe UI"/>
              </a:rPr>
              <a:t>Chỉ chèn gap, giữ nguyên ký tự và thứ tự của từng chuỗi</a:t>
            </a:r>
          </a:p>
        </p:txBody>
      </p:sp>
      <p:sp>
        <p:nvSpPr>
          <p:cNvPr id="7" name="Chọn phương án có điểm tốt theo mô hình đã định">
            <a:extLst xmlns:a="http://schemas.openxmlformats.org/drawingml/2006/main">
              <a:ext uri="{FF2B5EF4-FFF2-40B4-BE49-F238E27FC236}">
                <a16:creationId xmlns:a16="http://schemas.microsoft.com/office/drawing/2014/main" id="{80E4FA76-6F11-4F24-90F4-ABB31448B4BA}"/>
              </a:ext>
            </a:extLst>
          </p:cNvPr>
          <p:cNvSpPr>
            <a:spLocks xmlns:a="http://schemas.openxmlformats.org/drawingml/2006/main" noGrp="1"/>
          </p:cNvSpPr>
          <p:nvPr/>
        </p:nvSpPr>
        <p:spPr>
          <a:xfrm xmlns:a="http://schemas.openxmlformats.org/drawingml/2006/main">
            <a:off x="762000" y="4714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0">
                <a:solidFill>
                  <a:srgbClr val="142D3B"/>
                </a:solidFill>
                <a:latin typeface="Segoe UI"/>
                <a:ea typeface="Segoe UI"/>
                <a:cs typeface="Segoe UI"/>
              </a:defRPr>
            </a:defPPr>
            <a:lvl1pPr algn="l">
              <a:defRPr sz="2175" b="0">
                <a:solidFill>
                  <a:srgbClr val="142D3B"/>
                </a:solidFill>
                <a:latin typeface="Segoe UI"/>
                <a:ea typeface="Segoe UI"/>
                <a:cs typeface="Segoe UI"/>
              </a:defRPr>
            </a:lvl1pPr>
            <a:lvl2pPr algn="l">
              <a:defRPr sz="2175" b="0">
                <a:solidFill>
                  <a:srgbClr val="142D3B"/>
                </a:solidFill>
                <a:latin typeface="Segoe UI"/>
                <a:ea typeface="Segoe UI"/>
                <a:cs typeface="Segoe UI"/>
              </a:defRPr>
            </a:lvl2pPr>
            <a:lvl3pPr algn="l">
              <a:defRPr sz="2175" b="0">
                <a:solidFill>
                  <a:srgbClr val="142D3B"/>
                </a:solidFill>
                <a:latin typeface="Segoe UI"/>
                <a:ea typeface="Segoe UI"/>
                <a:cs typeface="Segoe UI"/>
              </a:defRPr>
            </a:lvl3pPr>
            <a:lvl4pPr algn="l">
              <a:defRPr sz="2175" b="0">
                <a:solidFill>
                  <a:srgbClr val="142D3B"/>
                </a:solidFill>
                <a:latin typeface="Segoe UI"/>
                <a:ea typeface="Segoe UI"/>
                <a:cs typeface="Segoe UI"/>
              </a:defRPr>
            </a:lvl4pPr>
            <a:lvl5pPr algn="l">
              <a:defRPr sz="2175" b="0">
                <a:solidFill>
                  <a:srgbClr val="142D3B"/>
                </a:solidFill>
                <a:latin typeface="Segoe UI"/>
                <a:ea typeface="Segoe UI"/>
                <a:cs typeface="Segoe UI"/>
              </a:defRPr>
            </a:lvl5pPr>
            <a:lvl6pPr algn="l">
              <a:defRPr sz="2175" b="0">
                <a:solidFill>
                  <a:srgbClr val="142D3B"/>
                </a:solidFill>
                <a:latin typeface="Segoe UI"/>
                <a:ea typeface="Segoe UI"/>
                <a:cs typeface="Segoe UI"/>
              </a:defRPr>
            </a:lvl6pPr>
            <a:lvl7pPr algn="l">
              <a:defRPr sz="2175" b="0">
                <a:solidFill>
                  <a:srgbClr val="142D3B"/>
                </a:solidFill>
                <a:latin typeface="Segoe UI"/>
                <a:ea typeface="Segoe UI"/>
                <a:cs typeface="Segoe UI"/>
              </a:defRPr>
            </a:lvl7pPr>
            <a:lvl8pPr algn="l">
              <a:defRPr sz="2175" b="0">
                <a:solidFill>
                  <a:srgbClr val="142D3B"/>
                </a:solidFill>
                <a:latin typeface="Segoe UI"/>
                <a:ea typeface="Segoe UI"/>
                <a:cs typeface="Segoe UI"/>
              </a:defRPr>
            </a:lvl8pPr>
            <a:lvl9pPr algn="l">
              <a:defRPr sz="2175" b="0">
                <a:solidFill>
                  <a:srgbClr val="142D3B"/>
                </a:solidFill>
                <a:latin typeface="Segoe UI"/>
                <a:ea typeface="Segoe UI"/>
                <a:cs typeface="Segoe UI"/>
              </a:defRPr>
            </a:lvl9pPr>
          </a:lstStyle>
          <a:p xmlns:a="http://schemas.openxmlformats.org/drawingml/2006/main">
            <a:pPr algn="l">
              <a:defRPr sz="2175" b="0">
                <a:solidFill>
                  <a:srgbClr val="142D3B"/>
                </a:solidFill>
                <a:latin typeface="Segoe UI"/>
                <a:ea typeface="Segoe UI"/>
                <a:cs typeface="Segoe UI"/>
              </a:defRPr>
            </a:pPr>
            <a:r>
              <a:rPr sz="2175" b="0">
                <a:solidFill>
                  <a:srgbClr val="142D3B"/>
                </a:solidFill>
                <a:latin typeface="Segoe UI"/>
                <a:ea typeface="Segoe UI"/>
                <a:cs typeface="Segoe UI"/>
              </a:rPr>
              <a:t>Chọn phương án có điểm tốt theo mô hình đã định</a:t>
            </a:r>
          </a:p>
        </p:txBody>
      </p:sp>
      <p:sp>
        <p:nvSpPr>
          <p:cNvPr id="8" name="Mục tiêu thường dùng: tổng điểm các cặp chuỗi trong căn chỉnh">
            <a:extLst xmlns:a="http://schemas.openxmlformats.org/drawingml/2006/main">
              <a:ext uri="{FF2B5EF4-FFF2-40B4-BE49-F238E27FC236}">
                <a16:creationId xmlns:a16="http://schemas.microsoft.com/office/drawing/2014/main" id="{591FCDD0-495F-46A4-B9B6-B35EA972DE4E}"/>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Mục tiêu thường dùng: tổng điểm các cặp chuỗi trong căn chỉnh</a:t>
            </a:r>
          </a:p>
        </p:txBody>
      </p:sp>
    </p:spTree>
    <p:extLst>
      <p:ext uri="{BB962C8B-B14F-4D97-AF65-F5344CB8AC3E}">
        <p14:creationId xmlns:p14="http://schemas.microsoft.com/office/powerpoint/2010/main" val="47400965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05">
            <a:extLst xmlns:a="http://schemas.openxmlformats.org/drawingml/2006/main">
              <a:ext uri="{FF2B5EF4-FFF2-40B4-BE49-F238E27FC236}">
                <a16:creationId xmlns:a16="http://schemas.microsoft.com/office/drawing/2014/main" id="{61EBE460-CD48-4E0C-BC39-FECE4184DB9F}"/>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05</a:t>
            </a:r>
          </a:p>
        </p:txBody>
      </p:sp>
      <p:sp>
        <p:nvSpPr>
          <p:cNvPr id="2" name="Điểm thay thế và phạt gap">
            <a:extLst xmlns:a="http://schemas.openxmlformats.org/drawingml/2006/main">
              <a:ext uri="{FF2B5EF4-FFF2-40B4-BE49-F238E27FC236}">
                <a16:creationId xmlns:a16="http://schemas.microsoft.com/office/drawing/2014/main" id="{89AF0579-89E7-4ADE-90D3-8BFA261984A2}"/>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Điểm thay thế và phạt gap</a:t>
            </a:r>
          </a:p>
        </p:txBody>
      </p:sp>
      <p:sp>
        <p:nvSpPr>
          <p:cNvPr id="3" name="Từ đây, ví dụ thuật toán dùng chuỗi protein">
            <a:extLst xmlns:a="http://schemas.openxmlformats.org/drawingml/2006/main">
              <a:ext uri="{FF2B5EF4-FFF2-40B4-BE49-F238E27FC236}">
                <a16:creationId xmlns:a16="http://schemas.microsoft.com/office/drawing/2014/main" id="{BA6A09A6-DCDA-4399-B466-12059E9D407E}"/>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Từ đây, ví dụ thuật toán dùng chuỗi protein</a:t>
            </a:r>
          </a:p>
        </p:txBody>
      </p:sp>
      <p:sp>
        <p:nvSpPr>
          <p:cNvPr id="4" name="BLOSUM62">
            <a:extLst xmlns:a="http://schemas.openxmlformats.org/drawingml/2006/main">
              <a:ext uri="{FF2B5EF4-FFF2-40B4-BE49-F238E27FC236}">
                <a16:creationId xmlns:a16="http://schemas.microsoft.com/office/drawing/2014/main" id="{692CD9F7-3B8B-42B6-BB95-63C6B98A24BB}"/>
              </a:ext>
            </a:extLst>
          </p:cNvPr>
          <p:cNvSpPr>
            <a:spLocks xmlns:a="http://schemas.openxmlformats.org/drawingml/2006/main" noGrp="1"/>
          </p:cNvSpPr>
          <p:nvPr/>
        </p:nvSpPr>
        <p:spPr>
          <a:xfrm xmlns:a="http://schemas.openxmlformats.org/drawingml/2006/main">
            <a:off x="762000" y="23050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75" b="1">
                <a:solidFill>
                  <a:srgbClr val="147D78"/>
                </a:solidFill>
                <a:latin typeface="Segoe UI"/>
                <a:ea typeface="Segoe UI"/>
                <a:cs typeface="Segoe UI"/>
              </a:defRPr>
            </a:defPPr>
            <a:lvl1pPr algn="l">
              <a:defRPr sz="2475" b="1">
                <a:solidFill>
                  <a:srgbClr val="147D78"/>
                </a:solidFill>
                <a:latin typeface="Segoe UI"/>
                <a:ea typeface="Segoe UI"/>
                <a:cs typeface="Segoe UI"/>
              </a:defRPr>
            </a:lvl1pPr>
            <a:lvl2pPr algn="l">
              <a:defRPr sz="2475" b="1">
                <a:solidFill>
                  <a:srgbClr val="147D78"/>
                </a:solidFill>
                <a:latin typeface="Segoe UI"/>
                <a:ea typeface="Segoe UI"/>
                <a:cs typeface="Segoe UI"/>
              </a:defRPr>
            </a:lvl2pPr>
            <a:lvl3pPr algn="l">
              <a:defRPr sz="2475" b="1">
                <a:solidFill>
                  <a:srgbClr val="147D78"/>
                </a:solidFill>
                <a:latin typeface="Segoe UI"/>
                <a:ea typeface="Segoe UI"/>
                <a:cs typeface="Segoe UI"/>
              </a:defRPr>
            </a:lvl3pPr>
            <a:lvl4pPr algn="l">
              <a:defRPr sz="2475" b="1">
                <a:solidFill>
                  <a:srgbClr val="147D78"/>
                </a:solidFill>
                <a:latin typeface="Segoe UI"/>
                <a:ea typeface="Segoe UI"/>
                <a:cs typeface="Segoe UI"/>
              </a:defRPr>
            </a:lvl4pPr>
            <a:lvl5pPr algn="l">
              <a:defRPr sz="2475" b="1">
                <a:solidFill>
                  <a:srgbClr val="147D78"/>
                </a:solidFill>
                <a:latin typeface="Segoe UI"/>
                <a:ea typeface="Segoe UI"/>
                <a:cs typeface="Segoe UI"/>
              </a:defRPr>
            </a:lvl5pPr>
            <a:lvl6pPr algn="l">
              <a:defRPr sz="2475" b="1">
                <a:solidFill>
                  <a:srgbClr val="147D78"/>
                </a:solidFill>
                <a:latin typeface="Segoe UI"/>
                <a:ea typeface="Segoe UI"/>
                <a:cs typeface="Segoe UI"/>
              </a:defRPr>
            </a:lvl6pPr>
            <a:lvl7pPr algn="l">
              <a:defRPr sz="2475" b="1">
                <a:solidFill>
                  <a:srgbClr val="147D78"/>
                </a:solidFill>
                <a:latin typeface="Segoe UI"/>
                <a:ea typeface="Segoe UI"/>
                <a:cs typeface="Segoe UI"/>
              </a:defRPr>
            </a:lvl7pPr>
            <a:lvl8pPr algn="l">
              <a:defRPr sz="2475" b="1">
                <a:solidFill>
                  <a:srgbClr val="147D78"/>
                </a:solidFill>
                <a:latin typeface="Segoe UI"/>
                <a:ea typeface="Segoe UI"/>
                <a:cs typeface="Segoe UI"/>
              </a:defRPr>
            </a:lvl8pPr>
            <a:lvl9pPr algn="l">
              <a:defRPr sz="2475" b="1">
                <a:solidFill>
                  <a:srgbClr val="147D78"/>
                </a:solidFill>
                <a:latin typeface="Segoe UI"/>
                <a:ea typeface="Segoe UI"/>
                <a:cs typeface="Segoe UI"/>
              </a:defRPr>
            </a:lvl9pPr>
          </a:lstStyle>
          <a:p xmlns:a="http://schemas.openxmlformats.org/drawingml/2006/main">
            <a:pPr algn="l">
              <a:defRPr sz="2475" b="1">
                <a:solidFill>
                  <a:srgbClr val="147D78"/>
                </a:solidFill>
                <a:latin typeface="Segoe UI"/>
                <a:ea typeface="Segoe UI"/>
                <a:cs typeface="Segoe UI"/>
              </a:defRPr>
            </a:pPr>
            <a:r>
              <a:rPr sz="2475" b="1">
                <a:solidFill>
                  <a:srgbClr val="147D78"/>
                </a:solidFill>
                <a:latin typeface="Segoe UI"/>
                <a:ea typeface="Segoe UI"/>
                <a:cs typeface="Segoe UI"/>
              </a:rPr>
              <a:t>BLOSUM62</a:t>
            </a:r>
          </a:p>
        </p:txBody>
      </p:sp>
      <p:graphicFrame>
        <p:nvGraphicFramePr>
          <p:cNvPr id="5" name="">
            <a:extLst xmlns:a="http://schemas.openxmlformats.org/drawingml/2006/main">
              <a:ext uri="{FF2B5EF4-FFF2-40B4-BE49-F238E27FC236}">
                <a16:creationId xmlns:a16="http://schemas.microsoft.com/office/drawing/2014/main" id="{9099B11E-2082-48F9-BF88-D7405DD0AE77}"/>
              </a:ext>
            </a:extLst>
          </p:cNvPr>
          <p:cNvGraphicFramePr/>
          <p:nvPr/>
        </p:nvGraphicFramePr>
        <p:xfrm>
          <a:off xmlns:a="http://schemas.openxmlformats.org/drawingml/2006/main" x="762000" y="2933700"/>
          <a:ext xmlns:a="http://schemas.openxmlformats.org/drawingml/2006/main" cx="4667250" cy="2238375"/>
        </p:xfrm>
        <a:graphic xmlns:a="http://schemas.openxmlformats.org/drawingml/2006/main">
          <a:graphicData uri="http://schemas.openxmlformats.org/drawingml/2006/table">
            <a:tbl>
              <a:tblPr firstRow="0" firstCol="0" bandRow="0"/>
              <a:tblGrid>
                <a:gridCol w="3048000"/>
                <a:gridCol w="1619250"/>
              </a:tblGrid>
              <a:tr h="559594">
                <a:tc>
                  <a:txBody>
                    <a:bodyPr anchor="ctr"/>
                    <a:lstStyle/>
                    <a:p>
                      <a:pPr algn="ctr"/>
                      <a:r>
                        <a:rPr sz="2175" b="1">
                          <a:solidFill>
                            <a:srgbClr val="147D78"/>
                          </a:solidFill>
                          <a:latin typeface="Segoe UI"/>
                          <a:ea typeface="Segoe UI"/>
                          <a:cs typeface="Segoe UI"/>
                        </a:rPr>
                        <a:t>Cặp amino acid</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DDECE6"/>
                    </a:solidFill>
                  </a:tcPr>
                </a:tc>
                <a:tc>
                  <a:txBody>
                    <a:bodyPr anchor="ctr"/>
                    <a:lstStyle/>
                    <a:p>
                      <a:pPr algn="ctr"/>
                      <a:r>
                        <a:rPr sz="2175" b="1">
                          <a:solidFill>
                            <a:srgbClr val="147D78"/>
                          </a:solidFill>
                          <a:latin typeface="Segoe UI"/>
                          <a:ea typeface="Segoe UI"/>
                          <a:cs typeface="Segoe UI"/>
                        </a:rPr>
                        <a:t>Điểm</a:t>
                      </a:r>
                    </a:p>
                  </a:txBody>
                  <a:tcPr marL="76200" marR="76200" marT="57150" marB="57150" anchor="ctr">
                    <a:lnR w="0">
                      <a:solidFill>
                        <a:srgbClr val="F7F5EF"/>
                      </a:solidFill>
                    </a:lnR>
                    <a:lnT w="0">
                      <a:solidFill>
                        <a:srgbClr val="F7F5EF"/>
                      </a:solidFill>
                    </a:lnT>
                    <a:lnB w="0">
                      <a:solidFill>
                        <a:srgbClr val="F7F5EF"/>
                      </a:solidFill>
                    </a:lnB>
                    <a:solidFill>
                      <a:srgbClr val="DDECE6"/>
                    </a:solidFill>
                  </a:tcPr>
                </a:tc>
              </a:tr>
              <a:tr h="559594">
                <a:tc>
                  <a:txBody>
                    <a:bodyPr anchor="ctr"/>
                    <a:lstStyle/>
                    <a:p>
                      <a:pPr algn="ctr"/>
                      <a:r>
                        <a:rPr sz="2175">
                          <a:solidFill>
                            <a:srgbClr val="142D3B"/>
                          </a:solidFill>
                          <a:latin typeface="Segoe UI"/>
                          <a:ea typeface="Segoe UI"/>
                          <a:cs typeface="Segoe UI"/>
                        </a:rPr>
                        <a:t>A / A</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175">
                          <a:solidFill>
                            <a:srgbClr val="142D3B"/>
                          </a:solidFill>
                          <a:latin typeface="Segoe UI"/>
                          <a:ea typeface="Segoe UI"/>
                          <a:cs typeface="Segoe UI"/>
                        </a:rPr>
                        <a:t>+4</a:t>
                      </a:r>
                    </a:p>
                  </a:txBody>
                  <a:tcPr marL="76200" marR="76200" marT="57150" marB="57150" anchor="ctr">
                    <a:lnR w="0">
                      <a:solidFill>
                        <a:srgbClr val="F7F5EF"/>
                      </a:solidFill>
                    </a:lnR>
                    <a:lnB w="0">
                      <a:solidFill>
                        <a:srgbClr val="F7F5EF"/>
                      </a:solidFill>
                    </a:lnB>
                    <a:solidFill>
                      <a:srgbClr val="F7F5EF"/>
                    </a:solidFill>
                  </a:tcPr>
                </a:tc>
              </a:tr>
              <a:tr h="559594">
                <a:tc>
                  <a:txBody>
                    <a:bodyPr anchor="ctr"/>
                    <a:lstStyle/>
                    <a:p>
                      <a:pPr algn="ctr"/>
                      <a:r>
                        <a:rPr sz="2175">
                          <a:solidFill>
                            <a:srgbClr val="142D3B"/>
                          </a:solidFill>
                          <a:latin typeface="Segoe UI"/>
                          <a:ea typeface="Segoe UI"/>
                          <a:cs typeface="Segoe UI"/>
                        </a:rPr>
                        <a:t>C / C</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175">
                          <a:solidFill>
                            <a:srgbClr val="142D3B"/>
                          </a:solidFill>
                          <a:latin typeface="Segoe UI"/>
                          <a:ea typeface="Segoe UI"/>
                          <a:cs typeface="Segoe UI"/>
                        </a:rPr>
                        <a:t>+9</a:t>
                      </a:r>
                    </a:p>
                  </a:txBody>
                  <a:tcPr marL="76200" marR="76200" marT="57150" marB="57150" anchor="ctr">
                    <a:lnR w="0">
                      <a:solidFill>
                        <a:srgbClr val="F7F5EF"/>
                      </a:solidFill>
                    </a:lnR>
                    <a:lnB w="0">
                      <a:solidFill>
                        <a:srgbClr val="F7F5EF"/>
                      </a:solidFill>
                    </a:lnB>
                    <a:solidFill>
                      <a:srgbClr val="F7F5EF"/>
                    </a:solidFill>
                  </a:tcPr>
                </a:tc>
              </a:tr>
              <a:tr h="559594">
                <a:tc>
                  <a:txBody>
                    <a:bodyPr anchor="ctr"/>
                    <a:lstStyle/>
                    <a:p>
                      <a:pPr algn="ctr"/>
                      <a:r>
                        <a:rPr sz="2175">
                          <a:solidFill>
                            <a:srgbClr val="142D3B"/>
                          </a:solidFill>
                          <a:latin typeface="Segoe UI"/>
                          <a:ea typeface="Segoe UI"/>
                          <a:cs typeface="Segoe UI"/>
                        </a:rPr>
                        <a:t>E / F</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175">
                          <a:solidFill>
                            <a:srgbClr val="142D3B"/>
                          </a:solidFill>
                          <a:latin typeface="Segoe UI"/>
                          <a:ea typeface="Segoe UI"/>
                          <a:cs typeface="Segoe UI"/>
                        </a:rPr>
                        <a:t>−3</a:t>
                      </a:r>
                    </a:p>
                  </a:txBody>
                  <a:tcPr marL="76200" marR="76200" marT="57150" marB="57150" anchor="ctr">
                    <a:lnR w="0">
                      <a:solidFill>
                        <a:srgbClr val="F7F5EF"/>
                      </a:solidFill>
                    </a:lnR>
                    <a:lnB w="0">
                      <a:solidFill>
                        <a:srgbClr val="F7F5EF"/>
                      </a:solidFill>
                    </a:lnB>
                    <a:solidFill>
                      <a:srgbClr val="F7F5EF"/>
                    </a:solidFill>
                  </a:tcPr>
                </a:tc>
              </a:tr>
            </a:tbl>
          </a:graphicData>
        </a:graphic>
      </p:graphicFrame>
      <p:sp>
        <p:nvSpPr>
          <p:cNvPr id="6" name="Affine gap">
            <a:extLst xmlns:a="http://schemas.openxmlformats.org/drawingml/2006/main">
              <a:ext uri="{FF2B5EF4-FFF2-40B4-BE49-F238E27FC236}">
                <a16:creationId xmlns:a16="http://schemas.microsoft.com/office/drawing/2014/main" id="{B1FDE5F2-05F2-475F-864C-BC92D91DACA4}"/>
              </a:ext>
            </a:extLst>
          </p:cNvPr>
          <p:cNvSpPr>
            <a:spLocks xmlns:a="http://schemas.openxmlformats.org/drawingml/2006/main" noGrp="1"/>
          </p:cNvSpPr>
          <p:nvPr/>
        </p:nvSpPr>
        <p:spPr>
          <a:xfrm xmlns:a="http://schemas.openxmlformats.org/drawingml/2006/main">
            <a:off x="6572250" y="23050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75" b="1">
                <a:solidFill>
                  <a:srgbClr val="147D78"/>
                </a:solidFill>
                <a:latin typeface="Segoe UI"/>
                <a:ea typeface="Segoe UI"/>
                <a:cs typeface="Segoe UI"/>
              </a:defRPr>
            </a:defPPr>
            <a:lvl1pPr algn="l">
              <a:defRPr sz="2475" b="1">
                <a:solidFill>
                  <a:srgbClr val="147D78"/>
                </a:solidFill>
                <a:latin typeface="Segoe UI"/>
                <a:ea typeface="Segoe UI"/>
                <a:cs typeface="Segoe UI"/>
              </a:defRPr>
            </a:lvl1pPr>
            <a:lvl2pPr algn="l">
              <a:defRPr sz="2475" b="1">
                <a:solidFill>
                  <a:srgbClr val="147D78"/>
                </a:solidFill>
                <a:latin typeface="Segoe UI"/>
                <a:ea typeface="Segoe UI"/>
                <a:cs typeface="Segoe UI"/>
              </a:defRPr>
            </a:lvl2pPr>
            <a:lvl3pPr algn="l">
              <a:defRPr sz="2475" b="1">
                <a:solidFill>
                  <a:srgbClr val="147D78"/>
                </a:solidFill>
                <a:latin typeface="Segoe UI"/>
                <a:ea typeface="Segoe UI"/>
                <a:cs typeface="Segoe UI"/>
              </a:defRPr>
            </a:lvl3pPr>
            <a:lvl4pPr algn="l">
              <a:defRPr sz="2475" b="1">
                <a:solidFill>
                  <a:srgbClr val="147D78"/>
                </a:solidFill>
                <a:latin typeface="Segoe UI"/>
                <a:ea typeface="Segoe UI"/>
                <a:cs typeface="Segoe UI"/>
              </a:defRPr>
            </a:lvl4pPr>
            <a:lvl5pPr algn="l">
              <a:defRPr sz="2475" b="1">
                <a:solidFill>
                  <a:srgbClr val="147D78"/>
                </a:solidFill>
                <a:latin typeface="Segoe UI"/>
                <a:ea typeface="Segoe UI"/>
                <a:cs typeface="Segoe UI"/>
              </a:defRPr>
            </a:lvl5pPr>
            <a:lvl6pPr algn="l">
              <a:defRPr sz="2475" b="1">
                <a:solidFill>
                  <a:srgbClr val="147D78"/>
                </a:solidFill>
                <a:latin typeface="Segoe UI"/>
                <a:ea typeface="Segoe UI"/>
                <a:cs typeface="Segoe UI"/>
              </a:defRPr>
            </a:lvl6pPr>
            <a:lvl7pPr algn="l">
              <a:defRPr sz="2475" b="1">
                <a:solidFill>
                  <a:srgbClr val="147D78"/>
                </a:solidFill>
                <a:latin typeface="Segoe UI"/>
                <a:ea typeface="Segoe UI"/>
                <a:cs typeface="Segoe UI"/>
              </a:defRPr>
            </a:lvl7pPr>
            <a:lvl8pPr algn="l">
              <a:defRPr sz="2475" b="1">
                <a:solidFill>
                  <a:srgbClr val="147D78"/>
                </a:solidFill>
                <a:latin typeface="Segoe UI"/>
                <a:ea typeface="Segoe UI"/>
                <a:cs typeface="Segoe UI"/>
              </a:defRPr>
            </a:lvl8pPr>
            <a:lvl9pPr algn="l">
              <a:defRPr sz="2475" b="1">
                <a:solidFill>
                  <a:srgbClr val="147D78"/>
                </a:solidFill>
                <a:latin typeface="Segoe UI"/>
                <a:ea typeface="Segoe UI"/>
                <a:cs typeface="Segoe UI"/>
              </a:defRPr>
            </a:lvl9pPr>
          </a:lstStyle>
          <a:p xmlns:a="http://schemas.openxmlformats.org/drawingml/2006/main">
            <a:pPr algn="l">
              <a:defRPr sz="2475" b="1">
                <a:solidFill>
                  <a:srgbClr val="147D78"/>
                </a:solidFill>
                <a:latin typeface="Segoe UI"/>
                <a:ea typeface="Segoe UI"/>
                <a:cs typeface="Segoe UI"/>
              </a:defRPr>
            </a:pPr>
            <a:r>
              <a:rPr sz="2475" b="1">
                <a:solidFill>
                  <a:srgbClr val="147D78"/>
                </a:solidFill>
                <a:latin typeface="Segoe UI"/>
                <a:ea typeface="Segoe UI"/>
                <a:cs typeface="Segoe UI"/>
              </a:rPr>
              <a:t>Affine gap</a:t>
            </a:r>
          </a:p>
        </p:txBody>
      </p:sp>
      <p:sp>
        <p:nvSpPr>
          <p:cNvPr id="7" name="g(ℓ) = −10 − (ℓ − 1)">
            <a:extLst xmlns:a="http://schemas.openxmlformats.org/drawingml/2006/main">
              <a:ext uri="{FF2B5EF4-FFF2-40B4-BE49-F238E27FC236}">
                <a16:creationId xmlns:a16="http://schemas.microsoft.com/office/drawing/2014/main" id="{82D0895C-1CF4-47C7-A0ED-EDC8E77870B0}"/>
              </a:ext>
            </a:extLst>
          </p:cNvPr>
          <p:cNvSpPr>
            <a:spLocks xmlns:a="http://schemas.openxmlformats.org/drawingml/2006/main" noGrp="1"/>
          </p:cNvSpPr>
          <p:nvPr/>
        </p:nvSpPr>
        <p:spPr>
          <a:xfrm xmlns:a="http://schemas.openxmlformats.org/drawingml/2006/main">
            <a:off x="6572250" y="30670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550" b="1">
                <a:solidFill>
                  <a:srgbClr val="142D3B"/>
                </a:solidFill>
                <a:latin typeface="Consolas"/>
                <a:ea typeface="Consolas"/>
                <a:cs typeface="Consolas"/>
              </a:defRPr>
            </a:defPPr>
            <a:lvl1pPr algn="l">
              <a:defRPr sz="2550" b="1">
                <a:solidFill>
                  <a:srgbClr val="142D3B"/>
                </a:solidFill>
                <a:latin typeface="Consolas"/>
                <a:ea typeface="Consolas"/>
                <a:cs typeface="Consolas"/>
              </a:defRPr>
            </a:lvl1pPr>
            <a:lvl2pPr algn="l">
              <a:defRPr sz="2550" b="1">
                <a:solidFill>
                  <a:srgbClr val="142D3B"/>
                </a:solidFill>
                <a:latin typeface="Consolas"/>
                <a:ea typeface="Consolas"/>
                <a:cs typeface="Consolas"/>
              </a:defRPr>
            </a:lvl2pPr>
            <a:lvl3pPr algn="l">
              <a:defRPr sz="2550" b="1">
                <a:solidFill>
                  <a:srgbClr val="142D3B"/>
                </a:solidFill>
                <a:latin typeface="Consolas"/>
                <a:ea typeface="Consolas"/>
                <a:cs typeface="Consolas"/>
              </a:defRPr>
            </a:lvl3pPr>
            <a:lvl4pPr algn="l">
              <a:defRPr sz="2550" b="1">
                <a:solidFill>
                  <a:srgbClr val="142D3B"/>
                </a:solidFill>
                <a:latin typeface="Consolas"/>
                <a:ea typeface="Consolas"/>
                <a:cs typeface="Consolas"/>
              </a:defRPr>
            </a:lvl4pPr>
            <a:lvl5pPr algn="l">
              <a:defRPr sz="2550" b="1">
                <a:solidFill>
                  <a:srgbClr val="142D3B"/>
                </a:solidFill>
                <a:latin typeface="Consolas"/>
                <a:ea typeface="Consolas"/>
                <a:cs typeface="Consolas"/>
              </a:defRPr>
            </a:lvl5pPr>
            <a:lvl6pPr algn="l">
              <a:defRPr sz="2550" b="1">
                <a:solidFill>
                  <a:srgbClr val="142D3B"/>
                </a:solidFill>
                <a:latin typeface="Consolas"/>
                <a:ea typeface="Consolas"/>
                <a:cs typeface="Consolas"/>
              </a:defRPr>
            </a:lvl6pPr>
            <a:lvl7pPr algn="l">
              <a:defRPr sz="2550" b="1">
                <a:solidFill>
                  <a:srgbClr val="142D3B"/>
                </a:solidFill>
                <a:latin typeface="Consolas"/>
                <a:ea typeface="Consolas"/>
                <a:cs typeface="Consolas"/>
              </a:defRPr>
            </a:lvl7pPr>
            <a:lvl8pPr algn="l">
              <a:defRPr sz="2550" b="1">
                <a:solidFill>
                  <a:srgbClr val="142D3B"/>
                </a:solidFill>
                <a:latin typeface="Consolas"/>
                <a:ea typeface="Consolas"/>
                <a:cs typeface="Consolas"/>
              </a:defRPr>
            </a:lvl8pPr>
            <a:lvl9pPr algn="l">
              <a:defRPr sz="2550" b="1">
                <a:solidFill>
                  <a:srgbClr val="142D3B"/>
                </a:solidFill>
                <a:latin typeface="Consolas"/>
                <a:ea typeface="Consolas"/>
                <a:cs typeface="Consolas"/>
              </a:defRPr>
            </a:lvl9pPr>
          </a:lstStyle>
          <a:p xmlns:a="http://schemas.openxmlformats.org/drawingml/2006/main">
            <a:pPr algn="l">
              <a:defRPr sz="2550" b="1">
                <a:solidFill>
                  <a:srgbClr val="142D3B"/>
                </a:solidFill>
                <a:latin typeface="Consolas"/>
                <a:ea typeface="Consolas"/>
                <a:cs typeface="Consolas"/>
              </a:defRPr>
            </a:pPr>
            <a:r>
              <a:rPr sz="2550" b="1">
                <a:solidFill>
                  <a:srgbClr val="142D3B"/>
                </a:solidFill>
                <a:latin typeface="Consolas"/>
                <a:ea typeface="Consolas"/>
                <a:cs typeface="Consolas"/>
              </a:rPr>
              <a:t>g(ℓ) = −10 − (ℓ − 1)</a:t>
            </a:r>
          </a:p>
        </p:txBody>
      </p:sp>
      <p:sp>
        <p:nvSpPr>
          <p:cNvPr id="8" name="Mở một gap: −10">
            <a:extLst xmlns:a="http://schemas.openxmlformats.org/drawingml/2006/main">
              <a:ext uri="{FF2B5EF4-FFF2-40B4-BE49-F238E27FC236}">
                <a16:creationId xmlns:a16="http://schemas.microsoft.com/office/drawing/2014/main" id="{D4B37E05-738B-4130-A658-66DDAB63A5AA}"/>
              </a:ext>
            </a:extLst>
          </p:cNvPr>
          <p:cNvSpPr>
            <a:spLocks xmlns:a="http://schemas.openxmlformats.org/drawingml/2006/main" noGrp="1"/>
          </p:cNvSpPr>
          <p:nvPr/>
        </p:nvSpPr>
        <p:spPr>
          <a:xfrm xmlns:a="http://schemas.openxmlformats.org/drawingml/2006/main">
            <a:off x="6572250" y="3857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Mở một gap: −10</a:t>
            </a:r>
          </a:p>
        </p:txBody>
      </p:sp>
      <p:sp>
        <p:nvSpPr>
          <p:cNvPr id="9" name="Kéo dài thêm một vị trí: −1">
            <a:extLst xmlns:a="http://schemas.openxmlformats.org/drawingml/2006/main">
              <a:ext uri="{FF2B5EF4-FFF2-40B4-BE49-F238E27FC236}">
                <a16:creationId xmlns:a16="http://schemas.microsoft.com/office/drawing/2014/main" id="{A51F9C46-DAB6-4AB9-9720-D5C2A922F2FA}"/>
              </a:ext>
            </a:extLst>
          </p:cNvPr>
          <p:cNvSpPr>
            <a:spLocks xmlns:a="http://schemas.openxmlformats.org/drawingml/2006/main" noGrp="1"/>
          </p:cNvSpPr>
          <p:nvPr/>
        </p:nvSpPr>
        <p:spPr>
          <a:xfrm xmlns:a="http://schemas.openxmlformats.org/drawingml/2006/main">
            <a:off x="6572250" y="4286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Kéo dài thêm một vị trí: −1</a:t>
            </a:r>
          </a:p>
        </p:txBody>
      </p:sp>
      <p:sp>
        <p:nvSpPr>
          <p:cNvPr id="10" name="Một đoạn 3 gap: −12">
            <a:extLst xmlns:a="http://schemas.openxmlformats.org/drawingml/2006/main">
              <a:ext uri="{FF2B5EF4-FFF2-40B4-BE49-F238E27FC236}">
                <a16:creationId xmlns:a16="http://schemas.microsoft.com/office/drawing/2014/main" id="{4E01E5D0-B3AA-466B-ACFA-39EC5B3F9D6C}"/>
              </a:ext>
            </a:extLst>
          </p:cNvPr>
          <p:cNvSpPr>
            <a:spLocks xmlns:a="http://schemas.openxmlformats.org/drawingml/2006/main" noGrp="1"/>
          </p:cNvSpPr>
          <p:nvPr/>
        </p:nvSpPr>
        <p:spPr>
          <a:xfrm xmlns:a="http://schemas.openxmlformats.org/drawingml/2006/main">
            <a:off x="6572250" y="4714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Một đoạn 3 gap: −12</a:t>
            </a:r>
          </a:p>
        </p:txBody>
      </p:sp>
      <p:sp>
        <p:nvSpPr>
          <p:cNvPr id="11" name="Mô hình điểm quyết định phương án căn chỉnh được ưu tiên">
            <a:extLst xmlns:a="http://schemas.openxmlformats.org/drawingml/2006/main">
              <a:ext uri="{FF2B5EF4-FFF2-40B4-BE49-F238E27FC236}">
                <a16:creationId xmlns:a16="http://schemas.microsoft.com/office/drawing/2014/main" id="{233C9386-2925-4A0D-8F0B-35A67FB2102D}"/>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Mô hình điểm quyết định phương án căn chỉnh được ưu tiên</a:t>
            </a:r>
          </a:p>
        </p:txBody>
      </p:sp>
    </p:spTree>
    <p:extLst>
      <p:ext uri="{BB962C8B-B14F-4D97-AF65-F5344CB8AC3E}">
        <p14:creationId xmlns:p14="http://schemas.microsoft.com/office/powerpoint/2010/main" val="2079344372"/>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06">
            <a:extLst xmlns:a="http://schemas.openxmlformats.org/drawingml/2006/main">
              <a:ext uri="{FF2B5EF4-FFF2-40B4-BE49-F238E27FC236}">
                <a16:creationId xmlns:a16="http://schemas.microsoft.com/office/drawing/2014/main" id="{1C40BD18-534E-45FF-A4EF-C404E3114FC2}"/>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06</a:t>
            </a:r>
          </a:p>
        </p:txBody>
      </p:sp>
      <p:sp>
        <p:nvSpPr>
          <p:cNvPr id="2" name="Vì sao cần một chiến lược gần đúng?">
            <a:extLst xmlns:a="http://schemas.openxmlformats.org/drawingml/2006/main">
              <a:ext uri="{FF2B5EF4-FFF2-40B4-BE49-F238E27FC236}">
                <a16:creationId xmlns:a16="http://schemas.microsoft.com/office/drawing/2014/main" id="{A8983215-AEF1-466B-91AA-4C46D823A157}"/>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Vì sao cần một chiến lược gần đúng?</a:t>
            </a:r>
          </a:p>
        </p:txBody>
      </p:sp>
      <p:sp>
        <p:nvSpPr>
          <p:cNvPr id="3" name="Số chiều của bảng DP tăng theo số chuỗi">
            <a:extLst xmlns:a="http://schemas.openxmlformats.org/drawingml/2006/main">
              <a:ext uri="{FF2B5EF4-FFF2-40B4-BE49-F238E27FC236}">
                <a16:creationId xmlns:a16="http://schemas.microsoft.com/office/drawing/2014/main" id="{0A49F4B8-93B5-431E-8057-2BAAB7A9D50C}"/>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Số chiều của bảng DP tăng theo số chuỗi</a:t>
            </a:r>
          </a:p>
        </p:txBody>
      </p:sp>
      <p:sp>
        <p:nvSpPr>
          <p:cNvPr id="4" name="2 chuỗi">
            <a:extLst xmlns:a="http://schemas.openxmlformats.org/drawingml/2006/main">
              <a:ext uri="{FF2B5EF4-FFF2-40B4-BE49-F238E27FC236}">
                <a16:creationId xmlns:a16="http://schemas.microsoft.com/office/drawing/2014/main" id="{6CB5A6BF-0A97-49B0-9954-049FFEE006DD}"/>
              </a:ext>
            </a:extLst>
          </p:cNvPr>
          <p:cNvSpPr>
            <a:spLocks xmlns:a="http://schemas.openxmlformats.org/drawingml/2006/main" noGrp="1"/>
          </p:cNvSpPr>
          <p:nvPr/>
        </p:nvSpPr>
        <p:spPr>
          <a:xfrm xmlns:a="http://schemas.openxmlformats.org/drawingml/2006/main">
            <a:off x="762000" y="24860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75" b="1">
                <a:solidFill>
                  <a:srgbClr val="147D78"/>
                </a:solidFill>
                <a:latin typeface="Segoe UI"/>
                <a:ea typeface="Segoe UI"/>
                <a:cs typeface="Segoe UI"/>
              </a:defRPr>
            </a:defPPr>
            <a:lvl1pPr algn="l">
              <a:defRPr sz="2775" b="1">
                <a:solidFill>
                  <a:srgbClr val="147D78"/>
                </a:solidFill>
                <a:latin typeface="Segoe UI"/>
                <a:ea typeface="Segoe UI"/>
                <a:cs typeface="Segoe UI"/>
              </a:defRPr>
            </a:lvl1pPr>
            <a:lvl2pPr algn="l">
              <a:defRPr sz="2775" b="1">
                <a:solidFill>
                  <a:srgbClr val="147D78"/>
                </a:solidFill>
                <a:latin typeface="Segoe UI"/>
                <a:ea typeface="Segoe UI"/>
                <a:cs typeface="Segoe UI"/>
              </a:defRPr>
            </a:lvl2pPr>
            <a:lvl3pPr algn="l">
              <a:defRPr sz="2775" b="1">
                <a:solidFill>
                  <a:srgbClr val="147D78"/>
                </a:solidFill>
                <a:latin typeface="Segoe UI"/>
                <a:ea typeface="Segoe UI"/>
                <a:cs typeface="Segoe UI"/>
              </a:defRPr>
            </a:lvl3pPr>
            <a:lvl4pPr algn="l">
              <a:defRPr sz="2775" b="1">
                <a:solidFill>
                  <a:srgbClr val="147D78"/>
                </a:solidFill>
                <a:latin typeface="Segoe UI"/>
                <a:ea typeface="Segoe UI"/>
                <a:cs typeface="Segoe UI"/>
              </a:defRPr>
            </a:lvl4pPr>
            <a:lvl5pPr algn="l">
              <a:defRPr sz="2775" b="1">
                <a:solidFill>
                  <a:srgbClr val="147D78"/>
                </a:solidFill>
                <a:latin typeface="Segoe UI"/>
                <a:ea typeface="Segoe UI"/>
                <a:cs typeface="Segoe UI"/>
              </a:defRPr>
            </a:lvl5pPr>
            <a:lvl6pPr algn="l">
              <a:defRPr sz="2775" b="1">
                <a:solidFill>
                  <a:srgbClr val="147D78"/>
                </a:solidFill>
                <a:latin typeface="Segoe UI"/>
                <a:ea typeface="Segoe UI"/>
                <a:cs typeface="Segoe UI"/>
              </a:defRPr>
            </a:lvl6pPr>
            <a:lvl7pPr algn="l">
              <a:defRPr sz="2775" b="1">
                <a:solidFill>
                  <a:srgbClr val="147D78"/>
                </a:solidFill>
                <a:latin typeface="Segoe UI"/>
                <a:ea typeface="Segoe UI"/>
                <a:cs typeface="Segoe UI"/>
              </a:defRPr>
            </a:lvl7pPr>
            <a:lvl8pPr algn="l">
              <a:defRPr sz="2775" b="1">
                <a:solidFill>
                  <a:srgbClr val="147D78"/>
                </a:solidFill>
                <a:latin typeface="Segoe UI"/>
                <a:ea typeface="Segoe UI"/>
                <a:cs typeface="Segoe UI"/>
              </a:defRPr>
            </a:lvl8pPr>
            <a:lvl9pPr algn="l">
              <a:defRPr sz="2775" b="1">
                <a:solidFill>
                  <a:srgbClr val="147D78"/>
                </a:solidFill>
                <a:latin typeface="Segoe UI"/>
                <a:ea typeface="Segoe UI"/>
                <a:cs typeface="Segoe UI"/>
              </a:defRPr>
            </a:lvl9pPr>
          </a:lstStyle>
          <a:p xmlns:a="http://schemas.openxmlformats.org/drawingml/2006/main">
            <a:pPr algn="l">
              <a:defRPr sz="2775" b="1">
                <a:solidFill>
                  <a:srgbClr val="147D78"/>
                </a:solidFill>
                <a:latin typeface="Segoe UI"/>
                <a:ea typeface="Segoe UI"/>
                <a:cs typeface="Segoe UI"/>
              </a:defRPr>
            </a:pPr>
            <a:r>
              <a:rPr sz="2775" b="1">
                <a:solidFill>
                  <a:srgbClr val="147D78"/>
                </a:solidFill>
                <a:latin typeface="Segoe UI"/>
                <a:ea typeface="Segoe UI"/>
                <a:cs typeface="Segoe UI"/>
              </a:rPr>
              <a:t>2 chuỗi</a:t>
            </a:r>
          </a:p>
        </p:txBody>
      </p:sp>
      <p:sp>
        <p:nvSpPr>
          <p:cNvPr id="5" name="k chuỗi">
            <a:extLst xmlns:a="http://schemas.openxmlformats.org/drawingml/2006/main">
              <a:ext uri="{FF2B5EF4-FFF2-40B4-BE49-F238E27FC236}">
                <a16:creationId xmlns:a16="http://schemas.microsoft.com/office/drawing/2014/main" id="{2EA33073-BD55-47B0-8C0D-38541E1F8F17}"/>
              </a:ext>
            </a:extLst>
          </p:cNvPr>
          <p:cNvSpPr>
            <a:spLocks xmlns:a="http://schemas.openxmlformats.org/drawingml/2006/main" noGrp="1"/>
          </p:cNvSpPr>
          <p:nvPr/>
        </p:nvSpPr>
        <p:spPr>
          <a:xfrm xmlns:a="http://schemas.openxmlformats.org/drawingml/2006/main">
            <a:off x="6572250" y="24860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775" b="1">
                <a:solidFill>
                  <a:srgbClr val="147D78"/>
                </a:solidFill>
                <a:latin typeface="Segoe UI"/>
                <a:ea typeface="Segoe UI"/>
                <a:cs typeface="Segoe UI"/>
              </a:defRPr>
            </a:defPPr>
            <a:lvl1pPr algn="l">
              <a:defRPr sz="2775" b="1">
                <a:solidFill>
                  <a:srgbClr val="147D78"/>
                </a:solidFill>
                <a:latin typeface="Segoe UI"/>
                <a:ea typeface="Segoe UI"/>
                <a:cs typeface="Segoe UI"/>
              </a:defRPr>
            </a:lvl1pPr>
            <a:lvl2pPr algn="l">
              <a:defRPr sz="2775" b="1">
                <a:solidFill>
                  <a:srgbClr val="147D78"/>
                </a:solidFill>
                <a:latin typeface="Segoe UI"/>
                <a:ea typeface="Segoe UI"/>
                <a:cs typeface="Segoe UI"/>
              </a:defRPr>
            </a:lvl2pPr>
            <a:lvl3pPr algn="l">
              <a:defRPr sz="2775" b="1">
                <a:solidFill>
                  <a:srgbClr val="147D78"/>
                </a:solidFill>
                <a:latin typeface="Segoe UI"/>
                <a:ea typeface="Segoe UI"/>
                <a:cs typeface="Segoe UI"/>
              </a:defRPr>
            </a:lvl3pPr>
            <a:lvl4pPr algn="l">
              <a:defRPr sz="2775" b="1">
                <a:solidFill>
                  <a:srgbClr val="147D78"/>
                </a:solidFill>
                <a:latin typeface="Segoe UI"/>
                <a:ea typeface="Segoe UI"/>
                <a:cs typeface="Segoe UI"/>
              </a:defRPr>
            </a:lvl4pPr>
            <a:lvl5pPr algn="l">
              <a:defRPr sz="2775" b="1">
                <a:solidFill>
                  <a:srgbClr val="147D78"/>
                </a:solidFill>
                <a:latin typeface="Segoe UI"/>
                <a:ea typeface="Segoe UI"/>
                <a:cs typeface="Segoe UI"/>
              </a:defRPr>
            </a:lvl5pPr>
            <a:lvl6pPr algn="l">
              <a:defRPr sz="2775" b="1">
                <a:solidFill>
                  <a:srgbClr val="147D78"/>
                </a:solidFill>
                <a:latin typeface="Segoe UI"/>
                <a:ea typeface="Segoe UI"/>
                <a:cs typeface="Segoe UI"/>
              </a:defRPr>
            </a:lvl6pPr>
            <a:lvl7pPr algn="l">
              <a:defRPr sz="2775" b="1">
                <a:solidFill>
                  <a:srgbClr val="147D78"/>
                </a:solidFill>
                <a:latin typeface="Segoe UI"/>
                <a:ea typeface="Segoe UI"/>
                <a:cs typeface="Segoe UI"/>
              </a:defRPr>
            </a:lvl7pPr>
            <a:lvl8pPr algn="l">
              <a:defRPr sz="2775" b="1">
                <a:solidFill>
                  <a:srgbClr val="147D78"/>
                </a:solidFill>
                <a:latin typeface="Segoe UI"/>
                <a:ea typeface="Segoe UI"/>
                <a:cs typeface="Segoe UI"/>
              </a:defRPr>
            </a:lvl8pPr>
            <a:lvl9pPr algn="l">
              <a:defRPr sz="2775" b="1">
                <a:solidFill>
                  <a:srgbClr val="147D78"/>
                </a:solidFill>
                <a:latin typeface="Segoe UI"/>
                <a:ea typeface="Segoe UI"/>
                <a:cs typeface="Segoe UI"/>
              </a:defRPr>
            </a:lvl9pPr>
          </a:lstStyle>
          <a:p xmlns:a="http://schemas.openxmlformats.org/drawingml/2006/main">
            <a:pPr algn="l">
              <a:defRPr sz="2775" b="1">
                <a:solidFill>
                  <a:srgbClr val="147D78"/>
                </a:solidFill>
                <a:latin typeface="Segoe UI"/>
                <a:ea typeface="Segoe UI"/>
                <a:cs typeface="Segoe UI"/>
              </a:defRPr>
            </a:pPr>
            <a:r>
              <a:rPr sz="2775" b="1">
                <a:solidFill>
                  <a:srgbClr val="147D78"/>
                </a:solidFill>
                <a:latin typeface="Segoe UI"/>
                <a:ea typeface="Segoe UI"/>
                <a:cs typeface="Segoe UI"/>
              </a:rPr>
              <a:t>k chuỗi</a:t>
            </a:r>
          </a:p>
        </p:txBody>
      </p:sp>
      <p:sp>
        <p:nvSpPr>
          <p:cNvPr id="6" name="O(L²)">
            <a:extLst xmlns:a="http://schemas.openxmlformats.org/drawingml/2006/main">
              <a:ext uri="{FF2B5EF4-FFF2-40B4-BE49-F238E27FC236}">
                <a16:creationId xmlns:a16="http://schemas.microsoft.com/office/drawing/2014/main" id="{0152D3B7-0DDE-413B-BB2D-07B94ACA5887}"/>
              </a:ext>
            </a:extLst>
          </p:cNvPr>
          <p:cNvSpPr>
            <a:spLocks xmlns:a="http://schemas.openxmlformats.org/drawingml/2006/main" noGrp="1"/>
          </p:cNvSpPr>
          <p:nvPr/>
        </p:nvSpPr>
        <p:spPr>
          <a:xfrm xmlns:a="http://schemas.openxmlformats.org/drawingml/2006/main">
            <a:off x="762000" y="32956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5100" b="1">
                <a:solidFill>
                  <a:srgbClr val="142D3B"/>
                </a:solidFill>
                <a:latin typeface="Consolas"/>
                <a:ea typeface="Consolas"/>
                <a:cs typeface="Consolas"/>
              </a:defRPr>
            </a:defPPr>
            <a:lvl1pPr algn="l">
              <a:defRPr sz="5100" b="1">
                <a:solidFill>
                  <a:srgbClr val="142D3B"/>
                </a:solidFill>
                <a:latin typeface="Consolas"/>
                <a:ea typeface="Consolas"/>
                <a:cs typeface="Consolas"/>
              </a:defRPr>
            </a:lvl1pPr>
            <a:lvl2pPr algn="l">
              <a:defRPr sz="5100" b="1">
                <a:solidFill>
                  <a:srgbClr val="142D3B"/>
                </a:solidFill>
                <a:latin typeface="Consolas"/>
                <a:ea typeface="Consolas"/>
                <a:cs typeface="Consolas"/>
              </a:defRPr>
            </a:lvl2pPr>
            <a:lvl3pPr algn="l">
              <a:defRPr sz="5100" b="1">
                <a:solidFill>
                  <a:srgbClr val="142D3B"/>
                </a:solidFill>
                <a:latin typeface="Consolas"/>
                <a:ea typeface="Consolas"/>
                <a:cs typeface="Consolas"/>
              </a:defRPr>
            </a:lvl3pPr>
            <a:lvl4pPr algn="l">
              <a:defRPr sz="5100" b="1">
                <a:solidFill>
                  <a:srgbClr val="142D3B"/>
                </a:solidFill>
                <a:latin typeface="Consolas"/>
                <a:ea typeface="Consolas"/>
                <a:cs typeface="Consolas"/>
              </a:defRPr>
            </a:lvl4pPr>
            <a:lvl5pPr algn="l">
              <a:defRPr sz="5100" b="1">
                <a:solidFill>
                  <a:srgbClr val="142D3B"/>
                </a:solidFill>
                <a:latin typeface="Consolas"/>
                <a:ea typeface="Consolas"/>
                <a:cs typeface="Consolas"/>
              </a:defRPr>
            </a:lvl5pPr>
            <a:lvl6pPr algn="l">
              <a:defRPr sz="5100" b="1">
                <a:solidFill>
                  <a:srgbClr val="142D3B"/>
                </a:solidFill>
                <a:latin typeface="Consolas"/>
                <a:ea typeface="Consolas"/>
                <a:cs typeface="Consolas"/>
              </a:defRPr>
            </a:lvl6pPr>
            <a:lvl7pPr algn="l">
              <a:defRPr sz="5100" b="1">
                <a:solidFill>
                  <a:srgbClr val="142D3B"/>
                </a:solidFill>
                <a:latin typeface="Consolas"/>
                <a:ea typeface="Consolas"/>
                <a:cs typeface="Consolas"/>
              </a:defRPr>
            </a:lvl7pPr>
            <a:lvl8pPr algn="l">
              <a:defRPr sz="5100" b="1">
                <a:solidFill>
                  <a:srgbClr val="142D3B"/>
                </a:solidFill>
                <a:latin typeface="Consolas"/>
                <a:ea typeface="Consolas"/>
                <a:cs typeface="Consolas"/>
              </a:defRPr>
            </a:lvl8pPr>
            <a:lvl9pPr algn="l">
              <a:defRPr sz="5100" b="1">
                <a:solidFill>
                  <a:srgbClr val="142D3B"/>
                </a:solidFill>
                <a:latin typeface="Consolas"/>
                <a:ea typeface="Consolas"/>
                <a:cs typeface="Consolas"/>
              </a:defRPr>
            </a:lvl9pPr>
          </a:lstStyle>
          <a:p xmlns:a="http://schemas.openxmlformats.org/drawingml/2006/main">
            <a:pPr algn="l">
              <a:defRPr sz="5100" b="1">
                <a:solidFill>
                  <a:srgbClr val="142D3B"/>
                </a:solidFill>
                <a:latin typeface="Consolas"/>
                <a:ea typeface="Consolas"/>
                <a:cs typeface="Consolas"/>
              </a:defRPr>
            </a:pPr>
            <a:r>
              <a:rPr sz="5100" b="1">
                <a:solidFill>
                  <a:srgbClr val="142D3B"/>
                </a:solidFill>
                <a:latin typeface="Consolas"/>
                <a:ea typeface="Consolas"/>
                <a:cs typeface="Consolas"/>
              </a:rPr>
              <a:t>O(L²)</a:t>
            </a:r>
          </a:p>
        </p:txBody>
      </p:sp>
      <p:sp>
        <p:nvSpPr>
          <p:cNvPr id="7" name="O(Lᵏ)">
            <a:extLst xmlns:a="http://schemas.openxmlformats.org/drawingml/2006/main">
              <a:ext uri="{FF2B5EF4-FFF2-40B4-BE49-F238E27FC236}">
                <a16:creationId xmlns:a16="http://schemas.microsoft.com/office/drawing/2014/main" id="{C2352F13-2826-40A0-918A-5FB24D04EA36}"/>
              </a:ext>
            </a:extLst>
          </p:cNvPr>
          <p:cNvSpPr>
            <a:spLocks xmlns:a="http://schemas.openxmlformats.org/drawingml/2006/main" noGrp="1"/>
          </p:cNvSpPr>
          <p:nvPr/>
        </p:nvSpPr>
        <p:spPr>
          <a:xfrm xmlns:a="http://schemas.openxmlformats.org/drawingml/2006/main">
            <a:off x="6572250" y="32956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5100" b="1">
                <a:solidFill>
                  <a:srgbClr val="142D3B"/>
                </a:solidFill>
                <a:latin typeface="Consolas"/>
                <a:ea typeface="Consolas"/>
                <a:cs typeface="Consolas"/>
              </a:defRPr>
            </a:defPPr>
            <a:lvl1pPr algn="l">
              <a:defRPr sz="5100" b="1">
                <a:solidFill>
                  <a:srgbClr val="142D3B"/>
                </a:solidFill>
                <a:latin typeface="Consolas"/>
                <a:ea typeface="Consolas"/>
                <a:cs typeface="Consolas"/>
              </a:defRPr>
            </a:lvl1pPr>
            <a:lvl2pPr algn="l">
              <a:defRPr sz="5100" b="1">
                <a:solidFill>
                  <a:srgbClr val="142D3B"/>
                </a:solidFill>
                <a:latin typeface="Consolas"/>
                <a:ea typeface="Consolas"/>
                <a:cs typeface="Consolas"/>
              </a:defRPr>
            </a:lvl2pPr>
            <a:lvl3pPr algn="l">
              <a:defRPr sz="5100" b="1">
                <a:solidFill>
                  <a:srgbClr val="142D3B"/>
                </a:solidFill>
                <a:latin typeface="Consolas"/>
                <a:ea typeface="Consolas"/>
                <a:cs typeface="Consolas"/>
              </a:defRPr>
            </a:lvl3pPr>
            <a:lvl4pPr algn="l">
              <a:defRPr sz="5100" b="1">
                <a:solidFill>
                  <a:srgbClr val="142D3B"/>
                </a:solidFill>
                <a:latin typeface="Consolas"/>
                <a:ea typeface="Consolas"/>
                <a:cs typeface="Consolas"/>
              </a:defRPr>
            </a:lvl4pPr>
            <a:lvl5pPr algn="l">
              <a:defRPr sz="5100" b="1">
                <a:solidFill>
                  <a:srgbClr val="142D3B"/>
                </a:solidFill>
                <a:latin typeface="Consolas"/>
                <a:ea typeface="Consolas"/>
                <a:cs typeface="Consolas"/>
              </a:defRPr>
            </a:lvl5pPr>
            <a:lvl6pPr algn="l">
              <a:defRPr sz="5100" b="1">
                <a:solidFill>
                  <a:srgbClr val="142D3B"/>
                </a:solidFill>
                <a:latin typeface="Consolas"/>
                <a:ea typeface="Consolas"/>
                <a:cs typeface="Consolas"/>
              </a:defRPr>
            </a:lvl6pPr>
            <a:lvl7pPr algn="l">
              <a:defRPr sz="5100" b="1">
                <a:solidFill>
                  <a:srgbClr val="142D3B"/>
                </a:solidFill>
                <a:latin typeface="Consolas"/>
                <a:ea typeface="Consolas"/>
                <a:cs typeface="Consolas"/>
              </a:defRPr>
            </a:lvl7pPr>
            <a:lvl8pPr algn="l">
              <a:defRPr sz="5100" b="1">
                <a:solidFill>
                  <a:srgbClr val="142D3B"/>
                </a:solidFill>
                <a:latin typeface="Consolas"/>
                <a:ea typeface="Consolas"/>
                <a:cs typeface="Consolas"/>
              </a:defRPr>
            </a:lvl8pPr>
            <a:lvl9pPr algn="l">
              <a:defRPr sz="5100" b="1">
                <a:solidFill>
                  <a:srgbClr val="142D3B"/>
                </a:solidFill>
                <a:latin typeface="Consolas"/>
                <a:ea typeface="Consolas"/>
                <a:cs typeface="Consolas"/>
              </a:defRPr>
            </a:lvl9pPr>
          </a:lstStyle>
          <a:p xmlns:a="http://schemas.openxmlformats.org/drawingml/2006/main">
            <a:pPr algn="l">
              <a:defRPr sz="5100" b="1">
                <a:solidFill>
                  <a:srgbClr val="142D3B"/>
                </a:solidFill>
                <a:latin typeface="Consolas"/>
                <a:ea typeface="Consolas"/>
                <a:cs typeface="Consolas"/>
              </a:defRPr>
            </a:pPr>
            <a:r>
              <a:rPr sz="5100" b="1">
                <a:solidFill>
                  <a:srgbClr val="142D3B"/>
                </a:solidFill>
                <a:latin typeface="Consolas"/>
                <a:ea typeface="Consolas"/>
                <a:cs typeface="Consolas"/>
              </a:rPr>
              <a:t>O(Lᵏ)</a:t>
            </a:r>
          </a:p>
        </p:txBody>
      </p:sp>
      <p:sp>
        <p:nvSpPr>
          <p:cNvPr id="8" name="Số ô của bảng hai chiều">
            <a:extLst xmlns:a="http://schemas.openxmlformats.org/drawingml/2006/main">
              <a:ext uri="{FF2B5EF4-FFF2-40B4-BE49-F238E27FC236}">
                <a16:creationId xmlns:a16="http://schemas.microsoft.com/office/drawing/2014/main" id="{559A6E2E-E97F-47B5-B95F-E8F6ACCED47C}"/>
              </a:ext>
            </a:extLst>
          </p:cNvPr>
          <p:cNvSpPr>
            <a:spLocks xmlns:a="http://schemas.openxmlformats.org/drawingml/2006/main" noGrp="1"/>
          </p:cNvSpPr>
          <p:nvPr/>
        </p:nvSpPr>
        <p:spPr>
          <a:xfrm xmlns:a="http://schemas.openxmlformats.org/drawingml/2006/main">
            <a:off x="762000" y="43719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Số ô của bảng hai chiều</a:t>
            </a:r>
          </a:p>
        </p:txBody>
      </p:sp>
      <p:sp>
        <p:nvSpPr>
          <p:cNvPr id="9" name="L là độ dài điển hình">
            <a:extLst xmlns:a="http://schemas.openxmlformats.org/drawingml/2006/main">
              <a:ext uri="{FF2B5EF4-FFF2-40B4-BE49-F238E27FC236}">
                <a16:creationId xmlns:a16="http://schemas.microsoft.com/office/drawing/2014/main" id="{8C94C45A-943F-445A-BFCB-EBB8C0CA1E17}"/>
              </a:ext>
            </a:extLst>
          </p:cNvPr>
          <p:cNvSpPr>
            <a:spLocks xmlns:a="http://schemas.openxmlformats.org/drawingml/2006/main" noGrp="1"/>
          </p:cNvSpPr>
          <p:nvPr/>
        </p:nvSpPr>
        <p:spPr>
          <a:xfrm xmlns:a="http://schemas.openxmlformats.org/drawingml/2006/main">
            <a:off x="762000" y="47815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L là độ dài điển hình</a:t>
            </a:r>
          </a:p>
        </p:txBody>
      </p:sp>
      <p:sp>
        <p:nvSpPr>
          <p:cNvPr id="10" name="Số ô của bảng k chiều">
            <a:extLst xmlns:a="http://schemas.openxmlformats.org/drawingml/2006/main">
              <a:ext uri="{FF2B5EF4-FFF2-40B4-BE49-F238E27FC236}">
                <a16:creationId xmlns:a16="http://schemas.microsoft.com/office/drawing/2014/main" id="{0FDF7F00-022C-45EC-9203-8D1C107B1451}"/>
              </a:ext>
            </a:extLst>
          </p:cNvPr>
          <p:cNvSpPr>
            <a:spLocks xmlns:a="http://schemas.openxmlformats.org/drawingml/2006/main" noGrp="1"/>
          </p:cNvSpPr>
          <p:nvPr/>
        </p:nvSpPr>
        <p:spPr>
          <a:xfrm xmlns:a="http://schemas.openxmlformats.org/drawingml/2006/main">
            <a:off x="6572250" y="43719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Số ô của bảng k chiều</a:t>
            </a:r>
          </a:p>
        </p:txBody>
      </p:sp>
      <p:sp>
        <p:nvSpPr>
          <p:cNvPr id="11" name="Nhanh chóng vượt khả năng lưu trữ">
            <a:extLst xmlns:a="http://schemas.openxmlformats.org/drawingml/2006/main">
              <a:ext uri="{FF2B5EF4-FFF2-40B4-BE49-F238E27FC236}">
                <a16:creationId xmlns:a16="http://schemas.microsoft.com/office/drawing/2014/main" id="{C3B41ACF-1770-4DF3-A7C3-B28DE16C72EB}"/>
              </a:ext>
            </a:extLst>
          </p:cNvPr>
          <p:cNvSpPr>
            <a:spLocks xmlns:a="http://schemas.openxmlformats.org/drawingml/2006/main" noGrp="1"/>
          </p:cNvSpPr>
          <p:nvPr/>
        </p:nvSpPr>
        <p:spPr>
          <a:xfrm xmlns:a="http://schemas.openxmlformats.org/drawingml/2006/main">
            <a:off x="6572250" y="47815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61716F"/>
                </a:solidFill>
                <a:latin typeface="Segoe UI"/>
                <a:ea typeface="Segoe UI"/>
                <a:cs typeface="Segoe UI"/>
              </a:defRPr>
            </a:defPPr>
            <a:lvl1pPr algn="l">
              <a:defRPr sz="2025" b="0">
                <a:solidFill>
                  <a:srgbClr val="61716F"/>
                </a:solidFill>
                <a:latin typeface="Segoe UI"/>
                <a:ea typeface="Segoe UI"/>
                <a:cs typeface="Segoe UI"/>
              </a:defRPr>
            </a:lvl1pPr>
            <a:lvl2pPr algn="l">
              <a:defRPr sz="2025" b="0">
                <a:solidFill>
                  <a:srgbClr val="61716F"/>
                </a:solidFill>
                <a:latin typeface="Segoe UI"/>
                <a:ea typeface="Segoe UI"/>
                <a:cs typeface="Segoe UI"/>
              </a:defRPr>
            </a:lvl2pPr>
            <a:lvl3pPr algn="l">
              <a:defRPr sz="2025" b="0">
                <a:solidFill>
                  <a:srgbClr val="61716F"/>
                </a:solidFill>
                <a:latin typeface="Segoe UI"/>
                <a:ea typeface="Segoe UI"/>
                <a:cs typeface="Segoe UI"/>
              </a:defRPr>
            </a:lvl3pPr>
            <a:lvl4pPr algn="l">
              <a:defRPr sz="2025" b="0">
                <a:solidFill>
                  <a:srgbClr val="61716F"/>
                </a:solidFill>
                <a:latin typeface="Segoe UI"/>
                <a:ea typeface="Segoe UI"/>
                <a:cs typeface="Segoe UI"/>
              </a:defRPr>
            </a:lvl4pPr>
            <a:lvl5pPr algn="l">
              <a:defRPr sz="2025" b="0">
                <a:solidFill>
                  <a:srgbClr val="61716F"/>
                </a:solidFill>
                <a:latin typeface="Segoe UI"/>
                <a:ea typeface="Segoe UI"/>
                <a:cs typeface="Segoe UI"/>
              </a:defRPr>
            </a:lvl5pPr>
            <a:lvl6pPr algn="l">
              <a:defRPr sz="2025" b="0">
                <a:solidFill>
                  <a:srgbClr val="61716F"/>
                </a:solidFill>
                <a:latin typeface="Segoe UI"/>
                <a:ea typeface="Segoe UI"/>
                <a:cs typeface="Segoe UI"/>
              </a:defRPr>
            </a:lvl6pPr>
            <a:lvl7pPr algn="l">
              <a:defRPr sz="2025" b="0">
                <a:solidFill>
                  <a:srgbClr val="61716F"/>
                </a:solidFill>
                <a:latin typeface="Segoe UI"/>
                <a:ea typeface="Segoe UI"/>
                <a:cs typeface="Segoe UI"/>
              </a:defRPr>
            </a:lvl7pPr>
            <a:lvl8pPr algn="l">
              <a:defRPr sz="2025" b="0">
                <a:solidFill>
                  <a:srgbClr val="61716F"/>
                </a:solidFill>
                <a:latin typeface="Segoe UI"/>
                <a:ea typeface="Segoe UI"/>
                <a:cs typeface="Segoe UI"/>
              </a:defRPr>
            </a:lvl8pPr>
            <a:lvl9pPr algn="l">
              <a:defRPr sz="2025" b="0">
                <a:solidFill>
                  <a:srgbClr val="61716F"/>
                </a:solidFill>
                <a:latin typeface="Segoe UI"/>
                <a:ea typeface="Segoe UI"/>
                <a:cs typeface="Segoe UI"/>
              </a:defRPr>
            </a:lvl9pPr>
          </a:lstStyle>
          <a:p xmlns:a="http://schemas.openxmlformats.org/drawingml/2006/main">
            <a:pPr algn="l">
              <a:defRPr sz="2025" b="0">
                <a:solidFill>
                  <a:srgbClr val="61716F"/>
                </a:solidFill>
                <a:latin typeface="Segoe UI"/>
                <a:ea typeface="Segoe UI"/>
                <a:cs typeface="Segoe UI"/>
              </a:defRPr>
            </a:pPr>
            <a:r>
              <a:rPr sz="2025" b="0">
                <a:solidFill>
                  <a:srgbClr val="61716F"/>
                </a:solidFill>
                <a:latin typeface="Segoe UI"/>
                <a:ea typeface="Segoe UI"/>
                <a:cs typeface="Segoe UI"/>
              </a:rPr>
              <a:t>Nhanh chóng vượt khả năng lưu trữ</a:t>
            </a:r>
          </a:p>
        </p:txBody>
      </p:sp>
      <p:sp>
        <p:nvSpPr>
          <p:cNvPr id="12" name="Dự án ghép dần theo cây hướng dẫn để tạo căn chỉnh đa chuỗi">
            <a:extLst xmlns:a="http://schemas.openxmlformats.org/drawingml/2006/main">
              <a:ext uri="{FF2B5EF4-FFF2-40B4-BE49-F238E27FC236}">
                <a16:creationId xmlns:a16="http://schemas.microsoft.com/office/drawing/2014/main" id="{8FBBDED5-01C2-410D-8905-8D6B0BE29D39}"/>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Dự án ghép dần theo cây hướng dẫn để tạo căn chỉnh đa chuỗi</a:t>
            </a:r>
          </a:p>
        </p:txBody>
      </p:sp>
    </p:spTree>
    <p:extLst>
      <p:ext uri="{BB962C8B-B14F-4D97-AF65-F5344CB8AC3E}">
        <p14:creationId xmlns:p14="http://schemas.microsoft.com/office/powerpoint/2010/main" val="286957549"/>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07">
            <a:extLst xmlns:a="http://schemas.openxmlformats.org/drawingml/2006/main">
              <a:ext uri="{FF2B5EF4-FFF2-40B4-BE49-F238E27FC236}">
                <a16:creationId xmlns:a16="http://schemas.microsoft.com/office/drawing/2014/main" id="{4288A02F-E60A-4A1A-B455-5B51C7C50C69}"/>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07</a:t>
            </a:r>
          </a:p>
        </p:txBody>
      </p:sp>
      <p:sp>
        <p:nvSpPr>
          <p:cNvPr id="2" name="Luồng xử lý của dự án">
            <a:extLst xmlns:a="http://schemas.openxmlformats.org/drawingml/2006/main">
              <a:ext uri="{FF2B5EF4-FFF2-40B4-BE49-F238E27FC236}">
                <a16:creationId xmlns:a16="http://schemas.microsoft.com/office/drawing/2014/main" id="{0CA59AAB-1097-4ECE-8763-4BC15313C4B8}"/>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Luồng xử lý của dự án</a:t>
            </a:r>
          </a:p>
        </p:txBody>
      </p:sp>
      <p:sp>
        <p:nvSpPr>
          <p:cNvPr id="3" name="Bộ giải cặp và bộ giải đa chuỗi có vai trò khác nhau">
            <a:extLst xmlns:a="http://schemas.openxmlformats.org/drawingml/2006/main">
              <a:ext uri="{FF2B5EF4-FFF2-40B4-BE49-F238E27FC236}">
                <a16:creationId xmlns:a16="http://schemas.microsoft.com/office/drawing/2014/main" id="{2F6B690E-5589-41F2-B282-06504D784478}"/>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Bộ giải cặp và bộ giải đa chuỗi có vai trò khác nhau</a:t>
            </a:r>
          </a:p>
        </p:txBody>
      </p:sp>
      <p:sp>
        <p:nvSpPr>
          <p:cNvPr id="4" name="01">
            <a:extLst xmlns:a="http://schemas.openxmlformats.org/drawingml/2006/main">
              <a:ext uri="{FF2B5EF4-FFF2-40B4-BE49-F238E27FC236}">
                <a16:creationId xmlns:a16="http://schemas.microsoft.com/office/drawing/2014/main" id="{B7943D49-3F01-4E67-8475-74523117C31D}"/>
              </a:ext>
            </a:extLst>
          </p:cNvPr>
          <p:cNvSpPr>
            <a:spLocks xmlns:a="http://schemas.openxmlformats.org/drawingml/2006/main" noGrp="1"/>
          </p:cNvSpPr>
          <p:nvPr/>
        </p:nvSpPr>
        <p:spPr>
          <a:xfrm xmlns:a="http://schemas.openxmlformats.org/drawingml/2006/main">
            <a:off x="762000" y="22383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01</a:t>
            </a:r>
          </a:p>
        </p:txBody>
      </p:sp>
      <p:sp>
        <p:nvSpPr>
          <p:cNvPr id="5" name="Tính khoảng cách từng cặp">
            <a:extLst xmlns:a="http://schemas.openxmlformats.org/drawingml/2006/main">
              <a:ext uri="{FF2B5EF4-FFF2-40B4-BE49-F238E27FC236}">
                <a16:creationId xmlns:a16="http://schemas.microsoft.com/office/drawing/2014/main" id="{AF0184B4-1008-4DED-BA1F-4518927600BB}"/>
              </a:ext>
            </a:extLst>
          </p:cNvPr>
          <p:cNvSpPr>
            <a:spLocks xmlns:a="http://schemas.openxmlformats.org/drawingml/2006/main" noGrp="1"/>
          </p:cNvSpPr>
          <p:nvPr/>
        </p:nvSpPr>
        <p:spPr>
          <a:xfrm xmlns:a="http://schemas.openxmlformats.org/drawingml/2006/main">
            <a:off x="1714500" y="223837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Tính khoảng cách từng cặp</a:t>
            </a:r>
          </a:p>
        </p:txBody>
      </p:sp>
      <p:sp>
        <p:nvSpPr>
          <p:cNvPr id="6" name="Điểm căn chỉnh cặp được chuẩn hóa thành khoảng cách">
            <a:extLst xmlns:a="http://schemas.openxmlformats.org/drawingml/2006/main">
              <a:ext uri="{FF2B5EF4-FFF2-40B4-BE49-F238E27FC236}">
                <a16:creationId xmlns:a16="http://schemas.microsoft.com/office/drawing/2014/main" id="{3993371F-5510-4156-BF44-8C1A805C35F3}"/>
              </a:ext>
            </a:extLst>
          </p:cNvPr>
          <p:cNvSpPr>
            <a:spLocks xmlns:a="http://schemas.openxmlformats.org/drawingml/2006/main" noGrp="1"/>
          </p:cNvSpPr>
          <p:nvPr/>
        </p:nvSpPr>
        <p:spPr>
          <a:xfrm xmlns:a="http://schemas.openxmlformats.org/drawingml/2006/main">
            <a:off x="1714500" y="273367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Điểm căn chỉnh cặp được chuẩn hóa thành khoảng cách</a:t>
            </a:r>
          </a:p>
        </p:txBody>
      </p:sp>
      <p:sp>
        <p:nvSpPr>
          <p:cNvPr id="7" name="02">
            <a:extLst xmlns:a="http://schemas.openxmlformats.org/drawingml/2006/main">
              <a:ext uri="{FF2B5EF4-FFF2-40B4-BE49-F238E27FC236}">
                <a16:creationId xmlns:a16="http://schemas.microsoft.com/office/drawing/2014/main" id="{4E76604F-3440-440E-82B3-79D8E9D106FE}"/>
              </a:ext>
            </a:extLst>
          </p:cNvPr>
          <p:cNvSpPr>
            <a:spLocks xmlns:a="http://schemas.openxmlformats.org/drawingml/2006/main" noGrp="1"/>
          </p:cNvSpPr>
          <p:nvPr/>
        </p:nvSpPr>
        <p:spPr>
          <a:xfrm xmlns:a="http://schemas.openxmlformats.org/drawingml/2006/main">
            <a:off x="762000" y="3238500"/>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02</a:t>
            </a:r>
          </a:p>
        </p:txBody>
      </p:sp>
      <p:sp>
        <p:nvSpPr>
          <p:cNvPr id="8" name="Dựng cây hướng dẫn UPGMA">
            <a:extLst xmlns:a="http://schemas.openxmlformats.org/drawingml/2006/main">
              <a:ext uri="{FF2B5EF4-FFF2-40B4-BE49-F238E27FC236}">
                <a16:creationId xmlns:a16="http://schemas.microsoft.com/office/drawing/2014/main" id="{7BE80023-8858-4D99-8419-56DB33E47FC8}"/>
              </a:ext>
            </a:extLst>
          </p:cNvPr>
          <p:cNvSpPr>
            <a:spLocks xmlns:a="http://schemas.openxmlformats.org/drawingml/2006/main" noGrp="1"/>
          </p:cNvSpPr>
          <p:nvPr/>
        </p:nvSpPr>
        <p:spPr>
          <a:xfrm xmlns:a="http://schemas.openxmlformats.org/drawingml/2006/main">
            <a:off x="1714500" y="3238500"/>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Dựng cây hướng dẫn UPGMA</a:t>
            </a:r>
          </a:p>
        </p:txBody>
      </p:sp>
      <p:sp>
        <p:nvSpPr>
          <p:cNvPr id="9" name="Chọn thứ tự ghép các chuỗi và các nhóm">
            <a:extLst xmlns:a="http://schemas.openxmlformats.org/drawingml/2006/main">
              <a:ext uri="{FF2B5EF4-FFF2-40B4-BE49-F238E27FC236}">
                <a16:creationId xmlns:a16="http://schemas.microsoft.com/office/drawing/2014/main" id="{CA341FF4-4A24-40C1-BFC3-30FEF3D39B85}"/>
              </a:ext>
            </a:extLst>
          </p:cNvPr>
          <p:cNvSpPr>
            <a:spLocks xmlns:a="http://schemas.openxmlformats.org/drawingml/2006/main" noGrp="1"/>
          </p:cNvSpPr>
          <p:nvPr/>
        </p:nvSpPr>
        <p:spPr>
          <a:xfrm xmlns:a="http://schemas.openxmlformats.org/drawingml/2006/main">
            <a:off x="1714500" y="37338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Chọn thứ tự ghép các chuỗi và các nhóm</a:t>
            </a:r>
          </a:p>
        </p:txBody>
      </p:sp>
      <p:sp>
        <p:nvSpPr>
          <p:cNvPr id="10" name="03">
            <a:extLst xmlns:a="http://schemas.openxmlformats.org/drawingml/2006/main">
              <a:ext uri="{FF2B5EF4-FFF2-40B4-BE49-F238E27FC236}">
                <a16:creationId xmlns:a16="http://schemas.microsoft.com/office/drawing/2014/main" id="{9A726B24-C2E1-498C-811D-62F243FB9E4D}"/>
              </a:ext>
            </a:extLst>
          </p:cNvPr>
          <p:cNvSpPr>
            <a:spLocks xmlns:a="http://schemas.openxmlformats.org/drawingml/2006/main" noGrp="1"/>
          </p:cNvSpPr>
          <p:nvPr/>
        </p:nvSpPr>
        <p:spPr>
          <a:xfrm xmlns:a="http://schemas.openxmlformats.org/drawingml/2006/main">
            <a:off x="762000" y="42386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03</a:t>
            </a:r>
          </a:p>
        </p:txBody>
      </p:sp>
      <p:sp>
        <p:nvSpPr>
          <p:cNvPr id="11" name="Căn chỉnh profile theo cây">
            <a:extLst xmlns:a="http://schemas.openxmlformats.org/drawingml/2006/main">
              <a:ext uri="{FF2B5EF4-FFF2-40B4-BE49-F238E27FC236}">
                <a16:creationId xmlns:a16="http://schemas.microsoft.com/office/drawing/2014/main" id="{F44CC67D-4AB0-4D66-9B22-0AD5E17E367F}"/>
              </a:ext>
            </a:extLst>
          </p:cNvPr>
          <p:cNvSpPr>
            <a:spLocks xmlns:a="http://schemas.openxmlformats.org/drawingml/2006/main" noGrp="1"/>
          </p:cNvSpPr>
          <p:nvPr/>
        </p:nvSpPr>
        <p:spPr>
          <a:xfrm xmlns:a="http://schemas.openxmlformats.org/drawingml/2006/main">
            <a:off x="1714500" y="423862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Căn chỉnh profile theo cây</a:t>
            </a:r>
          </a:p>
        </p:txBody>
      </p:sp>
      <p:sp>
        <p:nvSpPr>
          <p:cNvPr id="12" name="Myers–Miller giải các bước ghép profile">
            <a:extLst xmlns:a="http://schemas.openxmlformats.org/drawingml/2006/main">
              <a:ext uri="{FF2B5EF4-FFF2-40B4-BE49-F238E27FC236}">
                <a16:creationId xmlns:a16="http://schemas.microsoft.com/office/drawing/2014/main" id="{0FBB5A95-BB2F-407B-953F-CC26C7290DA5}"/>
              </a:ext>
            </a:extLst>
          </p:cNvPr>
          <p:cNvSpPr>
            <a:spLocks xmlns:a="http://schemas.openxmlformats.org/drawingml/2006/main" noGrp="1"/>
          </p:cNvSpPr>
          <p:nvPr/>
        </p:nvSpPr>
        <p:spPr>
          <a:xfrm xmlns:a="http://schemas.openxmlformats.org/drawingml/2006/main">
            <a:off x="1714500" y="473392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Myers–Miller giải các bước ghép profile</a:t>
            </a:r>
          </a:p>
        </p:txBody>
      </p:sp>
      <p:sp>
        <p:nvSpPr>
          <p:cNvPr id="13" name="Kết quả: ma trận đa chuỗi cùng độ dài, xuất ra FASTA">
            <a:extLst xmlns:a="http://schemas.openxmlformats.org/drawingml/2006/main">
              <a:ext uri="{FF2B5EF4-FFF2-40B4-BE49-F238E27FC236}">
                <a16:creationId xmlns:a16="http://schemas.microsoft.com/office/drawing/2014/main" id="{5A510909-CD6B-47F6-AD06-112E9CFAE7AC}"/>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Kết quả: ma trận đa chuỗi cùng độ dài, xuất ra FASTA</a:t>
            </a:r>
          </a:p>
        </p:txBody>
      </p:sp>
    </p:spTree>
    <p:extLst>
      <p:ext uri="{BB962C8B-B14F-4D97-AF65-F5344CB8AC3E}">
        <p14:creationId xmlns:p14="http://schemas.microsoft.com/office/powerpoint/2010/main" val="507759337"/>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08">
            <a:extLst xmlns:a="http://schemas.openxmlformats.org/drawingml/2006/main">
              <a:ext uri="{FF2B5EF4-FFF2-40B4-BE49-F238E27FC236}">
                <a16:creationId xmlns:a16="http://schemas.microsoft.com/office/drawing/2014/main" id="{D01673BA-9F41-4024-93C5-929D558F8DA7}"/>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08</a:t>
            </a:r>
          </a:p>
        </p:txBody>
      </p:sp>
      <p:sp>
        <p:nvSpPr>
          <p:cNvPr id="2" name="Quy hoạch động với affine gap">
            <a:extLst xmlns:a="http://schemas.openxmlformats.org/drawingml/2006/main">
              <a:ext uri="{FF2B5EF4-FFF2-40B4-BE49-F238E27FC236}">
                <a16:creationId xmlns:a16="http://schemas.microsoft.com/office/drawing/2014/main" id="{AD97E393-223F-46A7-A340-A24376034F30}"/>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Quy hoạch động với affine gap</a:t>
            </a:r>
          </a:p>
        </p:txBody>
      </p:sp>
      <p:sp>
        <p:nvSpPr>
          <p:cNvPr id="3" name="Một ô cần phân biệt cách căn chỉnh kết thúc">
            <a:extLst xmlns:a="http://schemas.openxmlformats.org/drawingml/2006/main">
              <a:ext uri="{FF2B5EF4-FFF2-40B4-BE49-F238E27FC236}">
                <a16:creationId xmlns:a16="http://schemas.microsoft.com/office/drawing/2014/main" id="{25D626C0-EFC3-44CD-94A2-E9F8B9D4B349}"/>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Một ô cần phân biệt cách căn chỉnh kết thúc</a:t>
            </a:r>
          </a:p>
        </p:txBody>
      </p:sp>
      <p:graphicFrame>
        <p:nvGraphicFramePr>
          <p:cNvPr id="4" name="">
            <a:extLst xmlns:a="http://schemas.openxmlformats.org/drawingml/2006/main">
              <a:ext uri="{FF2B5EF4-FFF2-40B4-BE49-F238E27FC236}">
                <a16:creationId xmlns:a16="http://schemas.microsoft.com/office/drawing/2014/main" id="{864BAAC2-C4EF-496D-AE34-AE43E049F6F9}"/>
              </a:ext>
            </a:extLst>
          </p:cNvPr>
          <p:cNvGraphicFramePr/>
          <p:nvPr/>
        </p:nvGraphicFramePr>
        <p:xfrm>
          <a:off xmlns:a="http://schemas.openxmlformats.org/drawingml/2006/main" x="762000" y="2286000"/>
          <a:ext xmlns:a="http://schemas.openxmlformats.org/drawingml/2006/main" cx="10668000" cy="2457450"/>
        </p:xfrm>
        <a:graphic xmlns:a="http://schemas.openxmlformats.org/drawingml/2006/main">
          <a:graphicData uri="http://schemas.openxmlformats.org/drawingml/2006/table">
            <a:tbl>
              <a:tblPr firstRow="0" firstCol="0" bandRow="0"/>
              <a:tblGrid>
                <a:gridCol w="2857500"/>
                <a:gridCol w="7810500"/>
              </a:tblGrid>
              <a:tr h="614363">
                <a:tc>
                  <a:txBody>
                    <a:bodyPr anchor="ctr"/>
                    <a:lstStyle/>
                    <a:p>
                      <a:pPr algn="ctr"/>
                      <a:r>
                        <a:rPr sz="2100" b="1">
                          <a:solidFill>
                            <a:srgbClr val="147D78"/>
                          </a:solidFill>
                          <a:latin typeface="Segoe UI"/>
                          <a:ea typeface="Segoe UI"/>
                          <a:cs typeface="Segoe UI"/>
                        </a:rPr>
                        <a:t>Trạng thái</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DDECE6"/>
                    </a:solidFill>
                  </a:tcPr>
                </a:tc>
                <a:tc>
                  <a:txBody>
                    <a:bodyPr anchor="ctr"/>
                    <a:lstStyle/>
                    <a:p>
                      <a:pPr algn="ctr"/>
                      <a:r>
                        <a:rPr sz="2100" b="1">
                          <a:solidFill>
                            <a:srgbClr val="147D78"/>
                          </a:solidFill>
                          <a:latin typeface="Segoe UI"/>
                          <a:ea typeface="Segoe UI"/>
                          <a:cs typeface="Segoe UI"/>
                        </a:rPr>
                        <a:t>Ý nghĩa</a:t>
                      </a:r>
                    </a:p>
                  </a:txBody>
                  <a:tcPr marL="76200" marR="76200" marT="57150" marB="57150" anchor="ctr">
                    <a:lnR w="0">
                      <a:solidFill>
                        <a:srgbClr val="F7F5EF"/>
                      </a:solidFill>
                    </a:lnR>
                    <a:lnT w="0">
                      <a:solidFill>
                        <a:srgbClr val="F7F5EF"/>
                      </a:solidFill>
                    </a:lnT>
                    <a:lnB w="0">
                      <a:solidFill>
                        <a:srgbClr val="F7F5EF"/>
                      </a:solidFill>
                    </a:lnB>
                    <a:solidFill>
                      <a:srgbClr val="DDECE6"/>
                    </a:solidFill>
                  </a:tcPr>
                </a:tc>
              </a:tr>
              <a:tr h="614363">
                <a:tc>
                  <a:txBody>
                    <a:bodyPr anchor="ctr"/>
                    <a:lstStyle/>
                    <a:p>
                      <a:pPr algn="ctr"/>
                      <a:r>
                        <a:rPr sz="2100">
                          <a:solidFill>
                            <a:srgbClr val="142D3B"/>
                          </a:solidFill>
                          <a:latin typeface="Segoe UI"/>
                          <a:ea typeface="Segoe UI"/>
                          <a:cs typeface="Segoe UI"/>
                        </a:rPr>
                        <a:t>M(i, j)</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100">
                          <a:solidFill>
                            <a:srgbClr val="142D3B"/>
                          </a:solidFill>
                          <a:latin typeface="Segoe UI"/>
                          <a:ea typeface="Segoe UI"/>
                          <a:cs typeface="Segoe UI"/>
                        </a:rPr>
                        <a:t>Kết thúc bằng cặp ký tự</a:t>
                      </a:r>
                    </a:p>
                  </a:txBody>
                  <a:tcPr marL="76200" marR="76200" marT="57150" marB="57150" anchor="ctr">
                    <a:lnR w="0">
                      <a:solidFill>
                        <a:srgbClr val="F7F5EF"/>
                      </a:solidFill>
                    </a:lnR>
                    <a:lnB w="0">
                      <a:solidFill>
                        <a:srgbClr val="F7F5EF"/>
                      </a:solidFill>
                    </a:lnB>
                    <a:solidFill>
                      <a:srgbClr val="F7F5EF"/>
                    </a:solidFill>
                  </a:tcPr>
                </a:tc>
              </a:tr>
              <a:tr h="614363">
                <a:tc>
                  <a:txBody>
                    <a:bodyPr anchor="ctr"/>
                    <a:lstStyle/>
                    <a:p>
                      <a:pPr algn="ctr"/>
                      <a:r>
                        <a:rPr sz="2100">
                          <a:solidFill>
                            <a:srgbClr val="142D3B"/>
                          </a:solidFill>
                          <a:latin typeface="Segoe UI"/>
                          <a:ea typeface="Segoe UI"/>
                          <a:cs typeface="Segoe UI"/>
                        </a:rPr>
                        <a:t>Iₓ(i, j)</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100">
                          <a:solidFill>
                            <a:srgbClr val="142D3B"/>
                          </a:solidFill>
                          <a:latin typeface="Segoe UI"/>
                          <a:ea typeface="Segoe UI"/>
                          <a:cs typeface="Segoe UI"/>
                        </a:rPr>
                        <a:t>Kết thúc bằng gap ở chuỗi thứ hai</a:t>
                      </a:r>
                    </a:p>
                  </a:txBody>
                  <a:tcPr marL="76200" marR="76200" marT="57150" marB="57150" anchor="ctr">
                    <a:lnR w="0">
                      <a:solidFill>
                        <a:srgbClr val="F7F5EF"/>
                      </a:solidFill>
                    </a:lnR>
                    <a:lnB w="0">
                      <a:solidFill>
                        <a:srgbClr val="F7F5EF"/>
                      </a:solidFill>
                    </a:lnB>
                    <a:solidFill>
                      <a:srgbClr val="F7F5EF"/>
                    </a:solidFill>
                  </a:tcPr>
                </a:tc>
              </a:tr>
              <a:tr h="614363">
                <a:tc>
                  <a:txBody>
                    <a:bodyPr anchor="ctr"/>
                    <a:lstStyle/>
                    <a:p>
                      <a:pPr algn="ctr"/>
                      <a:r>
                        <a:rPr sz="2100">
                          <a:solidFill>
                            <a:srgbClr val="142D3B"/>
                          </a:solidFill>
                          <a:latin typeface="Segoe UI"/>
                          <a:ea typeface="Segoe UI"/>
                          <a:cs typeface="Segoe UI"/>
                        </a:rPr>
                        <a:t>Iᵧ(i, j)</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100">
                          <a:solidFill>
                            <a:srgbClr val="142D3B"/>
                          </a:solidFill>
                          <a:latin typeface="Segoe UI"/>
                          <a:ea typeface="Segoe UI"/>
                          <a:cs typeface="Segoe UI"/>
                        </a:rPr>
                        <a:t>Kết thúc bằng gap ở chuỗi thứ nhất</a:t>
                      </a:r>
                    </a:p>
                  </a:txBody>
                  <a:tcPr marL="76200" marR="76200" marT="57150" marB="57150" anchor="ctr">
                    <a:lnR w="0">
                      <a:solidFill>
                        <a:srgbClr val="F7F5EF"/>
                      </a:solidFill>
                    </a:lnR>
                    <a:lnB w="0">
                      <a:solidFill>
                        <a:srgbClr val="F7F5EF"/>
                      </a:solidFill>
                    </a:lnB>
                    <a:solidFill>
                      <a:srgbClr val="F7F5EF"/>
                    </a:solidFill>
                  </a:tcPr>
                </a:tc>
              </a:tr>
            </a:tbl>
          </a:graphicData>
        </a:graphic>
      </p:graphicFrame>
      <p:sp>
        <p:nvSpPr>
          <p:cNvPr id="5" name="H(i, j) = max{M(i, j), Iₓ(i, j), Iᵧ(i, j)}">
            <a:extLst xmlns:a="http://schemas.openxmlformats.org/drawingml/2006/main">
              <a:ext uri="{FF2B5EF4-FFF2-40B4-BE49-F238E27FC236}">
                <a16:creationId xmlns:a16="http://schemas.microsoft.com/office/drawing/2014/main" id="{B18C9755-BFE2-4542-AB97-0335C40526CE}"/>
              </a:ext>
            </a:extLst>
          </p:cNvPr>
          <p:cNvSpPr>
            <a:spLocks xmlns:a="http://schemas.openxmlformats.org/drawingml/2006/main" noGrp="1"/>
          </p:cNvSpPr>
          <p:nvPr/>
        </p:nvSpPr>
        <p:spPr>
          <a:xfrm xmlns:a="http://schemas.openxmlformats.org/drawingml/2006/main">
            <a:off x="762000" y="5095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550" b="1">
                <a:solidFill>
                  <a:srgbClr val="147D78"/>
                </a:solidFill>
                <a:latin typeface="Consolas"/>
                <a:ea typeface="Consolas"/>
                <a:cs typeface="Consolas"/>
              </a:defRPr>
            </a:defPPr>
            <a:lvl1pPr algn="l">
              <a:defRPr sz="2550" b="1">
                <a:solidFill>
                  <a:srgbClr val="147D78"/>
                </a:solidFill>
                <a:latin typeface="Consolas"/>
                <a:ea typeface="Consolas"/>
                <a:cs typeface="Consolas"/>
              </a:defRPr>
            </a:lvl1pPr>
            <a:lvl2pPr algn="l">
              <a:defRPr sz="2550" b="1">
                <a:solidFill>
                  <a:srgbClr val="147D78"/>
                </a:solidFill>
                <a:latin typeface="Consolas"/>
                <a:ea typeface="Consolas"/>
                <a:cs typeface="Consolas"/>
              </a:defRPr>
            </a:lvl2pPr>
            <a:lvl3pPr algn="l">
              <a:defRPr sz="2550" b="1">
                <a:solidFill>
                  <a:srgbClr val="147D78"/>
                </a:solidFill>
                <a:latin typeface="Consolas"/>
                <a:ea typeface="Consolas"/>
                <a:cs typeface="Consolas"/>
              </a:defRPr>
            </a:lvl3pPr>
            <a:lvl4pPr algn="l">
              <a:defRPr sz="2550" b="1">
                <a:solidFill>
                  <a:srgbClr val="147D78"/>
                </a:solidFill>
                <a:latin typeface="Consolas"/>
                <a:ea typeface="Consolas"/>
                <a:cs typeface="Consolas"/>
              </a:defRPr>
            </a:lvl4pPr>
            <a:lvl5pPr algn="l">
              <a:defRPr sz="2550" b="1">
                <a:solidFill>
                  <a:srgbClr val="147D78"/>
                </a:solidFill>
                <a:latin typeface="Consolas"/>
                <a:ea typeface="Consolas"/>
                <a:cs typeface="Consolas"/>
              </a:defRPr>
            </a:lvl5pPr>
            <a:lvl6pPr algn="l">
              <a:defRPr sz="2550" b="1">
                <a:solidFill>
                  <a:srgbClr val="147D78"/>
                </a:solidFill>
                <a:latin typeface="Consolas"/>
                <a:ea typeface="Consolas"/>
                <a:cs typeface="Consolas"/>
              </a:defRPr>
            </a:lvl6pPr>
            <a:lvl7pPr algn="l">
              <a:defRPr sz="2550" b="1">
                <a:solidFill>
                  <a:srgbClr val="147D78"/>
                </a:solidFill>
                <a:latin typeface="Consolas"/>
                <a:ea typeface="Consolas"/>
                <a:cs typeface="Consolas"/>
              </a:defRPr>
            </a:lvl7pPr>
            <a:lvl8pPr algn="l">
              <a:defRPr sz="2550" b="1">
                <a:solidFill>
                  <a:srgbClr val="147D78"/>
                </a:solidFill>
                <a:latin typeface="Consolas"/>
                <a:ea typeface="Consolas"/>
                <a:cs typeface="Consolas"/>
              </a:defRPr>
            </a:lvl8pPr>
            <a:lvl9pPr algn="l">
              <a:defRPr sz="2550" b="1">
                <a:solidFill>
                  <a:srgbClr val="147D78"/>
                </a:solidFill>
                <a:latin typeface="Consolas"/>
                <a:ea typeface="Consolas"/>
                <a:cs typeface="Consolas"/>
              </a:defRPr>
            </a:lvl9pPr>
          </a:lstStyle>
          <a:p xmlns:a="http://schemas.openxmlformats.org/drawingml/2006/main">
            <a:pPr algn="l">
              <a:defRPr sz="2550" b="1">
                <a:solidFill>
                  <a:srgbClr val="147D78"/>
                </a:solidFill>
                <a:latin typeface="Consolas"/>
                <a:ea typeface="Consolas"/>
                <a:cs typeface="Consolas"/>
              </a:defRPr>
            </a:pPr>
            <a:r>
              <a:rPr sz="2550" b="1">
                <a:solidFill>
                  <a:srgbClr val="147D78"/>
                </a:solidFill>
                <a:latin typeface="Consolas"/>
                <a:ea typeface="Consolas"/>
                <a:cs typeface="Consolas"/>
              </a:rPr>
              <a:t>H(i, j) = max{M(i, j), Iₓ(i, j), Iᵧ(i, j)}</a:t>
            </a:r>
          </a:p>
        </p:txBody>
      </p:sp>
      <p:sp>
        <p:nvSpPr>
          <p:cNvPr id="6" name="Chi tiết recurrence và điều kiện biên: phụ lục 25">
            <a:extLst xmlns:a="http://schemas.openxmlformats.org/drawingml/2006/main">
              <a:ext uri="{FF2B5EF4-FFF2-40B4-BE49-F238E27FC236}">
                <a16:creationId xmlns:a16="http://schemas.microsoft.com/office/drawing/2014/main" id="{4026664D-470D-4BE8-B5CA-C6A1918FCDA8}"/>
              </a:ext>
            </a:extLst>
          </p:cNvPr>
          <p:cNvSpPr>
            <a:spLocks xmlns:a="http://schemas.openxmlformats.org/drawingml/2006/main" noGrp="1"/>
          </p:cNvSpPr>
          <p:nvPr/>
        </p:nvSpPr>
        <p:spPr>
          <a:xfrm xmlns:a="http://schemas.openxmlformats.org/drawingml/2006/main">
            <a:off x="762000" y="62865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61716F"/>
                </a:solidFill>
                <a:latin typeface="Segoe UI"/>
                <a:ea typeface="Segoe UI"/>
                <a:cs typeface="Segoe UI"/>
              </a:defRPr>
            </a:defPPr>
            <a:lvl1pPr algn="l">
              <a:defRPr sz="1200" b="0">
                <a:solidFill>
                  <a:srgbClr val="61716F"/>
                </a:solidFill>
                <a:latin typeface="Segoe UI"/>
                <a:ea typeface="Segoe UI"/>
                <a:cs typeface="Segoe UI"/>
              </a:defRPr>
            </a:lvl1pPr>
            <a:lvl2pPr algn="l">
              <a:defRPr sz="1200" b="0">
                <a:solidFill>
                  <a:srgbClr val="61716F"/>
                </a:solidFill>
                <a:latin typeface="Segoe UI"/>
                <a:ea typeface="Segoe UI"/>
                <a:cs typeface="Segoe UI"/>
              </a:defRPr>
            </a:lvl2pPr>
            <a:lvl3pPr algn="l">
              <a:defRPr sz="1200" b="0">
                <a:solidFill>
                  <a:srgbClr val="61716F"/>
                </a:solidFill>
                <a:latin typeface="Segoe UI"/>
                <a:ea typeface="Segoe UI"/>
                <a:cs typeface="Segoe UI"/>
              </a:defRPr>
            </a:lvl3pPr>
            <a:lvl4pPr algn="l">
              <a:defRPr sz="1200" b="0">
                <a:solidFill>
                  <a:srgbClr val="61716F"/>
                </a:solidFill>
                <a:latin typeface="Segoe UI"/>
                <a:ea typeface="Segoe UI"/>
                <a:cs typeface="Segoe UI"/>
              </a:defRPr>
            </a:lvl4pPr>
            <a:lvl5pPr algn="l">
              <a:defRPr sz="1200" b="0">
                <a:solidFill>
                  <a:srgbClr val="61716F"/>
                </a:solidFill>
                <a:latin typeface="Segoe UI"/>
                <a:ea typeface="Segoe UI"/>
                <a:cs typeface="Segoe UI"/>
              </a:defRPr>
            </a:lvl5pPr>
            <a:lvl6pPr algn="l">
              <a:defRPr sz="1200" b="0">
                <a:solidFill>
                  <a:srgbClr val="61716F"/>
                </a:solidFill>
                <a:latin typeface="Segoe UI"/>
                <a:ea typeface="Segoe UI"/>
                <a:cs typeface="Segoe UI"/>
              </a:defRPr>
            </a:lvl6pPr>
            <a:lvl7pPr algn="l">
              <a:defRPr sz="1200" b="0">
                <a:solidFill>
                  <a:srgbClr val="61716F"/>
                </a:solidFill>
                <a:latin typeface="Segoe UI"/>
                <a:ea typeface="Segoe UI"/>
                <a:cs typeface="Segoe UI"/>
              </a:defRPr>
            </a:lvl7pPr>
            <a:lvl8pPr algn="l">
              <a:defRPr sz="1200" b="0">
                <a:solidFill>
                  <a:srgbClr val="61716F"/>
                </a:solidFill>
                <a:latin typeface="Segoe UI"/>
                <a:ea typeface="Segoe UI"/>
                <a:cs typeface="Segoe UI"/>
              </a:defRPr>
            </a:lvl8pPr>
            <a:lvl9pPr algn="l">
              <a:defRPr sz="1200" b="0">
                <a:solidFill>
                  <a:srgbClr val="61716F"/>
                </a:solidFill>
                <a:latin typeface="Segoe UI"/>
                <a:ea typeface="Segoe UI"/>
                <a:cs typeface="Segoe UI"/>
              </a:defRPr>
            </a:lvl9pPr>
          </a:lstStyle>
          <a:p xmlns:a="http://schemas.openxmlformats.org/drawingml/2006/main">
            <a:pPr algn="l">
              <a:defRPr sz="1200" b="0">
                <a:solidFill>
                  <a:srgbClr val="61716F"/>
                </a:solidFill>
                <a:latin typeface="Segoe UI"/>
                <a:ea typeface="Segoe UI"/>
                <a:cs typeface="Segoe UI"/>
              </a:defRPr>
            </a:pPr>
            <a:r>
              <a:rPr sz="1200" b="0">
                <a:solidFill>
                  <a:srgbClr val="61716F"/>
                </a:solidFill>
                <a:latin typeface="Segoe UI"/>
                <a:ea typeface="Segoe UI"/>
                <a:cs typeface="Segoe UI"/>
              </a:rPr>
              <a:t>Chi tiết recurrence và điều kiện biên: phụ lục 25</a:t>
            </a:r>
          </a:p>
        </p:txBody>
      </p:sp>
    </p:spTree>
    <p:extLst>
      <p:ext uri="{BB962C8B-B14F-4D97-AF65-F5344CB8AC3E}">
        <p14:creationId xmlns:p14="http://schemas.microsoft.com/office/powerpoint/2010/main" val="66011041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09">
            <a:extLst xmlns:a="http://schemas.openxmlformats.org/drawingml/2006/main">
              <a:ext uri="{FF2B5EF4-FFF2-40B4-BE49-F238E27FC236}">
                <a16:creationId xmlns:a16="http://schemas.microsoft.com/office/drawing/2014/main" id="{68689056-9082-4CC9-B51F-5FACBA13CFC3}"/>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09</a:t>
            </a:r>
          </a:p>
        </p:txBody>
      </p:sp>
      <p:sp>
        <p:nvSpPr>
          <p:cNvPr id="2" name="Ví dụ DP trên hai chuỗi protein">
            <a:extLst xmlns:a="http://schemas.openxmlformats.org/drawingml/2006/main">
              <a:ext uri="{FF2B5EF4-FFF2-40B4-BE49-F238E27FC236}">
                <a16:creationId xmlns:a16="http://schemas.microsoft.com/office/drawing/2014/main" id="{41BE30CB-1D8F-4EE6-AC98-49904972D968}"/>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Ví dụ DP trên hai chuỗi protein</a:t>
            </a:r>
          </a:p>
        </p:txBody>
      </p:sp>
      <p:sp>
        <p:nvSpPr>
          <p:cNvPr id="3" name="ACDE và ACDF, BLOSUM62, mở gap −10, kéo dài −1">
            <a:extLst xmlns:a="http://schemas.openxmlformats.org/drawingml/2006/main">
              <a:ext uri="{FF2B5EF4-FFF2-40B4-BE49-F238E27FC236}">
                <a16:creationId xmlns:a16="http://schemas.microsoft.com/office/drawing/2014/main" id="{2984F91B-A3D8-4620-969E-E7D9DBF1EA4F}"/>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ACDE và ACDF, BLOSUM62, mở gap −10, kéo dài −1</a:t>
            </a:r>
          </a:p>
        </p:txBody>
      </p:sp>
      <p:graphicFrame>
        <p:nvGraphicFramePr>
          <p:cNvPr id="4" name="">
            <a:extLst xmlns:a="http://schemas.openxmlformats.org/drawingml/2006/main">
              <a:ext uri="{FF2B5EF4-FFF2-40B4-BE49-F238E27FC236}">
                <a16:creationId xmlns:a16="http://schemas.microsoft.com/office/drawing/2014/main" id="{A15F4D5B-1E7F-486D-82D7-9EDCDFCEA159}"/>
              </a:ext>
            </a:extLst>
          </p:cNvPr>
          <p:cNvGraphicFramePr/>
          <p:nvPr/>
        </p:nvGraphicFramePr>
        <p:xfrm>
          <a:off xmlns:a="http://schemas.openxmlformats.org/drawingml/2006/main" x="762000" y="2257425"/>
          <a:ext xmlns:a="http://schemas.openxmlformats.org/drawingml/2006/main" cx="5619750" cy="3143250"/>
        </p:xfrm>
        <a:graphic xmlns:a="http://schemas.openxmlformats.org/drawingml/2006/main">
          <a:graphicData uri="http://schemas.openxmlformats.org/drawingml/2006/table">
            <a:tbl>
              <a:tblPr firstRow="0" firstCol="0" bandRow="0"/>
              <a:tblGrid>
                <a:gridCol w="809625"/>
                <a:gridCol w="962025"/>
                <a:gridCol w="962025"/>
                <a:gridCol w="962025"/>
                <a:gridCol w="962025"/>
                <a:gridCol w="962025"/>
              </a:tblGrid>
              <a:tr h="523875">
                <a:tc>
                  <a:txBody>
                    <a:bodyPr anchor="ctr"/>
                    <a:lstStyle/>
                    <a:p>
                      <a:pPr algn="ctr"/>
                      <a:r>
                        <a:rPr sz="2025">
                          <a:solidFill>
                            <a:srgbClr val="142D3B"/>
                          </a:solidFill>
                          <a:latin typeface="Consolas"/>
                          <a:ea typeface="Consolas"/>
                          <a:cs typeface="Consolas"/>
                        </a:rPr>
                        <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A</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C</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D</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F</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r>
              <a:tr h="523875">
                <a:tc>
                  <a:txBody>
                    <a:bodyPr anchor="ctr"/>
                    <a:lstStyle/>
                    <a:p>
                      <a:pPr algn="ctr"/>
                      <a:r>
                        <a:rPr sz="2025">
                          <a:solidFill>
                            <a:srgbClr val="142D3B"/>
                          </a:solidFill>
                          <a:latin typeface="Consolas"/>
                          <a:ea typeface="Consolas"/>
                          <a:cs typeface="Consolas"/>
                        </a:rPr>
                        <a:t>∅</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A</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4</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C</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D</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19</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E</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b="1">
                          <a:solidFill>
                            <a:srgbClr val="FFFFFF"/>
                          </a:solidFill>
                          <a:latin typeface="Consolas"/>
                          <a:ea typeface="Consolas"/>
                          <a:cs typeface="Consolas"/>
                        </a:rPr>
                        <a:t>16</a:t>
                      </a:r>
                    </a:p>
                  </a:txBody>
                  <a:tcPr marL="76200" marR="76200" marT="57150" marB="57150" anchor="ctr">
                    <a:lnR w="9525">
                      <a:solidFill>
                        <a:srgbClr val="D7DED6"/>
                      </a:solidFill>
                    </a:lnR>
                    <a:lnB w="9525">
                      <a:solidFill>
                        <a:srgbClr val="D7DED6"/>
                      </a:solidFill>
                    </a:lnB>
                    <a:solidFill>
                      <a:srgbClr val="147D78"/>
                    </a:solidFill>
                  </a:tcPr>
                </a:tc>
              </a:tr>
            </a:tbl>
          </a:graphicData>
        </a:graphic>
      </p:graphicFrame>
      <p:sp>
        <p:nvSpPr>
          <p:cNvPr id="5" name="Điểm kết thúc: 16">
            <a:extLst xmlns:a="http://schemas.openxmlformats.org/drawingml/2006/main">
              <a:ext uri="{FF2B5EF4-FFF2-40B4-BE49-F238E27FC236}">
                <a16:creationId xmlns:a16="http://schemas.microsoft.com/office/drawing/2014/main" id="{F6E6653E-1F5A-4C5E-B439-C4959DF9CA29}"/>
              </a:ext>
            </a:extLst>
          </p:cNvPr>
          <p:cNvSpPr>
            <a:spLocks xmlns:a="http://schemas.openxmlformats.org/drawingml/2006/main" noGrp="1"/>
          </p:cNvSpPr>
          <p:nvPr/>
        </p:nvSpPr>
        <p:spPr>
          <a:xfrm xmlns:a="http://schemas.openxmlformats.org/drawingml/2006/main">
            <a:off x="6972300" y="2352675"/>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75" b="1">
                <a:solidFill>
                  <a:srgbClr val="147D78"/>
                </a:solidFill>
                <a:latin typeface="Segoe UI"/>
                <a:ea typeface="Segoe UI"/>
                <a:cs typeface="Segoe UI"/>
              </a:defRPr>
            </a:defPPr>
            <a:lvl1pPr algn="l">
              <a:defRPr sz="2475" b="1">
                <a:solidFill>
                  <a:srgbClr val="147D78"/>
                </a:solidFill>
                <a:latin typeface="Segoe UI"/>
                <a:ea typeface="Segoe UI"/>
                <a:cs typeface="Segoe UI"/>
              </a:defRPr>
            </a:lvl1pPr>
            <a:lvl2pPr algn="l">
              <a:defRPr sz="2475" b="1">
                <a:solidFill>
                  <a:srgbClr val="147D78"/>
                </a:solidFill>
                <a:latin typeface="Segoe UI"/>
                <a:ea typeface="Segoe UI"/>
                <a:cs typeface="Segoe UI"/>
              </a:defRPr>
            </a:lvl2pPr>
            <a:lvl3pPr algn="l">
              <a:defRPr sz="2475" b="1">
                <a:solidFill>
                  <a:srgbClr val="147D78"/>
                </a:solidFill>
                <a:latin typeface="Segoe UI"/>
                <a:ea typeface="Segoe UI"/>
                <a:cs typeface="Segoe UI"/>
              </a:defRPr>
            </a:lvl3pPr>
            <a:lvl4pPr algn="l">
              <a:defRPr sz="2475" b="1">
                <a:solidFill>
                  <a:srgbClr val="147D78"/>
                </a:solidFill>
                <a:latin typeface="Segoe UI"/>
                <a:ea typeface="Segoe UI"/>
                <a:cs typeface="Segoe UI"/>
              </a:defRPr>
            </a:lvl4pPr>
            <a:lvl5pPr algn="l">
              <a:defRPr sz="2475" b="1">
                <a:solidFill>
                  <a:srgbClr val="147D78"/>
                </a:solidFill>
                <a:latin typeface="Segoe UI"/>
                <a:ea typeface="Segoe UI"/>
                <a:cs typeface="Segoe UI"/>
              </a:defRPr>
            </a:lvl5pPr>
            <a:lvl6pPr algn="l">
              <a:defRPr sz="2475" b="1">
                <a:solidFill>
                  <a:srgbClr val="147D78"/>
                </a:solidFill>
                <a:latin typeface="Segoe UI"/>
                <a:ea typeface="Segoe UI"/>
                <a:cs typeface="Segoe UI"/>
              </a:defRPr>
            </a:lvl6pPr>
            <a:lvl7pPr algn="l">
              <a:defRPr sz="2475" b="1">
                <a:solidFill>
                  <a:srgbClr val="147D78"/>
                </a:solidFill>
                <a:latin typeface="Segoe UI"/>
                <a:ea typeface="Segoe UI"/>
                <a:cs typeface="Segoe UI"/>
              </a:defRPr>
            </a:lvl7pPr>
            <a:lvl8pPr algn="l">
              <a:defRPr sz="2475" b="1">
                <a:solidFill>
                  <a:srgbClr val="147D78"/>
                </a:solidFill>
                <a:latin typeface="Segoe UI"/>
                <a:ea typeface="Segoe UI"/>
                <a:cs typeface="Segoe UI"/>
              </a:defRPr>
            </a:lvl8pPr>
            <a:lvl9pPr algn="l">
              <a:defRPr sz="2475" b="1">
                <a:solidFill>
                  <a:srgbClr val="147D78"/>
                </a:solidFill>
                <a:latin typeface="Segoe UI"/>
                <a:ea typeface="Segoe UI"/>
                <a:cs typeface="Segoe UI"/>
              </a:defRPr>
            </a:lvl9pPr>
          </a:lstStyle>
          <a:p xmlns:a="http://schemas.openxmlformats.org/drawingml/2006/main">
            <a:pPr algn="l">
              <a:defRPr sz="2475" b="1">
                <a:solidFill>
                  <a:srgbClr val="147D78"/>
                </a:solidFill>
                <a:latin typeface="Segoe UI"/>
                <a:ea typeface="Segoe UI"/>
                <a:cs typeface="Segoe UI"/>
              </a:defRPr>
            </a:pPr>
            <a:r>
              <a:rPr sz="2475" b="1">
                <a:solidFill>
                  <a:srgbClr val="147D78"/>
                </a:solidFill>
                <a:latin typeface="Segoe UI"/>
                <a:ea typeface="Segoe UI"/>
                <a:cs typeface="Segoe UI"/>
              </a:rPr>
              <a:t>Điểm kết thúc: 16</a:t>
            </a:r>
          </a:p>
        </p:txBody>
      </p:sp>
      <p:sp>
        <p:nvSpPr>
          <p:cNvPr id="6" name="A / A:     +4">
            <a:extLst xmlns:a="http://schemas.openxmlformats.org/drawingml/2006/main">
              <a:ext uri="{FF2B5EF4-FFF2-40B4-BE49-F238E27FC236}">
                <a16:creationId xmlns:a16="http://schemas.microsoft.com/office/drawing/2014/main" id="{A798F9B1-A12F-45B4-ADA1-959D3726EC7B}"/>
              </a:ext>
            </a:extLst>
          </p:cNvPr>
          <p:cNvSpPr>
            <a:spLocks xmlns:a="http://schemas.openxmlformats.org/drawingml/2006/main" noGrp="1"/>
          </p:cNvSpPr>
          <p:nvPr/>
        </p:nvSpPr>
        <p:spPr>
          <a:xfrm xmlns:a="http://schemas.openxmlformats.org/drawingml/2006/main">
            <a:off x="6972300" y="31051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142D3B"/>
                </a:solidFill>
                <a:latin typeface="Segoe UI"/>
                <a:ea typeface="Segoe UI"/>
                <a:cs typeface="Segoe UI"/>
              </a:defRPr>
            </a:defPPr>
            <a:lvl1pPr algn="l">
              <a:defRPr sz="2250" b="0">
                <a:solidFill>
                  <a:srgbClr val="142D3B"/>
                </a:solidFill>
                <a:latin typeface="Segoe UI"/>
                <a:ea typeface="Segoe UI"/>
                <a:cs typeface="Segoe UI"/>
              </a:defRPr>
            </a:lvl1pPr>
            <a:lvl2pPr algn="l">
              <a:defRPr sz="2250" b="0">
                <a:solidFill>
                  <a:srgbClr val="142D3B"/>
                </a:solidFill>
                <a:latin typeface="Segoe UI"/>
                <a:ea typeface="Segoe UI"/>
                <a:cs typeface="Segoe UI"/>
              </a:defRPr>
            </a:lvl2pPr>
            <a:lvl3pPr algn="l">
              <a:defRPr sz="2250" b="0">
                <a:solidFill>
                  <a:srgbClr val="142D3B"/>
                </a:solidFill>
                <a:latin typeface="Segoe UI"/>
                <a:ea typeface="Segoe UI"/>
                <a:cs typeface="Segoe UI"/>
              </a:defRPr>
            </a:lvl3pPr>
            <a:lvl4pPr algn="l">
              <a:defRPr sz="2250" b="0">
                <a:solidFill>
                  <a:srgbClr val="142D3B"/>
                </a:solidFill>
                <a:latin typeface="Segoe UI"/>
                <a:ea typeface="Segoe UI"/>
                <a:cs typeface="Segoe UI"/>
              </a:defRPr>
            </a:lvl4pPr>
            <a:lvl5pPr algn="l">
              <a:defRPr sz="2250" b="0">
                <a:solidFill>
                  <a:srgbClr val="142D3B"/>
                </a:solidFill>
                <a:latin typeface="Segoe UI"/>
                <a:ea typeface="Segoe UI"/>
                <a:cs typeface="Segoe UI"/>
              </a:defRPr>
            </a:lvl5pPr>
            <a:lvl6pPr algn="l">
              <a:defRPr sz="2250" b="0">
                <a:solidFill>
                  <a:srgbClr val="142D3B"/>
                </a:solidFill>
                <a:latin typeface="Segoe UI"/>
                <a:ea typeface="Segoe UI"/>
                <a:cs typeface="Segoe UI"/>
              </a:defRPr>
            </a:lvl6pPr>
            <a:lvl7pPr algn="l">
              <a:defRPr sz="2250" b="0">
                <a:solidFill>
                  <a:srgbClr val="142D3B"/>
                </a:solidFill>
                <a:latin typeface="Segoe UI"/>
                <a:ea typeface="Segoe UI"/>
                <a:cs typeface="Segoe UI"/>
              </a:defRPr>
            </a:lvl7pPr>
            <a:lvl8pPr algn="l">
              <a:defRPr sz="2250" b="0">
                <a:solidFill>
                  <a:srgbClr val="142D3B"/>
                </a:solidFill>
                <a:latin typeface="Segoe UI"/>
                <a:ea typeface="Segoe UI"/>
                <a:cs typeface="Segoe UI"/>
              </a:defRPr>
            </a:lvl8pPr>
            <a:lvl9pPr algn="l">
              <a:defRPr sz="2250" b="0">
                <a:solidFill>
                  <a:srgbClr val="142D3B"/>
                </a:solidFill>
                <a:latin typeface="Segoe UI"/>
                <a:ea typeface="Segoe UI"/>
                <a:cs typeface="Segoe UI"/>
              </a:defRPr>
            </a:lvl9pPr>
          </a:lstStyle>
          <a:p xmlns:a="http://schemas.openxmlformats.org/drawingml/2006/main">
            <a:pPr algn="l">
              <a:defRPr sz="2250" b="0">
                <a:solidFill>
                  <a:srgbClr val="142D3B"/>
                </a:solidFill>
                <a:latin typeface="Segoe UI"/>
                <a:ea typeface="Segoe UI"/>
                <a:cs typeface="Segoe UI"/>
              </a:defRPr>
            </a:pPr>
            <a:r>
              <a:rPr sz="2250" b="0">
                <a:solidFill>
                  <a:srgbClr val="142D3B"/>
                </a:solidFill>
                <a:latin typeface="Segoe UI"/>
                <a:ea typeface="Segoe UI"/>
                <a:cs typeface="Segoe UI"/>
              </a:rPr>
              <a:t>A / A:     +4</a:t>
            </a:r>
          </a:p>
        </p:txBody>
      </p:sp>
      <p:sp>
        <p:nvSpPr>
          <p:cNvPr id="7" name="C / C:     +9">
            <a:extLst xmlns:a="http://schemas.openxmlformats.org/drawingml/2006/main">
              <a:ext uri="{FF2B5EF4-FFF2-40B4-BE49-F238E27FC236}">
                <a16:creationId xmlns:a16="http://schemas.microsoft.com/office/drawing/2014/main" id="{766A2477-37AD-46FC-BEA5-33E1382E0C39}"/>
              </a:ext>
            </a:extLst>
          </p:cNvPr>
          <p:cNvSpPr>
            <a:spLocks xmlns:a="http://schemas.openxmlformats.org/drawingml/2006/main" noGrp="1"/>
          </p:cNvSpPr>
          <p:nvPr/>
        </p:nvSpPr>
        <p:spPr>
          <a:xfrm xmlns:a="http://schemas.openxmlformats.org/drawingml/2006/main">
            <a:off x="6972300" y="35814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142D3B"/>
                </a:solidFill>
                <a:latin typeface="Segoe UI"/>
                <a:ea typeface="Segoe UI"/>
                <a:cs typeface="Segoe UI"/>
              </a:defRPr>
            </a:defPPr>
            <a:lvl1pPr algn="l">
              <a:defRPr sz="2250" b="0">
                <a:solidFill>
                  <a:srgbClr val="142D3B"/>
                </a:solidFill>
                <a:latin typeface="Segoe UI"/>
                <a:ea typeface="Segoe UI"/>
                <a:cs typeface="Segoe UI"/>
              </a:defRPr>
            </a:lvl1pPr>
            <a:lvl2pPr algn="l">
              <a:defRPr sz="2250" b="0">
                <a:solidFill>
                  <a:srgbClr val="142D3B"/>
                </a:solidFill>
                <a:latin typeface="Segoe UI"/>
                <a:ea typeface="Segoe UI"/>
                <a:cs typeface="Segoe UI"/>
              </a:defRPr>
            </a:lvl2pPr>
            <a:lvl3pPr algn="l">
              <a:defRPr sz="2250" b="0">
                <a:solidFill>
                  <a:srgbClr val="142D3B"/>
                </a:solidFill>
                <a:latin typeface="Segoe UI"/>
                <a:ea typeface="Segoe UI"/>
                <a:cs typeface="Segoe UI"/>
              </a:defRPr>
            </a:lvl3pPr>
            <a:lvl4pPr algn="l">
              <a:defRPr sz="2250" b="0">
                <a:solidFill>
                  <a:srgbClr val="142D3B"/>
                </a:solidFill>
                <a:latin typeface="Segoe UI"/>
                <a:ea typeface="Segoe UI"/>
                <a:cs typeface="Segoe UI"/>
              </a:defRPr>
            </a:lvl4pPr>
            <a:lvl5pPr algn="l">
              <a:defRPr sz="2250" b="0">
                <a:solidFill>
                  <a:srgbClr val="142D3B"/>
                </a:solidFill>
                <a:latin typeface="Segoe UI"/>
                <a:ea typeface="Segoe UI"/>
                <a:cs typeface="Segoe UI"/>
              </a:defRPr>
            </a:lvl5pPr>
            <a:lvl6pPr algn="l">
              <a:defRPr sz="2250" b="0">
                <a:solidFill>
                  <a:srgbClr val="142D3B"/>
                </a:solidFill>
                <a:latin typeface="Segoe UI"/>
                <a:ea typeface="Segoe UI"/>
                <a:cs typeface="Segoe UI"/>
              </a:defRPr>
            </a:lvl6pPr>
            <a:lvl7pPr algn="l">
              <a:defRPr sz="2250" b="0">
                <a:solidFill>
                  <a:srgbClr val="142D3B"/>
                </a:solidFill>
                <a:latin typeface="Segoe UI"/>
                <a:ea typeface="Segoe UI"/>
                <a:cs typeface="Segoe UI"/>
              </a:defRPr>
            </a:lvl7pPr>
            <a:lvl8pPr algn="l">
              <a:defRPr sz="2250" b="0">
                <a:solidFill>
                  <a:srgbClr val="142D3B"/>
                </a:solidFill>
                <a:latin typeface="Segoe UI"/>
                <a:ea typeface="Segoe UI"/>
                <a:cs typeface="Segoe UI"/>
              </a:defRPr>
            </a:lvl8pPr>
            <a:lvl9pPr algn="l">
              <a:defRPr sz="2250" b="0">
                <a:solidFill>
                  <a:srgbClr val="142D3B"/>
                </a:solidFill>
                <a:latin typeface="Segoe UI"/>
                <a:ea typeface="Segoe UI"/>
                <a:cs typeface="Segoe UI"/>
              </a:defRPr>
            </a:lvl9pPr>
          </a:lstStyle>
          <a:p xmlns:a="http://schemas.openxmlformats.org/drawingml/2006/main">
            <a:pPr algn="l">
              <a:defRPr sz="2250" b="0">
                <a:solidFill>
                  <a:srgbClr val="142D3B"/>
                </a:solidFill>
                <a:latin typeface="Segoe UI"/>
                <a:ea typeface="Segoe UI"/>
                <a:cs typeface="Segoe UI"/>
              </a:defRPr>
            </a:pPr>
            <a:r>
              <a:rPr sz="2250" b="0">
                <a:solidFill>
                  <a:srgbClr val="142D3B"/>
                </a:solidFill>
                <a:latin typeface="Segoe UI"/>
                <a:ea typeface="Segoe UI"/>
                <a:cs typeface="Segoe UI"/>
              </a:rPr>
              <a:t>C / C:     +9</a:t>
            </a:r>
          </a:p>
        </p:txBody>
      </p:sp>
      <p:sp>
        <p:nvSpPr>
          <p:cNvPr id="8" name="D / D:     +6">
            <a:extLst xmlns:a="http://schemas.openxmlformats.org/drawingml/2006/main">
              <a:ext uri="{FF2B5EF4-FFF2-40B4-BE49-F238E27FC236}">
                <a16:creationId xmlns:a16="http://schemas.microsoft.com/office/drawing/2014/main" id="{19CBA4E5-1CC9-4978-8255-7E104CD9B8D1}"/>
              </a:ext>
            </a:extLst>
          </p:cNvPr>
          <p:cNvSpPr>
            <a:spLocks xmlns:a="http://schemas.openxmlformats.org/drawingml/2006/main" noGrp="1"/>
          </p:cNvSpPr>
          <p:nvPr/>
        </p:nvSpPr>
        <p:spPr>
          <a:xfrm xmlns:a="http://schemas.openxmlformats.org/drawingml/2006/main">
            <a:off x="6972300" y="40576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142D3B"/>
                </a:solidFill>
                <a:latin typeface="Segoe UI"/>
                <a:ea typeface="Segoe UI"/>
                <a:cs typeface="Segoe UI"/>
              </a:defRPr>
            </a:defPPr>
            <a:lvl1pPr algn="l">
              <a:defRPr sz="2250" b="0">
                <a:solidFill>
                  <a:srgbClr val="142D3B"/>
                </a:solidFill>
                <a:latin typeface="Segoe UI"/>
                <a:ea typeface="Segoe UI"/>
                <a:cs typeface="Segoe UI"/>
              </a:defRPr>
            </a:lvl1pPr>
            <a:lvl2pPr algn="l">
              <a:defRPr sz="2250" b="0">
                <a:solidFill>
                  <a:srgbClr val="142D3B"/>
                </a:solidFill>
                <a:latin typeface="Segoe UI"/>
                <a:ea typeface="Segoe UI"/>
                <a:cs typeface="Segoe UI"/>
              </a:defRPr>
            </a:lvl2pPr>
            <a:lvl3pPr algn="l">
              <a:defRPr sz="2250" b="0">
                <a:solidFill>
                  <a:srgbClr val="142D3B"/>
                </a:solidFill>
                <a:latin typeface="Segoe UI"/>
                <a:ea typeface="Segoe UI"/>
                <a:cs typeface="Segoe UI"/>
              </a:defRPr>
            </a:lvl3pPr>
            <a:lvl4pPr algn="l">
              <a:defRPr sz="2250" b="0">
                <a:solidFill>
                  <a:srgbClr val="142D3B"/>
                </a:solidFill>
                <a:latin typeface="Segoe UI"/>
                <a:ea typeface="Segoe UI"/>
                <a:cs typeface="Segoe UI"/>
              </a:defRPr>
            </a:lvl4pPr>
            <a:lvl5pPr algn="l">
              <a:defRPr sz="2250" b="0">
                <a:solidFill>
                  <a:srgbClr val="142D3B"/>
                </a:solidFill>
                <a:latin typeface="Segoe UI"/>
                <a:ea typeface="Segoe UI"/>
                <a:cs typeface="Segoe UI"/>
              </a:defRPr>
            </a:lvl5pPr>
            <a:lvl6pPr algn="l">
              <a:defRPr sz="2250" b="0">
                <a:solidFill>
                  <a:srgbClr val="142D3B"/>
                </a:solidFill>
                <a:latin typeface="Segoe UI"/>
                <a:ea typeface="Segoe UI"/>
                <a:cs typeface="Segoe UI"/>
              </a:defRPr>
            </a:lvl6pPr>
            <a:lvl7pPr algn="l">
              <a:defRPr sz="2250" b="0">
                <a:solidFill>
                  <a:srgbClr val="142D3B"/>
                </a:solidFill>
                <a:latin typeface="Segoe UI"/>
                <a:ea typeface="Segoe UI"/>
                <a:cs typeface="Segoe UI"/>
              </a:defRPr>
            </a:lvl7pPr>
            <a:lvl8pPr algn="l">
              <a:defRPr sz="2250" b="0">
                <a:solidFill>
                  <a:srgbClr val="142D3B"/>
                </a:solidFill>
                <a:latin typeface="Segoe UI"/>
                <a:ea typeface="Segoe UI"/>
                <a:cs typeface="Segoe UI"/>
              </a:defRPr>
            </a:lvl8pPr>
            <a:lvl9pPr algn="l">
              <a:defRPr sz="2250" b="0">
                <a:solidFill>
                  <a:srgbClr val="142D3B"/>
                </a:solidFill>
                <a:latin typeface="Segoe UI"/>
                <a:ea typeface="Segoe UI"/>
                <a:cs typeface="Segoe UI"/>
              </a:defRPr>
            </a:lvl9pPr>
          </a:lstStyle>
          <a:p xmlns:a="http://schemas.openxmlformats.org/drawingml/2006/main">
            <a:pPr algn="l">
              <a:defRPr sz="2250" b="0">
                <a:solidFill>
                  <a:srgbClr val="142D3B"/>
                </a:solidFill>
                <a:latin typeface="Segoe UI"/>
                <a:ea typeface="Segoe UI"/>
                <a:cs typeface="Segoe UI"/>
              </a:defRPr>
            </a:pPr>
            <a:r>
              <a:rPr sz="2250" b="0">
                <a:solidFill>
                  <a:srgbClr val="142D3B"/>
                </a:solidFill>
                <a:latin typeface="Segoe UI"/>
                <a:ea typeface="Segoe UI"/>
                <a:cs typeface="Segoe UI"/>
              </a:rPr>
              <a:t>D / D:     +6</a:t>
            </a:r>
          </a:p>
        </p:txBody>
      </p:sp>
      <p:sp>
        <p:nvSpPr>
          <p:cNvPr id="9" name="E / F:     −3">
            <a:extLst xmlns:a="http://schemas.openxmlformats.org/drawingml/2006/main">
              <a:ext uri="{FF2B5EF4-FFF2-40B4-BE49-F238E27FC236}">
                <a16:creationId xmlns:a16="http://schemas.microsoft.com/office/drawing/2014/main" id="{CF34FFAC-A015-4B38-94D2-58F2027C0D5C}"/>
              </a:ext>
            </a:extLst>
          </p:cNvPr>
          <p:cNvSpPr>
            <a:spLocks xmlns:a="http://schemas.openxmlformats.org/drawingml/2006/main" noGrp="1"/>
          </p:cNvSpPr>
          <p:nvPr/>
        </p:nvSpPr>
        <p:spPr>
          <a:xfrm xmlns:a="http://schemas.openxmlformats.org/drawingml/2006/main">
            <a:off x="6972300" y="45339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0">
                <a:solidFill>
                  <a:srgbClr val="142D3B"/>
                </a:solidFill>
                <a:latin typeface="Segoe UI"/>
                <a:ea typeface="Segoe UI"/>
                <a:cs typeface="Segoe UI"/>
              </a:defRPr>
            </a:defPPr>
            <a:lvl1pPr algn="l">
              <a:defRPr sz="2250" b="0">
                <a:solidFill>
                  <a:srgbClr val="142D3B"/>
                </a:solidFill>
                <a:latin typeface="Segoe UI"/>
                <a:ea typeface="Segoe UI"/>
                <a:cs typeface="Segoe UI"/>
              </a:defRPr>
            </a:lvl1pPr>
            <a:lvl2pPr algn="l">
              <a:defRPr sz="2250" b="0">
                <a:solidFill>
                  <a:srgbClr val="142D3B"/>
                </a:solidFill>
                <a:latin typeface="Segoe UI"/>
                <a:ea typeface="Segoe UI"/>
                <a:cs typeface="Segoe UI"/>
              </a:defRPr>
            </a:lvl2pPr>
            <a:lvl3pPr algn="l">
              <a:defRPr sz="2250" b="0">
                <a:solidFill>
                  <a:srgbClr val="142D3B"/>
                </a:solidFill>
                <a:latin typeface="Segoe UI"/>
                <a:ea typeface="Segoe UI"/>
                <a:cs typeface="Segoe UI"/>
              </a:defRPr>
            </a:lvl3pPr>
            <a:lvl4pPr algn="l">
              <a:defRPr sz="2250" b="0">
                <a:solidFill>
                  <a:srgbClr val="142D3B"/>
                </a:solidFill>
                <a:latin typeface="Segoe UI"/>
                <a:ea typeface="Segoe UI"/>
                <a:cs typeface="Segoe UI"/>
              </a:defRPr>
            </a:lvl4pPr>
            <a:lvl5pPr algn="l">
              <a:defRPr sz="2250" b="0">
                <a:solidFill>
                  <a:srgbClr val="142D3B"/>
                </a:solidFill>
                <a:latin typeface="Segoe UI"/>
                <a:ea typeface="Segoe UI"/>
                <a:cs typeface="Segoe UI"/>
              </a:defRPr>
            </a:lvl5pPr>
            <a:lvl6pPr algn="l">
              <a:defRPr sz="2250" b="0">
                <a:solidFill>
                  <a:srgbClr val="142D3B"/>
                </a:solidFill>
                <a:latin typeface="Segoe UI"/>
                <a:ea typeface="Segoe UI"/>
                <a:cs typeface="Segoe UI"/>
              </a:defRPr>
            </a:lvl6pPr>
            <a:lvl7pPr algn="l">
              <a:defRPr sz="2250" b="0">
                <a:solidFill>
                  <a:srgbClr val="142D3B"/>
                </a:solidFill>
                <a:latin typeface="Segoe UI"/>
                <a:ea typeface="Segoe UI"/>
                <a:cs typeface="Segoe UI"/>
              </a:defRPr>
            </a:lvl7pPr>
            <a:lvl8pPr algn="l">
              <a:defRPr sz="2250" b="0">
                <a:solidFill>
                  <a:srgbClr val="142D3B"/>
                </a:solidFill>
                <a:latin typeface="Segoe UI"/>
                <a:ea typeface="Segoe UI"/>
                <a:cs typeface="Segoe UI"/>
              </a:defRPr>
            </a:lvl8pPr>
            <a:lvl9pPr algn="l">
              <a:defRPr sz="2250" b="0">
                <a:solidFill>
                  <a:srgbClr val="142D3B"/>
                </a:solidFill>
                <a:latin typeface="Segoe UI"/>
                <a:ea typeface="Segoe UI"/>
                <a:cs typeface="Segoe UI"/>
              </a:defRPr>
            </a:lvl9pPr>
          </a:lstStyle>
          <a:p xmlns:a="http://schemas.openxmlformats.org/drawingml/2006/main">
            <a:pPr algn="l">
              <a:defRPr sz="2250" b="0">
                <a:solidFill>
                  <a:srgbClr val="142D3B"/>
                </a:solidFill>
                <a:latin typeface="Segoe UI"/>
                <a:ea typeface="Segoe UI"/>
                <a:cs typeface="Segoe UI"/>
              </a:defRPr>
            </a:pPr>
            <a:r>
              <a:rPr sz="2250" b="0">
                <a:solidFill>
                  <a:srgbClr val="142D3B"/>
                </a:solidFill>
                <a:latin typeface="Segoe UI"/>
                <a:ea typeface="Segoe UI"/>
                <a:cs typeface="Segoe UI"/>
              </a:rPr>
              <a:t>E / F:     −3</a:t>
            </a:r>
          </a:p>
        </p:txBody>
      </p:sp>
      <p:sp>
        <p:nvSpPr>
          <p:cNvPr id="10" name="Một căn chỉnh đạt điểm 16: ACDE / ACDF">
            <a:extLst xmlns:a="http://schemas.openxmlformats.org/drawingml/2006/main">
              <a:ext uri="{FF2B5EF4-FFF2-40B4-BE49-F238E27FC236}">
                <a16:creationId xmlns:a16="http://schemas.microsoft.com/office/drawing/2014/main" id="{797BBA5C-26B3-4E6D-B4EF-1EED0D258060}"/>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Một căn chỉnh đạt điểm 16: ACDE / ACDF</a:t>
            </a:r>
          </a:p>
        </p:txBody>
      </p:sp>
    </p:spTree>
    <p:extLst>
      <p:ext uri="{BB962C8B-B14F-4D97-AF65-F5344CB8AC3E}">
        <p14:creationId xmlns:p14="http://schemas.microsoft.com/office/powerpoint/2010/main" val="1999020699"/>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10">
            <a:extLst xmlns:a="http://schemas.openxmlformats.org/drawingml/2006/main">
              <a:ext uri="{FF2B5EF4-FFF2-40B4-BE49-F238E27FC236}">
                <a16:creationId xmlns:a16="http://schemas.microsoft.com/office/drawing/2014/main" id="{C35A52BE-741A-4E94-BDA0-134154C74CDD}"/>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10</a:t>
            </a:r>
          </a:p>
        </p:txBody>
      </p:sp>
      <p:sp>
        <p:nvSpPr>
          <p:cNvPr id="2" name="Truy vết và chi phí lưu bảng">
            <a:extLst xmlns:a="http://schemas.openxmlformats.org/drawingml/2006/main">
              <a:ext uri="{FF2B5EF4-FFF2-40B4-BE49-F238E27FC236}">
                <a16:creationId xmlns:a16="http://schemas.microsoft.com/office/drawing/2014/main" id="{22A8E044-181F-49F9-BDE0-6BFA94AD9852}"/>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Truy vết và chi phí lưu bảng</a:t>
            </a:r>
          </a:p>
        </p:txBody>
      </p:sp>
      <p:sp>
        <p:nvSpPr>
          <p:cNvPr id="3" name="Biết điểm tối ưu chưa đủ để khôi phục căn chỉnh">
            <a:extLst xmlns:a="http://schemas.openxmlformats.org/drawingml/2006/main">
              <a:ext uri="{FF2B5EF4-FFF2-40B4-BE49-F238E27FC236}">
                <a16:creationId xmlns:a16="http://schemas.microsoft.com/office/drawing/2014/main" id="{A30613DD-1B91-409C-B0A1-3E230B1C60DA}"/>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Biết điểm tối ưu chưa đủ để khôi phục căn chỉnh</a:t>
            </a:r>
          </a:p>
        </p:txBody>
      </p:sp>
      <p:graphicFrame>
        <p:nvGraphicFramePr>
          <p:cNvPr id="4" name="">
            <a:extLst xmlns:a="http://schemas.openxmlformats.org/drawingml/2006/main">
              <a:ext uri="{FF2B5EF4-FFF2-40B4-BE49-F238E27FC236}">
                <a16:creationId xmlns:a16="http://schemas.microsoft.com/office/drawing/2014/main" id="{1AA7F36F-4776-40A9-AFDF-C73AE7BB3B1E}"/>
              </a:ext>
            </a:extLst>
          </p:cNvPr>
          <p:cNvGraphicFramePr/>
          <p:nvPr/>
        </p:nvGraphicFramePr>
        <p:xfrm>
          <a:off xmlns:a="http://schemas.openxmlformats.org/drawingml/2006/main" x="762000" y="2257425"/>
          <a:ext xmlns:a="http://schemas.openxmlformats.org/drawingml/2006/main" cx="5619750" cy="3143250"/>
        </p:xfrm>
        <a:graphic xmlns:a="http://schemas.openxmlformats.org/drawingml/2006/main">
          <a:graphicData uri="http://schemas.openxmlformats.org/drawingml/2006/table">
            <a:tbl>
              <a:tblPr firstRow="0" firstCol="0" bandRow="0"/>
              <a:tblGrid>
                <a:gridCol w="809625"/>
                <a:gridCol w="962025"/>
                <a:gridCol w="962025"/>
                <a:gridCol w="962025"/>
                <a:gridCol w="962025"/>
                <a:gridCol w="962025"/>
              </a:tblGrid>
              <a:tr h="523875">
                <a:tc>
                  <a:txBody>
                    <a:bodyPr anchor="ctr"/>
                    <a:lstStyle/>
                    <a:p>
                      <a:pPr algn="ctr"/>
                      <a:r>
                        <a:rPr sz="2025">
                          <a:solidFill>
                            <a:srgbClr val="142D3B"/>
                          </a:solidFill>
                          <a:latin typeface="Consolas"/>
                          <a:ea typeface="Consolas"/>
                          <a:cs typeface="Consolas"/>
                        </a:rPr>
                        <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A</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C</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D</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F</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r>
              <a:tr h="523875">
                <a:tc>
                  <a:txBody>
                    <a:bodyPr anchor="ctr"/>
                    <a:lstStyle/>
                    <a:p>
                      <a:pPr algn="ctr"/>
                      <a:r>
                        <a:rPr sz="2025">
                          <a:solidFill>
                            <a:srgbClr val="142D3B"/>
                          </a:solidFill>
                          <a:latin typeface="Consolas"/>
                          <a:ea typeface="Consolas"/>
                          <a:cs typeface="Consolas"/>
                        </a:rPr>
                        <a:t>∅</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b="1">
                          <a:solidFill>
                            <a:srgbClr val="147D78"/>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A</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b="1">
                          <a:solidFill>
                            <a:srgbClr val="147D78"/>
                          </a:solidFill>
                          <a:latin typeface="Consolas"/>
                          <a:ea typeface="Consolas"/>
                          <a:cs typeface="Consolas"/>
                        </a:rPr>
                        <a:t>4</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C</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b="1">
                          <a:solidFill>
                            <a:srgbClr val="147D78"/>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D</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b="1">
                          <a:solidFill>
                            <a:srgbClr val="147D78"/>
                          </a:solidFill>
                          <a:latin typeface="Consolas"/>
                          <a:ea typeface="Consolas"/>
                          <a:cs typeface="Consolas"/>
                        </a:rPr>
                        <a:t>19</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E</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b="1">
                          <a:solidFill>
                            <a:srgbClr val="FFFFFF"/>
                          </a:solidFill>
                          <a:latin typeface="Consolas"/>
                          <a:ea typeface="Consolas"/>
                          <a:cs typeface="Consolas"/>
                        </a:rPr>
                        <a:t>16</a:t>
                      </a:r>
                    </a:p>
                  </a:txBody>
                  <a:tcPr marL="76200" marR="76200" marT="57150" marB="57150" anchor="ctr">
                    <a:lnR w="9525">
                      <a:solidFill>
                        <a:srgbClr val="D7DED6"/>
                      </a:solidFill>
                    </a:lnR>
                    <a:lnB w="9525">
                      <a:solidFill>
                        <a:srgbClr val="D7DED6"/>
                      </a:solidFill>
                    </a:lnB>
                    <a:solidFill>
                      <a:srgbClr val="147D78"/>
                    </a:solidFill>
                  </a:tcPr>
                </a:tc>
              </a:tr>
            </a:tbl>
          </a:graphicData>
        </a:graphic>
      </p:graphicFrame>
      <p:sp>
        <p:nvSpPr>
          <p:cNvPr id="5" name="Gotoh lưu bảng đầy đủ">
            <a:extLst xmlns:a="http://schemas.openxmlformats.org/drawingml/2006/main">
              <a:ext uri="{FF2B5EF4-FFF2-40B4-BE49-F238E27FC236}">
                <a16:creationId xmlns:a16="http://schemas.microsoft.com/office/drawing/2014/main" id="{3C595801-22E1-4A58-AB96-67A529CFBC55}"/>
              </a:ext>
            </a:extLst>
          </p:cNvPr>
          <p:cNvSpPr>
            <a:spLocks xmlns:a="http://schemas.openxmlformats.org/drawingml/2006/main" noGrp="1"/>
          </p:cNvSpPr>
          <p:nvPr/>
        </p:nvSpPr>
        <p:spPr>
          <a:xfrm xmlns:a="http://schemas.openxmlformats.org/drawingml/2006/main">
            <a:off x="6972300" y="23431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1">
                <a:solidFill>
                  <a:srgbClr val="147D78"/>
                </a:solidFill>
                <a:latin typeface="Segoe UI"/>
                <a:ea typeface="Segoe UI"/>
                <a:cs typeface="Segoe UI"/>
              </a:defRPr>
            </a:defPPr>
            <a:lvl1pPr algn="l">
              <a:defRPr sz="2250" b="1">
                <a:solidFill>
                  <a:srgbClr val="147D78"/>
                </a:solidFill>
                <a:latin typeface="Segoe UI"/>
                <a:ea typeface="Segoe UI"/>
                <a:cs typeface="Segoe UI"/>
              </a:defRPr>
            </a:lvl1pPr>
            <a:lvl2pPr algn="l">
              <a:defRPr sz="2250" b="1">
                <a:solidFill>
                  <a:srgbClr val="147D78"/>
                </a:solidFill>
                <a:latin typeface="Segoe UI"/>
                <a:ea typeface="Segoe UI"/>
                <a:cs typeface="Segoe UI"/>
              </a:defRPr>
            </a:lvl2pPr>
            <a:lvl3pPr algn="l">
              <a:defRPr sz="2250" b="1">
                <a:solidFill>
                  <a:srgbClr val="147D78"/>
                </a:solidFill>
                <a:latin typeface="Segoe UI"/>
                <a:ea typeface="Segoe UI"/>
                <a:cs typeface="Segoe UI"/>
              </a:defRPr>
            </a:lvl3pPr>
            <a:lvl4pPr algn="l">
              <a:defRPr sz="2250" b="1">
                <a:solidFill>
                  <a:srgbClr val="147D78"/>
                </a:solidFill>
                <a:latin typeface="Segoe UI"/>
                <a:ea typeface="Segoe UI"/>
                <a:cs typeface="Segoe UI"/>
              </a:defRPr>
            </a:lvl4pPr>
            <a:lvl5pPr algn="l">
              <a:defRPr sz="2250" b="1">
                <a:solidFill>
                  <a:srgbClr val="147D78"/>
                </a:solidFill>
                <a:latin typeface="Segoe UI"/>
                <a:ea typeface="Segoe UI"/>
                <a:cs typeface="Segoe UI"/>
              </a:defRPr>
            </a:lvl5pPr>
            <a:lvl6pPr algn="l">
              <a:defRPr sz="2250" b="1">
                <a:solidFill>
                  <a:srgbClr val="147D78"/>
                </a:solidFill>
                <a:latin typeface="Segoe UI"/>
                <a:ea typeface="Segoe UI"/>
                <a:cs typeface="Segoe UI"/>
              </a:defRPr>
            </a:lvl6pPr>
            <a:lvl7pPr algn="l">
              <a:defRPr sz="2250" b="1">
                <a:solidFill>
                  <a:srgbClr val="147D78"/>
                </a:solidFill>
                <a:latin typeface="Segoe UI"/>
                <a:ea typeface="Segoe UI"/>
                <a:cs typeface="Segoe UI"/>
              </a:defRPr>
            </a:lvl7pPr>
            <a:lvl8pPr algn="l">
              <a:defRPr sz="2250" b="1">
                <a:solidFill>
                  <a:srgbClr val="147D78"/>
                </a:solidFill>
                <a:latin typeface="Segoe UI"/>
                <a:ea typeface="Segoe UI"/>
                <a:cs typeface="Segoe UI"/>
              </a:defRPr>
            </a:lvl8pPr>
            <a:lvl9pPr algn="l">
              <a:defRPr sz="2250" b="1">
                <a:solidFill>
                  <a:srgbClr val="147D78"/>
                </a:solidFill>
                <a:latin typeface="Segoe UI"/>
                <a:ea typeface="Segoe UI"/>
                <a:cs typeface="Segoe UI"/>
              </a:defRPr>
            </a:lvl9pPr>
          </a:lstStyle>
          <a:p xmlns:a="http://schemas.openxmlformats.org/drawingml/2006/main">
            <a:pPr algn="l">
              <a:defRPr sz="2250" b="1">
                <a:solidFill>
                  <a:srgbClr val="147D78"/>
                </a:solidFill>
                <a:latin typeface="Segoe UI"/>
                <a:ea typeface="Segoe UI"/>
                <a:cs typeface="Segoe UI"/>
              </a:defRPr>
            </a:pPr>
            <a:r>
              <a:rPr sz="2250" b="1">
                <a:solidFill>
                  <a:srgbClr val="147D78"/>
                </a:solidFill>
                <a:latin typeface="Segoe UI"/>
                <a:ea typeface="Segoe UI"/>
                <a:cs typeface="Segoe UI"/>
              </a:rPr>
              <a:t>Gotoh lưu bảng đầy đủ</a:t>
            </a:r>
          </a:p>
        </p:txBody>
      </p:sp>
      <p:sp>
        <p:nvSpPr>
          <p:cNvPr id="6" name="Truy vết từ cuối về đầu">
            <a:extLst xmlns:a="http://schemas.openxmlformats.org/drawingml/2006/main">
              <a:ext uri="{FF2B5EF4-FFF2-40B4-BE49-F238E27FC236}">
                <a16:creationId xmlns:a16="http://schemas.microsoft.com/office/drawing/2014/main" id="{14D937AE-9A4D-43C8-BB50-F45C4E292CD9}"/>
              </a:ext>
            </a:extLst>
          </p:cNvPr>
          <p:cNvSpPr>
            <a:spLocks xmlns:a="http://schemas.openxmlformats.org/drawingml/2006/main" noGrp="1"/>
          </p:cNvSpPr>
          <p:nvPr/>
        </p:nvSpPr>
        <p:spPr>
          <a:xfrm xmlns:a="http://schemas.openxmlformats.org/drawingml/2006/main">
            <a:off x="6972300" y="30194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Truy vết từ cuối về đầu</a:t>
            </a:r>
          </a:p>
        </p:txBody>
      </p:sp>
      <p:sp>
        <p:nvSpPr>
          <p:cNvPr id="7" name="Theo trạng thái đã chọn">
            <a:extLst xmlns:a="http://schemas.openxmlformats.org/drawingml/2006/main">
              <a:ext uri="{FF2B5EF4-FFF2-40B4-BE49-F238E27FC236}">
                <a16:creationId xmlns:a16="http://schemas.microsoft.com/office/drawing/2014/main" id="{8C3A69F8-8DFF-456D-B048-404557760517}"/>
              </a:ext>
            </a:extLst>
          </p:cNvPr>
          <p:cNvSpPr>
            <a:spLocks xmlns:a="http://schemas.openxmlformats.org/drawingml/2006/main" noGrp="1"/>
          </p:cNvSpPr>
          <p:nvPr/>
        </p:nvSpPr>
        <p:spPr>
          <a:xfrm xmlns:a="http://schemas.openxmlformats.org/drawingml/2006/main">
            <a:off x="6972300" y="34766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Theo trạng thái đã chọn</a:t>
            </a:r>
          </a:p>
        </p:txBody>
      </p:sp>
      <p:sp>
        <p:nvSpPr>
          <p:cNvPr id="8" name="Khôi phục ký tự và gap">
            <a:extLst xmlns:a="http://schemas.openxmlformats.org/drawingml/2006/main">
              <a:ext uri="{FF2B5EF4-FFF2-40B4-BE49-F238E27FC236}">
                <a16:creationId xmlns:a16="http://schemas.microsoft.com/office/drawing/2014/main" id="{A7F361B2-80AA-4BE9-9BC5-80950B4B7CDF}"/>
              </a:ext>
            </a:extLst>
          </p:cNvPr>
          <p:cNvSpPr>
            <a:spLocks xmlns:a="http://schemas.openxmlformats.org/drawingml/2006/main" noGrp="1"/>
          </p:cNvSpPr>
          <p:nvPr/>
        </p:nvSpPr>
        <p:spPr>
          <a:xfrm xmlns:a="http://schemas.openxmlformats.org/drawingml/2006/main">
            <a:off x="6972300" y="39338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Khôi phục ký tự và gap</a:t>
            </a:r>
          </a:p>
        </p:txBody>
      </p:sp>
      <p:sp>
        <p:nvSpPr>
          <p:cNvPr id="9" name="3(m + 1)(n + 1)">
            <a:extLst xmlns:a="http://schemas.openxmlformats.org/drawingml/2006/main">
              <a:ext uri="{FF2B5EF4-FFF2-40B4-BE49-F238E27FC236}">
                <a16:creationId xmlns:a16="http://schemas.microsoft.com/office/drawing/2014/main" id="{D4DB63C3-6740-4BF9-81F3-496F1796FBFB}"/>
              </a:ext>
            </a:extLst>
          </p:cNvPr>
          <p:cNvSpPr>
            <a:spLocks xmlns:a="http://schemas.openxmlformats.org/drawingml/2006/main" noGrp="1"/>
          </p:cNvSpPr>
          <p:nvPr/>
        </p:nvSpPr>
        <p:spPr>
          <a:xfrm xmlns:a="http://schemas.openxmlformats.org/drawingml/2006/main">
            <a:off x="6972300" y="46863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75" b="1">
                <a:solidFill>
                  <a:srgbClr val="142D3B"/>
                </a:solidFill>
                <a:latin typeface="Consolas"/>
                <a:ea typeface="Consolas"/>
                <a:cs typeface="Consolas"/>
              </a:defRPr>
            </a:defPPr>
            <a:lvl1pPr algn="l">
              <a:defRPr sz="2475" b="1">
                <a:solidFill>
                  <a:srgbClr val="142D3B"/>
                </a:solidFill>
                <a:latin typeface="Consolas"/>
                <a:ea typeface="Consolas"/>
                <a:cs typeface="Consolas"/>
              </a:defRPr>
            </a:lvl1pPr>
            <a:lvl2pPr algn="l">
              <a:defRPr sz="2475" b="1">
                <a:solidFill>
                  <a:srgbClr val="142D3B"/>
                </a:solidFill>
                <a:latin typeface="Consolas"/>
                <a:ea typeface="Consolas"/>
                <a:cs typeface="Consolas"/>
              </a:defRPr>
            </a:lvl2pPr>
            <a:lvl3pPr algn="l">
              <a:defRPr sz="2475" b="1">
                <a:solidFill>
                  <a:srgbClr val="142D3B"/>
                </a:solidFill>
                <a:latin typeface="Consolas"/>
                <a:ea typeface="Consolas"/>
                <a:cs typeface="Consolas"/>
              </a:defRPr>
            </a:lvl3pPr>
            <a:lvl4pPr algn="l">
              <a:defRPr sz="2475" b="1">
                <a:solidFill>
                  <a:srgbClr val="142D3B"/>
                </a:solidFill>
                <a:latin typeface="Consolas"/>
                <a:ea typeface="Consolas"/>
                <a:cs typeface="Consolas"/>
              </a:defRPr>
            </a:lvl4pPr>
            <a:lvl5pPr algn="l">
              <a:defRPr sz="2475" b="1">
                <a:solidFill>
                  <a:srgbClr val="142D3B"/>
                </a:solidFill>
                <a:latin typeface="Consolas"/>
                <a:ea typeface="Consolas"/>
                <a:cs typeface="Consolas"/>
              </a:defRPr>
            </a:lvl5pPr>
            <a:lvl6pPr algn="l">
              <a:defRPr sz="2475" b="1">
                <a:solidFill>
                  <a:srgbClr val="142D3B"/>
                </a:solidFill>
                <a:latin typeface="Consolas"/>
                <a:ea typeface="Consolas"/>
                <a:cs typeface="Consolas"/>
              </a:defRPr>
            </a:lvl6pPr>
            <a:lvl7pPr algn="l">
              <a:defRPr sz="2475" b="1">
                <a:solidFill>
                  <a:srgbClr val="142D3B"/>
                </a:solidFill>
                <a:latin typeface="Consolas"/>
                <a:ea typeface="Consolas"/>
                <a:cs typeface="Consolas"/>
              </a:defRPr>
            </a:lvl7pPr>
            <a:lvl8pPr algn="l">
              <a:defRPr sz="2475" b="1">
                <a:solidFill>
                  <a:srgbClr val="142D3B"/>
                </a:solidFill>
                <a:latin typeface="Consolas"/>
                <a:ea typeface="Consolas"/>
                <a:cs typeface="Consolas"/>
              </a:defRPr>
            </a:lvl8pPr>
            <a:lvl9pPr algn="l">
              <a:defRPr sz="2475" b="1">
                <a:solidFill>
                  <a:srgbClr val="142D3B"/>
                </a:solidFill>
                <a:latin typeface="Consolas"/>
                <a:ea typeface="Consolas"/>
                <a:cs typeface="Consolas"/>
              </a:defRPr>
            </a:lvl9pPr>
          </a:lstStyle>
          <a:p xmlns:a="http://schemas.openxmlformats.org/drawingml/2006/main">
            <a:pPr algn="l">
              <a:defRPr sz="2475" b="1">
                <a:solidFill>
                  <a:srgbClr val="142D3B"/>
                </a:solidFill>
                <a:latin typeface="Consolas"/>
                <a:ea typeface="Consolas"/>
                <a:cs typeface="Consolas"/>
              </a:defRPr>
            </a:pPr>
            <a:r>
              <a:rPr sz="2475" b="1">
                <a:solidFill>
                  <a:srgbClr val="142D3B"/>
                </a:solidFill>
                <a:latin typeface="Consolas"/>
                <a:ea typeface="Consolas"/>
                <a:cs typeface="Consolas"/>
              </a:rPr>
              <a:t>3(m + 1)(n + 1)</a:t>
            </a:r>
          </a:p>
        </p:txBody>
      </p:sp>
      <p:sp>
        <p:nvSpPr>
          <p:cNvPr id="10" name="giá trị DP, chưa tính chuỗi kết quả">
            <a:extLst xmlns:a="http://schemas.openxmlformats.org/drawingml/2006/main">
              <a:ext uri="{FF2B5EF4-FFF2-40B4-BE49-F238E27FC236}">
                <a16:creationId xmlns:a16="http://schemas.microsoft.com/office/drawing/2014/main" id="{03760134-5799-4BC6-89E9-35D34C1F4B5D}"/>
              </a:ext>
            </a:extLst>
          </p:cNvPr>
          <p:cNvSpPr>
            <a:spLocks xmlns:a="http://schemas.openxmlformats.org/drawingml/2006/main" noGrp="1"/>
          </p:cNvSpPr>
          <p:nvPr/>
        </p:nvSpPr>
        <p:spPr>
          <a:xfrm xmlns:a="http://schemas.openxmlformats.org/drawingml/2006/main">
            <a:off x="6972300" y="52006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61716F"/>
                </a:solidFill>
                <a:latin typeface="Segoe UI"/>
                <a:ea typeface="Segoe UI"/>
                <a:cs typeface="Segoe UI"/>
              </a:defRPr>
            </a:defPPr>
            <a:lvl1pPr algn="l">
              <a:defRPr sz="1800" b="0">
                <a:solidFill>
                  <a:srgbClr val="61716F"/>
                </a:solidFill>
                <a:latin typeface="Segoe UI"/>
                <a:ea typeface="Segoe UI"/>
                <a:cs typeface="Segoe UI"/>
              </a:defRPr>
            </a:lvl1pPr>
            <a:lvl2pPr algn="l">
              <a:defRPr sz="1800" b="0">
                <a:solidFill>
                  <a:srgbClr val="61716F"/>
                </a:solidFill>
                <a:latin typeface="Segoe UI"/>
                <a:ea typeface="Segoe UI"/>
                <a:cs typeface="Segoe UI"/>
              </a:defRPr>
            </a:lvl2pPr>
            <a:lvl3pPr algn="l">
              <a:defRPr sz="1800" b="0">
                <a:solidFill>
                  <a:srgbClr val="61716F"/>
                </a:solidFill>
                <a:latin typeface="Segoe UI"/>
                <a:ea typeface="Segoe UI"/>
                <a:cs typeface="Segoe UI"/>
              </a:defRPr>
            </a:lvl3pPr>
            <a:lvl4pPr algn="l">
              <a:defRPr sz="1800" b="0">
                <a:solidFill>
                  <a:srgbClr val="61716F"/>
                </a:solidFill>
                <a:latin typeface="Segoe UI"/>
                <a:ea typeface="Segoe UI"/>
                <a:cs typeface="Segoe UI"/>
              </a:defRPr>
            </a:lvl4pPr>
            <a:lvl5pPr algn="l">
              <a:defRPr sz="1800" b="0">
                <a:solidFill>
                  <a:srgbClr val="61716F"/>
                </a:solidFill>
                <a:latin typeface="Segoe UI"/>
                <a:ea typeface="Segoe UI"/>
                <a:cs typeface="Segoe UI"/>
              </a:defRPr>
            </a:lvl5pPr>
            <a:lvl6pPr algn="l">
              <a:defRPr sz="1800" b="0">
                <a:solidFill>
                  <a:srgbClr val="61716F"/>
                </a:solidFill>
                <a:latin typeface="Segoe UI"/>
                <a:ea typeface="Segoe UI"/>
                <a:cs typeface="Segoe UI"/>
              </a:defRPr>
            </a:lvl6pPr>
            <a:lvl7pPr algn="l">
              <a:defRPr sz="1800" b="0">
                <a:solidFill>
                  <a:srgbClr val="61716F"/>
                </a:solidFill>
                <a:latin typeface="Segoe UI"/>
                <a:ea typeface="Segoe UI"/>
                <a:cs typeface="Segoe UI"/>
              </a:defRPr>
            </a:lvl7pPr>
            <a:lvl8pPr algn="l">
              <a:defRPr sz="1800" b="0">
                <a:solidFill>
                  <a:srgbClr val="61716F"/>
                </a:solidFill>
                <a:latin typeface="Segoe UI"/>
                <a:ea typeface="Segoe UI"/>
                <a:cs typeface="Segoe UI"/>
              </a:defRPr>
            </a:lvl8pPr>
            <a:lvl9pPr algn="l">
              <a:defRPr sz="1800" b="0">
                <a:solidFill>
                  <a:srgbClr val="61716F"/>
                </a:solidFill>
                <a:latin typeface="Segoe UI"/>
                <a:ea typeface="Segoe UI"/>
                <a:cs typeface="Segoe UI"/>
              </a:defRPr>
            </a:lvl9pPr>
          </a:lstStyle>
          <a:p xmlns:a="http://schemas.openxmlformats.org/drawingml/2006/main">
            <a:pPr algn="l">
              <a:defRPr sz="1800" b="0">
                <a:solidFill>
                  <a:srgbClr val="61716F"/>
                </a:solidFill>
                <a:latin typeface="Segoe UI"/>
                <a:ea typeface="Segoe UI"/>
                <a:cs typeface="Segoe UI"/>
              </a:defRPr>
            </a:pPr>
            <a:r>
              <a:rPr sz="1800" b="0">
                <a:solidFill>
                  <a:srgbClr val="61716F"/>
                </a:solidFill>
                <a:latin typeface="Segoe UI"/>
                <a:ea typeface="Segoe UI"/>
                <a:cs typeface="Segoe UI"/>
              </a:rPr>
              <a:t>giá trị DP, chưa tính chuỗi kết quả</a:t>
            </a:r>
          </a:p>
        </p:txBody>
      </p:sp>
      <p:sp>
        <p:nvSpPr>
          <p:cNvPr id="11" name="Myers–Miller tìm cách truy vết với ít bộ nhớ làm việc hơn">
            <a:extLst xmlns:a="http://schemas.openxmlformats.org/drawingml/2006/main">
              <a:ext uri="{FF2B5EF4-FFF2-40B4-BE49-F238E27FC236}">
                <a16:creationId xmlns:a16="http://schemas.microsoft.com/office/drawing/2014/main" id="{41E26644-94A2-4A2C-B426-0BB1A4900FD5}"/>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Myers–Miller tìm cách truy vết với ít bộ nhớ làm việc hơn</a:t>
            </a:r>
          </a:p>
        </p:txBody>
      </p:sp>
    </p:spTree>
    <p:extLst>
      <p:ext uri="{BB962C8B-B14F-4D97-AF65-F5344CB8AC3E}">
        <p14:creationId xmlns:p14="http://schemas.microsoft.com/office/powerpoint/2010/main" val="202192468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11">
            <a:extLst xmlns:a="http://schemas.openxmlformats.org/drawingml/2006/main">
              <a:ext uri="{FF2B5EF4-FFF2-40B4-BE49-F238E27FC236}">
                <a16:creationId xmlns:a16="http://schemas.microsoft.com/office/drawing/2014/main" id="{B82E3AED-0DB4-489C-8A6F-61859DAA5943}"/>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11</a:t>
            </a:r>
          </a:p>
        </p:txBody>
      </p:sp>
      <p:sp>
        <p:nvSpPr>
          <p:cNvPr id="2" name="Điểm cắt Myers–Miller">
            <a:extLst xmlns:a="http://schemas.openxmlformats.org/drawingml/2006/main">
              <a:ext uri="{FF2B5EF4-FFF2-40B4-BE49-F238E27FC236}">
                <a16:creationId xmlns:a16="http://schemas.microsoft.com/office/drawing/2014/main" id="{6A2B0F9F-94C0-4CE4-9733-773EE1564A98}"/>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Điểm cắt Myers–Miller</a:t>
            </a:r>
          </a:p>
        </p:txBody>
      </p:sp>
      <p:sp>
        <p:nvSpPr>
          <p:cNvPr id="3" name="Ví dụ protein: ACDE và ACDF">
            <a:extLst xmlns:a="http://schemas.openxmlformats.org/drawingml/2006/main">
              <a:ext uri="{FF2B5EF4-FFF2-40B4-BE49-F238E27FC236}">
                <a16:creationId xmlns:a16="http://schemas.microsoft.com/office/drawing/2014/main" id="{31994F4F-892A-4F5C-BED9-2942A46651AD}"/>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Ví dụ protein: ACDE và ACDF</a:t>
            </a:r>
          </a:p>
        </p:txBody>
      </p:sp>
      <p:graphicFrame>
        <p:nvGraphicFramePr>
          <p:cNvPr id="4" name="">
            <a:extLst xmlns:a="http://schemas.openxmlformats.org/drawingml/2006/main">
              <a:ext uri="{FF2B5EF4-FFF2-40B4-BE49-F238E27FC236}">
                <a16:creationId xmlns:a16="http://schemas.microsoft.com/office/drawing/2014/main" id="{7CC433B2-8EC3-4593-960C-38010A699089}"/>
              </a:ext>
            </a:extLst>
          </p:cNvPr>
          <p:cNvGraphicFramePr/>
          <p:nvPr/>
        </p:nvGraphicFramePr>
        <p:xfrm>
          <a:off xmlns:a="http://schemas.openxmlformats.org/drawingml/2006/main" x="762000" y="2257425"/>
          <a:ext xmlns:a="http://schemas.openxmlformats.org/drawingml/2006/main" cx="5619750" cy="3143250"/>
        </p:xfrm>
        <a:graphic xmlns:a="http://schemas.openxmlformats.org/drawingml/2006/main">
          <a:graphicData uri="http://schemas.openxmlformats.org/drawingml/2006/table">
            <a:tbl>
              <a:tblPr firstRow="0" firstCol="0" bandRow="0"/>
              <a:tblGrid>
                <a:gridCol w="809625"/>
                <a:gridCol w="962025"/>
                <a:gridCol w="962025"/>
                <a:gridCol w="962025"/>
                <a:gridCol w="962025"/>
                <a:gridCol w="962025"/>
              </a:tblGrid>
              <a:tr h="523875">
                <a:tc>
                  <a:txBody>
                    <a:bodyPr anchor="ctr"/>
                    <a:lstStyle/>
                    <a:p>
                      <a:pPr algn="ctr"/>
                      <a:r>
                        <a:rPr sz="2025">
                          <a:solidFill>
                            <a:srgbClr val="142D3B"/>
                          </a:solidFill>
                          <a:latin typeface="Consolas"/>
                          <a:ea typeface="Consolas"/>
                          <a:cs typeface="Consolas"/>
                        </a:rPr>
                        <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A</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C</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D</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F</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r>
              <a:tr h="523875">
                <a:tc>
                  <a:txBody>
                    <a:bodyPr anchor="ctr"/>
                    <a:lstStyle/>
                    <a:p>
                      <a:pPr algn="ctr"/>
                      <a:r>
                        <a:rPr sz="2025">
                          <a:solidFill>
                            <a:srgbClr val="142D3B"/>
                          </a:solidFill>
                          <a:latin typeface="Consolas"/>
                          <a:ea typeface="Consolas"/>
                          <a:cs typeface="Consolas"/>
                        </a:rPr>
                        <a:t>∅</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A</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4</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C</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b="1">
                          <a:solidFill>
                            <a:srgbClr val="FFFFFF"/>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02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02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DDECE6"/>
                    </a:solidFill>
                  </a:tcPr>
                </a:tc>
              </a:tr>
              <a:tr h="523875">
                <a:tc>
                  <a:txBody>
                    <a:bodyPr anchor="ctr"/>
                    <a:lstStyle/>
                    <a:p>
                      <a:pPr algn="ctr"/>
                      <a:r>
                        <a:rPr sz="2025">
                          <a:solidFill>
                            <a:srgbClr val="142D3B"/>
                          </a:solidFill>
                          <a:latin typeface="Consolas"/>
                          <a:ea typeface="Consolas"/>
                          <a:cs typeface="Consolas"/>
                        </a:rPr>
                        <a:t>D</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19</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FFFFF"/>
                    </a:solidFill>
                  </a:tcPr>
                </a:tc>
              </a:tr>
              <a:tr h="523875">
                <a:tc>
                  <a:txBody>
                    <a:bodyPr anchor="ctr"/>
                    <a:lstStyle/>
                    <a:p>
                      <a:pPr algn="ctr"/>
                      <a:r>
                        <a:rPr sz="2025">
                          <a:solidFill>
                            <a:srgbClr val="142D3B"/>
                          </a:solidFill>
                          <a:latin typeface="Consolas"/>
                          <a:ea typeface="Consolas"/>
                          <a:cs typeface="Consolas"/>
                        </a:rPr>
                        <a:t>E</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02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FFFFF"/>
                    </a:solidFill>
                  </a:tcPr>
                </a:tc>
                <a:tc>
                  <a:txBody>
                    <a:bodyPr anchor="ctr"/>
                    <a:lstStyle/>
                    <a:p>
                      <a:pPr algn="ctr"/>
                      <a:r>
                        <a:rPr sz="2025">
                          <a:solidFill>
                            <a:srgbClr val="142D3B"/>
                          </a:solidFill>
                          <a:latin typeface="Consolas"/>
                          <a:ea typeface="Consolas"/>
                          <a:cs typeface="Consolas"/>
                        </a:rPr>
                        <a:t>16</a:t>
                      </a:r>
                    </a:p>
                  </a:txBody>
                  <a:tcPr marL="76200" marR="76200" marT="57150" marB="57150" anchor="ctr">
                    <a:lnR w="9525">
                      <a:solidFill>
                        <a:srgbClr val="D7DED6"/>
                      </a:solidFill>
                    </a:lnR>
                    <a:lnB w="9525">
                      <a:solidFill>
                        <a:srgbClr val="D7DED6"/>
                      </a:solidFill>
                    </a:lnB>
                    <a:solidFill>
                      <a:srgbClr val="FFFFFF"/>
                    </a:solidFill>
                  </a:tcPr>
                </a:tc>
              </a:tr>
            </a:tbl>
          </a:graphicData>
        </a:graphic>
      </p:graphicFrame>
      <p:sp>
        <p:nvSpPr>
          <p:cNvPr id="5" name="Cắt sau AC">
            <a:extLst xmlns:a="http://schemas.openxmlformats.org/drawingml/2006/main">
              <a:ext uri="{FF2B5EF4-FFF2-40B4-BE49-F238E27FC236}">
                <a16:creationId xmlns:a16="http://schemas.microsoft.com/office/drawing/2014/main" id="{1459078E-C354-419E-919F-0B65AC988BE9}"/>
              </a:ext>
            </a:extLst>
          </p:cNvPr>
          <p:cNvSpPr>
            <a:spLocks xmlns:a="http://schemas.openxmlformats.org/drawingml/2006/main" noGrp="1"/>
          </p:cNvSpPr>
          <p:nvPr/>
        </p:nvSpPr>
        <p:spPr>
          <a:xfrm xmlns:a="http://schemas.openxmlformats.org/drawingml/2006/main">
            <a:off x="6972300" y="2228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325" b="1">
                <a:solidFill>
                  <a:srgbClr val="147D78"/>
                </a:solidFill>
                <a:latin typeface="Segoe UI"/>
                <a:ea typeface="Segoe UI"/>
                <a:cs typeface="Segoe UI"/>
              </a:defRPr>
            </a:defPPr>
            <a:lvl1pPr algn="l">
              <a:defRPr sz="2325" b="1">
                <a:solidFill>
                  <a:srgbClr val="147D78"/>
                </a:solidFill>
                <a:latin typeface="Segoe UI"/>
                <a:ea typeface="Segoe UI"/>
                <a:cs typeface="Segoe UI"/>
              </a:defRPr>
            </a:lvl1pPr>
            <a:lvl2pPr algn="l">
              <a:defRPr sz="2325" b="1">
                <a:solidFill>
                  <a:srgbClr val="147D78"/>
                </a:solidFill>
                <a:latin typeface="Segoe UI"/>
                <a:ea typeface="Segoe UI"/>
                <a:cs typeface="Segoe UI"/>
              </a:defRPr>
            </a:lvl2pPr>
            <a:lvl3pPr algn="l">
              <a:defRPr sz="2325" b="1">
                <a:solidFill>
                  <a:srgbClr val="147D78"/>
                </a:solidFill>
                <a:latin typeface="Segoe UI"/>
                <a:ea typeface="Segoe UI"/>
                <a:cs typeface="Segoe UI"/>
              </a:defRPr>
            </a:lvl3pPr>
            <a:lvl4pPr algn="l">
              <a:defRPr sz="2325" b="1">
                <a:solidFill>
                  <a:srgbClr val="147D78"/>
                </a:solidFill>
                <a:latin typeface="Segoe UI"/>
                <a:ea typeface="Segoe UI"/>
                <a:cs typeface="Segoe UI"/>
              </a:defRPr>
            </a:lvl4pPr>
            <a:lvl5pPr algn="l">
              <a:defRPr sz="2325" b="1">
                <a:solidFill>
                  <a:srgbClr val="147D78"/>
                </a:solidFill>
                <a:latin typeface="Segoe UI"/>
                <a:ea typeface="Segoe UI"/>
                <a:cs typeface="Segoe UI"/>
              </a:defRPr>
            </a:lvl5pPr>
            <a:lvl6pPr algn="l">
              <a:defRPr sz="2325" b="1">
                <a:solidFill>
                  <a:srgbClr val="147D78"/>
                </a:solidFill>
                <a:latin typeface="Segoe UI"/>
                <a:ea typeface="Segoe UI"/>
                <a:cs typeface="Segoe UI"/>
              </a:defRPr>
            </a:lvl6pPr>
            <a:lvl7pPr algn="l">
              <a:defRPr sz="2325" b="1">
                <a:solidFill>
                  <a:srgbClr val="147D78"/>
                </a:solidFill>
                <a:latin typeface="Segoe UI"/>
                <a:ea typeface="Segoe UI"/>
                <a:cs typeface="Segoe UI"/>
              </a:defRPr>
            </a:lvl7pPr>
            <a:lvl8pPr algn="l">
              <a:defRPr sz="2325" b="1">
                <a:solidFill>
                  <a:srgbClr val="147D78"/>
                </a:solidFill>
                <a:latin typeface="Segoe UI"/>
                <a:ea typeface="Segoe UI"/>
                <a:cs typeface="Segoe UI"/>
              </a:defRPr>
            </a:lvl8pPr>
            <a:lvl9pPr algn="l">
              <a:defRPr sz="2325" b="1">
                <a:solidFill>
                  <a:srgbClr val="147D78"/>
                </a:solidFill>
                <a:latin typeface="Segoe UI"/>
                <a:ea typeface="Segoe UI"/>
                <a:cs typeface="Segoe UI"/>
              </a:defRPr>
            </a:lvl9pPr>
          </a:lstStyle>
          <a:p xmlns:a="http://schemas.openxmlformats.org/drawingml/2006/main">
            <a:pPr algn="l">
              <a:defRPr sz="2325" b="1">
                <a:solidFill>
                  <a:srgbClr val="147D78"/>
                </a:solidFill>
                <a:latin typeface="Segoe UI"/>
                <a:ea typeface="Segoe UI"/>
                <a:cs typeface="Segoe UI"/>
              </a:defRPr>
            </a:pPr>
            <a:r>
              <a:rPr sz="2325" b="1">
                <a:solidFill>
                  <a:srgbClr val="147D78"/>
                </a:solidFill>
                <a:latin typeface="Segoe UI"/>
                <a:ea typeface="Segoe UI"/>
                <a:cs typeface="Segoe UI"/>
              </a:rPr>
              <a:t>Cắt sau AC</a:t>
            </a:r>
          </a:p>
        </p:txBody>
      </p:sp>
      <p:sp>
        <p:nvSpPr>
          <p:cNvPr id="6" name="Quét điểm từ hai phía để tìm">
            <a:extLst xmlns:a="http://schemas.openxmlformats.org/drawingml/2006/main">
              <a:ext uri="{FF2B5EF4-FFF2-40B4-BE49-F238E27FC236}">
                <a16:creationId xmlns:a16="http://schemas.microsoft.com/office/drawing/2014/main" id="{8EC99367-72F5-4538-89E0-8EA82F759FC1}"/>
              </a:ext>
            </a:extLst>
          </p:cNvPr>
          <p:cNvSpPr>
            <a:spLocks xmlns:a="http://schemas.openxmlformats.org/drawingml/2006/main" noGrp="1"/>
          </p:cNvSpPr>
          <p:nvPr/>
        </p:nvSpPr>
        <p:spPr>
          <a:xfrm xmlns:a="http://schemas.openxmlformats.org/drawingml/2006/main">
            <a:off x="6972300" y="28194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Quét điểm từ hai phía để tìm</a:t>
            </a:r>
          </a:p>
        </p:txBody>
      </p:sp>
      <p:sp>
        <p:nvSpPr>
          <p:cNvPr id="7" name="vị trí đi qua hàng giữa.">
            <a:extLst xmlns:a="http://schemas.openxmlformats.org/drawingml/2006/main">
              <a:ext uri="{FF2B5EF4-FFF2-40B4-BE49-F238E27FC236}">
                <a16:creationId xmlns:a16="http://schemas.microsoft.com/office/drawing/2014/main" id="{FCFA0897-EA5C-42FF-BB8E-681D650F8284}"/>
              </a:ext>
            </a:extLst>
          </p:cNvPr>
          <p:cNvSpPr>
            <a:spLocks xmlns:a="http://schemas.openxmlformats.org/drawingml/2006/main" noGrp="1"/>
          </p:cNvSpPr>
          <p:nvPr/>
        </p:nvSpPr>
        <p:spPr>
          <a:xfrm xmlns:a="http://schemas.openxmlformats.org/drawingml/2006/main">
            <a:off x="6972300" y="31813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vị trí đi qua hàng giữa.</a:t>
            </a:r>
          </a:p>
        </p:txBody>
      </p:sp>
      <p:sp>
        <p:nvSpPr>
          <p:cNvPr id="8" name="AC / AC     DE / DF">
            <a:extLst xmlns:a="http://schemas.openxmlformats.org/drawingml/2006/main">
              <a:ext uri="{FF2B5EF4-FFF2-40B4-BE49-F238E27FC236}">
                <a16:creationId xmlns:a16="http://schemas.microsoft.com/office/drawing/2014/main" id="{5CD33074-72B5-4947-A83C-B53469F6CDC5}"/>
              </a:ext>
            </a:extLst>
          </p:cNvPr>
          <p:cNvSpPr>
            <a:spLocks xmlns:a="http://schemas.openxmlformats.org/drawingml/2006/main" noGrp="1"/>
          </p:cNvSpPr>
          <p:nvPr/>
        </p:nvSpPr>
        <p:spPr>
          <a:xfrm xmlns:a="http://schemas.openxmlformats.org/drawingml/2006/main">
            <a:off x="6972300" y="39433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325" b="1">
                <a:solidFill>
                  <a:srgbClr val="142D3B"/>
                </a:solidFill>
                <a:latin typeface="Consolas"/>
                <a:ea typeface="Consolas"/>
                <a:cs typeface="Consolas"/>
              </a:defRPr>
            </a:defPPr>
            <a:lvl1pPr algn="l">
              <a:defRPr sz="2325" b="1">
                <a:solidFill>
                  <a:srgbClr val="142D3B"/>
                </a:solidFill>
                <a:latin typeface="Consolas"/>
                <a:ea typeface="Consolas"/>
                <a:cs typeface="Consolas"/>
              </a:defRPr>
            </a:lvl1pPr>
            <a:lvl2pPr algn="l">
              <a:defRPr sz="2325" b="1">
                <a:solidFill>
                  <a:srgbClr val="142D3B"/>
                </a:solidFill>
                <a:latin typeface="Consolas"/>
                <a:ea typeface="Consolas"/>
                <a:cs typeface="Consolas"/>
              </a:defRPr>
            </a:lvl2pPr>
            <a:lvl3pPr algn="l">
              <a:defRPr sz="2325" b="1">
                <a:solidFill>
                  <a:srgbClr val="142D3B"/>
                </a:solidFill>
                <a:latin typeface="Consolas"/>
                <a:ea typeface="Consolas"/>
                <a:cs typeface="Consolas"/>
              </a:defRPr>
            </a:lvl3pPr>
            <a:lvl4pPr algn="l">
              <a:defRPr sz="2325" b="1">
                <a:solidFill>
                  <a:srgbClr val="142D3B"/>
                </a:solidFill>
                <a:latin typeface="Consolas"/>
                <a:ea typeface="Consolas"/>
                <a:cs typeface="Consolas"/>
              </a:defRPr>
            </a:lvl4pPr>
            <a:lvl5pPr algn="l">
              <a:defRPr sz="2325" b="1">
                <a:solidFill>
                  <a:srgbClr val="142D3B"/>
                </a:solidFill>
                <a:latin typeface="Consolas"/>
                <a:ea typeface="Consolas"/>
                <a:cs typeface="Consolas"/>
              </a:defRPr>
            </a:lvl5pPr>
            <a:lvl6pPr algn="l">
              <a:defRPr sz="2325" b="1">
                <a:solidFill>
                  <a:srgbClr val="142D3B"/>
                </a:solidFill>
                <a:latin typeface="Consolas"/>
                <a:ea typeface="Consolas"/>
                <a:cs typeface="Consolas"/>
              </a:defRPr>
            </a:lvl6pPr>
            <a:lvl7pPr algn="l">
              <a:defRPr sz="2325" b="1">
                <a:solidFill>
                  <a:srgbClr val="142D3B"/>
                </a:solidFill>
                <a:latin typeface="Consolas"/>
                <a:ea typeface="Consolas"/>
                <a:cs typeface="Consolas"/>
              </a:defRPr>
            </a:lvl7pPr>
            <a:lvl8pPr algn="l">
              <a:defRPr sz="2325" b="1">
                <a:solidFill>
                  <a:srgbClr val="142D3B"/>
                </a:solidFill>
                <a:latin typeface="Consolas"/>
                <a:ea typeface="Consolas"/>
                <a:cs typeface="Consolas"/>
              </a:defRPr>
            </a:lvl8pPr>
            <a:lvl9pPr algn="l">
              <a:defRPr sz="2325" b="1">
                <a:solidFill>
                  <a:srgbClr val="142D3B"/>
                </a:solidFill>
                <a:latin typeface="Consolas"/>
                <a:ea typeface="Consolas"/>
                <a:cs typeface="Consolas"/>
              </a:defRPr>
            </a:lvl9pPr>
          </a:lstStyle>
          <a:p xmlns:a="http://schemas.openxmlformats.org/drawingml/2006/main">
            <a:pPr algn="l">
              <a:defRPr sz="2325" b="1">
                <a:solidFill>
                  <a:srgbClr val="142D3B"/>
                </a:solidFill>
                <a:latin typeface="Consolas"/>
                <a:ea typeface="Consolas"/>
                <a:cs typeface="Consolas"/>
              </a:defRPr>
            </a:pPr>
            <a:r>
              <a:rPr sz="2325" b="1">
                <a:solidFill>
                  <a:srgbClr val="142D3B"/>
                </a:solidFill>
                <a:latin typeface="Consolas"/>
                <a:ea typeface="Consolas"/>
                <a:cs typeface="Consolas"/>
              </a:rPr>
              <a:t>AC / AC     DE / DF</a:t>
            </a:r>
          </a:p>
        </p:txBody>
      </p:sp>
      <p:sp>
        <p:nvSpPr>
          <p:cNvPr id="9" name="Giải tiếp hai bài toán con,">
            <a:extLst xmlns:a="http://schemas.openxmlformats.org/drawingml/2006/main">
              <a:ext uri="{FF2B5EF4-FFF2-40B4-BE49-F238E27FC236}">
                <a16:creationId xmlns:a16="http://schemas.microsoft.com/office/drawing/2014/main" id="{4C3EC923-174D-41FB-8346-168F7C2C25A0}"/>
              </a:ext>
            </a:extLst>
          </p:cNvPr>
          <p:cNvSpPr>
            <a:spLocks xmlns:a="http://schemas.openxmlformats.org/drawingml/2006/main" noGrp="1"/>
          </p:cNvSpPr>
          <p:nvPr/>
        </p:nvSpPr>
        <p:spPr>
          <a:xfrm xmlns:a="http://schemas.openxmlformats.org/drawingml/2006/main">
            <a:off x="6972300" y="46482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Giải tiếp hai bài toán con,</a:t>
            </a:r>
          </a:p>
        </p:txBody>
      </p:sp>
      <p:sp>
        <p:nvSpPr>
          <p:cNvPr id="10" name="rồi ghép kết quả căn chỉnh.">
            <a:extLst xmlns:a="http://schemas.openxmlformats.org/drawingml/2006/main">
              <a:ext uri="{FF2B5EF4-FFF2-40B4-BE49-F238E27FC236}">
                <a16:creationId xmlns:a16="http://schemas.microsoft.com/office/drawing/2014/main" id="{C11CF4A1-805E-425C-9060-D0231BD7522F}"/>
              </a:ext>
            </a:extLst>
          </p:cNvPr>
          <p:cNvSpPr>
            <a:spLocks xmlns:a="http://schemas.openxmlformats.org/drawingml/2006/main" noGrp="1"/>
          </p:cNvSpPr>
          <p:nvPr/>
        </p:nvSpPr>
        <p:spPr>
          <a:xfrm xmlns:a="http://schemas.openxmlformats.org/drawingml/2006/main">
            <a:off x="6972300" y="50101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rồi ghép kết quả căn chỉnh.</a:t>
            </a:r>
          </a:p>
        </p:txBody>
      </p:sp>
      <p:sp>
        <p:nvSpPr>
          <p:cNvPr id="11" name="Mục tiêu: truy vết mà không lưu toàn bộ bảng DP">
            <a:extLst xmlns:a="http://schemas.openxmlformats.org/drawingml/2006/main">
              <a:ext uri="{FF2B5EF4-FFF2-40B4-BE49-F238E27FC236}">
                <a16:creationId xmlns:a16="http://schemas.microsoft.com/office/drawing/2014/main" id="{35939625-FB26-479E-8ABC-1ED8158D7A9B}"/>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Mục tiêu: truy vết mà không lưu toàn bộ bảng DP</a:t>
            </a:r>
          </a:p>
        </p:txBody>
      </p:sp>
    </p:spTree>
    <p:extLst>
      <p:ext uri="{BB962C8B-B14F-4D97-AF65-F5344CB8AC3E}">
        <p14:creationId xmlns:p14="http://schemas.microsoft.com/office/powerpoint/2010/main" val="716683337"/>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12">
            <a:extLst xmlns:a="http://schemas.openxmlformats.org/drawingml/2006/main">
              <a:ext uri="{FF2B5EF4-FFF2-40B4-BE49-F238E27FC236}">
                <a16:creationId xmlns:a16="http://schemas.microsoft.com/office/drawing/2014/main" id="{CBC8C1BD-E66D-4D7C-A590-C583B87AF6CD}"/>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12</a:t>
            </a:r>
          </a:p>
        </p:txBody>
      </p:sp>
      <p:sp>
        <p:nvSpPr>
          <p:cNvPr id="2" name="Chọn cột cắt từ hai lượt quét">
            <a:extLst xmlns:a="http://schemas.openxmlformats.org/drawingml/2006/main">
              <a:ext uri="{FF2B5EF4-FFF2-40B4-BE49-F238E27FC236}">
                <a16:creationId xmlns:a16="http://schemas.microsoft.com/office/drawing/2014/main" id="{C5D055B6-FE1C-4CE7-9F3D-7628DDD26A0A}"/>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Chọn cột cắt từ hai lượt quét</a:t>
            </a:r>
          </a:p>
        </p:txBody>
      </p:sp>
      <p:sp>
        <p:nvSpPr>
          <p:cNvPr id="3" name="Trong ví dụ này, nghiệm chọn không có gap chạy xuyên điểm cắt">
            <a:extLst xmlns:a="http://schemas.openxmlformats.org/drawingml/2006/main">
              <a:ext uri="{FF2B5EF4-FFF2-40B4-BE49-F238E27FC236}">
                <a16:creationId xmlns:a16="http://schemas.microsoft.com/office/drawing/2014/main" id="{76373257-F100-498F-9815-83BC00FAAD0C}"/>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Trong ví dụ này, nghiệm chọn không có gap chạy xuyên điểm cắt</a:t>
            </a:r>
          </a:p>
        </p:txBody>
      </p:sp>
      <p:graphicFrame>
        <p:nvGraphicFramePr>
          <p:cNvPr id="4" name="">
            <a:extLst xmlns:a="http://schemas.openxmlformats.org/drawingml/2006/main">
              <a:ext uri="{FF2B5EF4-FFF2-40B4-BE49-F238E27FC236}">
                <a16:creationId xmlns:a16="http://schemas.microsoft.com/office/drawing/2014/main" id="{3B8923D8-DF8E-4F57-9C41-96DBFD64FEFB}"/>
              </a:ext>
            </a:extLst>
          </p:cNvPr>
          <p:cNvGraphicFramePr/>
          <p:nvPr/>
        </p:nvGraphicFramePr>
        <p:xfrm>
          <a:off xmlns:a="http://schemas.openxmlformats.org/drawingml/2006/main" x="762000" y="2295525"/>
          <a:ext xmlns:a="http://schemas.openxmlformats.org/drawingml/2006/main" cx="10668000" cy="2428875"/>
        </p:xfrm>
        <a:graphic xmlns:a="http://schemas.openxmlformats.org/drawingml/2006/main">
          <a:graphicData uri="http://schemas.openxmlformats.org/drawingml/2006/table">
            <a:tbl>
              <a:tblPr firstRow="0" firstCol="0" bandRow="0"/>
              <a:tblGrid>
                <a:gridCol w="2952750"/>
                <a:gridCol w="1543050"/>
                <a:gridCol w="1543050"/>
                <a:gridCol w="1543050"/>
                <a:gridCol w="1543050"/>
                <a:gridCol w="1543050"/>
              </a:tblGrid>
              <a:tr h="607219">
                <a:tc>
                  <a:txBody>
                    <a:bodyPr anchor="ctr"/>
                    <a:lstStyle/>
                    <a:p>
                      <a:pPr algn="ctr"/>
                      <a:r>
                        <a:rPr sz="2175" b="1">
                          <a:solidFill>
                            <a:srgbClr val="147D78"/>
                          </a:solidFill>
                          <a:latin typeface="Consolas"/>
                          <a:ea typeface="Consolas"/>
                          <a:cs typeface="Consolas"/>
                        </a:rPr>
                        <a:t>Cột cắt j</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Consolas"/>
                          <a:ea typeface="Consolas"/>
                          <a:cs typeface="Consolas"/>
                        </a:rPr>
                        <a:t>0</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Consolas"/>
                          <a:ea typeface="Consolas"/>
                          <a:cs typeface="Consolas"/>
                        </a:rPr>
                        <a:t>1</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Consolas"/>
                          <a:ea typeface="Consolas"/>
                          <a:cs typeface="Consolas"/>
                        </a:rPr>
                        <a:t>2</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Consolas"/>
                          <a:ea typeface="Consolas"/>
                          <a:cs typeface="Consolas"/>
                        </a:rPr>
                        <a:t>3</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Consolas"/>
                          <a:ea typeface="Consolas"/>
                          <a:cs typeface="Consolas"/>
                        </a:rPr>
                        <a:t>4</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607219">
                <a:tc>
                  <a:txBody>
                    <a:bodyPr anchor="ctr"/>
                    <a:lstStyle/>
                    <a:p>
                      <a:pPr algn="ctr"/>
                      <a:r>
                        <a:rPr sz="2175">
                          <a:solidFill>
                            <a:srgbClr val="142D3B"/>
                          </a:solidFill>
                          <a:latin typeface="Consolas"/>
                          <a:ea typeface="Consolas"/>
                          <a:cs typeface="Consolas"/>
                        </a:rPr>
                        <a:t>Điểm tiến F</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147D78"/>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17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7F5EF"/>
                    </a:solidFill>
                  </a:tcPr>
                </a:tc>
              </a:tr>
              <a:tr h="607219">
                <a:tc>
                  <a:txBody>
                    <a:bodyPr anchor="ctr"/>
                    <a:lstStyle/>
                    <a:p>
                      <a:pPr algn="ctr"/>
                      <a:r>
                        <a:rPr sz="2175">
                          <a:solidFill>
                            <a:srgbClr val="142D3B"/>
                          </a:solidFill>
                          <a:latin typeface="Consolas"/>
                          <a:ea typeface="Consolas"/>
                          <a:cs typeface="Consolas"/>
                        </a:rPr>
                        <a:t>Điểm lùi R</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147D78"/>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DDECE6"/>
                    </a:solidFill>
                  </a:tcPr>
                </a:tc>
                <a:tc>
                  <a:txBody>
                    <a:bodyPr anchor="ctr"/>
                    <a:lstStyle/>
                    <a:p>
                      <a:pPr algn="ctr"/>
                      <a:r>
                        <a:rPr sz="217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−11</a:t>
                      </a:r>
                    </a:p>
                  </a:txBody>
                  <a:tcPr marL="76200" marR="76200" marT="57150" marB="57150" anchor="ctr">
                    <a:lnR w="9525">
                      <a:solidFill>
                        <a:srgbClr val="D7DED6"/>
                      </a:solidFill>
                    </a:lnR>
                    <a:lnB w="9525">
                      <a:solidFill>
                        <a:srgbClr val="D7DED6"/>
                      </a:solidFill>
                    </a:lnB>
                    <a:solidFill>
                      <a:srgbClr val="F7F5EF"/>
                    </a:solidFill>
                  </a:tcPr>
                </a:tc>
              </a:tr>
              <a:tr h="607219">
                <a:tc>
                  <a:txBody>
                    <a:bodyPr anchor="ctr"/>
                    <a:lstStyle/>
                    <a:p>
                      <a:pPr algn="ctr"/>
                      <a:r>
                        <a:rPr sz="2175">
                          <a:solidFill>
                            <a:srgbClr val="142D3B"/>
                          </a:solidFill>
                          <a:latin typeface="Consolas"/>
                          <a:ea typeface="Consolas"/>
                          <a:cs typeface="Consolas"/>
                        </a:rPr>
                        <a:t>F + R</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−19</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−13</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16</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175">
                          <a:solidFill>
                            <a:srgbClr val="142D3B"/>
                          </a:solidFill>
                          <a:latin typeface="Consolas"/>
                          <a:ea typeface="Consolas"/>
                          <a:cs typeface="Consolas"/>
                        </a:rPr>
                        <a:t>−10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−9</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Nửa trái: AC / AC">
            <a:extLst xmlns:a="http://schemas.openxmlformats.org/drawingml/2006/main">
              <a:ext uri="{FF2B5EF4-FFF2-40B4-BE49-F238E27FC236}">
                <a16:creationId xmlns:a16="http://schemas.microsoft.com/office/drawing/2014/main" id="{15F278E9-0562-49DE-8282-D200A50915CA}"/>
              </a:ext>
            </a:extLst>
          </p:cNvPr>
          <p:cNvSpPr>
            <a:spLocks xmlns:a="http://schemas.openxmlformats.org/drawingml/2006/main" noGrp="1"/>
          </p:cNvSpPr>
          <p:nvPr/>
        </p:nvSpPr>
        <p:spPr>
          <a:xfrm xmlns:a="http://schemas.openxmlformats.org/drawingml/2006/main">
            <a:off x="762000" y="50673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325" b="1">
                <a:solidFill>
                  <a:srgbClr val="142D3B"/>
                </a:solidFill>
                <a:latin typeface="Consolas"/>
                <a:ea typeface="Consolas"/>
                <a:cs typeface="Consolas"/>
              </a:defRPr>
            </a:defPPr>
            <a:lvl1pPr algn="l">
              <a:defRPr sz="2325" b="1">
                <a:solidFill>
                  <a:srgbClr val="142D3B"/>
                </a:solidFill>
                <a:latin typeface="Consolas"/>
                <a:ea typeface="Consolas"/>
                <a:cs typeface="Consolas"/>
              </a:defRPr>
            </a:lvl1pPr>
            <a:lvl2pPr algn="l">
              <a:defRPr sz="2325" b="1">
                <a:solidFill>
                  <a:srgbClr val="142D3B"/>
                </a:solidFill>
                <a:latin typeface="Consolas"/>
                <a:ea typeface="Consolas"/>
                <a:cs typeface="Consolas"/>
              </a:defRPr>
            </a:lvl2pPr>
            <a:lvl3pPr algn="l">
              <a:defRPr sz="2325" b="1">
                <a:solidFill>
                  <a:srgbClr val="142D3B"/>
                </a:solidFill>
                <a:latin typeface="Consolas"/>
                <a:ea typeface="Consolas"/>
                <a:cs typeface="Consolas"/>
              </a:defRPr>
            </a:lvl3pPr>
            <a:lvl4pPr algn="l">
              <a:defRPr sz="2325" b="1">
                <a:solidFill>
                  <a:srgbClr val="142D3B"/>
                </a:solidFill>
                <a:latin typeface="Consolas"/>
                <a:ea typeface="Consolas"/>
                <a:cs typeface="Consolas"/>
              </a:defRPr>
            </a:lvl4pPr>
            <a:lvl5pPr algn="l">
              <a:defRPr sz="2325" b="1">
                <a:solidFill>
                  <a:srgbClr val="142D3B"/>
                </a:solidFill>
                <a:latin typeface="Consolas"/>
                <a:ea typeface="Consolas"/>
                <a:cs typeface="Consolas"/>
              </a:defRPr>
            </a:lvl5pPr>
            <a:lvl6pPr algn="l">
              <a:defRPr sz="2325" b="1">
                <a:solidFill>
                  <a:srgbClr val="142D3B"/>
                </a:solidFill>
                <a:latin typeface="Consolas"/>
                <a:ea typeface="Consolas"/>
                <a:cs typeface="Consolas"/>
              </a:defRPr>
            </a:lvl6pPr>
            <a:lvl7pPr algn="l">
              <a:defRPr sz="2325" b="1">
                <a:solidFill>
                  <a:srgbClr val="142D3B"/>
                </a:solidFill>
                <a:latin typeface="Consolas"/>
                <a:ea typeface="Consolas"/>
                <a:cs typeface="Consolas"/>
              </a:defRPr>
            </a:lvl7pPr>
            <a:lvl8pPr algn="l">
              <a:defRPr sz="2325" b="1">
                <a:solidFill>
                  <a:srgbClr val="142D3B"/>
                </a:solidFill>
                <a:latin typeface="Consolas"/>
                <a:ea typeface="Consolas"/>
                <a:cs typeface="Consolas"/>
              </a:defRPr>
            </a:lvl8pPr>
            <a:lvl9pPr algn="l">
              <a:defRPr sz="2325" b="1">
                <a:solidFill>
                  <a:srgbClr val="142D3B"/>
                </a:solidFill>
                <a:latin typeface="Consolas"/>
                <a:ea typeface="Consolas"/>
                <a:cs typeface="Consolas"/>
              </a:defRPr>
            </a:lvl9pPr>
          </a:lstStyle>
          <a:p xmlns:a="http://schemas.openxmlformats.org/drawingml/2006/main">
            <a:pPr algn="l">
              <a:defRPr sz="2325" b="1">
                <a:solidFill>
                  <a:srgbClr val="142D3B"/>
                </a:solidFill>
                <a:latin typeface="Consolas"/>
                <a:ea typeface="Consolas"/>
                <a:cs typeface="Consolas"/>
              </a:defRPr>
            </a:pPr>
            <a:r>
              <a:rPr sz="2325" b="1">
                <a:solidFill>
                  <a:srgbClr val="142D3B"/>
                </a:solidFill>
                <a:latin typeface="Consolas"/>
                <a:ea typeface="Consolas"/>
                <a:cs typeface="Consolas"/>
              </a:rPr>
              <a:t>Nửa trái: AC / AC</a:t>
            </a:r>
          </a:p>
        </p:txBody>
      </p:sp>
      <p:sp>
        <p:nvSpPr>
          <p:cNvPr id="6" name="Nửa phải: DE / DF">
            <a:extLst xmlns:a="http://schemas.openxmlformats.org/drawingml/2006/main">
              <a:ext uri="{FF2B5EF4-FFF2-40B4-BE49-F238E27FC236}">
                <a16:creationId xmlns:a16="http://schemas.microsoft.com/office/drawing/2014/main" id="{B259AB14-EA1B-4038-AC79-49A346D7FE45}"/>
              </a:ext>
            </a:extLst>
          </p:cNvPr>
          <p:cNvSpPr>
            <a:spLocks xmlns:a="http://schemas.openxmlformats.org/drawingml/2006/main" noGrp="1"/>
          </p:cNvSpPr>
          <p:nvPr/>
        </p:nvSpPr>
        <p:spPr>
          <a:xfrm xmlns:a="http://schemas.openxmlformats.org/drawingml/2006/main">
            <a:off x="6572250" y="50673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325" b="1">
                <a:solidFill>
                  <a:srgbClr val="142D3B"/>
                </a:solidFill>
                <a:latin typeface="Consolas"/>
                <a:ea typeface="Consolas"/>
                <a:cs typeface="Consolas"/>
              </a:defRPr>
            </a:defPPr>
            <a:lvl1pPr algn="l">
              <a:defRPr sz="2325" b="1">
                <a:solidFill>
                  <a:srgbClr val="142D3B"/>
                </a:solidFill>
                <a:latin typeface="Consolas"/>
                <a:ea typeface="Consolas"/>
                <a:cs typeface="Consolas"/>
              </a:defRPr>
            </a:lvl1pPr>
            <a:lvl2pPr algn="l">
              <a:defRPr sz="2325" b="1">
                <a:solidFill>
                  <a:srgbClr val="142D3B"/>
                </a:solidFill>
                <a:latin typeface="Consolas"/>
                <a:ea typeface="Consolas"/>
                <a:cs typeface="Consolas"/>
              </a:defRPr>
            </a:lvl2pPr>
            <a:lvl3pPr algn="l">
              <a:defRPr sz="2325" b="1">
                <a:solidFill>
                  <a:srgbClr val="142D3B"/>
                </a:solidFill>
                <a:latin typeface="Consolas"/>
                <a:ea typeface="Consolas"/>
                <a:cs typeface="Consolas"/>
              </a:defRPr>
            </a:lvl3pPr>
            <a:lvl4pPr algn="l">
              <a:defRPr sz="2325" b="1">
                <a:solidFill>
                  <a:srgbClr val="142D3B"/>
                </a:solidFill>
                <a:latin typeface="Consolas"/>
                <a:ea typeface="Consolas"/>
                <a:cs typeface="Consolas"/>
              </a:defRPr>
            </a:lvl4pPr>
            <a:lvl5pPr algn="l">
              <a:defRPr sz="2325" b="1">
                <a:solidFill>
                  <a:srgbClr val="142D3B"/>
                </a:solidFill>
                <a:latin typeface="Consolas"/>
                <a:ea typeface="Consolas"/>
                <a:cs typeface="Consolas"/>
              </a:defRPr>
            </a:lvl5pPr>
            <a:lvl6pPr algn="l">
              <a:defRPr sz="2325" b="1">
                <a:solidFill>
                  <a:srgbClr val="142D3B"/>
                </a:solidFill>
                <a:latin typeface="Consolas"/>
                <a:ea typeface="Consolas"/>
                <a:cs typeface="Consolas"/>
              </a:defRPr>
            </a:lvl6pPr>
            <a:lvl7pPr algn="l">
              <a:defRPr sz="2325" b="1">
                <a:solidFill>
                  <a:srgbClr val="142D3B"/>
                </a:solidFill>
                <a:latin typeface="Consolas"/>
                <a:ea typeface="Consolas"/>
                <a:cs typeface="Consolas"/>
              </a:defRPr>
            </a:lvl7pPr>
            <a:lvl8pPr algn="l">
              <a:defRPr sz="2325" b="1">
                <a:solidFill>
                  <a:srgbClr val="142D3B"/>
                </a:solidFill>
                <a:latin typeface="Consolas"/>
                <a:ea typeface="Consolas"/>
                <a:cs typeface="Consolas"/>
              </a:defRPr>
            </a:lvl8pPr>
            <a:lvl9pPr algn="l">
              <a:defRPr sz="2325" b="1">
                <a:solidFill>
                  <a:srgbClr val="142D3B"/>
                </a:solidFill>
                <a:latin typeface="Consolas"/>
                <a:ea typeface="Consolas"/>
                <a:cs typeface="Consolas"/>
              </a:defRPr>
            </a:lvl9pPr>
          </a:lstStyle>
          <a:p xmlns:a="http://schemas.openxmlformats.org/drawingml/2006/main">
            <a:pPr algn="l">
              <a:defRPr sz="2325" b="1">
                <a:solidFill>
                  <a:srgbClr val="142D3B"/>
                </a:solidFill>
                <a:latin typeface="Consolas"/>
                <a:ea typeface="Consolas"/>
                <a:cs typeface="Consolas"/>
              </a:defRPr>
            </a:pPr>
            <a:r>
              <a:rPr sz="2325" b="1">
                <a:solidFill>
                  <a:srgbClr val="142D3B"/>
                </a:solidFill>
                <a:latin typeface="Consolas"/>
                <a:ea typeface="Consolas"/>
                <a:cs typeface="Consolas"/>
              </a:rPr>
              <a:t>Nửa phải: DE / DF</a:t>
            </a:r>
          </a:p>
        </p:txBody>
      </p:sp>
      <p:sp>
        <p:nvSpPr>
          <p:cNvPr id="7" name="Chọn j = 2, giải hai nửa rồi ghép: 13 + 3 = 16">
            <a:extLst xmlns:a="http://schemas.openxmlformats.org/drawingml/2006/main">
              <a:ext uri="{FF2B5EF4-FFF2-40B4-BE49-F238E27FC236}">
                <a16:creationId xmlns:a16="http://schemas.microsoft.com/office/drawing/2014/main" id="{A7BFEF1F-0516-4BAB-9996-A8CC880370B6}"/>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Chọn j = 2, giải hai nửa rồi ghép: 13 + 3 = 16</a:t>
            </a:r>
          </a:p>
        </p:txBody>
      </p:sp>
    </p:spTree>
    <p:extLst>
      <p:ext uri="{BB962C8B-B14F-4D97-AF65-F5344CB8AC3E}">
        <p14:creationId xmlns:p14="http://schemas.microsoft.com/office/powerpoint/2010/main" val="1067405530"/>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13">
            <a:extLst xmlns:a="http://schemas.openxmlformats.org/drawingml/2006/main">
              <a:ext uri="{FF2B5EF4-FFF2-40B4-BE49-F238E27FC236}">
                <a16:creationId xmlns:a16="http://schemas.microsoft.com/office/drawing/2014/main" id="{35916862-7161-49CA-A18E-402C0099652A}"/>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13</a:t>
            </a:r>
          </a:p>
        </p:txBody>
      </p:sp>
      <p:sp>
        <p:nvSpPr>
          <p:cNvPr id="2" name="Chi phí của chia để trị">
            <a:extLst xmlns:a="http://schemas.openxmlformats.org/drawingml/2006/main">
              <a:ext uri="{FF2B5EF4-FFF2-40B4-BE49-F238E27FC236}">
                <a16:creationId xmlns:a16="http://schemas.microsoft.com/office/drawing/2014/main" id="{898A561A-13EA-41E3-87C9-4ACBCD67D41F}"/>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Chi phí của chia để trị</a:t>
            </a:r>
          </a:p>
        </p:txBody>
      </p:sp>
      <p:sp>
        <p:nvSpPr>
          <p:cNvPr id="3" name="Phân tích lý thuyết cho một bài toán căn chỉnh cặp">
            <a:extLst xmlns:a="http://schemas.openxmlformats.org/drawingml/2006/main">
              <a:ext uri="{FF2B5EF4-FFF2-40B4-BE49-F238E27FC236}">
                <a16:creationId xmlns:a16="http://schemas.microsoft.com/office/drawing/2014/main" id="{330B1186-30CD-445C-A395-988814AE9316}"/>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Phân tích lý thuyết cho một bài toán căn chỉnh cặp</a:t>
            </a:r>
          </a:p>
        </p:txBody>
      </p:sp>
      <p:sp>
        <p:nvSpPr>
          <p:cNvPr id="4" name="Thời gian">
            <a:extLst xmlns:a="http://schemas.openxmlformats.org/drawingml/2006/main">
              <a:ext uri="{FF2B5EF4-FFF2-40B4-BE49-F238E27FC236}">
                <a16:creationId xmlns:a16="http://schemas.microsoft.com/office/drawing/2014/main" id="{32263E6B-18F6-4828-A1B8-F1383332B887}"/>
              </a:ext>
            </a:extLst>
          </p:cNvPr>
          <p:cNvSpPr>
            <a:spLocks xmlns:a="http://schemas.openxmlformats.org/drawingml/2006/main" noGrp="1"/>
          </p:cNvSpPr>
          <p:nvPr/>
        </p:nvSpPr>
        <p:spPr>
          <a:xfrm xmlns:a="http://schemas.openxmlformats.org/drawingml/2006/main">
            <a:off x="762000" y="24098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325" b="1">
                <a:solidFill>
                  <a:srgbClr val="147D78"/>
                </a:solidFill>
                <a:latin typeface="Segoe UI"/>
                <a:ea typeface="Segoe UI"/>
                <a:cs typeface="Segoe UI"/>
              </a:defRPr>
            </a:defPPr>
            <a:lvl1pPr algn="l">
              <a:defRPr sz="2325" b="1">
                <a:solidFill>
                  <a:srgbClr val="147D78"/>
                </a:solidFill>
                <a:latin typeface="Segoe UI"/>
                <a:ea typeface="Segoe UI"/>
                <a:cs typeface="Segoe UI"/>
              </a:defRPr>
            </a:lvl1pPr>
            <a:lvl2pPr algn="l">
              <a:defRPr sz="2325" b="1">
                <a:solidFill>
                  <a:srgbClr val="147D78"/>
                </a:solidFill>
                <a:latin typeface="Segoe UI"/>
                <a:ea typeface="Segoe UI"/>
                <a:cs typeface="Segoe UI"/>
              </a:defRPr>
            </a:lvl2pPr>
            <a:lvl3pPr algn="l">
              <a:defRPr sz="2325" b="1">
                <a:solidFill>
                  <a:srgbClr val="147D78"/>
                </a:solidFill>
                <a:latin typeface="Segoe UI"/>
                <a:ea typeface="Segoe UI"/>
                <a:cs typeface="Segoe UI"/>
              </a:defRPr>
            </a:lvl3pPr>
            <a:lvl4pPr algn="l">
              <a:defRPr sz="2325" b="1">
                <a:solidFill>
                  <a:srgbClr val="147D78"/>
                </a:solidFill>
                <a:latin typeface="Segoe UI"/>
                <a:ea typeface="Segoe UI"/>
                <a:cs typeface="Segoe UI"/>
              </a:defRPr>
            </a:lvl4pPr>
            <a:lvl5pPr algn="l">
              <a:defRPr sz="2325" b="1">
                <a:solidFill>
                  <a:srgbClr val="147D78"/>
                </a:solidFill>
                <a:latin typeface="Segoe UI"/>
                <a:ea typeface="Segoe UI"/>
                <a:cs typeface="Segoe UI"/>
              </a:defRPr>
            </a:lvl5pPr>
            <a:lvl6pPr algn="l">
              <a:defRPr sz="2325" b="1">
                <a:solidFill>
                  <a:srgbClr val="147D78"/>
                </a:solidFill>
                <a:latin typeface="Segoe UI"/>
                <a:ea typeface="Segoe UI"/>
                <a:cs typeface="Segoe UI"/>
              </a:defRPr>
            </a:lvl6pPr>
            <a:lvl7pPr algn="l">
              <a:defRPr sz="2325" b="1">
                <a:solidFill>
                  <a:srgbClr val="147D78"/>
                </a:solidFill>
                <a:latin typeface="Segoe UI"/>
                <a:ea typeface="Segoe UI"/>
                <a:cs typeface="Segoe UI"/>
              </a:defRPr>
            </a:lvl7pPr>
            <a:lvl8pPr algn="l">
              <a:defRPr sz="2325" b="1">
                <a:solidFill>
                  <a:srgbClr val="147D78"/>
                </a:solidFill>
                <a:latin typeface="Segoe UI"/>
                <a:ea typeface="Segoe UI"/>
                <a:cs typeface="Segoe UI"/>
              </a:defRPr>
            </a:lvl8pPr>
            <a:lvl9pPr algn="l">
              <a:defRPr sz="2325" b="1">
                <a:solidFill>
                  <a:srgbClr val="147D78"/>
                </a:solidFill>
                <a:latin typeface="Segoe UI"/>
                <a:ea typeface="Segoe UI"/>
                <a:cs typeface="Segoe UI"/>
              </a:defRPr>
            </a:lvl9pPr>
          </a:lstStyle>
          <a:p xmlns:a="http://schemas.openxmlformats.org/drawingml/2006/main">
            <a:pPr algn="l">
              <a:defRPr sz="2325" b="1">
                <a:solidFill>
                  <a:srgbClr val="147D78"/>
                </a:solidFill>
                <a:latin typeface="Segoe UI"/>
                <a:ea typeface="Segoe UI"/>
                <a:cs typeface="Segoe UI"/>
              </a:defRPr>
            </a:pPr>
            <a:r>
              <a:rPr sz="2325" b="1">
                <a:solidFill>
                  <a:srgbClr val="147D78"/>
                </a:solidFill>
                <a:latin typeface="Segoe UI"/>
                <a:ea typeface="Segoe UI"/>
                <a:cs typeface="Segoe UI"/>
              </a:rPr>
              <a:t>Thời gian</a:t>
            </a:r>
          </a:p>
        </p:txBody>
      </p:sp>
      <p:sp>
        <p:nvSpPr>
          <p:cNvPr id="5" name="Bộ nhớ DP làm việc">
            <a:extLst xmlns:a="http://schemas.openxmlformats.org/drawingml/2006/main">
              <a:ext uri="{FF2B5EF4-FFF2-40B4-BE49-F238E27FC236}">
                <a16:creationId xmlns:a16="http://schemas.microsoft.com/office/drawing/2014/main" id="{BBA1EE93-8F44-4FB2-B03E-1424CFF9588E}"/>
              </a:ext>
            </a:extLst>
          </p:cNvPr>
          <p:cNvSpPr>
            <a:spLocks xmlns:a="http://schemas.openxmlformats.org/drawingml/2006/main" noGrp="1"/>
          </p:cNvSpPr>
          <p:nvPr/>
        </p:nvSpPr>
        <p:spPr>
          <a:xfrm xmlns:a="http://schemas.openxmlformats.org/drawingml/2006/main">
            <a:off x="6572250" y="2409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325" b="1">
                <a:solidFill>
                  <a:srgbClr val="147D78"/>
                </a:solidFill>
                <a:latin typeface="Segoe UI"/>
                <a:ea typeface="Segoe UI"/>
                <a:cs typeface="Segoe UI"/>
              </a:defRPr>
            </a:defPPr>
            <a:lvl1pPr algn="l">
              <a:defRPr sz="2325" b="1">
                <a:solidFill>
                  <a:srgbClr val="147D78"/>
                </a:solidFill>
                <a:latin typeface="Segoe UI"/>
                <a:ea typeface="Segoe UI"/>
                <a:cs typeface="Segoe UI"/>
              </a:defRPr>
            </a:lvl1pPr>
            <a:lvl2pPr algn="l">
              <a:defRPr sz="2325" b="1">
                <a:solidFill>
                  <a:srgbClr val="147D78"/>
                </a:solidFill>
                <a:latin typeface="Segoe UI"/>
                <a:ea typeface="Segoe UI"/>
                <a:cs typeface="Segoe UI"/>
              </a:defRPr>
            </a:lvl2pPr>
            <a:lvl3pPr algn="l">
              <a:defRPr sz="2325" b="1">
                <a:solidFill>
                  <a:srgbClr val="147D78"/>
                </a:solidFill>
                <a:latin typeface="Segoe UI"/>
                <a:ea typeface="Segoe UI"/>
                <a:cs typeface="Segoe UI"/>
              </a:defRPr>
            </a:lvl3pPr>
            <a:lvl4pPr algn="l">
              <a:defRPr sz="2325" b="1">
                <a:solidFill>
                  <a:srgbClr val="147D78"/>
                </a:solidFill>
                <a:latin typeface="Segoe UI"/>
                <a:ea typeface="Segoe UI"/>
                <a:cs typeface="Segoe UI"/>
              </a:defRPr>
            </a:lvl4pPr>
            <a:lvl5pPr algn="l">
              <a:defRPr sz="2325" b="1">
                <a:solidFill>
                  <a:srgbClr val="147D78"/>
                </a:solidFill>
                <a:latin typeface="Segoe UI"/>
                <a:ea typeface="Segoe UI"/>
                <a:cs typeface="Segoe UI"/>
              </a:defRPr>
            </a:lvl5pPr>
            <a:lvl6pPr algn="l">
              <a:defRPr sz="2325" b="1">
                <a:solidFill>
                  <a:srgbClr val="147D78"/>
                </a:solidFill>
                <a:latin typeface="Segoe UI"/>
                <a:ea typeface="Segoe UI"/>
                <a:cs typeface="Segoe UI"/>
              </a:defRPr>
            </a:lvl6pPr>
            <a:lvl7pPr algn="l">
              <a:defRPr sz="2325" b="1">
                <a:solidFill>
                  <a:srgbClr val="147D78"/>
                </a:solidFill>
                <a:latin typeface="Segoe UI"/>
                <a:ea typeface="Segoe UI"/>
                <a:cs typeface="Segoe UI"/>
              </a:defRPr>
            </a:lvl7pPr>
            <a:lvl8pPr algn="l">
              <a:defRPr sz="2325" b="1">
                <a:solidFill>
                  <a:srgbClr val="147D78"/>
                </a:solidFill>
                <a:latin typeface="Segoe UI"/>
                <a:ea typeface="Segoe UI"/>
                <a:cs typeface="Segoe UI"/>
              </a:defRPr>
            </a:lvl8pPr>
            <a:lvl9pPr algn="l">
              <a:defRPr sz="2325" b="1">
                <a:solidFill>
                  <a:srgbClr val="147D78"/>
                </a:solidFill>
                <a:latin typeface="Segoe UI"/>
                <a:ea typeface="Segoe UI"/>
                <a:cs typeface="Segoe UI"/>
              </a:defRPr>
            </a:lvl9pPr>
          </a:lstStyle>
          <a:p xmlns:a="http://schemas.openxmlformats.org/drawingml/2006/main">
            <a:pPr algn="l">
              <a:defRPr sz="2325" b="1">
                <a:solidFill>
                  <a:srgbClr val="147D78"/>
                </a:solidFill>
                <a:latin typeface="Segoe UI"/>
                <a:ea typeface="Segoe UI"/>
                <a:cs typeface="Segoe UI"/>
              </a:defRPr>
            </a:pPr>
            <a:r>
              <a:rPr sz="2325" b="1">
                <a:solidFill>
                  <a:srgbClr val="147D78"/>
                </a:solidFill>
                <a:latin typeface="Segoe UI"/>
                <a:ea typeface="Segoe UI"/>
                <a:cs typeface="Segoe UI"/>
              </a:rPr>
              <a:t>Bộ nhớ DP làm việc</a:t>
            </a:r>
          </a:p>
        </p:txBody>
      </p:sp>
      <p:sp>
        <p:nvSpPr>
          <p:cNvPr id="6" name="O(mn)">
            <a:extLst xmlns:a="http://schemas.openxmlformats.org/drawingml/2006/main">
              <a:ext uri="{FF2B5EF4-FFF2-40B4-BE49-F238E27FC236}">
                <a16:creationId xmlns:a16="http://schemas.microsoft.com/office/drawing/2014/main" id="{84E416C9-F0CD-4AA9-A17D-C8925A6607A1}"/>
              </a:ext>
            </a:extLst>
          </p:cNvPr>
          <p:cNvSpPr>
            <a:spLocks xmlns:a="http://schemas.openxmlformats.org/drawingml/2006/main" noGrp="1"/>
          </p:cNvSpPr>
          <p:nvPr/>
        </p:nvSpPr>
        <p:spPr>
          <a:xfrm xmlns:a="http://schemas.openxmlformats.org/drawingml/2006/main">
            <a:off x="762000" y="318135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4950" b="1">
                <a:solidFill>
                  <a:srgbClr val="142D3B"/>
                </a:solidFill>
                <a:latin typeface="Consolas"/>
                <a:ea typeface="Consolas"/>
                <a:cs typeface="Consolas"/>
              </a:defRPr>
            </a:defPPr>
            <a:lvl1pPr algn="l">
              <a:defRPr sz="4950" b="1">
                <a:solidFill>
                  <a:srgbClr val="142D3B"/>
                </a:solidFill>
                <a:latin typeface="Consolas"/>
                <a:ea typeface="Consolas"/>
                <a:cs typeface="Consolas"/>
              </a:defRPr>
            </a:lvl1pPr>
            <a:lvl2pPr algn="l">
              <a:defRPr sz="4950" b="1">
                <a:solidFill>
                  <a:srgbClr val="142D3B"/>
                </a:solidFill>
                <a:latin typeface="Consolas"/>
                <a:ea typeface="Consolas"/>
                <a:cs typeface="Consolas"/>
              </a:defRPr>
            </a:lvl2pPr>
            <a:lvl3pPr algn="l">
              <a:defRPr sz="4950" b="1">
                <a:solidFill>
                  <a:srgbClr val="142D3B"/>
                </a:solidFill>
                <a:latin typeface="Consolas"/>
                <a:ea typeface="Consolas"/>
                <a:cs typeface="Consolas"/>
              </a:defRPr>
            </a:lvl3pPr>
            <a:lvl4pPr algn="l">
              <a:defRPr sz="4950" b="1">
                <a:solidFill>
                  <a:srgbClr val="142D3B"/>
                </a:solidFill>
                <a:latin typeface="Consolas"/>
                <a:ea typeface="Consolas"/>
                <a:cs typeface="Consolas"/>
              </a:defRPr>
            </a:lvl4pPr>
            <a:lvl5pPr algn="l">
              <a:defRPr sz="4950" b="1">
                <a:solidFill>
                  <a:srgbClr val="142D3B"/>
                </a:solidFill>
                <a:latin typeface="Consolas"/>
                <a:ea typeface="Consolas"/>
                <a:cs typeface="Consolas"/>
              </a:defRPr>
            </a:lvl5pPr>
            <a:lvl6pPr algn="l">
              <a:defRPr sz="4950" b="1">
                <a:solidFill>
                  <a:srgbClr val="142D3B"/>
                </a:solidFill>
                <a:latin typeface="Consolas"/>
                <a:ea typeface="Consolas"/>
                <a:cs typeface="Consolas"/>
              </a:defRPr>
            </a:lvl6pPr>
            <a:lvl7pPr algn="l">
              <a:defRPr sz="4950" b="1">
                <a:solidFill>
                  <a:srgbClr val="142D3B"/>
                </a:solidFill>
                <a:latin typeface="Consolas"/>
                <a:ea typeface="Consolas"/>
                <a:cs typeface="Consolas"/>
              </a:defRPr>
            </a:lvl7pPr>
            <a:lvl8pPr algn="l">
              <a:defRPr sz="4950" b="1">
                <a:solidFill>
                  <a:srgbClr val="142D3B"/>
                </a:solidFill>
                <a:latin typeface="Consolas"/>
                <a:ea typeface="Consolas"/>
                <a:cs typeface="Consolas"/>
              </a:defRPr>
            </a:lvl8pPr>
            <a:lvl9pPr algn="l">
              <a:defRPr sz="4950" b="1">
                <a:solidFill>
                  <a:srgbClr val="142D3B"/>
                </a:solidFill>
                <a:latin typeface="Consolas"/>
                <a:ea typeface="Consolas"/>
                <a:cs typeface="Consolas"/>
              </a:defRPr>
            </a:lvl9pPr>
          </a:lstStyle>
          <a:p xmlns:a="http://schemas.openxmlformats.org/drawingml/2006/main">
            <a:pPr algn="l">
              <a:defRPr sz="4950" b="1">
                <a:solidFill>
                  <a:srgbClr val="142D3B"/>
                </a:solidFill>
                <a:latin typeface="Consolas"/>
                <a:ea typeface="Consolas"/>
                <a:cs typeface="Consolas"/>
              </a:defRPr>
            </a:pPr>
            <a:r>
              <a:rPr sz="4950" b="1">
                <a:solidFill>
                  <a:srgbClr val="142D3B"/>
                </a:solidFill>
                <a:latin typeface="Consolas"/>
                <a:ea typeface="Consolas"/>
                <a:cs typeface="Consolas"/>
              </a:rPr>
              <a:t>O(mn)</a:t>
            </a:r>
          </a:p>
        </p:txBody>
      </p:sp>
      <p:sp>
        <p:nvSpPr>
          <p:cNvPr id="7" name="O(min(m, n))">
            <a:extLst xmlns:a="http://schemas.openxmlformats.org/drawingml/2006/main">
              <a:ext uri="{FF2B5EF4-FFF2-40B4-BE49-F238E27FC236}">
                <a16:creationId xmlns:a16="http://schemas.microsoft.com/office/drawing/2014/main" id="{29D19BE6-42AB-4008-8237-02264D874E9B}"/>
              </a:ext>
            </a:extLst>
          </p:cNvPr>
          <p:cNvSpPr>
            <a:spLocks xmlns:a="http://schemas.openxmlformats.org/drawingml/2006/main" noGrp="1"/>
          </p:cNvSpPr>
          <p:nvPr/>
        </p:nvSpPr>
        <p:spPr>
          <a:xfrm xmlns:a="http://schemas.openxmlformats.org/drawingml/2006/main">
            <a:off x="6572250" y="31813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4350" b="1">
                <a:solidFill>
                  <a:srgbClr val="142D3B"/>
                </a:solidFill>
                <a:latin typeface="Consolas"/>
                <a:ea typeface="Consolas"/>
                <a:cs typeface="Consolas"/>
              </a:defRPr>
            </a:defPPr>
            <a:lvl1pPr algn="l">
              <a:defRPr sz="4350" b="1">
                <a:solidFill>
                  <a:srgbClr val="142D3B"/>
                </a:solidFill>
                <a:latin typeface="Consolas"/>
                <a:ea typeface="Consolas"/>
                <a:cs typeface="Consolas"/>
              </a:defRPr>
            </a:lvl1pPr>
            <a:lvl2pPr algn="l">
              <a:defRPr sz="4350" b="1">
                <a:solidFill>
                  <a:srgbClr val="142D3B"/>
                </a:solidFill>
                <a:latin typeface="Consolas"/>
                <a:ea typeface="Consolas"/>
                <a:cs typeface="Consolas"/>
              </a:defRPr>
            </a:lvl2pPr>
            <a:lvl3pPr algn="l">
              <a:defRPr sz="4350" b="1">
                <a:solidFill>
                  <a:srgbClr val="142D3B"/>
                </a:solidFill>
                <a:latin typeface="Consolas"/>
                <a:ea typeface="Consolas"/>
                <a:cs typeface="Consolas"/>
              </a:defRPr>
            </a:lvl3pPr>
            <a:lvl4pPr algn="l">
              <a:defRPr sz="4350" b="1">
                <a:solidFill>
                  <a:srgbClr val="142D3B"/>
                </a:solidFill>
                <a:latin typeface="Consolas"/>
                <a:ea typeface="Consolas"/>
                <a:cs typeface="Consolas"/>
              </a:defRPr>
            </a:lvl4pPr>
            <a:lvl5pPr algn="l">
              <a:defRPr sz="4350" b="1">
                <a:solidFill>
                  <a:srgbClr val="142D3B"/>
                </a:solidFill>
                <a:latin typeface="Consolas"/>
                <a:ea typeface="Consolas"/>
                <a:cs typeface="Consolas"/>
              </a:defRPr>
            </a:lvl5pPr>
            <a:lvl6pPr algn="l">
              <a:defRPr sz="4350" b="1">
                <a:solidFill>
                  <a:srgbClr val="142D3B"/>
                </a:solidFill>
                <a:latin typeface="Consolas"/>
                <a:ea typeface="Consolas"/>
                <a:cs typeface="Consolas"/>
              </a:defRPr>
            </a:lvl6pPr>
            <a:lvl7pPr algn="l">
              <a:defRPr sz="4350" b="1">
                <a:solidFill>
                  <a:srgbClr val="142D3B"/>
                </a:solidFill>
                <a:latin typeface="Consolas"/>
                <a:ea typeface="Consolas"/>
                <a:cs typeface="Consolas"/>
              </a:defRPr>
            </a:lvl7pPr>
            <a:lvl8pPr algn="l">
              <a:defRPr sz="4350" b="1">
                <a:solidFill>
                  <a:srgbClr val="142D3B"/>
                </a:solidFill>
                <a:latin typeface="Consolas"/>
                <a:ea typeface="Consolas"/>
                <a:cs typeface="Consolas"/>
              </a:defRPr>
            </a:lvl8pPr>
            <a:lvl9pPr algn="l">
              <a:defRPr sz="4350" b="1">
                <a:solidFill>
                  <a:srgbClr val="142D3B"/>
                </a:solidFill>
                <a:latin typeface="Consolas"/>
                <a:ea typeface="Consolas"/>
                <a:cs typeface="Consolas"/>
              </a:defRPr>
            </a:lvl9pPr>
          </a:lstStyle>
          <a:p xmlns:a="http://schemas.openxmlformats.org/drawingml/2006/main">
            <a:pPr algn="l">
              <a:defRPr sz="4350" b="1">
                <a:solidFill>
                  <a:srgbClr val="142D3B"/>
                </a:solidFill>
                <a:latin typeface="Consolas"/>
                <a:ea typeface="Consolas"/>
                <a:cs typeface="Consolas"/>
              </a:defRPr>
            </a:pPr>
            <a:r>
              <a:rPr sz="4350" b="1">
                <a:solidFill>
                  <a:srgbClr val="142D3B"/>
                </a:solidFill>
                <a:latin typeface="Consolas"/>
                <a:ea typeface="Consolas"/>
                <a:cs typeface="Consolas"/>
              </a:rPr>
              <a:t>O(min(m, n))</a:t>
            </a:r>
          </a:p>
        </p:txBody>
      </p:sp>
      <p:sp>
        <p:nvSpPr>
          <p:cNvPr id="8" name="Tổng diện tích các mức giảm dần">
            <a:extLst xmlns:a="http://schemas.openxmlformats.org/drawingml/2006/main">
              <a:ext uri="{FF2B5EF4-FFF2-40B4-BE49-F238E27FC236}">
                <a16:creationId xmlns:a16="http://schemas.microsoft.com/office/drawing/2014/main" id="{382B095B-BBEF-4203-90CC-5DA9E72DBDF7}"/>
              </a:ext>
            </a:extLst>
          </p:cNvPr>
          <p:cNvSpPr>
            <a:spLocks xmlns:a="http://schemas.openxmlformats.org/drawingml/2006/main" noGrp="1"/>
          </p:cNvSpPr>
          <p:nvPr/>
        </p:nvSpPr>
        <p:spPr>
          <a:xfrm xmlns:a="http://schemas.openxmlformats.org/drawingml/2006/main">
            <a:off x="762000" y="43815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Tổng diện tích các mức giảm dần</a:t>
            </a:r>
          </a:p>
        </p:txBody>
      </p:sp>
      <p:sp>
        <p:nvSpPr>
          <p:cNvPr id="9" name="mn + mn/2 + mn/4 + …">
            <a:extLst xmlns:a="http://schemas.openxmlformats.org/drawingml/2006/main">
              <a:ext uri="{FF2B5EF4-FFF2-40B4-BE49-F238E27FC236}">
                <a16:creationId xmlns:a16="http://schemas.microsoft.com/office/drawing/2014/main" id="{870F1DFA-5916-4F0D-ADA1-592C018C674B}"/>
              </a:ext>
            </a:extLst>
          </p:cNvPr>
          <p:cNvSpPr>
            <a:spLocks xmlns:a="http://schemas.openxmlformats.org/drawingml/2006/main" noGrp="1"/>
          </p:cNvSpPr>
          <p:nvPr/>
        </p:nvSpPr>
        <p:spPr>
          <a:xfrm xmlns:a="http://schemas.openxmlformats.org/drawingml/2006/main">
            <a:off x="762000" y="48006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mn + mn/2 + mn/4 + …</a:t>
            </a:r>
          </a:p>
        </p:txBody>
      </p:sp>
      <p:sp>
        <p:nvSpPr>
          <p:cNvPr id="10" name="Giữ vector theo chiều ngắn hơn">
            <a:extLst xmlns:a="http://schemas.openxmlformats.org/drawingml/2006/main">
              <a:ext uri="{FF2B5EF4-FFF2-40B4-BE49-F238E27FC236}">
                <a16:creationId xmlns:a16="http://schemas.microsoft.com/office/drawing/2014/main" id="{0187129D-CE3F-4794-B767-F215F7A9C56E}"/>
              </a:ext>
            </a:extLst>
          </p:cNvPr>
          <p:cNvSpPr>
            <a:spLocks xmlns:a="http://schemas.openxmlformats.org/drawingml/2006/main" noGrp="1"/>
          </p:cNvSpPr>
          <p:nvPr/>
        </p:nvSpPr>
        <p:spPr>
          <a:xfrm xmlns:a="http://schemas.openxmlformats.org/drawingml/2006/main">
            <a:off x="6572250" y="43815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Giữ vector theo chiều ngắn hơn</a:t>
            </a:r>
          </a:p>
        </p:txBody>
      </p:sp>
      <p:sp>
        <p:nvSpPr>
          <p:cNvPr id="11" name="Giải phóng vùng tạm trước khi đệ quy">
            <a:extLst xmlns:a="http://schemas.openxmlformats.org/drawingml/2006/main">
              <a:ext uri="{FF2B5EF4-FFF2-40B4-BE49-F238E27FC236}">
                <a16:creationId xmlns:a16="http://schemas.microsoft.com/office/drawing/2014/main" id="{89CFD5CE-DD55-4BFD-8E15-18F2D4BC6341}"/>
              </a:ext>
            </a:extLst>
          </p:cNvPr>
          <p:cNvSpPr>
            <a:spLocks xmlns:a="http://schemas.openxmlformats.org/drawingml/2006/main" noGrp="1"/>
          </p:cNvSpPr>
          <p:nvPr/>
        </p:nvSpPr>
        <p:spPr>
          <a:xfrm xmlns:a="http://schemas.openxmlformats.org/drawingml/2006/main">
            <a:off x="6572250" y="48006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Giải phóng vùng tạm trước khi đệ quy</a:t>
            </a:r>
          </a:p>
        </p:txBody>
      </p:sp>
      <p:sp>
        <p:nvSpPr>
          <p:cNvPr id="12" name="Đổi việc lưu toàn bộ bảng lấy việc tính lại điểm ở các mức">
            <a:extLst xmlns:a="http://schemas.openxmlformats.org/drawingml/2006/main">
              <a:ext uri="{FF2B5EF4-FFF2-40B4-BE49-F238E27FC236}">
                <a16:creationId xmlns:a16="http://schemas.microsoft.com/office/drawing/2014/main" id="{ECD39BD6-4227-45C0-9F80-42463201993B}"/>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Đổi việc lưu toàn bộ bảng lấy việc tính lại điểm ở các mức</a:t>
            </a:r>
          </a:p>
        </p:txBody>
      </p:sp>
    </p:spTree>
    <p:extLst>
      <p:ext uri="{BB962C8B-B14F-4D97-AF65-F5344CB8AC3E}">
        <p14:creationId xmlns:p14="http://schemas.microsoft.com/office/powerpoint/2010/main" val="215512627"/>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14">
            <a:extLst xmlns:a="http://schemas.openxmlformats.org/drawingml/2006/main">
              <a:ext uri="{FF2B5EF4-FFF2-40B4-BE49-F238E27FC236}">
                <a16:creationId xmlns:a16="http://schemas.microsoft.com/office/drawing/2014/main" id="{031672DF-A6BA-4F6C-B970-9DA2CE06BFFF}"/>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14</a:t>
            </a:r>
          </a:p>
        </p:txBody>
      </p:sp>
      <p:sp>
        <p:nvSpPr>
          <p:cNvPr id="2" name="UPGMA chọn thứ tự ghép">
            <a:extLst xmlns:a="http://schemas.openxmlformats.org/drawingml/2006/main">
              <a:ext uri="{FF2B5EF4-FFF2-40B4-BE49-F238E27FC236}">
                <a16:creationId xmlns:a16="http://schemas.microsoft.com/office/drawing/2014/main" id="{A24EFF5E-1F68-485B-94E9-25E440D0AF97}"/>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UPGMA chọn thứ tự ghép</a:t>
            </a:r>
          </a:p>
        </p:txBody>
      </p:sp>
      <p:sp>
        <p:nvSpPr>
          <p:cNvPr id="3" name="Gom hai cụm gần nhau nhất rồi cập nhật khoảng cách trung bình">
            <a:extLst xmlns:a="http://schemas.openxmlformats.org/drawingml/2006/main">
              <a:ext uri="{FF2B5EF4-FFF2-40B4-BE49-F238E27FC236}">
                <a16:creationId xmlns:a16="http://schemas.microsoft.com/office/drawing/2014/main" id="{FB134AF2-3AED-44A7-9989-4C79A6F0EEBC}"/>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Gom hai cụm gần nhau nhất rồi cập nhật khoảng cách trung bình</a:t>
            </a:r>
          </a:p>
        </p:txBody>
      </p:sp>
      <p:graphicFrame>
        <p:nvGraphicFramePr>
          <p:cNvPr id="4" name="">
            <a:extLst xmlns:a="http://schemas.openxmlformats.org/drawingml/2006/main">
              <a:ext uri="{FF2B5EF4-FFF2-40B4-BE49-F238E27FC236}">
                <a16:creationId xmlns:a16="http://schemas.microsoft.com/office/drawing/2014/main" id="{81B89FE0-0175-45B3-9261-6CD0859FF5CB}"/>
              </a:ext>
            </a:extLst>
          </p:cNvPr>
          <p:cNvGraphicFramePr/>
          <p:nvPr/>
        </p:nvGraphicFramePr>
        <p:xfrm>
          <a:off xmlns:a="http://schemas.openxmlformats.org/drawingml/2006/main" x="762000" y="2362200"/>
          <a:ext xmlns:a="http://schemas.openxmlformats.org/drawingml/2006/main" cx="5334000" cy="2762250"/>
        </p:xfrm>
        <a:graphic xmlns:a="http://schemas.openxmlformats.org/drawingml/2006/main">
          <a:graphicData uri="http://schemas.openxmlformats.org/drawingml/2006/table">
            <a:tbl>
              <a:tblPr firstRow="0" firstCol="0" bandRow="0"/>
              <a:tblGrid>
                <a:gridCol w="1066800"/>
                <a:gridCol w="1066800"/>
                <a:gridCol w="1066800"/>
                <a:gridCol w="1066800"/>
                <a:gridCol w="1066800"/>
              </a:tblGrid>
              <a:tr h="552450">
                <a:tc>
                  <a:txBody>
                    <a:bodyPr anchor="ctr"/>
                    <a:lstStyle/>
                    <a:p>
                      <a:pPr algn="ctr"/>
                      <a:r>
                        <a:rPr sz="2175">
                          <a:solidFill>
                            <a:srgbClr val="142D3B"/>
                          </a:solidFill>
                          <a:latin typeface="Consolas"/>
                          <a:ea typeface="Consolas"/>
                          <a:cs typeface="Consolas"/>
                        </a:rPr>
                        <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S₁</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S₂</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S₃</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S₄</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r>
              <a:tr h="552450">
                <a:tc>
                  <a:txBody>
                    <a:bodyPr anchor="ctr"/>
                    <a:lstStyle/>
                    <a:p>
                      <a:pPr algn="ctr"/>
                      <a:r>
                        <a:rPr sz="2175">
                          <a:solidFill>
                            <a:srgbClr val="142D3B"/>
                          </a:solidFill>
                          <a:latin typeface="Consolas"/>
                          <a:ea typeface="Consolas"/>
                          <a:cs typeface="Consolas"/>
                        </a:rPr>
                        <a:t>S₁</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0,1</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175">
                          <a:solidFill>
                            <a:srgbClr val="142D3B"/>
                          </a:solidFill>
                          <a:latin typeface="Consolas"/>
                          <a:ea typeface="Consolas"/>
                          <a:cs typeface="Consolas"/>
                        </a:rPr>
                        <a:t>0,8</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0,9</a:t>
                      </a:r>
                    </a:p>
                  </a:txBody>
                  <a:tcPr marL="76200" marR="76200" marT="57150" marB="57150" anchor="ctr">
                    <a:lnR w="9525">
                      <a:solidFill>
                        <a:srgbClr val="D7DED6"/>
                      </a:solidFill>
                    </a:lnR>
                    <a:lnB w="9525">
                      <a:solidFill>
                        <a:srgbClr val="D7DED6"/>
                      </a:solidFill>
                    </a:lnB>
                    <a:solidFill>
                      <a:srgbClr val="F7F5EF"/>
                    </a:solidFill>
                  </a:tcPr>
                </a:tc>
              </a:tr>
              <a:tr h="552450">
                <a:tc>
                  <a:txBody>
                    <a:bodyPr anchor="ctr"/>
                    <a:lstStyle/>
                    <a:p>
                      <a:pPr algn="ctr"/>
                      <a:r>
                        <a:rPr sz="2175">
                          <a:solidFill>
                            <a:srgbClr val="142D3B"/>
                          </a:solidFill>
                          <a:latin typeface="Consolas"/>
                          <a:ea typeface="Consolas"/>
                          <a:cs typeface="Consolas"/>
                        </a:rPr>
                        <a:t>S₂</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0,1</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175">
                          <a:solidFill>
                            <a:srgbClr val="142D3B"/>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0,7</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0,8</a:t>
                      </a:r>
                    </a:p>
                  </a:txBody>
                  <a:tcPr marL="76200" marR="76200" marT="57150" marB="57150" anchor="ctr">
                    <a:lnR w="9525">
                      <a:solidFill>
                        <a:srgbClr val="D7DED6"/>
                      </a:solidFill>
                    </a:lnR>
                    <a:lnB w="9525">
                      <a:solidFill>
                        <a:srgbClr val="D7DED6"/>
                      </a:solidFill>
                    </a:lnB>
                    <a:solidFill>
                      <a:srgbClr val="F7F5EF"/>
                    </a:solidFill>
                  </a:tcPr>
                </a:tc>
              </a:tr>
              <a:tr h="552450">
                <a:tc>
                  <a:txBody>
                    <a:bodyPr anchor="ctr"/>
                    <a:lstStyle/>
                    <a:p>
                      <a:pPr algn="ctr"/>
                      <a:r>
                        <a:rPr sz="2175">
                          <a:solidFill>
                            <a:srgbClr val="142D3B"/>
                          </a:solidFill>
                          <a:latin typeface="Consolas"/>
                          <a:ea typeface="Consolas"/>
                          <a:cs typeface="Consolas"/>
                        </a:rPr>
                        <a:t>S₃</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0,8</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0,7</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0,2</a:t>
                      </a:r>
                    </a:p>
                  </a:txBody>
                  <a:tcPr marL="76200" marR="76200" marT="57150" marB="57150" anchor="ctr">
                    <a:lnR w="9525">
                      <a:solidFill>
                        <a:srgbClr val="D7DED6"/>
                      </a:solidFill>
                    </a:lnR>
                    <a:lnB w="9525">
                      <a:solidFill>
                        <a:srgbClr val="D7DED6"/>
                      </a:solidFill>
                    </a:lnB>
                    <a:solidFill>
                      <a:srgbClr val="F7F5EF"/>
                    </a:solidFill>
                  </a:tcPr>
                </a:tc>
              </a:tr>
              <a:tr h="552450">
                <a:tc>
                  <a:txBody>
                    <a:bodyPr anchor="ctr"/>
                    <a:lstStyle/>
                    <a:p>
                      <a:pPr algn="ctr"/>
                      <a:r>
                        <a:rPr sz="2175">
                          <a:solidFill>
                            <a:srgbClr val="142D3B"/>
                          </a:solidFill>
                          <a:latin typeface="Consolas"/>
                          <a:ea typeface="Consolas"/>
                          <a:cs typeface="Consolas"/>
                        </a:rPr>
                        <a:t>S₄</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0,9</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0,8</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0,2</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0</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Lượt 1: ghép S₁ và S₂">
            <a:extLst xmlns:a="http://schemas.openxmlformats.org/drawingml/2006/main">
              <a:ext uri="{FF2B5EF4-FFF2-40B4-BE49-F238E27FC236}">
                <a16:creationId xmlns:a16="http://schemas.microsoft.com/office/drawing/2014/main" id="{7C889667-1C32-4010-980D-7C9802193225}"/>
              </a:ext>
            </a:extLst>
          </p:cNvPr>
          <p:cNvSpPr>
            <a:spLocks xmlns:a="http://schemas.openxmlformats.org/drawingml/2006/main" noGrp="1"/>
          </p:cNvSpPr>
          <p:nvPr/>
        </p:nvSpPr>
        <p:spPr>
          <a:xfrm xmlns:a="http://schemas.openxmlformats.org/drawingml/2006/main">
            <a:off x="6762750" y="25812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0">
                <a:solidFill>
                  <a:srgbClr val="142D3B"/>
                </a:solidFill>
                <a:latin typeface="Segoe UI"/>
                <a:ea typeface="Segoe UI"/>
                <a:cs typeface="Segoe UI"/>
              </a:defRPr>
            </a:defPPr>
            <a:lvl1pPr algn="l">
              <a:defRPr sz="2175" b="0">
                <a:solidFill>
                  <a:srgbClr val="142D3B"/>
                </a:solidFill>
                <a:latin typeface="Segoe UI"/>
                <a:ea typeface="Segoe UI"/>
                <a:cs typeface="Segoe UI"/>
              </a:defRPr>
            </a:lvl1pPr>
            <a:lvl2pPr algn="l">
              <a:defRPr sz="2175" b="0">
                <a:solidFill>
                  <a:srgbClr val="142D3B"/>
                </a:solidFill>
                <a:latin typeface="Segoe UI"/>
                <a:ea typeface="Segoe UI"/>
                <a:cs typeface="Segoe UI"/>
              </a:defRPr>
            </a:lvl2pPr>
            <a:lvl3pPr algn="l">
              <a:defRPr sz="2175" b="0">
                <a:solidFill>
                  <a:srgbClr val="142D3B"/>
                </a:solidFill>
                <a:latin typeface="Segoe UI"/>
                <a:ea typeface="Segoe UI"/>
                <a:cs typeface="Segoe UI"/>
              </a:defRPr>
            </a:lvl3pPr>
            <a:lvl4pPr algn="l">
              <a:defRPr sz="2175" b="0">
                <a:solidFill>
                  <a:srgbClr val="142D3B"/>
                </a:solidFill>
                <a:latin typeface="Segoe UI"/>
                <a:ea typeface="Segoe UI"/>
                <a:cs typeface="Segoe UI"/>
              </a:defRPr>
            </a:lvl4pPr>
            <a:lvl5pPr algn="l">
              <a:defRPr sz="2175" b="0">
                <a:solidFill>
                  <a:srgbClr val="142D3B"/>
                </a:solidFill>
                <a:latin typeface="Segoe UI"/>
                <a:ea typeface="Segoe UI"/>
                <a:cs typeface="Segoe UI"/>
              </a:defRPr>
            </a:lvl5pPr>
            <a:lvl6pPr algn="l">
              <a:defRPr sz="2175" b="0">
                <a:solidFill>
                  <a:srgbClr val="142D3B"/>
                </a:solidFill>
                <a:latin typeface="Segoe UI"/>
                <a:ea typeface="Segoe UI"/>
                <a:cs typeface="Segoe UI"/>
              </a:defRPr>
            </a:lvl6pPr>
            <a:lvl7pPr algn="l">
              <a:defRPr sz="2175" b="0">
                <a:solidFill>
                  <a:srgbClr val="142D3B"/>
                </a:solidFill>
                <a:latin typeface="Segoe UI"/>
                <a:ea typeface="Segoe UI"/>
                <a:cs typeface="Segoe UI"/>
              </a:defRPr>
            </a:lvl7pPr>
            <a:lvl8pPr algn="l">
              <a:defRPr sz="2175" b="0">
                <a:solidFill>
                  <a:srgbClr val="142D3B"/>
                </a:solidFill>
                <a:latin typeface="Segoe UI"/>
                <a:ea typeface="Segoe UI"/>
                <a:cs typeface="Segoe UI"/>
              </a:defRPr>
            </a:lvl8pPr>
            <a:lvl9pPr algn="l">
              <a:defRPr sz="2175" b="0">
                <a:solidFill>
                  <a:srgbClr val="142D3B"/>
                </a:solidFill>
                <a:latin typeface="Segoe UI"/>
                <a:ea typeface="Segoe UI"/>
                <a:cs typeface="Segoe UI"/>
              </a:defRPr>
            </a:lvl9pPr>
          </a:lstStyle>
          <a:p xmlns:a="http://schemas.openxmlformats.org/drawingml/2006/main">
            <a:pPr algn="l">
              <a:defRPr sz="2175" b="0">
                <a:solidFill>
                  <a:srgbClr val="142D3B"/>
                </a:solidFill>
                <a:latin typeface="Segoe UI"/>
                <a:ea typeface="Segoe UI"/>
                <a:cs typeface="Segoe UI"/>
              </a:defRPr>
            </a:pPr>
            <a:r>
              <a:rPr sz="2175" b="0">
                <a:solidFill>
                  <a:srgbClr val="142D3B"/>
                </a:solidFill>
                <a:latin typeface="Segoe UI"/>
                <a:ea typeface="Segoe UI"/>
                <a:cs typeface="Segoe UI"/>
              </a:rPr>
              <a:t>Lượt 1: ghép S₁ và S₂</a:t>
            </a:r>
          </a:p>
        </p:txBody>
      </p:sp>
      <p:sp>
        <p:nvSpPr>
          <p:cNvPr id="6" name="Lượt 2: ghép S₃ và S₄">
            <a:extLst xmlns:a="http://schemas.openxmlformats.org/drawingml/2006/main">
              <a:ext uri="{FF2B5EF4-FFF2-40B4-BE49-F238E27FC236}">
                <a16:creationId xmlns:a16="http://schemas.microsoft.com/office/drawing/2014/main" id="{EFB726BF-FF98-43A5-B352-2EE99A1E9351}"/>
              </a:ext>
            </a:extLst>
          </p:cNvPr>
          <p:cNvSpPr>
            <a:spLocks xmlns:a="http://schemas.openxmlformats.org/drawingml/2006/main" noGrp="1"/>
          </p:cNvSpPr>
          <p:nvPr/>
        </p:nvSpPr>
        <p:spPr>
          <a:xfrm xmlns:a="http://schemas.openxmlformats.org/drawingml/2006/main">
            <a:off x="6762750" y="33432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0">
                <a:solidFill>
                  <a:srgbClr val="142D3B"/>
                </a:solidFill>
                <a:latin typeface="Segoe UI"/>
                <a:ea typeface="Segoe UI"/>
                <a:cs typeface="Segoe UI"/>
              </a:defRPr>
            </a:defPPr>
            <a:lvl1pPr algn="l">
              <a:defRPr sz="2175" b="0">
                <a:solidFill>
                  <a:srgbClr val="142D3B"/>
                </a:solidFill>
                <a:latin typeface="Segoe UI"/>
                <a:ea typeface="Segoe UI"/>
                <a:cs typeface="Segoe UI"/>
              </a:defRPr>
            </a:lvl1pPr>
            <a:lvl2pPr algn="l">
              <a:defRPr sz="2175" b="0">
                <a:solidFill>
                  <a:srgbClr val="142D3B"/>
                </a:solidFill>
                <a:latin typeface="Segoe UI"/>
                <a:ea typeface="Segoe UI"/>
                <a:cs typeface="Segoe UI"/>
              </a:defRPr>
            </a:lvl2pPr>
            <a:lvl3pPr algn="l">
              <a:defRPr sz="2175" b="0">
                <a:solidFill>
                  <a:srgbClr val="142D3B"/>
                </a:solidFill>
                <a:latin typeface="Segoe UI"/>
                <a:ea typeface="Segoe UI"/>
                <a:cs typeface="Segoe UI"/>
              </a:defRPr>
            </a:lvl3pPr>
            <a:lvl4pPr algn="l">
              <a:defRPr sz="2175" b="0">
                <a:solidFill>
                  <a:srgbClr val="142D3B"/>
                </a:solidFill>
                <a:latin typeface="Segoe UI"/>
                <a:ea typeface="Segoe UI"/>
                <a:cs typeface="Segoe UI"/>
              </a:defRPr>
            </a:lvl4pPr>
            <a:lvl5pPr algn="l">
              <a:defRPr sz="2175" b="0">
                <a:solidFill>
                  <a:srgbClr val="142D3B"/>
                </a:solidFill>
                <a:latin typeface="Segoe UI"/>
                <a:ea typeface="Segoe UI"/>
                <a:cs typeface="Segoe UI"/>
              </a:defRPr>
            </a:lvl5pPr>
            <a:lvl6pPr algn="l">
              <a:defRPr sz="2175" b="0">
                <a:solidFill>
                  <a:srgbClr val="142D3B"/>
                </a:solidFill>
                <a:latin typeface="Segoe UI"/>
                <a:ea typeface="Segoe UI"/>
                <a:cs typeface="Segoe UI"/>
              </a:defRPr>
            </a:lvl6pPr>
            <a:lvl7pPr algn="l">
              <a:defRPr sz="2175" b="0">
                <a:solidFill>
                  <a:srgbClr val="142D3B"/>
                </a:solidFill>
                <a:latin typeface="Segoe UI"/>
                <a:ea typeface="Segoe UI"/>
                <a:cs typeface="Segoe UI"/>
              </a:defRPr>
            </a:lvl7pPr>
            <a:lvl8pPr algn="l">
              <a:defRPr sz="2175" b="0">
                <a:solidFill>
                  <a:srgbClr val="142D3B"/>
                </a:solidFill>
                <a:latin typeface="Segoe UI"/>
                <a:ea typeface="Segoe UI"/>
                <a:cs typeface="Segoe UI"/>
              </a:defRPr>
            </a:lvl8pPr>
            <a:lvl9pPr algn="l">
              <a:defRPr sz="2175" b="0">
                <a:solidFill>
                  <a:srgbClr val="142D3B"/>
                </a:solidFill>
                <a:latin typeface="Segoe UI"/>
                <a:ea typeface="Segoe UI"/>
                <a:cs typeface="Segoe UI"/>
              </a:defRPr>
            </a:lvl9pPr>
          </a:lstStyle>
          <a:p xmlns:a="http://schemas.openxmlformats.org/drawingml/2006/main">
            <a:pPr algn="l">
              <a:defRPr sz="2175" b="0">
                <a:solidFill>
                  <a:srgbClr val="142D3B"/>
                </a:solidFill>
                <a:latin typeface="Segoe UI"/>
                <a:ea typeface="Segoe UI"/>
                <a:cs typeface="Segoe UI"/>
              </a:defRPr>
            </a:pPr>
            <a:r>
              <a:rPr sz="2175" b="0">
                <a:solidFill>
                  <a:srgbClr val="142D3B"/>
                </a:solidFill>
                <a:latin typeface="Segoe UI"/>
                <a:ea typeface="Segoe UI"/>
                <a:cs typeface="Segoe UI"/>
              </a:rPr>
              <a:t>Lượt 2: ghép S₃ và S₄</a:t>
            </a:r>
          </a:p>
        </p:txBody>
      </p:sp>
      <p:sp>
        <p:nvSpPr>
          <p:cNvPr id="7" name="Lượt 3: ghép hai nhóm">
            <a:extLst xmlns:a="http://schemas.openxmlformats.org/drawingml/2006/main">
              <a:ext uri="{FF2B5EF4-FFF2-40B4-BE49-F238E27FC236}">
                <a16:creationId xmlns:a16="http://schemas.microsoft.com/office/drawing/2014/main" id="{992BF4A3-13E5-40C0-8BB9-1F56902AC929}"/>
              </a:ext>
            </a:extLst>
          </p:cNvPr>
          <p:cNvSpPr>
            <a:spLocks xmlns:a="http://schemas.openxmlformats.org/drawingml/2006/main" noGrp="1"/>
          </p:cNvSpPr>
          <p:nvPr/>
        </p:nvSpPr>
        <p:spPr>
          <a:xfrm xmlns:a="http://schemas.openxmlformats.org/drawingml/2006/main">
            <a:off x="6762750" y="41052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75" b="0">
                <a:solidFill>
                  <a:srgbClr val="142D3B"/>
                </a:solidFill>
                <a:latin typeface="Segoe UI"/>
                <a:ea typeface="Segoe UI"/>
                <a:cs typeface="Segoe UI"/>
              </a:defRPr>
            </a:defPPr>
            <a:lvl1pPr algn="l">
              <a:defRPr sz="2175" b="0">
                <a:solidFill>
                  <a:srgbClr val="142D3B"/>
                </a:solidFill>
                <a:latin typeface="Segoe UI"/>
                <a:ea typeface="Segoe UI"/>
                <a:cs typeface="Segoe UI"/>
              </a:defRPr>
            </a:lvl1pPr>
            <a:lvl2pPr algn="l">
              <a:defRPr sz="2175" b="0">
                <a:solidFill>
                  <a:srgbClr val="142D3B"/>
                </a:solidFill>
                <a:latin typeface="Segoe UI"/>
                <a:ea typeface="Segoe UI"/>
                <a:cs typeface="Segoe UI"/>
              </a:defRPr>
            </a:lvl2pPr>
            <a:lvl3pPr algn="l">
              <a:defRPr sz="2175" b="0">
                <a:solidFill>
                  <a:srgbClr val="142D3B"/>
                </a:solidFill>
                <a:latin typeface="Segoe UI"/>
                <a:ea typeface="Segoe UI"/>
                <a:cs typeface="Segoe UI"/>
              </a:defRPr>
            </a:lvl3pPr>
            <a:lvl4pPr algn="l">
              <a:defRPr sz="2175" b="0">
                <a:solidFill>
                  <a:srgbClr val="142D3B"/>
                </a:solidFill>
                <a:latin typeface="Segoe UI"/>
                <a:ea typeface="Segoe UI"/>
                <a:cs typeface="Segoe UI"/>
              </a:defRPr>
            </a:lvl4pPr>
            <a:lvl5pPr algn="l">
              <a:defRPr sz="2175" b="0">
                <a:solidFill>
                  <a:srgbClr val="142D3B"/>
                </a:solidFill>
                <a:latin typeface="Segoe UI"/>
                <a:ea typeface="Segoe UI"/>
                <a:cs typeface="Segoe UI"/>
              </a:defRPr>
            </a:lvl5pPr>
            <a:lvl6pPr algn="l">
              <a:defRPr sz="2175" b="0">
                <a:solidFill>
                  <a:srgbClr val="142D3B"/>
                </a:solidFill>
                <a:latin typeface="Segoe UI"/>
                <a:ea typeface="Segoe UI"/>
                <a:cs typeface="Segoe UI"/>
              </a:defRPr>
            </a:lvl6pPr>
            <a:lvl7pPr algn="l">
              <a:defRPr sz="2175" b="0">
                <a:solidFill>
                  <a:srgbClr val="142D3B"/>
                </a:solidFill>
                <a:latin typeface="Segoe UI"/>
                <a:ea typeface="Segoe UI"/>
                <a:cs typeface="Segoe UI"/>
              </a:defRPr>
            </a:lvl7pPr>
            <a:lvl8pPr algn="l">
              <a:defRPr sz="2175" b="0">
                <a:solidFill>
                  <a:srgbClr val="142D3B"/>
                </a:solidFill>
                <a:latin typeface="Segoe UI"/>
                <a:ea typeface="Segoe UI"/>
                <a:cs typeface="Segoe UI"/>
              </a:defRPr>
            </a:lvl8pPr>
            <a:lvl9pPr algn="l">
              <a:defRPr sz="2175" b="0">
                <a:solidFill>
                  <a:srgbClr val="142D3B"/>
                </a:solidFill>
                <a:latin typeface="Segoe UI"/>
                <a:ea typeface="Segoe UI"/>
                <a:cs typeface="Segoe UI"/>
              </a:defRPr>
            </a:lvl9pPr>
          </a:lstStyle>
          <a:p xmlns:a="http://schemas.openxmlformats.org/drawingml/2006/main">
            <a:pPr algn="l">
              <a:defRPr sz="2175" b="0">
                <a:solidFill>
                  <a:srgbClr val="142D3B"/>
                </a:solidFill>
                <a:latin typeface="Segoe UI"/>
                <a:ea typeface="Segoe UI"/>
                <a:cs typeface="Segoe UI"/>
              </a:defRPr>
            </a:pPr>
            <a:r>
              <a:rPr sz="2175" b="0">
                <a:solidFill>
                  <a:srgbClr val="142D3B"/>
                </a:solidFill>
                <a:latin typeface="Segoe UI"/>
                <a:ea typeface="Segoe UI"/>
                <a:cs typeface="Segoe UI"/>
              </a:rPr>
              <a:t>Lượt 3: ghép hai nhóm</a:t>
            </a:r>
          </a:p>
        </p:txBody>
      </p:sp>
      <p:sp>
        <p:nvSpPr>
          <p:cNvPr id="8" name="Cây hướng dẫn xác định thứ tự giải các bước ghép profile">
            <a:extLst xmlns:a="http://schemas.openxmlformats.org/drawingml/2006/main">
              <a:ext uri="{FF2B5EF4-FFF2-40B4-BE49-F238E27FC236}">
                <a16:creationId xmlns:a16="http://schemas.microsoft.com/office/drawing/2014/main" id="{00FE1022-B185-49DC-A6B6-D27BAA82CE33}"/>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Cây hướng dẫn xác định thứ tự giải các bước ghép profile</a:t>
            </a:r>
          </a:p>
        </p:txBody>
      </p:sp>
    </p:spTree>
    <p:extLst>
      <p:ext uri="{BB962C8B-B14F-4D97-AF65-F5344CB8AC3E}">
        <p14:creationId xmlns:p14="http://schemas.microsoft.com/office/powerpoint/2010/main" val="52447584"/>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15">
            <a:extLst xmlns:a="http://schemas.openxmlformats.org/drawingml/2006/main">
              <a:ext uri="{FF2B5EF4-FFF2-40B4-BE49-F238E27FC236}">
                <a16:creationId xmlns:a16="http://schemas.microsoft.com/office/drawing/2014/main" id="{8817C004-2852-4F07-BDB7-277286EAFB51}"/>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15</a:t>
            </a:r>
          </a:p>
        </p:txBody>
      </p:sp>
      <p:sp>
        <p:nvSpPr>
          <p:cNvPr id="2" name="Profile giữ lại căn chỉnh của một nhóm">
            <a:extLst xmlns:a="http://schemas.openxmlformats.org/drawingml/2006/main">
              <a:ext uri="{FF2B5EF4-FFF2-40B4-BE49-F238E27FC236}">
                <a16:creationId xmlns:a16="http://schemas.microsoft.com/office/drawing/2014/main" id="{0248514E-B964-4F75-9115-E62E9BFE58FC}"/>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Profile giữ lại căn chỉnh của một nhóm</a:t>
            </a:r>
          </a:p>
        </p:txBody>
      </p:sp>
      <p:sp>
        <p:nvSpPr>
          <p:cNvPr id="3" name="Khi thêm một gap vào profile, mọi hàng trong nhóm cùng nhận gap">
            <a:extLst xmlns:a="http://schemas.openxmlformats.org/drawingml/2006/main">
              <a:ext uri="{FF2B5EF4-FFF2-40B4-BE49-F238E27FC236}">
                <a16:creationId xmlns:a16="http://schemas.microsoft.com/office/drawing/2014/main" id="{9917CFFD-7A7E-4B53-9C89-0293D514EBBA}"/>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Khi thêm một gap vào profile, mọi hàng trong nhóm cùng nhận gap</a:t>
            </a:r>
          </a:p>
        </p:txBody>
      </p:sp>
      <p:sp>
        <p:nvSpPr>
          <p:cNvPr id="4" name="Hai nhóm trước khi ghép">
            <a:extLst xmlns:a="http://schemas.openxmlformats.org/drawingml/2006/main">
              <a:ext uri="{FF2B5EF4-FFF2-40B4-BE49-F238E27FC236}">
                <a16:creationId xmlns:a16="http://schemas.microsoft.com/office/drawing/2014/main" id="{59E2256E-4B6F-449C-AFAE-CD1C1BC6E87F}"/>
              </a:ext>
            </a:extLst>
          </p:cNvPr>
          <p:cNvSpPr>
            <a:spLocks xmlns:a="http://schemas.openxmlformats.org/drawingml/2006/main" noGrp="1"/>
          </p:cNvSpPr>
          <p:nvPr/>
        </p:nvSpPr>
        <p:spPr>
          <a:xfrm xmlns:a="http://schemas.openxmlformats.org/drawingml/2006/main">
            <a:off x="762000" y="23622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1">
                <a:solidFill>
                  <a:srgbClr val="147D78"/>
                </a:solidFill>
                <a:latin typeface="Segoe UI"/>
                <a:ea typeface="Segoe UI"/>
                <a:cs typeface="Segoe UI"/>
              </a:defRPr>
            </a:defPPr>
            <a:lvl1pPr algn="l">
              <a:defRPr sz="2250" b="1">
                <a:solidFill>
                  <a:srgbClr val="147D78"/>
                </a:solidFill>
                <a:latin typeface="Segoe UI"/>
                <a:ea typeface="Segoe UI"/>
                <a:cs typeface="Segoe UI"/>
              </a:defRPr>
            </a:lvl1pPr>
            <a:lvl2pPr algn="l">
              <a:defRPr sz="2250" b="1">
                <a:solidFill>
                  <a:srgbClr val="147D78"/>
                </a:solidFill>
                <a:latin typeface="Segoe UI"/>
                <a:ea typeface="Segoe UI"/>
                <a:cs typeface="Segoe UI"/>
              </a:defRPr>
            </a:lvl2pPr>
            <a:lvl3pPr algn="l">
              <a:defRPr sz="2250" b="1">
                <a:solidFill>
                  <a:srgbClr val="147D78"/>
                </a:solidFill>
                <a:latin typeface="Segoe UI"/>
                <a:ea typeface="Segoe UI"/>
                <a:cs typeface="Segoe UI"/>
              </a:defRPr>
            </a:lvl3pPr>
            <a:lvl4pPr algn="l">
              <a:defRPr sz="2250" b="1">
                <a:solidFill>
                  <a:srgbClr val="147D78"/>
                </a:solidFill>
                <a:latin typeface="Segoe UI"/>
                <a:ea typeface="Segoe UI"/>
                <a:cs typeface="Segoe UI"/>
              </a:defRPr>
            </a:lvl4pPr>
            <a:lvl5pPr algn="l">
              <a:defRPr sz="2250" b="1">
                <a:solidFill>
                  <a:srgbClr val="147D78"/>
                </a:solidFill>
                <a:latin typeface="Segoe UI"/>
                <a:ea typeface="Segoe UI"/>
                <a:cs typeface="Segoe UI"/>
              </a:defRPr>
            </a:lvl5pPr>
            <a:lvl6pPr algn="l">
              <a:defRPr sz="2250" b="1">
                <a:solidFill>
                  <a:srgbClr val="147D78"/>
                </a:solidFill>
                <a:latin typeface="Segoe UI"/>
                <a:ea typeface="Segoe UI"/>
                <a:cs typeface="Segoe UI"/>
              </a:defRPr>
            </a:lvl6pPr>
            <a:lvl7pPr algn="l">
              <a:defRPr sz="2250" b="1">
                <a:solidFill>
                  <a:srgbClr val="147D78"/>
                </a:solidFill>
                <a:latin typeface="Segoe UI"/>
                <a:ea typeface="Segoe UI"/>
                <a:cs typeface="Segoe UI"/>
              </a:defRPr>
            </a:lvl7pPr>
            <a:lvl8pPr algn="l">
              <a:defRPr sz="2250" b="1">
                <a:solidFill>
                  <a:srgbClr val="147D78"/>
                </a:solidFill>
                <a:latin typeface="Segoe UI"/>
                <a:ea typeface="Segoe UI"/>
                <a:cs typeface="Segoe UI"/>
              </a:defRPr>
            </a:lvl8pPr>
            <a:lvl9pPr algn="l">
              <a:defRPr sz="2250" b="1">
                <a:solidFill>
                  <a:srgbClr val="147D78"/>
                </a:solidFill>
                <a:latin typeface="Segoe UI"/>
                <a:ea typeface="Segoe UI"/>
                <a:cs typeface="Segoe UI"/>
              </a:defRPr>
            </a:lvl9pPr>
          </a:lstStyle>
          <a:p xmlns:a="http://schemas.openxmlformats.org/drawingml/2006/main">
            <a:pPr algn="l">
              <a:defRPr sz="2250" b="1">
                <a:solidFill>
                  <a:srgbClr val="147D78"/>
                </a:solidFill>
                <a:latin typeface="Segoe UI"/>
                <a:ea typeface="Segoe UI"/>
                <a:cs typeface="Segoe UI"/>
              </a:defRPr>
            </a:pPr>
            <a:r>
              <a:rPr sz="2250" b="1">
                <a:solidFill>
                  <a:srgbClr val="147D78"/>
                </a:solidFill>
                <a:latin typeface="Segoe UI"/>
                <a:ea typeface="Segoe UI"/>
                <a:cs typeface="Segoe UI"/>
              </a:rPr>
              <a:t>Hai nhóm trước khi ghép</a:t>
            </a:r>
          </a:p>
        </p:txBody>
      </p:sp>
      <p:graphicFrame>
        <p:nvGraphicFramePr>
          <p:cNvPr id="5" name="">
            <a:extLst xmlns:a="http://schemas.openxmlformats.org/drawingml/2006/main">
              <a:ext uri="{FF2B5EF4-FFF2-40B4-BE49-F238E27FC236}">
                <a16:creationId xmlns:a16="http://schemas.microsoft.com/office/drawing/2014/main" id="{99F9C10E-C67C-416F-96B3-FEDC9F6887BE}"/>
              </a:ext>
            </a:extLst>
          </p:cNvPr>
          <p:cNvGraphicFramePr/>
          <p:nvPr/>
        </p:nvGraphicFramePr>
        <p:xfrm>
          <a:off xmlns:a="http://schemas.openxmlformats.org/drawingml/2006/main" x="762000" y="2990850"/>
          <a:ext xmlns:a="http://schemas.openxmlformats.org/drawingml/2006/main" cx="4286250" cy="1238250"/>
        </p:xfrm>
        <a:graphic xmlns:a="http://schemas.openxmlformats.org/drawingml/2006/main">
          <a:graphicData uri="http://schemas.openxmlformats.org/drawingml/2006/table">
            <a:tbl>
              <a:tblPr firstRow="0" firstCol="0" bandRow="0"/>
              <a:tblGrid>
                <a:gridCol w="1143000"/>
                <a:gridCol w="1047750"/>
                <a:gridCol w="1047750"/>
                <a:gridCol w="1047750"/>
              </a:tblGrid>
              <a:tr h="619125">
                <a:tc>
                  <a:txBody>
                    <a:bodyPr anchor="ctr"/>
                    <a:lstStyle/>
                    <a:p>
                      <a:pPr algn="ctr"/>
                      <a:r>
                        <a:rPr sz="2625">
                          <a:solidFill>
                            <a:srgbClr val="142D3B"/>
                          </a:solidFill>
                          <a:latin typeface="Consolas"/>
                          <a:ea typeface="Consolas"/>
                          <a:cs typeface="Consolas"/>
                        </a:rPr>
                        <a:t>S₁</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C</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D</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r>
              <a:tr h="619125">
                <a:tc>
                  <a:txBody>
                    <a:bodyPr anchor="ctr"/>
                    <a:lstStyle/>
                    <a:p>
                      <a:pPr algn="ctr"/>
                      <a:r>
                        <a:rPr sz="2625">
                          <a:solidFill>
                            <a:srgbClr val="142D3B"/>
                          </a:solidFill>
                          <a:latin typeface="Consolas"/>
                          <a:ea typeface="Consolas"/>
                          <a:cs typeface="Consolas"/>
                        </a:rPr>
                        <a:t>S₂</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C</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E</a:t>
                      </a:r>
                    </a:p>
                  </a:txBody>
                  <a:tcPr marL="76200" marR="76200" marT="57150" marB="57150" anchor="ctr">
                    <a:lnR w="0">
                      <a:solidFill>
                        <a:srgbClr val="F7F5EF"/>
                      </a:solidFill>
                    </a:lnR>
                    <a:lnB w="0">
                      <a:solidFill>
                        <a:srgbClr val="F7F5EF"/>
                      </a:solidFill>
                    </a:lnB>
                    <a:solidFill>
                      <a:srgbClr val="F7F5E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A057A9C8-06D5-4C87-84FE-A76586B99F5F}"/>
              </a:ext>
            </a:extLst>
          </p:cNvPr>
          <p:cNvGraphicFramePr/>
          <p:nvPr/>
        </p:nvGraphicFramePr>
        <p:xfrm>
          <a:off xmlns:a="http://schemas.openxmlformats.org/drawingml/2006/main" x="6667500" y="2990850"/>
          <a:ext xmlns:a="http://schemas.openxmlformats.org/drawingml/2006/main" cx="4095750" cy="1238250"/>
        </p:xfrm>
        <a:graphic xmlns:a="http://schemas.openxmlformats.org/drawingml/2006/main">
          <a:graphicData uri="http://schemas.openxmlformats.org/drawingml/2006/table">
            <a:tbl>
              <a:tblPr firstRow="0" firstCol="0" bandRow="0"/>
              <a:tblGrid>
                <a:gridCol w="1238250"/>
                <a:gridCol w="1428750"/>
                <a:gridCol w="1428750"/>
              </a:tblGrid>
              <a:tr h="619125">
                <a:tc>
                  <a:txBody>
                    <a:bodyPr anchor="ctr"/>
                    <a:lstStyle/>
                    <a:p>
                      <a:pPr algn="ctr"/>
                      <a:r>
                        <a:rPr sz="2625">
                          <a:solidFill>
                            <a:srgbClr val="142D3B"/>
                          </a:solidFill>
                          <a:latin typeface="Consolas"/>
                          <a:ea typeface="Consolas"/>
                          <a:cs typeface="Consolas"/>
                        </a:rPr>
                        <a:t>S₃</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D</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r>
              <a:tr h="619125">
                <a:tc>
                  <a:txBody>
                    <a:bodyPr anchor="ctr"/>
                    <a:lstStyle/>
                    <a:p>
                      <a:pPr algn="ctr"/>
                      <a:r>
                        <a:rPr sz="2625">
                          <a:solidFill>
                            <a:srgbClr val="142D3B"/>
                          </a:solidFill>
                          <a:latin typeface="Consolas"/>
                          <a:ea typeface="Consolas"/>
                          <a:cs typeface="Consolas"/>
                        </a:rPr>
                        <a:t>S₄</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625">
                          <a:solidFill>
                            <a:srgbClr val="142D3B"/>
                          </a:solidFill>
                          <a:latin typeface="Consolas"/>
                          <a:ea typeface="Consolas"/>
                          <a:cs typeface="Consolas"/>
                        </a:rPr>
                        <a:t>E</a:t>
                      </a:r>
                    </a:p>
                  </a:txBody>
                  <a:tcPr marL="76200" marR="76200" marT="57150" marB="57150" anchor="ctr">
                    <a:lnR w="0">
                      <a:solidFill>
                        <a:srgbClr val="F7F5EF"/>
                      </a:solidFill>
                    </a:lnR>
                    <a:lnB w="0">
                      <a:solidFill>
                        <a:srgbClr val="F7F5EF"/>
                      </a:solidFill>
                    </a:lnB>
                    <a:solidFill>
                      <a:srgbClr val="F7F5EF"/>
                    </a:solidFill>
                  </a:tcPr>
                </a:tc>
              </a:tr>
            </a:tbl>
          </a:graphicData>
        </a:graphic>
      </p:graphicFrame>
      <p:sp>
        <p:nvSpPr>
          <p:cNvPr id="7" name="Sau khi ghép">
            <a:extLst xmlns:a="http://schemas.openxmlformats.org/drawingml/2006/main">
              <a:ext uri="{FF2B5EF4-FFF2-40B4-BE49-F238E27FC236}">
                <a16:creationId xmlns:a16="http://schemas.microsoft.com/office/drawing/2014/main" id="{BE5189D3-5284-4F52-97E6-A73CC179D658}"/>
              </a:ext>
            </a:extLst>
          </p:cNvPr>
          <p:cNvSpPr>
            <a:spLocks xmlns:a="http://schemas.openxmlformats.org/drawingml/2006/main" noGrp="1"/>
          </p:cNvSpPr>
          <p:nvPr/>
        </p:nvSpPr>
        <p:spPr>
          <a:xfrm xmlns:a="http://schemas.openxmlformats.org/drawingml/2006/main">
            <a:off x="762000" y="47053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250" b="1">
                <a:solidFill>
                  <a:srgbClr val="147D78"/>
                </a:solidFill>
                <a:latin typeface="Segoe UI"/>
                <a:ea typeface="Segoe UI"/>
                <a:cs typeface="Segoe UI"/>
              </a:defRPr>
            </a:defPPr>
            <a:lvl1pPr algn="l">
              <a:defRPr sz="2250" b="1">
                <a:solidFill>
                  <a:srgbClr val="147D78"/>
                </a:solidFill>
                <a:latin typeface="Segoe UI"/>
                <a:ea typeface="Segoe UI"/>
                <a:cs typeface="Segoe UI"/>
              </a:defRPr>
            </a:lvl1pPr>
            <a:lvl2pPr algn="l">
              <a:defRPr sz="2250" b="1">
                <a:solidFill>
                  <a:srgbClr val="147D78"/>
                </a:solidFill>
                <a:latin typeface="Segoe UI"/>
                <a:ea typeface="Segoe UI"/>
                <a:cs typeface="Segoe UI"/>
              </a:defRPr>
            </a:lvl2pPr>
            <a:lvl3pPr algn="l">
              <a:defRPr sz="2250" b="1">
                <a:solidFill>
                  <a:srgbClr val="147D78"/>
                </a:solidFill>
                <a:latin typeface="Segoe UI"/>
                <a:ea typeface="Segoe UI"/>
                <a:cs typeface="Segoe UI"/>
              </a:defRPr>
            </a:lvl3pPr>
            <a:lvl4pPr algn="l">
              <a:defRPr sz="2250" b="1">
                <a:solidFill>
                  <a:srgbClr val="147D78"/>
                </a:solidFill>
                <a:latin typeface="Segoe UI"/>
                <a:ea typeface="Segoe UI"/>
                <a:cs typeface="Segoe UI"/>
              </a:defRPr>
            </a:lvl4pPr>
            <a:lvl5pPr algn="l">
              <a:defRPr sz="2250" b="1">
                <a:solidFill>
                  <a:srgbClr val="147D78"/>
                </a:solidFill>
                <a:latin typeface="Segoe UI"/>
                <a:ea typeface="Segoe UI"/>
                <a:cs typeface="Segoe UI"/>
              </a:defRPr>
            </a:lvl5pPr>
            <a:lvl6pPr algn="l">
              <a:defRPr sz="2250" b="1">
                <a:solidFill>
                  <a:srgbClr val="147D78"/>
                </a:solidFill>
                <a:latin typeface="Segoe UI"/>
                <a:ea typeface="Segoe UI"/>
                <a:cs typeface="Segoe UI"/>
              </a:defRPr>
            </a:lvl6pPr>
            <a:lvl7pPr algn="l">
              <a:defRPr sz="2250" b="1">
                <a:solidFill>
                  <a:srgbClr val="147D78"/>
                </a:solidFill>
                <a:latin typeface="Segoe UI"/>
                <a:ea typeface="Segoe UI"/>
                <a:cs typeface="Segoe UI"/>
              </a:defRPr>
            </a:lvl7pPr>
            <a:lvl8pPr algn="l">
              <a:defRPr sz="2250" b="1">
                <a:solidFill>
                  <a:srgbClr val="147D78"/>
                </a:solidFill>
                <a:latin typeface="Segoe UI"/>
                <a:ea typeface="Segoe UI"/>
                <a:cs typeface="Segoe UI"/>
              </a:defRPr>
            </a:lvl8pPr>
            <a:lvl9pPr algn="l">
              <a:defRPr sz="2250" b="1">
                <a:solidFill>
                  <a:srgbClr val="147D78"/>
                </a:solidFill>
                <a:latin typeface="Segoe UI"/>
                <a:ea typeface="Segoe UI"/>
                <a:cs typeface="Segoe UI"/>
              </a:defRPr>
            </a:lvl9pPr>
          </a:lstStyle>
          <a:p xmlns:a="http://schemas.openxmlformats.org/drawingml/2006/main">
            <a:pPr algn="l">
              <a:defRPr sz="2250" b="1">
                <a:solidFill>
                  <a:srgbClr val="147D78"/>
                </a:solidFill>
                <a:latin typeface="Segoe UI"/>
                <a:ea typeface="Segoe UI"/>
                <a:cs typeface="Segoe UI"/>
              </a:defRPr>
            </a:pPr>
            <a:r>
              <a:rPr sz="2250" b="1">
                <a:solidFill>
                  <a:srgbClr val="147D78"/>
                </a:solidFill>
                <a:latin typeface="Segoe UI"/>
                <a:ea typeface="Segoe UI"/>
                <a:cs typeface="Segoe UI"/>
              </a:rPr>
              <a:t>Sau khi ghép</a:t>
            </a:r>
          </a:p>
        </p:txBody>
      </p:sp>
      <p:graphicFrame>
        <p:nvGraphicFramePr>
          <p:cNvPr id="8" name="">
            <a:extLst xmlns:a="http://schemas.openxmlformats.org/drawingml/2006/main">
              <a:ext uri="{FF2B5EF4-FFF2-40B4-BE49-F238E27FC236}">
                <a16:creationId xmlns:a16="http://schemas.microsoft.com/office/drawing/2014/main" id="{496BCA37-E904-4D91-8377-F4E896F9BCA4}"/>
              </a:ext>
            </a:extLst>
          </p:cNvPr>
          <p:cNvGraphicFramePr/>
          <p:nvPr/>
        </p:nvGraphicFramePr>
        <p:xfrm>
          <a:off xmlns:a="http://schemas.openxmlformats.org/drawingml/2006/main" x="4762500" y="4572000"/>
          <a:ext xmlns:a="http://schemas.openxmlformats.org/drawingml/2006/main" cx="6000750" cy="1085850"/>
        </p:xfrm>
        <a:graphic xmlns:a="http://schemas.openxmlformats.org/drawingml/2006/main">
          <a:graphicData uri="http://schemas.openxmlformats.org/drawingml/2006/table">
            <a:tbl>
              <a:tblPr firstRow="0" firstCol="0" bandRow="0"/>
              <a:tblGrid>
                <a:gridCol w="1714500"/>
                <a:gridCol w="1428750"/>
                <a:gridCol w="1428750"/>
                <a:gridCol w="1428750"/>
              </a:tblGrid>
              <a:tr h="542925">
                <a:tc>
                  <a:txBody>
                    <a:bodyPr anchor="ctr"/>
                    <a:lstStyle/>
                    <a:p>
                      <a:pPr algn="ctr"/>
                      <a:r>
                        <a:rPr sz="2475">
                          <a:solidFill>
                            <a:srgbClr val="142D3B"/>
                          </a:solidFill>
                          <a:latin typeface="Consolas"/>
                          <a:ea typeface="Consolas"/>
                          <a:cs typeface="Consolas"/>
                        </a:rPr>
                        <a:t>S₃</a:t>
                      </a:r>
                    </a:p>
                  </a:txBody>
                  <a:tcPr marL="76200" marR="76200" marT="57150" marB="57150" anchor="ctr">
                    <a:lnL w="0">
                      <a:solidFill>
                        <a:srgbClr val="F7F5EF"/>
                      </a:solidFill>
                    </a:lnL>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475">
                          <a:solidFill>
                            <a:srgbClr val="142D3B"/>
                          </a:solidFill>
                          <a:latin typeface="Consolas"/>
                          <a:ea typeface="Consolas"/>
                          <a:cs typeface="Consolas"/>
                        </a:rPr>
                        <a:t>A</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c>
                  <a:txBody>
                    <a:bodyPr anchor="ctr"/>
                    <a:lstStyle/>
                    <a:p>
                      <a:pPr algn="ctr"/>
                      <a:r>
                        <a:rPr sz="2475" b="1">
                          <a:solidFill>
                            <a:srgbClr val="147D78"/>
                          </a:solidFill>
                          <a:latin typeface="Consolas"/>
                          <a:ea typeface="Consolas"/>
                          <a:cs typeface="Consolas"/>
                        </a:rPr>
                        <a:t>–</a:t>
                      </a:r>
                    </a:p>
                  </a:txBody>
                  <a:tcPr marL="76200" marR="76200" marT="57150" marB="57150" anchor="ctr">
                    <a:lnR w="0">
                      <a:solidFill>
                        <a:srgbClr val="F7F5EF"/>
                      </a:solidFill>
                    </a:lnR>
                    <a:lnT w="0">
                      <a:solidFill>
                        <a:srgbClr val="F7F5EF"/>
                      </a:solidFill>
                    </a:lnT>
                    <a:lnB w="0">
                      <a:solidFill>
                        <a:srgbClr val="F7F5EF"/>
                      </a:solidFill>
                    </a:lnB>
                    <a:solidFill>
                      <a:srgbClr val="DDECE6"/>
                    </a:solidFill>
                  </a:tcPr>
                </a:tc>
                <a:tc>
                  <a:txBody>
                    <a:bodyPr anchor="ctr"/>
                    <a:lstStyle/>
                    <a:p>
                      <a:pPr algn="ctr"/>
                      <a:r>
                        <a:rPr sz="2475">
                          <a:solidFill>
                            <a:srgbClr val="142D3B"/>
                          </a:solidFill>
                          <a:latin typeface="Consolas"/>
                          <a:ea typeface="Consolas"/>
                          <a:cs typeface="Consolas"/>
                        </a:rPr>
                        <a:t>D</a:t>
                      </a:r>
                    </a:p>
                  </a:txBody>
                  <a:tcPr marL="76200" marR="76200" marT="57150" marB="57150" anchor="ctr">
                    <a:lnR w="0">
                      <a:solidFill>
                        <a:srgbClr val="F7F5EF"/>
                      </a:solidFill>
                    </a:lnR>
                    <a:lnT w="0">
                      <a:solidFill>
                        <a:srgbClr val="F7F5EF"/>
                      </a:solidFill>
                    </a:lnT>
                    <a:lnB w="0">
                      <a:solidFill>
                        <a:srgbClr val="F7F5EF"/>
                      </a:solidFill>
                    </a:lnB>
                    <a:solidFill>
                      <a:srgbClr val="F7F5EF"/>
                    </a:solidFill>
                  </a:tcPr>
                </a:tc>
              </a:tr>
              <a:tr h="542925">
                <a:tc>
                  <a:txBody>
                    <a:bodyPr anchor="ctr"/>
                    <a:lstStyle/>
                    <a:p>
                      <a:pPr algn="ctr"/>
                      <a:r>
                        <a:rPr sz="2475">
                          <a:solidFill>
                            <a:srgbClr val="142D3B"/>
                          </a:solidFill>
                          <a:latin typeface="Consolas"/>
                          <a:ea typeface="Consolas"/>
                          <a:cs typeface="Consolas"/>
                        </a:rPr>
                        <a:t>S₄</a:t>
                      </a:r>
                    </a:p>
                  </a:txBody>
                  <a:tcPr marL="76200" marR="76200" marT="57150" marB="57150" anchor="ctr">
                    <a:lnL w="0">
                      <a:solidFill>
                        <a:srgbClr val="F7F5EF"/>
                      </a:solidFill>
                    </a:lnL>
                    <a:lnR w="0">
                      <a:solidFill>
                        <a:srgbClr val="F7F5EF"/>
                      </a:solidFill>
                    </a:lnR>
                    <a:lnB w="0">
                      <a:solidFill>
                        <a:srgbClr val="F7F5EF"/>
                      </a:solidFill>
                    </a:lnB>
                    <a:solidFill>
                      <a:srgbClr val="F7F5EF"/>
                    </a:solidFill>
                  </a:tcPr>
                </a:tc>
                <a:tc>
                  <a:txBody>
                    <a:bodyPr anchor="ctr"/>
                    <a:lstStyle/>
                    <a:p>
                      <a:pPr algn="ctr"/>
                      <a:r>
                        <a:rPr sz="2475">
                          <a:solidFill>
                            <a:srgbClr val="142D3B"/>
                          </a:solidFill>
                          <a:latin typeface="Consolas"/>
                          <a:ea typeface="Consolas"/>
                          <a:cs typeface="Consolas"/>
                        </a:rPr>
                        <a:t>A</a:t>
                      </a:r>
                    </a:p>
                  </a:txBody>
                  <a:tcPr marL="76200" marR="76200" marT="57150" marB="57150" anchor="ctr">
                    <a:lnR w="0">
                      <a:solidFill>
                        <a:srgbClr val="F7F5EF"/>
                      </a:solidFill>
                    </a:lnR>
                    <a:lnB w="0">
                      <a:solidFill>
                        <a:srgbClr val="F7F5EF"/>
                      </a:solidFill>
                    </a:lnB>
                    <a:solidFill>
                      <a:srgbClr val="F7F5EF"/>
                    </a:solidFill>
                  </a:tcPr>
                </a:tc>
                <a:tc>
                  <a:txBody>
                    <a:bodyPr anchor="ctr"/>
                    <a:lstStyle/>
                    <a:p>
                      <a:pPr algn="ctr"/>
                      <a:r>
                        <a:rPr sz="2475" b="1">
                          <a:solidFill>
                            <a:srgbClr val="147D78"/>
                          </a:solidFill>
                          <a:latin typeface="Consolas"/>
                          <a:ea typeface="Consolas"/>
                          <a:cs typeface="Consolas"/>
                        </a:rPr>
                        <a:t>–</a:t>
                      </a:r>
                    </a:p>
                  </a:txBody>
                  <a:tcPr marL="76200" marR="76200" marT="57150" marB="57150" anchor="ctr">
                    <a:lnR w="0">
                      <a:solidFill>
                        <a:srgbClr val="F7F5EF"/>
                      </a:solidFill>
                    </a:lnR>
                    <a:lnB w="0">
                      <a:solidFill>
                        <a:srgbClr val="F7F5EF"/>
                      </a:solidFill>
                    </a:lnB>
                    <a:solidFill>
                      <a:srgbClr val="DDECE6"/>
                    </a:solidFill>
                  </a:tcPr>
                </a:tc>
                <a:tc>
                  <a:txBody>
                    <a:bodyPr anchor="ctr"/>
                    <a:lstStyle/>
                    <a:p>
                      <a:pPr algn="ctr"/>
                      <a:r>
                        <a:rPr sz="2475">
                          <a:solidFill>
                            <a:srgbClr val="142D3B"/>
                          </a:solidFill>
                          <a:latin typeface="Consolas"/>
                          <a:ea typeface="Consolas"/>
                          <a:cs typeface="Consolas"/>
                        </a:rPr>
                        <a:t>E</a:t>
                      </a:r>
                    </a:p>
                  </a:txBody>
                  <a:tcPr marL="76200" marR="76200" marT="57150" marB="57150" anchor="ctr">
                    <a:lnR w="0">
                      <a:solidFill>
                        <a:srgbClr val="F7F5EF"/>
                      </a:solidFill>
                    </a:lnR>
                    <a:lnB w="0">
                      <a:solidFill>
                        <a:srgbClr val="F7F5EF"/>
                      </a:solidFill>
                    </a:lnB>
                    <a:solidFill>
                      <a:srgbClr val="F7F5EF"/>
                    </a:solidFill>
                  </a:tcPr>
                </a:tc>
              </a:tr>
            </a:tbl>
          </a:graphicData>
        </a:graphic>
      </p:graphicFrame>
      <p:sp>
        <p:nvSpPr>
          <p:cNvPr id="9" name="Myers–Miller căn chỉnh các cột của hai profile">
            <a:extLst xmlns:a="http://schemas.openxmlformats.org/drawingml/2006/main">
              <a:ext uri="{FF2B5EF4-FFF2-40B4-BE49-F238E27FC236}">
                <a16:creationId xmlns:a16="http://schemas.microsoft.com/office/drawing/2014/main" id="{3F6CAE75-4D09-426E-A1E8-91F45CD8DCC7}"/>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Myers–Miller căn chỉnh các cột của hai profile</a:t>
            </a:r>
          </a:p>
        </p:txBody>
      </p:sp>
    </p:spTree>
    <p:extLst>
      <p:ext uri="{BB962C8B-B14F-4D97-AF65-F5344CB8AC3E}">
        <p14:creationId xmlns:p14="http://schemas.microsoft.com/office/powerpoint/2010/main" val="966064236"/>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16">
            <a:extLst xmlns:a="http://schemas.openxmlformats.org/drawingml/2006/main">
              <a:ext uri="{FF2B5EF4-FFF2-40B4-BE49-F238E27FC236}">
                <a16:creationId xmlns:a16="http://schemas.microsoft.com/office/drawing/2014/main" id="{4AB7A860-4E54-410C-B765-72F3AA3984DC}"/>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16</a:t>
            </a:r>
          </a:p>
        </p:txBody>
      </p:sp>
      <p:sp>
        <p:nvSpPr>
          <p:cNvPr id="2" name="Các công việc có thể chạy song song">
            <a:extLst xmlns:a="http://schemas.openxmlformats.org/drawingml/2006/main">
              <a:ext uri="{FF2B5EF4-FFF2-40B4-BE49-F238E27FC236}">
                <a16:creationId xmlns:a16="http://schemas.microsoft.com/office/drawing/2014/main" id="{39B460D7-B1BD-47B0-B045-37A334F434CC}"/>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Các công việc có thể chạy song song</a:t>
            </a:r>
          </a:p>
        </p:txBody>
      </p:sp>
      <p:sp>
        <p:nvSpPr>
          <p:cNvPr id="3" name="Công việc độc lập chạy cùng lúc, bước ghép cha chờ các con">
            <a:extLst xmlns:a="http://schemas.openxmlformats.org/drawingml/2006/main">
              <a:ext uri="{FF2B5EF4-FFF2-40B4-BE49-F238E27FC236}">
                <a16:creationId xmlns:a16="http://schemas.microsoft.com/office/drawing/2014/main" id="{197F7D6B-09EB-4243-B06D-9ADB083B2360}"/>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Công việc độc lập chạy cùng lúc, bước ghép cha chờ các con</a:t>
            </a:r>
          </a:p>
        </p:txBody>
      </p:sp>
      <p:graphicFrame>
        <p:nvGraphicFramePr>
          <p:cNvPr id="4" name="">
            <a:extLst xmlns:a="http://schemas.openxmlformats.org/drawingml/2006/main">
              <a:ext uri="{FF2B5EF4-FFF2-40B4-BE49-F238E27FC236}">
                <a16:creationId xmlns:a16="http://schemas.microsoft.com/office/drawing/2014/main" id="{D117E95D-CE65-4E93-B82E-2DCD49FBCF20}"/>
              </a:ext>
            </a:extLst>
          </p:cNvPr>
          <p:cNvGraphicFramePr/>
          <p:nvPr/>
        </p:nvGraphicFramePr>
        <p:xfrm>
          <a:off xmlns:a="http://schemas.openxmlformats.org/drawingml/2006/main" x="762000" y="2371725"/>
          <a:ext xmlns:a="http://schemas.openxmlformats.org/drawingml/2006/main" cx="10668000" cy="2857500"/>
        </p:xfrm>
        <a:graphic xmlns:a="http://schemas.openxmlformats.org/drawingml/2006/main">
          <a:graphicData uri="http://schemas.openxmlformats.org/drawingml/2006/table">
            <a:tbl>
              <a:tblPr firstRow="0" firstCol="0" bandRow="0"/>
              <a:tblGrid>
                <a:gridCol w="2571750"/>
                <a:gridCol w="4762500"/>
                <a:gridCol w="3333750"/>
              </a:tblGrid>
              <a:tr h="714375">
                <a:tc>
                  <a:txBody>
                    <a:bodyPr anchor="ctr"/>
                    <a:lstStyle/>
                    <a:p>
                      <a:pPr algn="ctr"/>
                      <a:r>
                        <a:rPr sz="1875" b="1">
                          <a:solidFill>
                            <a:srgbClr val="147D78"/>
                          </a:solidFill>
                          <a:latin typeface="Segoe UI"/>
                          <a:ea typeface="Segoe UI"/>
                          <a:cs typeface="Segoe UI"/>
                        </a:rPr>
                        <a:t>Tầng tính toán</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875" b="1">
                          <a:solidFill>
                            <a:srgbClr val="147D78"/>
                          </a:solidFill>
                          <a:latin typeface="Segoe UI"/>
                          <a:ea typeface="Segoe UI"/>
                          <a:cs typeface="Segoe UI"/>
                        </a:rPr>
                        <a:t>Các công việc độc lập</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875" b="1">
                          <a:solidFill>
                            <a:srgbClr val="147D78"/>
                          </a:solidFill>
                          <a:latin typeface="Segoe UI"/>
                          <a:ea typeface="Segoe UI"/>
                          <a:cs typeface="Segoe UI"/>
                        </a:rPr>
                        <a:t>Điểm chờ</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714375">
                <a:tc>
                  <a:txBody>
                    <a:bodyPr anchor="ctr"/>
                    <a:lstStyle/>
                    <a:p>
                      <a:pPr algn="ctr"/>
                      <a:r>
                        <a:rPr sz="1875">
                          <a:solidFill>
                            <a:srgbClr val="142D3B"/>
                          </a:solidFill>
                          <a:latin typeface="Segoe UI"/>
                          <a:ea typeface="Segoe UI"/>
                          <a:cs typeface="Segoe UI"/>
                        </a:rPr>
                        <a:t>Khoảng cách</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875">
                          <a:solidFill>
                            <a:srgbClr val="142D3B"/>
                          </a:solidFill>
                          <a:latin typeface="Segoe UI"/>
                          <a:ea typeface="Segoe UI"/>
                          <a:cs typeface="Segoe UI"/>
                        </a:rPr>
                        <a:t>(S₁,S₂), (S₁,S₃), …</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875">
                          <a:solidFill>
                            <a:srgbClr val="142D3B"/>
                          </a:solidFill>
                          <a:latin typeface="Segoe UI"/>
                          <a:ea typeface="Segoe UI"/>
                          <a:cs typeface="Segoe UI"/>
                        </a:rPr>
                        <a:t>Đủ ma trận khoảng cách</a:t>
                      </a:r>
                    </a:p>
                  </a:txBody>
                  <a:tcPr marL="76200" marR="76200" marT="57150" marB="57150" anchor="ctr">
                    <a:lnR w="9525">
                      <a:solidFill>
                        <a:srgbClr val="D7DED6"/>
                      </a:solidFill>
                    </a:lnR>
                    <a:lnB w="9525">
                      <a:solidFill>
                        <a:srgbClr val="D7DED6"/>
                      </a:solidFill>
                    </a:lnB>
                    <a:solidFill>
                      <a:srgbClr val="F7F5EF"/>
                    </a:solidFill>
                  </a:tcPr>
                </a:tc>
              </a:tr>
              <a:tr h="714375">
                <a:tc>
                  <a:txBody>
                    <a:bodyPr anchor="ctr"/>
                    <a:lstStyle/>
                    <a:p>
                      <a:pPr algn="ctr"/>
                      <a:r>
                        <a:rPr sz="1875">
                          <a:solidFill>
                            <a:srgbClr val="142D3B"/>
                          </a:solidFill>
                          <a:latin typeface="Segoe UI"/>
                          <a:ea typeface="Segoe UI"/>
                          <a:cs typeface="Segoe UI"/>
                        </a:rPr>
                        <a:t>Profile theo cây</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875">
                          <a:solidFill>
                            <a:srgbClr val="142D3B"/>
                          </a:solidFill>
                          <a:latin typeface="Segoe UI"/>
                          <a:ea typeface="Segoe UI"/>
                          <a:cs typeface="Segoe UI"/>
                        </a:rPr>
                        <a:t>Ghép (S₁,S₂) và (S₃,S₄)</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875">
                          <a:solidFill>
                            <a:srgbClr val="142D3B"/>
                          </a:solidFill>
                          <a:latin typeface="Segoe UI"/>
                          <a:ea typeface="Segoe UI"/>
                          <a:cs typeface="Segoe UI"/>
                        </a:rPr>
                        <a:t>Hai profile con hoàn tất</a:t>
                      </a:r>
                    </a:p>
                  </a:txBody>
                  <a:tcPr marL="76200" marR="76200" marT="57150" marB="57150" anchor="ctr">
                    <a:lnR w="9525">
                      <a:solidFill>
                        <a:srgbClr val="D7DED6"/>
                      </a:solidFill>
                    </a:lnR>
                    <a:lnB w="9525">
                      <a:solidFill>
                        <a:srgbClr val="D7DED6"/>
                      </a:solidFill>
                    </a:lnB>
                    <a:solidFill>
                      <a:srgbClr val="F7F5EF"/>
                    </a:solidFill>
                  </a:tcPr>
                </a:tc>
              </a:tr>
              <a:tr h="714375">
                <a:tc>
                  <a:txBody>
                    <a:bodyPr anchor="ctr"/>
                    <a:lstStyle/>
                    <a:p>
                      <a:pPr algn="ctr"/>
                      <a:r>
                        <a:rPr sz="1875">
                          <a:solidFill>
                            <a:srgbClr val="142D3B"/>
                          </a:solidFill>
                          <a:latin typeface="Segoe UI"/>
                          <a:ea typeface="Segoe UI"/>
                          <a:cs typeface="Segoe UI"/>
                        </a:rPr>
                        <a:t>Nút gốc</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875">
                          <a:solidFill>
                            <a:srgbClr val="142D3B"/>
                          </a:solidFill>
                          <a:latin typeface="Segoe UI"/>
                          <a:ea typeface="Segoe UI"/>
                          <a:cs typeface="Segoe UI"/>
                        </a:rPr>
                        <a:t>Ghép hai profile cuối</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875">
                          <a:solidFill>
                            <a:srgbClr val="142D3B"/>
                          </a:solidFill>
                          <a:latin typeface="Segoe UI"/>
                          <a:ea typeface="Segoe UI"/>
                          <a:cs typeface="Segoe UI"/>
                        </a:rPr>
                        <a:t>Trả về MSA</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OpenMP chia tải theo cặp và theo các nhánh độc lập">
            <a:extLst xmlns:a="http://schemas.openxmlformats.org/drawingml/2006/main">
              <a:ext uri="{FF2B5EF4-FFF2-40B4-BE49-F238E27FC236}">
                <a16:creationId xmlns:a16="http://schemas.microsoft.com/office/drawing/2014/main" id="{A3DB3598-15F4-4E73-A996-4225C27BE114}"/>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OpenMP chia tải theo cặp và theo các nhánh độc lập</a:t>
            </a:r>
          </a:p>
        </p:txBody>
      </p:sp>
    </p:spTree>
    <p:extLst>
      <p:ext uri="{BB962C8B-B14F-4D97-AF65-F5344CB8AC3E}">
        <p14:creationId xmlns:p14="http://schemas.microsoft.com/office/powerpoint/2010/main" val="1629098934"/>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17">
            <a:extLst xmlns:a="http://schemas.openxmlformats.org/drawingml/2006/main">
              <a:ext uri="{FF2B5EF4-FFF2-40B4-BE49-F238E27FC236}">
                <a16:creationId xmlns:a16="http://schemas.microsoft.com/office/drawing/2014/main" id="{24887567-DC44-44AD-95F2-6D8177B1C7BB}"/>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17</a:t>
            </a:r>
          </a:p>
        </p:txBody>
      </p:sp>
      <p:sp>
        <p:nvSpPr>
          <p:cNvPr id="2" name="Wavefront trên các đường chéo phụ">
            <a:extLst xmlns:a="http://schemas.openxmlformats.org/drawingml/2006/main">
              <a:ext uri="{FF2B5EF4-FFF2-40B4-BE49-F238E27FC236}">
                <a16:creationId xmlns:a16="http://schemas.microsoft.com/office/drawing/2014/main" id="{63F0998E-8252-49E2-BC17-D950EB1D2545}"/>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Wavefront trên các đường chéo phụ</a:t>
            </a:r>
          </a:p>
        </p:txBody>
      </p:sp>
      <p:sp>
        <p:nvSpPr>
          <p:cNvPr id="3" name="Các ô cùng i + j có thể tính sau khi dữ liệu phụ thuộc đã sẵn sàng">
            <a:extLst xmlns:a="http://schemas.openxmlformats.org/drawingml/2006/main">
              <a:ext uri="{FF2B5EF4-FFF2-40B4-BE49-F238E27FC236}">
                <a16:creationId xmlns:a16="http://schemas.microsoft.com/office/drawing/2014/main" id="{0D137B0B-9E6B-421E-B171-30059D23F128}"/>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Các ô cùng i + j có thể tính sau khi dữ liệu phụ thuộc đã sẵn sàng</a:t>
            </a:r>
          </a:p>
        </p:txBody>
      </p:sp>
      <p:graphicFrame>
        <p:nvGraphicFramePr>
          <p:cNvPr id="4" name="">
            <a:extLst xmlns:a="http://schemas.openxmlformats.org/drawingml/2006/main">
              <a:ext uri="{FF2B5EF4-FFF2-40B4-BE49-F238E27FC236}">
                <a16:creationId xmlns:a16="http://schemas.microsoft.com/office/drawing/2014/main" id="{6D383EA6-027E-461E-88CB-70AB79D4EAA4}"/>
              </a:ext>
            </a:extLst>
          </p:cNvPr>
          <p:cNvGraphicFramePr/>
          <p:nvPr/>
        </p:nvGraphicFramePr>
        <p:xfrm>
          <a:off xmlns:a="http://schemas.openxmlformats.org/drawingml/2006/main" x="762000" y="2324100"/>
          <a:ext xmlns:a="http://schemas.openxmlformats.org/drawingml/2006/main" cx="5143500" cy="2857500"/>
        </p:xfrm>
        <a:graphic xmlns:a="http://schemas.openxmlformats.org/drawingml/2006/main">
          <a:graphicData uri="http://schemas.openxmlformats.org/drawingml/2006/table">
            <a:tbl>
              <a:tblPr firstRow="0" firstCol="0" bandRow="0"/>
              <a:tblGrid>
                <a:gridCol w="1028700"/>
                <a:gridCol w="1028700"/>
                <a:gridCol w="1028700"/>
                <a:gridCol w="1028700"/>
                <a:gridCol w="1028700"/>
              </a:tblGrid>
              <a:tr h="571500">
                <a:tc>
                  <a:txBody>
                    <a:bodyPr anchor="ctr"/>
                    <a:lstStyle/>
                    <a:p>
                      <a:pPr algn="ctr"/>
                      <a:r>
                        <a:rPr sz="2175">
                          <a:solidFill>
                            <a:srgbClr val="142D3B"/>
                          </a:solidFill>
                          <a:latin typeface="Consolas"/>
                          <a:ea typeface="Consolas"/>
                          <a:cs typeface="Consolas"/>
                        </a:rPr>
                        <a:t>i / j</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1</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2</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3</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4</a:t>
                      </a:r>
                    </a:p>
                  </a:txBody>
                  <a:tcPr marL="76200" marR="76200" marT="57150" marB="57150" anchor="ctr">
                    <a:lnR w="9525">
                      <a:solidFill>
                        <a:srgbClr val="D7DED6"/>
                      </a:solidFill>
                    </a:lnR>
                    <a:lnT w="9525">
                      <a:solidFill>
                        <a:srgbClr val="D7DED6"/>
                      </a:solidFill>
                    </a:lnT>
                    <a:lnB w="9525">
                      <a:solidFill>
                        <a:srgbClr val="D7DED6"/>
                      </a:solidFill>
                    </a:lnB>
                    <a:solidFill>
                      <a:srgbClr val="F7F5EF"/>
                    </a:solidFill>
                  </a:tcPr>
                </a:tc>
              </a:tr>
              <a:tr h="571500">
                <a:tc>
                  <a:txBody>
                    <a:bodyPr anchor="ctr"/>
                    <a:lstStyle/>
                    <a:p>
                      <a:pPr algn="ctr"/>
                      <a:r>
                        <a:rPr sz="2175">
                          <a:solidFill>
                            <a:srgbClr val="142D3B"/>
                          </a:solidFill>
                          <a:latin typeface="Consolas"/>
                          <a:ea typeface="Consolas"/>
                          <a:cs typeface="Consolas"/>
                        </a:rPr>
                        <a:t>1</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2</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4</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5</a:t>
                      </a:r>
                    </a:p>
                  </a:txBody>
                  <a:tcPr marL="76200" marR="76200" marT="57150" marB="57150" anchor="ctr">
                    <a:lnR w="9525">
                      <a:solidFill>
                        <a:srgbClr val="D7DED6"/>
                      </a:solidFill>
                    </a:lnR>
                    <a:lnB w="9525">
                      <a:solidFill>
                        <a:srgbClr val="D7DED6"/>
                      </a:solidFill>
                    </a:lnB>
                    <a:solidFill>
                      <a:srgbClr val="147D78"/>
                    </a:solidFill>
                  </a:tcPr>
                </a:tc>
              </a:tr>
              <a:tr h="571500">
                <a:tc>
                  <a:txBody>
                    <a:bodyPr anchor="ctr"/>
                    <a:lstStyle/>
                    <a:p>
                      <a:pPr algn="ctr"/>
                      <a:r>
                        <a:rPr sz="2175">
                          <a:solidFill>
                            <a:srgbClr val="142D3B"/>
                          </a:solidFill>
                          <a:latin typeface="Consolas"/>
                          <a:ea typeface="Consolas"/>
                          <a:cs typeface="Consolas"/>
                        </a:rPr>
                        <a:t>2</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3</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4</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5</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17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7F5EF"/>
                    </a:solidFill>
                  </a:tcPr>
                </a:tc>
              </a:tr>
              <a:tr h="571500">
                <a:tc>
                  <a:txBody>
                    <a:bodyPr anchor="ctr"/>
                    <a:lstStyle/>
                    <a:p>
                      <a:pPr algn="ctr"/>
                      <a:r>
                        <a:rPr sz="2175">
                          <a:solidFill>
                            <a:srgbClr val="142D3B"/>
                          </a:solidFill>
                          <a:latin typeface="Consolas"/>
                          <a:ea typeface="Consolas"/>
                          <a:cs typeface="Consolas"/>
                        </a:rPr>
                        <a:t>3</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4</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5</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17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7F5EF"/>
                    </a:solidFill>
                  </a:tcPr>
                </a:tc>
              </a:tr>
              <a:tr h="571500">
                <a:tc>
                  <a:txBody>
                    <a:bodyPr anchor="ctr"/>
                    <a:lstStyle/>
                    <a:p>
                      <a:pPr algn="ctr"/>
                      <a:r>
                        <a:rPr sz="2175">
                          <a:solidFill>
                            <a:srgbClr val="142D3B"/>
                          </a:solidFill>
                          <a:latin typeface="Consolas"/>
                          <a:ea typeface="Consolas"/>
                          <a:cs typeface="Consolas"/>
                        </a:rPr>
                        <a:t>4</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b="1">
                          <a:solidFill>
                            <a:srgbClr val="FFFFFF"/>
                          </a:solidFill>
                          <a:latin typeface="Consolas"/>
                          <a:ea typeface="Consolas"/>
                          <a:cs typeface="Consolas"/>
                        </a:rPr>
                        <a:t>5</a:t>
                      </a:r>
                    </a:p>
                  </a:txBody>
                  <a:tcPr marL="76200" marR="76200" marT="57150" marB="57150" anchor="ctr">
                    <a:lnR w="9525">
                      <a:solidFill>
                        <a:srgbClr val="D7DED6"/>
                      </a:solidFill>
                    </a:lnR>
                    <a:lnB w="9525">
                      <a:solidFill>
                        <a:srgbClr val="D7DED6"/>
                      </a:solidFill>
                    </a:lnB>
                    <a:solidFill>
                      <a:srgbClr val="147D78"/>
                    </a:solidFill>
                  </a:tcPr>
                </a:tc>
                <a:tc>
                  <a:txBody>
                    <a:bodyPr anchor="ctr"/>
                    <a:lstStyle/>
                    <a:p>
                      <a:pPr algn="ctr"/>
                      <a:r>
                        <a:rPr sz="2175">
                          <a:solidFill>
                            <a:srgbClr val="142D3B"/>
                          </a:solidFill>
                          <a:latin typeface="Consolas"/>
                          <a:ea typeface="Consolas"/>
                          <a:cs typeface="Consolas"/>
                        </a:rPr>
                        <a:t>6</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7</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Consolas"/>
                          <a:ea typeface="Consolas"/>
                          <a:cs typeface="Consolas"/>
                        </a:rPr>
                        <a:t>8</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Mỗi số là chỉ số đường chéo">
            <a:extLst xmlns:a="http://schemas.openxmlformats.org/drawingml/2006/main">
              <a:ext uri="{FF2B5EF4-FFF2-40B4-BE49-F238E27FC236}">
                <a16:creationId xmlns:a16="http://schemas.microsoft.com/office/drawing/2014/main" id="{F23412C0-AC07-42BD-BDBA-66D26C92CF0C}"/>
              </a:ext>
            </a:extLst>
          </p:cNvPr>
          <p:cNvSpPr>
            <a:spLocks xmlns:a="http://schemas.openxmlformats.org/drawingml/2006/main" noGrp="1"/>
          </p:cNvSpPr>
          <p:nvPr/>
        </p:nvSpPr>
        <p:spPr>
          <a:xfrm xmlns:a="http://schemas.openxmlformats.org/drawingml/2006/main">
            <a:off x="6572250" y="25146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142D3B"/>
                </a:solidFill>
                <a:latin typeface="Segoe UI"/>
                <a:ea typeface="Segoe UI"/>
                <a:cs typeface="Segoe UI"/>
              </a:defRPr>
            </a:defPPr>
            <a:lvl1pPr algn="l">
              <a:defRPr sz="2025" b="0">
                <a:solidFill>
                  <a:srgbClr val="142D3B"/>
                </a:solidFill>
                <a:latin typeface="Segoe UI"/>
                <a:ea typeface="Segoe UI"/>
                <a:cs typeface="Segoe UI"/>
              </a:defRPr>
            </a:lvl1pPr>
            <a:lvl2pPr algn="l">
              <a:defRPr sz="2025" b="0">
                <a:solidFill>
                  <a:srgbClr val="142D3B"/>
                </a:solidFill>
                <a:latin typeface="Segoe UI"/>
                <a:ea typeface="Segoe UI"/>
                <a:cs typeface="Segoe UI"/>
              </a:defRPr>
            </a:lvl2pPr>
            <a:lvl3pPr algn="l">
              <a:defRPr sz="2025" b="0">
                <a:solidFill>
                  <a:srgbClr val="142D3B"/>
                </a:solidFill>
                <a:latin typeface="Segoe UI"/>
                <a:ea typeface="Segoe UI"/>
                <a:cs typeface="Segoe UI"/>
              </a:defRPr>
            </a:lvl3pPr>
            <a:lvl4pPr algn="l">
              <a:defRPr sz="2025" b="0">
                <a:solidFill>
                  <a:srgbClr val="142D3B"/>
                </a:solidFill>
                <a:latin typeface="Segoe UI"/>
                <a:ea typeface="Segoe UI"/>
                <a:cs typeface="Segoe UI"/>
              </a:defRPr>
            </a:lvl4pPr>
            <a:lvl5pPr algn="l">
              <a:defRPr sz="2025" b="0">
                <a:solidFill>
                  <a:srgbClr val="142D3B"/>
                </a:solidFill>
                <a:latin typeface="Segoe UI"/>
                <a:ea typeface="Segoe UI"/>
                <a:cs typeface="Segoe UI"/>
              </a:defRPr>
            </a:lvl5pPr>
            <a:lvl6pPr algn="l">
              <a:defRPr sz="2025" b="0">
                <a:solidFill>
                  <a:srgbClr val="142D3B"/>
                </a:solidFill>
                <a:latin typeface="Segoe UI"/>
                <a:ea typeface="Segoe UI"/>
                <a:cs typeface="Segoe UI"/>
              </a:defRPr>
            </a:lvl6pPr>
            <a:lvl7pPr algn="l">
              <a:defRPr sz="2025" b="0">
                <a:solidFill>
                  <a:srgbClr val="142D3B"/>
                </a:solidFill>
                <a:latin typeface="Segoe UI"/>
                <a:ea typeface="Segoe UI"/>
                <a:cs typeface="Segoe UI"/>
              </a:defRPr>
            </a:lvl7pPr>
            <a:lvl8pPr algn="l">
              <a:defRPr sz="2025" b="0">
                <a:solidFill>
                  <a:srgbClr val="142D3B"/>
                </a:solidFill>
                <a:latin typeface="Segoe UI"/>
                <a:ea typeface="Segoe UI"/>
                <a:cs typeface="Segoe UI"/>
              </a:defRPr>
            </a:lvl8pPr>
            <a:lvl9pPr algn="l">
              <a:defRPr sz="2025" b="0">
                <a:solidFill>
                  <a:srgbClr val="142D3B"/>
                </a:solidFill>
                <a:latin typeface="Segoe UI"/>
                <a:ea typeface="Segoe UI"/>
                <a:cs typeface="Segoe UI"/>
              </a:defRPr>
            </a:lvl9pPr>
          </a:lstStyle>
          <a:p xmlns:a="http://schemas.openxmlformats.org/drawingml/2006/main">
            <a:pPr algn="l">
              <a:defRPr sz="2025" b="0">
                <a:solidFill>
                  <a:srgbClr val="142D3B"/>
                </a:solidFill>
                <a:latin typeface="Segoe UI"/>
                <a:ea typeface="Segoe UI"/>
                <a:cs typeface="Segoe UI"/>
              </a:defRPr>
            </a:pPr>
            <a:r>
              <a:rPr sz="2025" b="0">
                <a:solidFill>
                  <a:srgbClr val="142D3B"/>
                </a:solidFill>
                <a:latin typeface="Segoe UI"/>
                <a:ea typeface="Segoe UI"/>
                <a:cs typeface="Segoe UI"/>
              </a:rPr>
              <a:t>Mỗi số là chỉ số đường chéo</a:t>
            </a:r>
          </a:p>
        </p:txBody>
      </p:sp>
      <p:sp>
        <p:nvSpPr>
          <p:cNvPr id="6" name="Cùng màu: các ô cùng đợt tính">
            <a:extLst xmlns:a="http://schemas.openxmlformats.org/drawingml/2006/main">
              <a:ext uri="{FF2B5EF4-FFF2-40B4-BE49-F238E27FC236}">
                <a16:creationId xmlns:a16="http://schemas.microsoft.com/office/drawing/2014/main" id="{5D209459-E89F-4C5C-8130-FF9C5B13D98B}"/>
              </a:ext>
            </a:extLst>
          </p:cNvPr>
          <p:cNvSpPr>
            <a:spLocks xmlns:a="http://schemas.openxmlformats.org/drawingml/2006/main" noGrp="1"/>
          </p:cNvSpPr>
          <p:nvPr/>
        </p:nvSpPr>
        <p:spPr>
          <a:xfrm xmlns:a="http://schemas.openxmlformats.org/drawingml/2006/main">
            <a:off x="6572250" y="31337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142D3B"/>
                </a:solidFill>
                <a:latin typeface="Segoe UI"/>
                <a:ea typeface="Segoe UI"/>
                <a:cs typeface="Segoe UI"/>
              </a:defRPr>
            </a:defPPr>
            <a:lvl1pPr algn="l">
              <a:defRPr sz="2025" b="0">
                <a:solidFill>
                  <a:srgbClr val="142D3B"/>
                </a:solidFill>
                <a:latin typeface="Segoe UI"/>
                <a:ea typeface="Segoe UI"/>
                <a:cs typeface="Segoe UI"/>
              </a:defRPr>
            </a:lvl1pPr>
            <a:lvl2pPr algn="l">
              <a:defRPr sz="2025" b="0">
                <a:solidFill>
                  <a:srgbClr val="142D3B"/>
                </a:solidFill>
                <a:latin typeface="Segoe UI"/>
                <a:ea typeface="Segoe UI"/>
                <a:cs typeface="Segoe UI"/>
              </a:defRPr>
            </a:lvl2pPr>
            <a:lvl3pPr algn="l">
              <a:defRPr sz="2025" b="0">
                <a:solidFill>
                  <a:srgbClr val="142D3B"/>
                </a:solidFill>
                <a:latin typeface="Segoe UI"/>
                <a:ea typeface="Segoe UI"/>
                <a:cs typeface="Segoe UI"/>
              </a:defRPr>
            </a:lvl3pPr>
            <a:lvl4pPr algn="l">
              <a:defRPr sz="2025" b="0">
                <a:solidFill>
                  <a:srgbClr val="142D3B"/>
                </a:solidFill>
                <a:latin typeface="Segoe UI"/>
                <a:ea typeface="Segoe UI"/>
                <a:cs typeface="Segoe UI"/>
              </a:defRPr>
            </a:lvl4pPr>
            <a:lvl5pPr algn="l">
              <a:defRPr sz="2025" b="0">
                <a:solidFill>
                  <a:srgbClr val="142D3B"/>
                </a:solidFill>
                <a:latin typeface="Segoe UI"/>
                <a:ea typeface="Segoe UI"/>
                <a:cs typeface="Segoe UI"/>
              </a:defRPr>
            </a:lvl5pPr>
            <a:lvl6pPr algn="l">
              <a:defRPr sz="2025" b="0">
                <a:solidFill>
                  <a:srgbClr val="142D3B"/>
                </a:solidFill>
                <a:latin typeface="Segoe UI"/>
                <a:ea typeface="Segoe UI"/>
                <a:cs typeface="Segoe UI"/>
              </a:defRPr>
            </a:lvl6pPr>
            <a:lvl7pPr algn="l">
              <a:defRPr sz="2025" b="0">
                <a:solidFill>
                  <a:srgbClr val="142D3B"/>
                </a:solidFill>
                <a:latin typeface="Segoe UI"/>
                <a:ea typeface="Segoe UI"/>
                <a:cs typeface="Segoe UI"/>
              </a:defRPr>
            </a:lvl7pPr>
            <a:lvl8pPr algn="l">
              <a:defRPr sz="2025" b="0">
                <a:solidFill>
                  <a:srgbClr val="142D3B"/>
                </a:solidFill>
                <a:latin typeface="Segoe UI"/>
                <a:ea typeface="Segoe UI"/>
                <a:cs typeface="Segoe UI"/>
              </a:defRPr>
            </a:lvl8pPr>
            <a:lvl9pPr algn="l">
              <a:defRPr sz="2025" b="0">
                <a:solidFill>
                  <a:srgbClr val="142D3B"/>
                </a:solidFill>
                <a:latin typeface="Segoe UI"/>
                <a:ea typeface="Segoe UI"/>
                <a:cs typeface="Segoe UI"/>
              </a:defRPr>
            </a:lvl9pPr>
          </a:lstStyle>
          <a:p xmlns:a="http://schemas.openxmlformats.org/drawingml/2006/main">
            <a:pPr algn="l">
              <a:defRPr sz="2025" b="0">
                <a:solidFill>
                  <a:srgbClr val="142D3B"/>
                </a:solidFill>
                <a:latin typeface="Segoe UI"/>
                <a:ea typeface="Segoe UI"/>
                <a:cs typeface="Segoe UI"/>
              </a:defRPr>
            </a:pPr>
            <a:r>
              <a:rPr sz="2025" b="0">
                <a:solidFill>
                  <a:srgbClr val="142D3B"/>
                </a:solidFill>
                <a:latin typeface="Segoe UI"/>
                <a:ea typeface="Segoe UI"/>
                <a:cs typeface="Segoe UI"/>
              </a:rPr>
              <a:t>Cùng màu: các ô cùng đợt tính</a:t>
            </a:r>
          </a:p>
        </p:txBody>
      </p:sp>
      <p:sp>
        <p:nvSpPr>
          <p:cNvPr id="7" name="Đồng bộ trước khi sang đợt sau">
            <a:extLst xmlns:a="http://schemas.openxmlformats.org/drawingml/2006/main">
              <a:ext uri="{FF2B5EF4-FFF2-40B4-BE49-F238E27FC236}">
                <a16:creationId xmlns:a16="http://schemas.microsoft.com/office/drawing/2014/main" id="{EC448984-4D8A-4BE7-9826-5CB484176148}"/>
              </a:ext>
            </a:extLst>
          </p:cNvPr>
          <p:cNvSpPr>
            <a:spLocks xmlns:a="http://schemas.openxmlformats.org/drawingml/2006/main" noGrp="1"/>
          </p:cNvSpPr>
          <p:nvPr/>
        </p:nvSpPr>
        <p:spPr>
          <a:xfrm xmlns:a="http://schemas.openxmlformats.org/drawingml/2006/main">
            <a:off x="6572250" y="37528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025" b="0">
                <a:solidFill>
                  <a:srgbClr val="142D3B"/>
                </a:solidFill>
                <a:latin typeface="Segoe UI"/>
                <a:ea typeface="Segoe UI"/>
                <a:cs typeface="Segoe UI"/>
              </a:defRPr>
            </a:defPPr>
            <a:lvl1pPr algn="l">
              <a:defRPr sz="2025" b="0">
                <a:solidFill>
                  <a:srgbClr val="142D3B"/>
                </a:solidFill>
                <a:latin typeface="Segoe UI"/>
                <a:ea typeface="Segoe UI"/>
                <a:cs typeface="Segoe UI"/>
              </a:defRPr>
            </a:lvl1pPr>
            <a:lvl2pPr algn="l">
              <a:defRPr sz="2025" b="0">
                <a:solidFill>
                  <a:srgbClr val="142D3B"/>
                </a:solidFill>
                <a:latin typeface="Segoe UI"/>
                <a:ea typeface="Segoe UI"/>
                <a:cs typeface="Segoe UI"/>
              </a:defRPr>
            </a:lvl2pPr>
            <a:lvl3pPr algn="l">
              <a:defRPr sz="2025" b="0">
                <a:solidFill>
                  <a:srgbClr val="142D3B"/>
                </a:solidFill>
                <a:latin typeface="Segoe UI"/>
                <a:ea typeface="Segoe UI"/>
                <a:cs typeface="Segoe UI"/>
              </a:defRPr>
            </a:lvl3pPr>
            <a:lvl4pPr algn="l">
              <a:defRPr sz="2025" b="0">
                <a:solidFill>
                  <a:srgbClr val="142D3B"/>
                </a:solidFill>
                <a:latin typeface="Segoe UI"/>
                <a:ea typeface="Segoe UI"/>
                <a:cs typeface="Segoe UI"/>
              </a:defRPr>
            </a:lvl4pPr>
            <a:lvl5pPr algn="l">
              <a:defRPr sz="2025" b="0">
                <a:solidFill>
                  <a:srgbClr val="142D3B"/>
                </a:solidFill>
                <a:latin typeface="Segoe UI"/>
                <a:ea typeface="Segoe UI"/>
                <a:cs typeface="Segoe UI"/>
              </a:defRPr>
            </a:lvl5pPr>
            <a:lvl6pPr algn="l">
              <a:defRPr sz="2025" b="0">
                <a:solidFill>
                  <a:srgbClr val="142D3B"/>
                </a:solidFill>
                <a:latin typeface="Segoe UI"/>
                <a:ea typeface="Segoe UI"/>
                <a:cs typeface="Segoe UI"/>
              </a:defRPr>
            </a:lvl6pPr>
            <a:lvl7pPr algn="l">
              <a:defRPr sz="2025" b="0">
                <a:solidFill>
                  <a:srgbClr val="142D3B"/>
                </a:solidFill>
                <a:latin typeface="Segoe UI"/>
                <a:ea typeface="Segoe UI"/>
                <a:cs typeface="Segoe UI"/>
              </a:defRPr>
            </a:lvl7pPr>
            <a:lvl8pPr algn="l">
              <a:defRPr sz="2025" b="0">
                <a:solidFill>
                  <a:srgbClr val="142D3B"/>
                </a:solidFill>
                <a:latin typeface="Segoe UI"/>
                <a:ea typeface="Segoe UI"/>
                <a:cs typeface="Segoe UI"/>
              </a:defRPr>
            </a:lvl8pPr>
            <a:lvl9pPr algn="l">
              <a:defRPr sz="2025" b="0">
                <a:solidFill>
                  <a:srgbClr val="142D3B"/>
                </a:solidFill>
                <a:latin typeface="Segoe UI"/>
                <a:ea typeface="Segoe UI"/>
                <a:cs typeface="Segoe UI"/>
              </a:defRPr>
            </a:lvl9pPr>
          </a:lstStyle>
          <a:p xmlns:a="http://schemas.openxmlformats.org/drawingml/2006/main">
            <a:pPr algn="l">
              <a:defRPr sz="2025" b="0">
                <a:solidFill>
                  <a:srgbClr val="142D3B"/>
                </a:solidFill>
                <a:latin typeface="Segoe UI"/>
                <a:ea typeface="Segoe UI"/>
                <a:cs typeface="Segoe UI"/>
              </a:defRPr>
            </a:pPr>
            <a:r>
              <a:rPr sz="2025" b="0">
                <a:solidFill>
                  <a:srgbClr val="142D3B"/>
                </a:solidFill>
                <a:latin typeface="Segoe UI"/>
                <a:ea typeface="Segoe UI"/>
                <a:cs typeface="Segoe UI"/>
              </a:rPr>
              <a:t>Đồng bộ trước khi sang đợt sau</a:t>
            </a:r>
          </a:p>
        </p:txBody>
      </p:sp>
      <p:sp>
        <p:nvSpPr>
          <p:cNvPr id="8" name="Module wavefront có trong dự án, tách khỏi pipeline benchmark chính">
            <a:extLst xmlns:a="http://schemas.openxmlformats.org/drawingml/2006/main">
              <a:ext uri="{FF2B5EF4-FFF2-40B4-BE49-F238E27FC236}">
                <a16:creationId xmlns:a16="http://schemas.microsoft.com/office/drawing/2014/main" id="{7119741F-5F24-47DA-B396-3642DB8F6096}"/>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Module wavefront có trong dự án, tách khỏi pipeline benchmark chính</a:t>
            </a:r>
          </a:p>
        </p:txBody>
      </p:sp>
    </p:spTree>
    <p:extLst>
      <p:ext uri="{BB962C8B-B14F-4D97-AF65-F5344CB8AC3E}">
        <p14:creationId xmlns:p14="http://schemas.microsoft.com/office/powerpoint/2010/main" val="598825974"/>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18">
            <a:extLst xmlns:a="http://schemas.openxmlformats.org/drawingml/2006/main">
              <a:ext uri="{FF2B5EF4-FFF2-40B4-BE49-F238E27FC236}">
                <a16:creationId xmlns:a16="http://schemas.microsoft.com/office/drawing/2014/main" id="{433A3571-A0A8-407D-9678-4CD7D87DACD1}"/>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18</a:t>
            </a:r>
          </a:p>
        </p:txBody>
      </p:sp>
      <p:sp>
        <p:nvSpPr>
          <p:cNvPr id="2" name="Mở rộng MPI kết hợp OpenMP">
            <a:extLst xmlns:a="http://schemas.openxmlformats.org/drawingml/2006/main">
              <a:ext uri="{FF2B5EF4-FFF2-40B4-BE49-F238E27FC236}">
                <a16:creationId xmlns:a16="http://schemas.microsoft.com/office/drawing/2014/main" id="{04F41307-11AF-4EFC-9983-91AE0CF67F7C}"/>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Mở rộng MPI kết hợp OpenMP</a:t>
            </a:r>
          </a:p>
        </p:txBody>
      </p:sp>
      <p:sp>
        <p:nvSpPr>
          <p:cNvPr id="3" name="Phân tán các cặp ở bước tính khoảng cách">
            <a:extLst xmlns:a="http://schemas.openxmlformats.org/drawingml/2006/main">
              <a:ext uri="{FF2B5EF4-FFF2-40B4-BE49-F238E27FC236}">
                <a16:creationId xmlns:a16="http://schemas.microsoft.com/office/drawing/2014/main" id="{3E156948-331B-4570-8207-7E56C22CEDD6}"/>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Phân tán các cặp ở bước tính khoảng cách</a:t>
            </a:r>
          </a:p>
        </p:txBody>
      </p:sp>
      <p:sp>
        <p:nvSpPr>
          <p:cNvPr id="4" name="01">
            <a:extLst xmlns:a="http://schemas.openxmlformats.org/drawingml/2006/main">
              <a:ext uri="{FF2B5EF4-FFF2-40B4-BE49-F238E27FC236}">
                <a16:creationId xmlns:a16="http://schemas.microsoft.com/office/drawing/2014/main" id="{0B8E6B8C-4B06-4E72-B2DA-1F8D59B5AEE5}"/>
              </a:ext>
            </a:extLst>
          </p:cNvPr>
          <p:cNvSpPr>
            <a:spLocks xmlns:a="http://schemas.openxmlformats.org/drawingml/2006/main" noGrp="1"/>
          </p:cNvSpPr>
          <p:nvPr/>
        </p:nvSpPr>
        <p:spPr>
          <a:xfrm xmlns:a="http://schemas.openxmlformats.org/drawingml/2006/main">
            <a:off x="762000" y="22383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01</a:t>
            </a:r>
          </a:p>
        </p:txBody>
      </p:sp>
      <p:sp>
        <p:nvSpPr>
          <p:cNvPr id="5" name="Chia cặp cho các MPI rank">
            <a:extLst xmlns:a="http://schemas.openxmlformats.org/drawingml/2006/main">
              <a:ext uri="{FF2B5EF4-FFF2-40B4-BE49-F238E27FC236}">
                <a16:creationId xmlns:a16="http://schemas.microsoft.com/office/drawing/2014/main" id="{0817CE5D-6F30-4D7A-A34B-8EBCF33263EE}"/>
              </a:ext>
            </a:extLst>
          </p:cNvPr>
          <p:cNvSpPr>
            <a:spLocks xmlns:a="http://schemas.openxmlformats.org/drawingml/2006/main" noGrp="1"/>
          </p:cNvSpPr>
          <p:nvPr/>
        </p:nvSpPr>
        <p:spPr>
          <a:xfrm xmlns:a="http://schemas.openxmlformats.org/drawingml/2006/main">
            <a:off x="1714500" y="223837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Chia cặp cho các MPI rank</a:t>
            </a:r>
          </a:p>
        </p:txBody>
      </p:sp>
      <p:sp>
        <p:nvSpPr>
          <p:cNvPr id="6" name="Chỉ số cặp mod số rank xác định rank nhận việc">
            <a:extLst xmlns:a="http://schemas.openxmlformats.org/drawingml/2006/main">
              <a:ext uri="{FF2B5EF4-FFF2-40B4-BE49-F238E27FC236}">
                <a16:creationId xmlns:a16="http://schemas.microsoft.com/office/drawing/2014/main" id="{2579A6C4-5D4B-40A9-921D-83707388278F}"/>
              </a:ext>
            </a:extLst>
          </p:cNvPr>
          <p:cNvSpPr>
            <a:spLocks xmlns:a="http://schemas.openxmlformats.org/drawingml/2006/main" noGrp="1"/>
          </p:cNvSpPr>
          <p:nvPr/>
        </p:nvSpPr>
        <p:spPr>
          <a:xfrm xmlns:a="http://schemas.openxmlformats.org/drawingml/2006/main">
            <a:off x="1714500" y="273367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Chỉ số cặp mod số rank xác định rank nhận việc</a:t>
            </a:r>
          </a:p>
        </p:txBody>
      </p:sp>
      <p:sp>
        <p:nvSpPr>
          <p:cNvPr id="7" name="02">
            <a:extLst xmlns:a="http://schemas.openxmlformats.org/drawingml/2006/main">
              <a:ext uri="{FF2B5EF4-FFF2-40B4-BE49-F238E27FC236}">
                <a16:creationId xmlns:a16="http://schemas.microsoft.com/office/drawing/2014/main" id="{EE47773C-4804-4A05-9A99-4ACD4464033C}"/>
              </a:ext>
            </a:extLst>
          </p:cNvPr>
          <p:cNvSpPr>
            <a:spLocks xmlns:a="http://schemas.openxmlformats.org/drawingml/2006/main" noGrp="1"/>
          </p:cNvSpPr>
          <p:nvPr/>
        </p:nvSpPr>
        <p:spPr>
          <a:xfrm xmlns:a="http://schemas.openxmlformats.org/drawingml/2006/main">
            <a:off x="762000" y="3238500"/>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02</a:t>
            </a:r>
          </a:p>
        </p:txBody>
      </p:sp>
      <p:sp>
        <p:nvSpPr>
          <p:cNvPr id="8" name="Tính cặp bằng OpenMP trong từng rank">
            <a:extLst xmlns:a="http://schemas.openxmlformats.org/drawingml/2006/main">
              <a:ext uri="{FF2B5EF4-FFF2-40B4-BE49-F238E27FC236}">
                <a16:creationId xmlns:a16="http://schemas.microsoft.com/office/drawing/2014/main" id="{EBDBC78B-98AC-471C-B007-C8785185629F}"/>
              </a:ext>
            </a:extLst>
          </p:cNvPr>
          <p:cNvSpPr>
            <a:spLocks xmlns:a="http://schemas.openxmlformats.org/drawingml/2006/main" noGrp="1"/>
          </p:cNvSpPr>
          <p:nvPr/>
        </p:nvSpPr>
        <p:spPr>
          <a:xfrm xmlns:a="http://schemas.openxmlformats.org/drawingml/2006/main">
            <a:off x="1714500" y="3238500"/>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Tính cặp bằng OpenMP trong từng rank</a:t>
            </a:r>
          </a:p>
        </p:txBody>
      </p:sp>
      <p:sp>
        <p:nvSpPr>
          <p:cNvPr id="9" name="MPI_Allreduce tổng hợp ma trận khoảng cách">
            <a:extLst xmlns:a="http://schemas.openxmlformats.org/drawingml/2006/main">
              <a:ext uri="{FF2B5EF4-FFF2-40B4-BE49-F238E27FC236}">
                <a16:creationId xmlns:a16="http://schemas.microsoft.com/office/drawing/2014/main" id="{FED3BBF1-2CDE-453A-A1E6-EC184A6A49E9}"/>
              </a:ext>
            </a:extLst>
          </p:cNvPr>
          <p:cNvSpPr>
            <a:spLocks xmlns:a="http://schemas.openxmlformats.org/drawingml/2006/main" noGrp="1"/>
          </p:cNvSpPr>
          <p:nvPr/>
        </p:nvSpPr>
        <p:spPr>
          <a:xfrm xmlns:a="http://schemas.openxmlformats.org/drawingml/2006/main">
            <a:off x="1714500" y="37338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MPI_Allreduce tổng hợp ma trận khoảng cách</a:t>
            </a:r>
          </a:p>
        </p:txBody>
      </p:sp>
      <p:sp>
        <p:nvSpPr>
          <p:cNvPr id="10" name="03">
            <a:extLst xmlns:a="http://schemas.openxmlformats.org/drawingml/2006/main">
              <a:ext uri="{FF2B5EF4-FFF2-40B4-BE49-F238E27FC236}">
                <a16:creationId xmlns:a16="http://schemas.microsoft.com/office/drawing/2014/main" id="{A7AD90B9-0505-4D92-A7C0-B310C1023A3A}"/>
              </a:ext>
            </a:extLst>
          </p:cNvPr>
          <p:cNvSpPr>
            <a:spLocks xmlns:a="http://schemas.openxmlformats.org/drawingml/2006/main" noGrp="1"/>
          </p:cNvSpPr>
          <p:nvPr/>
        </p:nvSpPr>
        <p:spPr>
          <a:xfrm xmlns:a="http://schemas.openxmlformats.org/drawingml/2006/main">
            <a:off x="762000" y="42386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03</a:t>
            </a:r>
          </a:p>
        </p:txBody>
      </p:sp>
      <p:sp>
        <p:nvSpPr>
          <p:cNvPr id="11" name="Rank 0 dựng cây và ghép profile">
            <a:extLst xmlns:a="http://schemas.openxmlformats.org/drawingml/2006/main">
              <a:ext uri="{FF2B5EF4-FFF2-40B4-BE49-F238E27FC236}">
                <a16:creationId xmlns:a16="http://schemas.microsoft.com/office/drawing/2014/main" id="{88E32EBD-EF2F-4B24-BD85-A2A6E076AC3B}"/>
              </a:ext>
            </a:extLst>
          </p:cNvPr>
          <p:cNvSpPr>
            <a:spLocks xmlns:a="http://schemas.openxmlformats.org/drawingml/2006/main" noGrp="1"/>
          </p:cNvSpPr>
          <p:nvPr/>
        </p:nvSpPr>
        <p:spPr>
          <a:xfrm xmlns:a="http://schemas.openxmlformats.org/drawingml/2006/main">
            <a:off x="1714500" y="423862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Rank 0 dựng cây và ghép profile</a:t>
            </a:r>
          </a:p>
        </p:txBody>
      </p:sp>
      <p:sp>
        <p:nvSpPr>
          <p:cNvPr id="12" name="Phần progressive tiếp tục trên rank 0">
            <a:extLst xmlns:a="http://schemas.openxmlformats.org/drawingml/2006/main">
              <a:ext uri="{FF2B5EF4-FFF2-40B4-BE49-F238E27FC236}">
                <a16:creationId xmlns:a16="http://schemas.microsoft.com/office/drawing/2014/main" id="{E8D84070-AE6C-4B9D-BD48-3D8E61D89BB7}"/>
              </a:ext>
            </a:extLst>
          </p:cNvPr>
          <p:cNvSpPr>
            <a:spLocks xmlns:a="http://schemas.openxmlformats.org/drawingml/2006/main" noGrp="1"/>
          </p:cNvSpPr>
          <p:nvPr/>
        </p:nvSpPr>
        <p:spPr>
          <a:xfrm xmlns:a="http://schemas.openxmlformats.org/drawingml/2006/main">
            <a:off x="1714500" y="473392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Phần progressive tiếp tục trên rank 0</a:t>
            </a:r>
          </a:p>
        </p:txBody>
      </p:sp>
      <p:sp>
        <p:nvSpPr>
          <p:cNvPr id="13" name="Kết quả OpenMP ở phần sau chưa chứng minh tốc độ trên cụm MPI">
            <a:extLst xmlns:a="http://schemas.openxmlformats.org/drawingml/2006/main">
              <a:ext uri="{FF2B5EF4-FFF2-40B4-BE49-F238E27FC236}">
                <a16:creationId xmlns:a16="http://schemas.microsoft.com/office/drawing/2014/main" id="{B52E5953-861A-4A12-AA28-F95AE86C8784}"/>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Kết quả OpenMP ở phần sau chưa chứng minh tốc độ trên cụm MPI</a:t>
            </a:r>
          </a:p>
        </p:txBody>
      </p:sp>
    </p:spTree>
    <p:extLst>
      <p:ext uri="{BB962C8B-B14F-4D97-AF65-F5344CB8AC3E}">
        <p14:creationId xmlns:p14="http://schemas.microsoft.com/office/powerpoint/2010/main" val="846325473"/>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19">
            <a:extLst xmlns:a="http://schemas.openxmlformats.org/drawingml/2006/main">
              <a:ext uri="{FF2B5EF4-FFF2-40B4-BE49-F238E27FC236}">
                <a16:creationId xmlns:a16="http://schemas.microsoft.com/office/drawing/2014/main" id="{7E1378D2-4BF5-44DD-ACCA-7E589BD17F8E}"/>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19</a:t>
            </a:r>
          </a:p>
        </p:txBody>
      </p:sp>
      <p:sp>
        <p:nvSpPr>
          <p:cNvPr id="2" name="Ba câu hỏi thực nghiệm">
            <a:extLst xmlns:a="http://schemas.openxmlformats.org/drawingml/2006/main">
              <a:ext uri="{FF2B5EF4-FFF2-40B4-BE49-F238E27FC236}">
                <a16:creationId xmlns:a16="http://schemas.microsoft.com/office/drawing/2014/main" id="{77C8D02E-E80B-42C0-A41E-A76D927213E7}"/>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Ba câu hỏi thực nghiệm</a:t>
            </a:r>
          </a:p>
        </p:txBody>
      </p:sp>
      <p:sp>
        <p:nvSpPr>
          <p:cNvPr id="3" name="Kết quả lưu trong dự án, không phải một lượt đo mới">
            <a:extLst xmlns:a="http://schemas.openxmlformats.org/drawingml/2006/main">
              <a:ext uri="{FF2B5EF4-FFF2-40B4-BE49-F238E27FC236}">
                <a16:creationId xmlns:a16="http://schemas.microsoft.com/office/drawing/2014/main" id="{F4D19EEB-1D2E-4598-A86D-648ED36BD8A0}"/>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Kết quả lưu trong dự án, không phải một lượt đo mới</a:t>
            </a:r>
          </a:p>
        </p:txBody>
      </p:sp>
      <p:sp>
        <p:nvSpPr>
          <p:cNvPr id="4" name="01">
            <a:extLst xmlns:a="http://schemas.openxmlformats.org/drawingml/2006/main">
              <a:ext uri="{FF2B5EF4-FFF2-40B4-BE49-F238E27FC236}">
                <a16:creationId xmlns:a16="http://schemas.microsoft.com/office/drawing/2014/main" id="{EB0D9849-E1B7-46FF-9FFE-E3089987B238}"/>
              </a:ext>
            </a:extLst>
          </p:cNvPr>
          <p:cNvSpPr>
            <a:spLocks xmlns:a="http://schemas.openxmlformats.org/drawingml/2006/main" noGrp="1"/>
          </p:cNvSpPr>
          <p:nvPr/>
        </p:nvSpPr>
        <p:spPr>
          <a:xfrm xmlns:a="http://schemas.openxmlformats.org/drawingml/2006/main">
            <a:off x="762000" y="22383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01</a:t>
            </a:r>
          </a:p>
        </p:txBody>
      </p:sp>
      <p:sp>
        <p:nvSpPr>
          <p:cNvPr id="5" name="Điểm số cặp có trùng Gotoh?">
            <a:extLst xmlns:a="http://schemas.openxmlformats.org/drawingml/2006/main">
              <a:ext uri="{FF2B5EF4-FFF2-40B4-BE49-F238E27FC236}">
                <a16:creationId xmlns:a16="http://schemas.microsoft.com/office/drawing/2014/main" id="{5412E19B-AFE1-4386-BF6E-9523D3A66F09}"/>
              </a:ext>
            </a:extLst>
          </p:cNvPr>
          <p:cNvSpPr>
            <a:spLocks xmlns:a="http://schemas.openxmlformats.org/drawingml/2006/main" noGrp="1"/>
          </p:cNvSpPr>
          <p:nvPr/>
        </p:nvSpPr>
        <p:spPr>
          <a:xfrm xmlns:a="http://schemas.openxmlformats.org/drawingml/2006/main">
            <a:off x="1714500" y="223837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Điểm số cặp có trùng Gotoh?</a:t>
            </a:r>
          </a:p>
        </p:txBody>
      </p:sp>
      <p:sp>
        <p:nvSpPr>
          <p:cNvPr id="6" name="Đối chiếu bộ giải cặp và chỉ số bộ nhớ do code báo">
            <a:extLst xmlns:a="http://schemas.openxmlformats.org/drawingml/2006/main">
              <a:ext uri="{FF2B5EF4-FFF2-40B4-BE49-F238E27FC236}">
                <a16:creationId xmlns:a16="http://schemas.microsoft.com/office/drawing/2014/main" id="{16CC15F3-41F0-46A4-A621-9FF682BBD911}"/>
              </a:ext>
            </a:extLst>
          </p:cNvPr>
          <p:cNvSpPr>
            <a:spLocks xmlns:a="http://schemas.openxmlformats.org/drawingml/2006/main" noGrp="1"/>
          </p:cNvSpPr>
          <p:nvPr/>
        </p:nvSpPr>
        <p:spPr>
          <a:xfrm xmlns:a="http://schemas.openxmlformats.org/drawingml/2006/main">
            <a:off x="1714500" y="273367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Đối chiếu bộ giải cặp và chỉ số bộ nhớ do code báo</a:t>
            </a:r>
          </a:p>
        </p:txBody>
      </p:sp>
      <p:sp>
        <p:nvSpPr>
          <p:cNvPr id="7" name="02">
            <a:extLst xmlns:a="http://schemas.openxmlformats.org/drawingml/2006/main">
              <a:ext uri="{FF2B5EF4-FFF2-40B4-BE49-F238E27FC236}">
                <a16:creationId xmlns:a16="http://schemas.microsoft.com/office/drawing/2014/main" id="{2EE028FB-EE41-4466-BCF4-3285AD958651}"/>
              </a:ext>
            </a:extLst>
          </p:cNvPr>
          <p:cNvSpPr>
            <a:spLocks xmlns:a="http://schemas.openxmlformats.org/drawingml/2006/main" noGrp="1"/>
          </p:cNvSpPr>
          <p:nvPr/>
        </p:nvSpPr>
        <p:spPr>
          <a:xfrm xmlns:a="http://schemas.openxmlformats.org/drawingml/2006/main">
            <a:off x="762000" y="3238500"/>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02</a:t>
            </a:r>
          </a:p>
        </p:txBody>
      </p:sp>
      <p:sp>
        <p:nvSpPr>
          <p:cNvPr id="8" name="Thêm luồng có giảm thời gian?">
            <a:extLst xmlns:a="http://schemas.openxmlformats.org/drawingml/2006/main">
              <a:ext uri="{FF2B5EF4-FFF2-40B4-BE49-F238E27FC236}">
                <a16:creationId xmlns:a16="http://schemas.microsoft.com/office/drawing/2014/main" id="{BF7137BB-012F-4FA8-9D7F-441951722CF4}"/>
              </a:ext>
            </a:extLst>
          </p:cNvPr>
          <p:cNvSpPr>
            <a:spLocks xmlns:a="http://schemas.openxmlformats.org/drawingml/2006/main" noGrp="1"/>
          </p:cNvSpPr>
          <p:nvPr/>
        </p:nvSpPr>
        <p:spPr>
          <a:xfrm xmlns:a="http://schemas.openxmlformats.org/drawingml/2006/main">
            <a:off x="1714500" y="3238500"/>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Thêm luồng có giảm thời gian?</a:t>
            </a:r>
          </a:p>
        </p:txBody>
      </p:sp>
      <p:sp>
        <p:nvSpPr>
          <p:cNvPr id="9" name="So sánh 1, 2, 4 và 8 luồng OpenMP">
            <a:extLst xmlns:a="http://schemas.openxmlformats.org/drawingml/2006/main">
              <a:ext uri="{FF2B5EF4-FFF2-40B4-BE49-F238E27FC236}">
                <a16:creationId xmlns:a16="http://schemas.microsoft.com/office/drawing/2014/main" id="{7D5CC364-DDF0-4030-B508-78E11398BEA0}"/>
              </a:ext>
            </a:extLst>
          </p:cNvPr>
          <p:cNvSpPr>
            <a:spLocks xmlns:a="http://schemas.openxmlformats.org/drawingml/2006/main" noGrp="1"/>
          </p:cNvSpPr>
          <p:nvPr/>
        </p:nvSpPr>
        <p:spPr>
          <a:xfrm xmlns:a="http://schemas.openxmlformats.org/drawingml/2006/main">
            <a:off x="1714500" y="37338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So sánh 1, 2, 4 và 8 luồng OpenMP</a:t>
            </a:r>
          </a:p>
        </p:txBody>
      </p:sp>
      <p:sp>
        <p:nvSpPr>
          <p:cNvPr id="10" name="03">
            <a:extLst xmlns:a="http://schemas.openxmlformats.org/drawingml/2006/main">
              <a:ext uri="{FF2B5EF4-FFF2-40B4-BE49-F238E27FC236}">
                <a16:creationId xmlns:a16="http://schemas.microsoft.com/office/drawing/2014/main" id="{EC769D43-8AE7-4759-8E9A-32A32DCE0957}"/>
              </a:ext>
            </a:extLst>
          </p:cNvPr>
          <p:cNvSpPr>
            <a:spLocks xmlns:a="http://schemas.openxmlformats.org/drawingml/2006/main" noGrp="1"/>
          </p:cNvSpPr>
          <p:nvPr/>
        </p:nvSpPr>
        <p:spPr>
          <a:xfrm xmlns:a="http://schemas.openxmlformats.org/drawingml/2006/main">
            <a:off x="762000" y="42386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03</a:t>
            </a:r>
          </a:p>
        </p:txBody>
      </p:sp>
      <p:sp>
        <p:nvSpPr>
          <p:cNvPr id="11" name="Căn chỉnh có gần dữ liệu chuẩn?">
            <a:extLst xmlns:a="http://schemas.openxmlformats.org/drawingml/2006/main">
              <a:ext uri="{FF2B5EF4-FFF2-40B4-BE49-F238E27FC236}">
                <a16:creationId xmlns:a16="http://schemas.microsoft.com/office/drawing/2014/main" id="{5E08E03B-BDAF-4158-A62C-F76073418F55}"/>
              </a:ext>
            </a:extLst>
          </p:cNvPr>
          <p:cNvSpPr>
            <a:spLocks xmlns:a="http://schemas.openxmlformats.org/drawingml/2006/main" noGrp="1"/>
          </p:cNvSpPr>
          <p:nvPr/>
        </p:nvSpPr>
        <p:spPr>
          <a:xfrm xmlns:a="http://schemas.openxmlformats.org/drawingml/2006/main">
            <a:off x="1714500" y="423862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Căn chỉnh có gần dữ liệu chuẩn?</a:t>
            </a:r>
          </a:p>
        </p:txBody>
      </p:sp>
      <p:sp>
        <p:nvSpPr>
          <p:cNvPr id="12" name="Đối chiếu SP và TC trên các bộ BAliBASE được chọn">
            <a:extLst xmlns:a="http://schemas.openxmlformats.org/drawingml/2006/main">
              <a:ext uri="{FF2B5EF4-FFF2-40B4-BE49-F238E27FC236}">
                <a16:creationId xmlns:a16="http://schemas.microsoft.com/office/drawing/2014/main" id="{F253314A-F845-43EB-B451-0422E193D760}"/>
              </a:ext>
            </a:extLst>
          </p:cNvPr>
          <p:cNvSpPr>
            <a:spLocks xmlns:a="http://schemas.openxmlformats.org/drawingml/2006/main" noGrp="1"/>
          </p:cNvSpPr>
          <p:nvPr/>
        </p:nvSpPr>
        <p:spPr>
          <a:xfrm xmlns:a="http://schemas.openxmlformats.org/drawingml/2006/main">
            <a:off x="1714500" y="473392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Đối chiếu SP và TC trên các bộ BAliBASE được chọn</a:t>
            </a:r>
          </a:p>
        </p:txBody>
      </p:sp>
      <p:sp>
        <p:nvSpPr>
          <p:cNvPr id="13" name="Mỗi phép đo trả lời một câu hỏi, với một phạm vi riêng">
            <a:extLst xmlns:a="http://schemas.openxmlformats.org/drawingml/2006/main">
              <a:ext uri="{FF2B5EF4-FFF2-40B4-BE49-F238E27FC236}">
                <a16:creationId xmlns:a16="http://schemas.microsoft.com/office/drawing/2014/main" id="{18AF2DF3-2603-4D03-88CE-62888A800F79}"/>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Mỗi phép đo trả lời một câu hỏi, với một phạm vi riêng</a:t>
            </a:r>
          </a:p>
        </p:txBody>
      </p:sp>
    </p:spTree>
    <p:extLst>
      <p:ext uri="{BB962C8B-B14F-4D97-AF65-F5344CB8AC3E}">
        <p14:creationId xmlns:p14="http://schemas.microsoft.com/office/powerpoint/2010/main" val="608257130"/>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20">
            <a:extLst xmlns:a="http://schemas.openxmlformats.org/drawingml/2006/main">
              <a:ext uri="{FF2B5EF4-FFF2-40B4-BE49-F238E27FC236}">
                <a16:creationId xmlns:a16="http://schemas.microsoft.com/office/drawing/2014/main" id="{7DE8D21B-ED1A-4A14-A131-83391C7E7B87}"/>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20</a:t>
            </a:r>
          </a:p>
        </p:txBody>
      </p:sp>
      <p:sp>
        <p:nvSpPr>
          <p:cNvPr id="2" name="Đối chiếu điểm số và bộ nhớ">
            <a:extLst xmlns:a="http://schemas.openxmlformats.org/drawingml/2006/main">
              <a:ext uri="{FF2B5EF4-FFF2-40B4-BE49-F238E27FC236}">
                <a16:creationId xmlns:a16="http://schemas.microsoft.com/office/drawing/2014/main" id="{237375D7-274C-40BC-8D2E-9805D5DD32C3}"/>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Đối chiếu điểm số và bộ nhớ</a:t>
            </a:r>
          </a:p>
        </p:txBody>
      </p:sp>
      <p:sp>
        <p:nvSpPr>
          <p:cNvPr id="3" name="Cặp protein dài 901 và 897 amino acid trong log hiện có">
            <a:extLst xmlns:a="http://schemas.openxmlformats.org/drawingml/2006/main">
              <a:ext uri="{FF2B5EF4-FFF2-40B4-BE49-F238E27FC236}">
                <a16:creationId xmlns:a16="http://schemas.microsoft.com/office/drawing/2014/main" id="{B8FD41FF-B76F-4011-AFB9-0B4052CAC4B0}"/>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Cặp protein dài 901 và 897 amino acid trong log hiện có</a:t>
            </a:r>
          </a:p>
        </p:txBody>
      </p:sp>
      <p:graphicFrame>
        <p:nvGraphicFramePr>
          <p:cNvPr id="4" name="">
            <a:extLst xmlns:a="http://schemas.openxmlformats.org/drawingml/2006/main">
              <a:ext uri="{FF2B5EF4-FFF2-40B4-BE49-F238E27FC236}">
                <a16:creationId xmlns:a16="http://schemas.microsoft.com/office/drawing/2014/main" id="{5CAD4050-6578-40C0-AA10-75BC9B9CD581}"/>
              </a:ext>
            </a:extLst>
          </p:cNvPr>
          <p:cNvGraphicFramePr/>
          <p:nvPr/>
        </p:nvGraphicFramePr>
        <p:xfrm>
          <a:off xmlns:a="http://schemas.openxmlformats.org/drawingml/2006/main" x="762000" y="2343150"/>
          <a:ext xmlns:a="http://schemas.openxmlformats.org/drawingml/2006/main" cx="10668000" cy="2686050"/>
        </p:xfrm>
        <a:graphic xmlns:a="http://schemas.openxmlformats.org/drawingml/2006/main">
          <a:graphicData uri="http://schemas.openxmlformats.org/drawingml/2006/table">
            <a:tbl>
              <a:tblPr firstRow="0" firstCol="0" bandRow="0"/>
              <a:tblGrid>
                <a:gridCol w="4572000"/>
                <a:gridCol w="3048000"/>
                <a:gridCol w="3048000"/>
              </a:tblGrid>
              <a:tr h="671513">
                <a:tc>
                  <a:txBody>
                    <a:bodyPr anchor="ctr"/>
                    <a:lstStyle/>
                    <a:p>
                      <a:pPr algn="ctr"/>
                      <a:r>
                        <a:rPr sz="2175" b="1">
                          <a:solidFill>
                            <a:srgbClr val="147D78"/>
                          </a:solidFill>
                          <a:latin typeface="Segoe UI"/>
                          <a:ea typeface="Segoe UI"/>
                          <a:cs typeface="Segoe UI"/>
                        </a:rPr>
                        <a:t>Chỉ số</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Segoe UI"/>
                          <a:ea typeface="Segoe UI"/>
                          <a:cs typeface="Segoe UI"/>
                        </a:rPr>
                        <a:t>Gotoh</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175" b="1">
                          <a:solidFill>
                            <a:srgbClr val="147D78"/>
                          </a:solidFill>
                          <a:latin typeface="Segoe UI"/>
                          <a:ea typeface="Segoe UI"/>
                          <a:cs typeface="Segoe UI"/>
                        </a:rPr>
                        <a:t>Myers–Miller</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671513">
                <a:tc>
                  <a:txBody>
                    <a:bodyPr anchor="ctr"/>
                    <a:lstStyle/>
                    <a:p>
                      <a:pPr algn="ctr"/>
                      <a:r>
                        <a:rPr sz="2175">
                          <a:solidFill>
                            <a:srgbClr val="142D3B"/>
                          </a:solidFill>
                          <a:latin typeface="Segoe UI"/>
                          <a:ea typeface="Segoe UI"/>
                          <a:cs typeface="Segoe UI"/>
                        </a:rPr>
                        <a:t>Điểm căn chỉnh cặp</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Segoe UI"/>
                          <a:ea typeface="Segoe UI"/>
                          <a:cs typeface="Segoe UI"/>
                        </a:rPr>
                        <a:t>4.159</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Segoe UI"/>
                          <a:ea typeface="Segoe UI"/>
                          <a:cs typeface="Segoe UI"/>
                        </a:rPr>
                        <a:t>4.159</a:t>
                      </a:r>
                    </a:p>
                  </a:txBody>
                  <a:tcPr marL="76200" marR="76200" marT="57150" marB="57150" anchor="ctr">
                    <a:lnR w="9525">
                      <a:solidFill>
                        <a:srgbClr val="D7DED6"/>
                      </a:solidFill>
                    </a:lnR>
                    <a:lnB w="9525">
                      <a:solidFill>
                        <a:srgbClr val="D7DED6"/>
                      </a:solidFill>
                    </a:lnB>
                    <a:solidFill>
                      <a:srgbClr val="F7F5EF"/>
                    </a:solidFill>
                  </a:tcPr>
                </a:tc>
              </a:tr>
              <a:tr h="671513">
                <a:tc>
                  <a:txBody>
                    <a:bodyPr anchor="ctr"/>
                    <a:lstStyle/>
                    <a:p>
                      <a:pPr algn="ctr"/>
                      <a:r>
                        <a:rPr sz="2175">
                          <a:solidFill>
                            <a:srgbClr val="142D3B"/>
                          </a:solidFill>
                          <a:latin typeface="Segoe UI"/>
                          <a:ea typeface="Segoe UI"/>
                          <a:cs typeface="Segoe UI"/>
                        </a:rPr>
                        <a:t>Chỉ số bộ nhớ code báo</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Segoe UI"/>
                          <a:ea typeface="Segoe UI"/>
                          <a:cs typeface="Segoe UI"/>
                        </a:rPr>
                        <a:t>9.723.566 B</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Segoe UI"/>
                          <a:ea typeface="Segoe UI"/>
                          <a:cs typeface="Segoe UI"/>
                        </a:rPr>
                        <a:t>7.184 B</a:t>
                      </a:r>
                    </a:p>
                  </a:txBody>
                  <a:tcPr marL="76200" marR="76200" marT="57150" marB="57150" anchor="ctr">
                    <a:lnR w="9525">
                      <a:solidFill>
                        <a:srgbClr val="D7DED6"/>
                      </a:solidFill>
                    </a:lnR>
                    <a:lnB w="9525">
                      <a:solidFill>
                        <a:srgbClr val="D7DED6"/>
                      </a:solidFill>
                    </a:lnB>
                    <a:solidFill>
                      <a:srgbClr val="F7F5EF"/>
                    </a:solidFill>
                  </a:tcPr>
                </a:tc>
              </a:tr>
              <a:tr h="671513">
                <a:tc>
                  <a:txBody>
                    <a:bodyPr anchor="ctr"/>
                    <a:lstStyle/>
                    <a:p>
                      <a:pPr algn="ctr"/>
                      <a:r>
                        <a:rPr sz="2175">
                          <a:solidFill>
                            <a:srgbClr val="142D3B"/>
                          </a:solidFill>
                          <a:latin typeface="Segoe UI"/>
                          <a:ea typeface="Segoe UI"/>
                          <a:cs typeface="Segoe UI"/>
                        </a:rPr>
                        <a:t>Thời gian trong log</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Segoe UI"/>
                          <a:ea typeface="Segoe UI"/>
                          <a:cs typeface="Segoe UI"/>
                        </a:rPr>
                        <a:t>11,11 ms</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175">
                          <a:solidFill>
                            <a:srgbClr val="142D3B"/>
                          </a:solidFill>
                          <a:latin typeface="Segoe UI"/>
                          <a:ea typeface="Segoe UI"/>
                          <a:cs typeface="Segoe UI"/>
                        </a:rPr>
                        <a:t>14,47 ms</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 1.353,5 lần">
            <a:extLst xmlns:a="http://schemas.openxmlformats.org/drawingml/2006/main">
              <a:ext uri="{FF2B5EF4-FFF2-40B4-BE49-F238E27FC236}">
                <a16:creationId xmlns:a16="http://schemas.microsoft.com/office/drawing/2014/main" id="{880762A7-2F23-4CB9-839C-9A5211C0D2B4}"/>
              </a:ext>
            </a:extLst>
          </p:cNvPr>
          <p:cNvSpPr>
            <a:spLocks xmlns:a="http://schemas.openxmlformats.org/drawingml/2006/main" noGrp="1"/>
          </p:cNvSpPr>
          <p:nvPr/>
        </p:nvSpPr>
        <p:spPr>
          <a:xfrm xmlns:a="http://schemas.openxmlformats.org/drawingml/2006/main">
            <a:off x="762000" y="5276850"/>
            <a:ext cx="542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300" b="1">
                <a:solidFill>
                  <a:srgbClr val="147D78"/>
                </a:solidFill>
                <a:latin typeface="Segoe UI"/>
                <a:ea typeface="Segoe UI"/>
                <a:cs typeface="Segoe UI"/>
              </a:defRPr>
            </a:defPPr>
            <a:lvl1pPr algn="l">
              <a:defRPr sz="3300" b="1">
                <a:solidFill>
                  <a:srgbClr val="147D78"/>
                </a:solidFill>
                <a:latin typeface="Segoe UI"/>
                <a:ea typeface="Segoe UI"/>
                <a:cs typeface="Segoe UI"/>
              </a:defRPr>
            </a:lvl1pPr>
            <a:lvl2pPr algn="l">
              <a:defRPr sz="3300" b="1">
                <a:solidFill>
                  <a:srgbClr val="147D78"/>
                </a:solidFill>
                <a:latin typeface="Segoe UI"/>
                <a:ea typeface="Segoe UI"/>
                <a:cs typeface="Segoe UI"/>
              </a:defRPr>
            </a:lvl2pPr>
            <a:lvl3pPr algn="l">
              <a:defRPr sz="3300" b="1">
                <a:solidFill>
                  <a:srgbClr val="147D78"/>
                </a:solidFill>
                <a:latin typeface="Segoe UI"/>
                <a:ea typeface="Segoe UI"/>
                <a:cs typeface="Segoe UI"/>
              </a:defRPr>
            </a:lvl3pPr>
            <a:lvl4pPr algn="l">
              <a:defRPr sz="3300" b="1">
                <a:solidFill>
                  <a:srgbClr val="147D78"/>
                </a:solidFill>
                <a:latin typeface="Segoe UI"/>
                <a:ea typeface="Segoe UI"/>
                <a:cs typeface="Segoe UI"/>
              </a:defRPr>
            </a:lvl4pPr>
            <a:lvl5pPr algn="l">
              <a:defRPr sz="3300" b="1">
                <a:solidFill>
                  <a:srgbClr val="147D78"/>
                </a:solidFill>
                <a:latin typeface="Segoe UI"/>
                <a:ea typeface="Segoe UI"/>
                <a:cs typeface="Segoe UI"/>
              </a:defRPr>
            </a:lvl5pPr>
            <a:lvl6pPr algn="l">
              <a:defRPr sz="3300" b="1">
                <a:solidFill>
                  <a:srgbClr val="147D78"/>
                </a:solidFill>
                <a:latin typeface="Segoe UI"/>
                <a:ea typeface="Segoe UI"/>
                <a:cs typeface="Segoe UI"/>
              </a:defRPr>
            </a:lvl6pPr>
            <a:lvl7pPr algn="l">
              <a:defRPr sz="3300" b="1">
                <a:solidFill>
                  <a:srgbClr val="147D78"/>
                </a:solidFill>
                <a:latin typeface="Segoe UI"/>
                <a:ea typeface="Segoe UI"/>
                <a:cs typeface="Segoe UI"/>
              </a:defRPr>
            </a:lvl7pPr>
            <a:lvl8pPr algn="l">
              <a:defRPr sz="3300" b="1">
                <a:solidFill>
                  <a:srgbClr val="147D78"/>
                </a:solidFill>
                <a:latin typeface="Segoe UI"/>
                <a:ea typeface="Segoe UI"/>
                <a:cs typeface="Segoe UI"/>
              </a:defRPr>
            </a:lvl8pPr>
            <a:lvl9pPr algn="l">
              <a:defRPr sz="3300" b="1">
                <a:solidFill>
                  <a:srgbClr val="147D78"/>
                </a:solidFill>
                <a:latin typeface="Segoe UI"/>
                <a:ea typeface="Segoe UI"/>
                <a:cs typeface="Segoe UI"/>
              </a:defRPr>
            </a:lvl9pPr>
          </a:lstStyle>
          <a:p xmlns:a="http://schemas.openxmlformats.org/drawingml/2006/main">
            <a:pPr algn="l">
              <a:defRPr sz="3300" b="1">
                <a:solidFill>
                  <a:srgbClr val="147D78"/>
                </a:solidFill>
                <a:latin typeface="Segoe UI"/>
                <a:ea typeface="Segoe UI"/>
                <a:cs typeface="Segoe UI"/>
              </a:defRPr>
            </a:pPr>
            <a:r>
              <a:rPr sz="3300" b="1">
                <a:solidFill>
                  <a:srgbClr val="147D78"/>
                </a:solidFill>
                <a:latin typeface="Segoe UI"/>
                <a:ea typeface="Segoe UI"/>
                <a:cs typeface="Segoe UI"/>
              </a:rPr>
              <a:t>≈ 1.353,5 lần</a:t>
            </a:r>
          </a:p>
        </p:txBody>
      </p:sp>
      <p:sp>
        <p:nvSpPr>
          <p:cNvPr id="6" name="tỷ số của hai chỉ số bộ nhớ">
            <a:extLst xmlns:a="http://schemas.openxmlformats.org/drawingml/2006/main">
              <a:ext uri="{FF2B5EF4-FFF2-40B4-BE49-F238E27FC236}">
                <a16:creationId xmlns:a16="http://schemas.microsoft.com/office/drawing/2014/main" id="{F255C25B-9557-4DF3-A214-890A13315540}"/>
              </a:ext>
            </a:extLst>
          </p:cNvPr>
          <p:cNvSpPr>
            <a:spLocks xmlns:a="http://schemas.openxmlformats.org/drawingml/2006/main" noGrp="1"/>
          </p:cNvSpPr>
          <p:nvPr/>
        </p:nvSpPr>
        <p:spPr>
          <a:xfrm xmlns:a="http://schemas.openxmlformats.org/drawingml/2006/main">
            <a:off x="6191250" y="54006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tỷ số của hai chỉ số bộ nhớ</a:t>
            </a:r>
          </a:p>
        </p:txBody>
      </p:sp>
      <p:sp>
        <p:nvSpPr>
          <p:cNvPr id="7" name="Chỉ số ước tính từ công thức trong code, chưa phải phép đo RAM đỉnh th">
            <a:extLst xmlns:a="http://schemas.openxmlformats.org/drawingml/2006/main">
              <a:ext uri="{FF2B5EF4-FFF2-40B4-BE49-F238E27FC236}">
                <a16:creationId xmlns:a16="http://schemas.microsoft.com/office/drawing/2014/main" id="{3141CA56-72E4-47CE-89ED-B42310FD2B0C}"/>
              </a:ext>
            </a:extLst>
          </p:cNvPr>
          <p:cNvSpPr>
            <a:spLocks xmlns:a="http://schemas.openxmlformats.org/drawingml/2006/main" noGrp="1"/>
          </p:cNvSpPr>
          <p:nvPr/>
        </p:nvSpPr>
        <p:spPr>
          <a:xfrm xmlns:a="http://schemas.openxmlformats.org/drawingml/2006/main">
            <a:off x="762000" y="62865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61716F"/>
                </a:solidFill>
                <a:latin typeface="Segoe UI"/>
                <a:ea typeface="Segoe UI"/>
                <a:cs typeface="Segoe UI"/>
              </a:defRPr>
            </a:defPPr>
            <a:lvl1pPr algn="l">
              <a:defRPr sz="1200" b="0">
                <a:solidFill>
                  <a:srgbClr val="61716F"/>
                </a:solidFill>
                <a:latin typeface="Segoe UI"/>
                <a:ea typeface="Segoe UI"/>
                <a:cs typeface="Segoe UI"/>
              </a:defRPr>
            </a:lvl1pPr>
            <a:lvl2pPr algn="l">
              <a:defRPr sz="1200" b="0">
                <a:solidFill>
                  <a:srgbClr val="61716F"/>
                </a:solidFill>
                <a:latin typeface="Segoe UI"/>
                <a:ea typeface="Segoe UI"/>
                <a:cs typeface="Segoe UI"/>
              </a:defRPr>
            </a:lvl2pPr>
            <a:lvl3pPr algn="l">
              <a:defRPr sz="1200" b="0">
                <a:solidFill>
                  <a:srgbClr val="61716F"/>
                </a:solidFill>
                <a:latin typeface="Segoe UI"/>
                <a:ea typeface="Segoe UI"/>
                <a:cs typeface="Segoe UI"/>
              </a:defRPr>
            </a:lvl3pPr>
            <a:lvl4pPr algn="l">
              <a:defRPr sz="1200" b="0">
                <a:solidFill>
                  <a:srgbClr val="61716F"/>
                </a:solidFill>
                <a:latin typeface="Segoe UI"/>
                <a:ea typeface="Segoe UI"/>
                <a:cs typeface="Segoe UI"/>
              </a:defRPr>
            </a:lvl4pPr>
            <a:lvl5pPr algn="l">
              <a:defRPr sz="1200" b="0">
                <a:solidFill>
                  <a:srgbClr val="61716F"/>
                </a:solidFill>
                <a:latin typeface="Segoe UI"/>
                <a:ea typeface="Segoe UI"/>
                <a:cs typeface="Segoe UI"/>
              </a:defRPr>
            </a:lvl5pPr>
            <a:lvl6pPr algn="l">
              <a:defRPr sz="1200" b="0">
                <a:solidFill>
                  <a:srgbClr val="61716F"/>
                </a:solidFill>
                <a:latin typeface="Segoe UI"/>
                <a:ea typeface="Segoe UI"/>
                <a:cs typeface="Segoe UI"/>
              </a:defRPr>
            </a:lvl6pPr>
            <a:lvl7pPr algn="l">
              <a:defRPr sz="1200" b="0">
                <a:solidFill>
                  <a:srgbClr val="61716F"/>
                </a:solidFill>
                <a:latin typeface="Segoe UI"/>
                <a:ea typeface="Segoe UI"/>
                <a:cs typeface="Segoe UI"/>
              </a:defRPr>
            </a:lvl7pPr>
            <a:lvl8pPr algn="l">
              <a:defRPr sz="1200" b="0">
                <a:solidFill>
                  <a:srgbClr val="61716F"/>
                </a:solidFill>
                <a:latin typeface="Segoe UI"/>
                <a:ea typeface="Segoe UI"/>
                <a:cs typeface="Segoe UI"/>
              </a:defRPr>
            </a:lvl8pPr>
            <a:lvl9pPr algn="l">
              <a:defRPr sz="1200" b="0">
                <a:solidFill>
                  <a:srgbClr val="61716F"/>
                </a:solidFill>
                <a:latin typeface="Segoe UI"/>
                <a:ea typeface="Segoe UI"/>
                <a:cs typeface="Segoe UI"/>
              </a:defRPr>
            </a:lvl9pPr>
          </a:lstStyle>
          <a:p xmlns:a="http://schemas.openxmlformats.org/drawingml/2006/main">
            <a:pPr algn="l">
              <a:defRPr sz="1200" b="0">
                <a:solidFill>
                  <a:srgbClr val="61716F"/>
                </a:solidFill>
                <a:latin typeface="Segoe UI"/>
                <a:ea typeface="Segoe UI"/>
                <a:cs typeface="Segoe UI"/>
              </a:defRPr>
            </a:pPr>
            <a:r>
              <a:rPr sz="1200" b="0">
                <a:solidFill>
                  <a:srgbClr val="61716F"/>
                </a:solidFill>
                <a:latin typeface="Segoe UI"/>
                <a:ea typeface="Segoe UI"/>
                <a:cs typeface="Segoe UI"/>
              </a:rPr>
              <a:t>Chỉ số ước tính từ công thức trong code, chưa phải phép đo RAM đỉnh thực tế</a:t>
            </a:r>
          </a:p>
        </p:txBody>
      </p:sp>
    </p:spTree>
    <p:extLst>
      <p:ext uri="{BB962C8B-B14F-4D97-AF65-F5344CB8AC3E}">
        <p14:creationId xmlns:p14="http://schemas.microsoft.com/office/powerpoint/2010/main" val="1440078215"/>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21">
            <a:extLst xmlns:a="http://schemas.openxmlformats.org/drawingml/2006/main">
              <a:ext uri="{FF2B5EF4-FFF2-40B4-BE49-F238E27FC236}">
                <a16:creationId xmlns:a16="http://schemas.microsoft.com/office/drawing/2014/main" id="{36D91CC4-6FA9-4DE6-AF76-6012F19ADC94}"/>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21</a:t>
            </a:r>
          </a:p>
        </p:txBody>
      </p:sp>
      <p:sp>
        <p:nvSpPr>
          <p:cNvPr id="2" name="Thêm luồng không luôn nhanh hơn">
            <a:extLst xmlns:a="http://schemas.openxmlformats.org/drawingml/2006/main">
              <a:ext uri="{FF2B5EF4-FFF2-40B4-BE49-F238E27FC236}">
                <a16:creationId xmlns:a16="http://schemas.microsoft.com/office/drawing/2014/main" id="{55447FFB-64D3-4715-AAF9-0EF924FB93F0}"/>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Thêm luồng không luôn nhanh hơn</a:t>
            </a:r>
          </a:p>
        </p:txBody>
      </p:sp>
      <p:sp>
        <p:nvSpPr>
          <p:cNvPr id="3" name="Speedup S(p) = T(1) / T(p), đo toàn pipeline OpenMP">
            <a:extLst xmlns:a="http://schemas.openxmlformats.org/drawingml/2006/main">
              <a:ext uri="{FF2B5EF4-FFF2-40B4-BE49-F238E27FC236}">
                <a16:creationId xmlns:a16="http://schemas.microsoft.com/office/drawing/2014/main" id="{3051155D-63FA-47B3-B97C-8B1362329D0F}"/>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Speedup S(p) = T(1) / T(p), đo toàn pipeline OpenMP</a:t>
            </a:r>
          </a:p>
        </p:txBody>
      </p:sp>
      <p:graphicFrame>
        <p:nvGraphicFramePr>
          <p:cNvPr id="4" name="Chart">
            <a:extLst xmlns:a="http://schemas.openxmlformats.org/drawingml/2006/main">
              <a:ext uri="{FF2B5EF4-FFF2-40B4-BE49-F238E27FC236}">
                <a16:creationId xmlns:a16="http://schemas.microsoft.com/office/drawing/2014/main" id="{1724CFF6-6976-44BF-8674-F062048D1D0B}"/>
              </a:ext>
            </a:extLst>
          </p:cNvPr>
          <p:cNvGraphicFramePr/>
          <p:nvPr/>
        </p:nvGraphicFramePr>
        <p:xfrm>
          <a:off xmlns:a="http://schemas.openxmlformats.org/drawingml/2006/main" x="685800" y="2190750"/>
          <a:ext xmlns:a="http://schemas.openxmlformats.org/drawingml/2006/main" cx="7667625" cy="3143250"/>
        </p:xfrm>
        <a:graphic xmlns:a="http://schemas.openxmlformats.org/drawingml/2006/main">
          <a:graphicData uri="http://schemas.openxmlformats.org/drawingml/2006/chart">
            <c:chart xmlns:r="http://schemas.openxmlformats.org/officeDocument/2006/relationships" xmlns:c="http://schemas.openxmlformats.org/drawingml/2006/chart" r:id="Rdfbec3b3350e4051"/>
          </a:graphicData>
        </a:graphic>
      </p:graphicFrame>
      <p:sp>
        <p:nvSpPr>
          <p:cNvPr id="5" name="1,73×">
            <a:extLst xmlns:a="http://schemas.openxmlformats.org/drawingml/2006/main">
              <a:ext uri="{FF2B5EF4-FFF2-40B4-BE49-F238E27FC236}">
                <a16:creationId xmlns:a16="http://schemas.microsoft.com/office/drawing/2014/main" id="{64B8DE55-9F64-4F54-99AD-B59D055E985E}"/>
              </a:ext>
            </a:extLst>
          </p:cNvPr>
          <p:cNvSpPr>
            <a:spLocks xmlns:a="http://schemas.openxmlformats.org/drawingml/2006/main" noGrp="1"/>
          </p:cNvSpPr>
          <p:nvPr/>
        </p:nvSpPr>
        <p:spPr>
          <a:xfrm xmlns:a="http://schemas.openxmlformats.org/drawingml/2006/main">
            <a:off x="8867775" y="2476500"/>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4275" b="1">
                <a:solidFill>
                  <a:srgbClr val="147D78"/>
                </a:solidFill>
                <a:latin typeface="Segoe UI"/>
                <a:ea typeface="Segoe UI"/>
                <a:cs typeface="Segoe UI"/>
              </a:defRPr>
            </a:defPPr>
            <a:lvl1pPr algn="l">
              <a:defRPr sz="4275" b="1">
                <a:solidFill>
                  <a:srgbClr val="147D78"/>
                </a:solidFill>
                <a:latin typeface="Segoe UI"/>
                <a:ea typeface="Segoe UI"/>
                <a:cs typeface="Segoe UI"/>
              </a:defRPr>
            </a:lvl1pPr>
            <a:lvl2pPr algn="l">
              <a:defRPr sz="4275" b="1">
                <a:solidFill>
                  <a:srgbClr val="147D78"/>
                </a:solidFill>
                <a:latin typeface="Segoe UI"/>
                <a:ea typeface="Segoe UI"/>
                <a:cs typeface="Segoe UI"/>
              </a:defRPr>
            </a:lvl2pPr>
            <a:lvl3pPr algn="l">
              <a:defRPr sz="4275" b="1">
                <a:solidFill>
                  <a:srgbClr val="147D78"/>
                </a:solidFill>
                <a:latin typeface="Segoe UI"/>
                <a:ea typeface="Segoe UI"/>
                <a:cs typeface="Segoe UI"/>
              </a:defRPr>
            </a:lvl3pPr>
            <a:lvl4pPr algn="l">
              <a:defRPr sz="4275" b="1">
                <a:solidFill>
                  <a:srgbClr val="147D78"/>
                </a:solidFill>
                <a:latin typeface="Segoe UI"/>
                <a:ea typeface="Segoe UI"/>
                <a:cs typeface="Segoe UI"/>
              </a:defRPr>
            </a:lvl4pPr>
            <a:lvl5pPr algn="l">
              <a:defRPr sz="4275" b="1">
                <a:solidFill>
                  <a:srgbClr val="147D78"/>
                </a:solidFill>
                <a:latin typeface="Segoe UI"/>
                <a:ea typeface="Segoe UI"/>
                <a:cs typeface="Segoe UI"/>
              </a:defRPr>
            </a:lvl5pPr>
            <a:lvl6pPr algn="l">
              <a:defRPr sz="4275" b="1">
                <a:solidFill>
                  <a:srgbClr val="147D78"/>
                </a:solidFill>
                <a:latin typeface="Segoe UI"/>
                <a:ea typeface="Segoe UI"/>
                <a:cs typeface="Segoe UI"/>
              </a:defRPr>
            </a:lvl6pPr>
            <a:lvl7pPr algn="l">
              <a:defRPr sz="4275" b="1">
                <a:solidFill>
                  <a:srgbClr val="147D78"/>
                </a:solidFill>
                <a:latin typeface="Segoe UI"/>
                <a:ea typeface="Segoe UI"/>
                <a:cs typeface="Segoe UI"/>
              </a:defRPr>
            </a:lvl7pPr>
            <a:lvl8pPr algn="l">
              <a:defRPr sz="4275" b="1">
                <a:solidFill>
                  <a:srgbClr val="147D78"/>
                </a:solidFill>
                <a:latin typeface="Segoe UI"/>
                <a:ea typeface="Segoe UI"/>
                <a:cs typeface="Segoe UI"/>
              </a:defRPr>
            </a:lvl8pPr>
            <a:lvl9pPr algn="l">
              <a:defRPr sz="4275" b="1">
                <a:solidFill>
                  <a:srgbClr val="147D78"/>
                </a:solidFill>
                <a:latin typeface="Segoe UI"/>
                <a:ea typeface="Segoe UI"/>
                <a:cs typeface="Segoe UI"/>
              </a:defRPr>
            </a:lvl9pPr>
          </a:lstStyle>
          <a:p xmlns:a="http://schemas.openxmlformats.org/drawingml/2006/main">
            <a:pPr algn="l">
              <a:defRPr sz="4275" b="1">
                <a:solidFill>
                  <a:srgbClr val="147D78"/>
                </a:solidFill>
                <a:latin typeface="Segoe UI"/>
                <a:ea typeface="Segoe UI"/>
                <a:cs typeface="Segoe UI"/>
              </a:defRPr>
            </a:pPr>
            <a:r>
              <a:rPr sz="4275" b="1">
                <a:solidFill>
                  <a:srgbClr val="147D78"/>
                </a:solidFill>
                <a:latin typeface="Segoe UI"/>
                <a:ea typeface="Segoe UI"/>
                <a:cs typeface="Segoe UI"/>
              </a:rPr>
              <a:t>1,73×</a:t>
            </a:r>
          </a:p>
        </p:txBody>
      </p:sp>
      <p:sp>
        <p:nvSpPr>
          <p:cNvPr id="6" name="BB20001, 8 luồng">
            <a:extLst xmlns:a="http://schemas.openxmlformats.org/drawingml/2006/main">
              <a:ext uri="{FF2B5EF4-FFF2-40B4-BE49-F238E27FC236}">
                <a16:creationId xmlns:a16="http://schemas.microsoft.com/office/drawing/2014/main" id="{378810A6-6DCC-437D-BA63-A318D9ABBFD7}"/>
              </a:ext>
            </a:extLst>
          </p:cNvPr>
          <p:cNvSpPr>
            <a:spLocks xmlns:a="http://schemas.openxmlformats.org/drawingml/2006/main" noGrp="1"/>
          </p:cNvSpPr>
          <p:nvPr/>
        </p:nvSpPr>
        <p:spPr>
          <a:xfrm xmlns:a="http://schemas.openxmlformats.org/drawingml/2006/main">
            <a:off x="8867775" y="330517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725" b="0">
                <a:solidFill>
                  <a:srgbClr val="61716F"/>
                </a:solidFill>
                <a:latin typeface="Segoe UI"/>
                <a:ea typeface="Segoe UI"/>
                <a:cs typeface="Segoe UI"/>
              </a:defRPr>
            </a:defPPr>
            <a:lvl1pPr algn="l">
              <a:defRPr sz="1725" b="0">
                <a:solidFill>
                  <a:srgbClr val="61716F"/>
                </a:solidFill>
                <a:latin typeface="Segoe UI"/>
                <a:ea typeface="Segoe UI"/>
                <a:cs typeface="Segoe UI"/>
              </a:defRPr>
            </a:lvl1pPr>
            <a:lvl2pPr algn="l">
              <a:defRPr sz="1725" b="0">
                <a:solidFill>
                  <a:srgbClr val="61716F"/>
                </a:solidFill>
                <a:latin typeface="Segoe UI"/>
                <a:ea typeface="Segoe UI"/>
                <a:cs typeface="Segoe UI"/>
              </a:defRPr>
            </a:lvl2pPr>
            <a:lvl3pPr algn="l">
              <a:defRPr sz="1725" b="0">
                <a:solidFill>
                  <a:srgbClr val="61716F"/>
                </a:solidFill>
                <a:latin typeface="Segoe UI"/>
                <a:ea typeface="Segoe UI"/>
                <a:cs typeface="Segoe UI"/>
              </a:defRPr>
            </a:lvl3pPr>
            <a:lvl4pPr algn="l">
              <a:defRPr sz="1725" b="0">
                <a:solidFill>
                  <a:srgbClr val="61716F"/>
                </a:solidFill>
                <a:latin typeface="Segoe UI"/>
                <a:ea typeface="Segoe UI"/>
                <a:cs typeface="Segoe UI"/>
              </a:defRPr>
            </a:lvl4pPr>
            <a:lvl5pPr algn="l">
              <a:defRPr sz="1725" b="0">
                <a:solidFill>
                  <a:srgbClr val="61716F"/>
                </a:solidFill>
                <a:latin typeface="Segoe UI"/>
                <a:ea typeface="Segoe UI"/>
                <a:cs typeface="Segoe UI"/>
              </a:defRPr>
            </a:lvl5pPr>
            <a:lvl6pPr algn="l">
              <a:defRPr sz="1725" b="0">
                <a:solidFill>
                  <a:srgbClr val="61716F"/>
                </a:solidFill>
                <a:latin typeface="Segoe UI"/>
                <a:ea typeface="Segoe UI"/>
                <a:cs typeface="Segoe UI"/>
              </a:defRPr>
            </a:lvl6pPr>
            <a:lvl7pPr algn="l">
              <a:defRPr sz="1725" b="0">
                <a:solidFill>
                  <a:srgbClr val="61716F"/>
                </a:solidFill>
                <a:latin typeface="Segoe UI"/>
                <a:ea typeface="Segoe UI"/>
                <a:cs typeface="Segoe UI"/>
              </a:defRPr>
            </a:lvl7pPr>
            <a:lvl8pPr algn="l">
              <a:defRPr sz="1725" b="0">
                <a:solidFill>
                  <a:srgbClr val="61716F"/>
                </a:solidFill>
                <a:latin typeface="Segoe UI"/>
                <a:ea typeface="Segoe UI"/>
                <a:cs typeface="Segoe UI"/>
              </a:defRPr>
            </a:lvl8pPr>
            <a:lvl9pPr algn="l">
              <a:defRPr sz="1725" b="0">
                <a:solidFill>
                  <a:srgbClr val="61716F"/>
                </a:solidFill>
                <a:latin typeface="Segoe UI"/>
                <a:ea typeface="Segoe UI"/>
                <a:cs typeface="Segoe UI"/>
              </a:defRPr>
            </a:lvl9pPr>
          </a:lstStyle>
          <a:p xmlns:a="http://schemas.openxmlformats.org/drawingml/2006/main">
            <a:pPr algn="l">
              <a:defRPr sz="1725" b="0">
                <a:solidFill>
                  <a:srgbClr val="61716F"/>
                </a:solidFill>
                <a:latin typeface="Segoe UI"/>
                <a:ea typeface="Segoe UI"/>
                <a:cs typeface="Segoe UI"/>
              </a:defRPr>
            </a:pPr>
            <a:r>
              <a:rPr sz="1725" b="0">
                <a:solidFill>
                  <a:srgbClr val="61716F"/>
                </a:solidFill>
                <a:latin typeface="Segoe UI"/>
                <a:ea typeface="Segoe UI"/>
                <a:cs typeface="Segoe UI"/>
              </a:rPr>
              <a:t>BB20001, 8 luồng</a:t>
            </a:r>
          </a:p>
        </p:txBody>
      </p:sp>
      <p:sp>
        <p:nvSpPr>
          <p:cNvPr id="7" name="0,70×">
            <a:extLst xmlns:a="http://schemas.openxmlformats.org/drawingml/2006/main">
              <a:ext uri="{FF2B5EF4-FFF2-40B4-BE49-F238E27FC236}">
                <a16:creationId xmlns:a16="http://schemas.microsoft.com/office/drawing/2014/main" id="{6AFD89A0-6DA1-48EF-9425-CD14028E3949}"/>
              </a:ext>
            </a:extLst>
          </p:cNvPr>
          <p:cNvSpPr>
            <a:spLocks xmlns:a="http://schemas.openxmlformats.org/drawingml/2006/main" noGrp="1"/>
          </p:cNvSpPr>
          <p:nvPr/>
        </p:nvSpPr>
        <p:spPr>
          <a:xfrm xmlns:a="http://schemas.openxmlformats.org/drawingml/2006/main">
            <a:off x="8867775" y="40290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4275" b="1">
                <a:solidFill>
                  <a:srgbClr val="A76C4D"/>
                </a:solidFill>
                <a:latin typeface="Segoe UI"/>
                <a:ea typeface="Segoe UI"/>
                <a:cs typeface="Segoe UI"/>
              </a:defRPr>
            </a:defPPr>
            <a:lvl1pPr algn="l">
              <a:defRPr sz="4275" b="1">
                <a:solidFill>
                  <a:srgbClr val="A76C4D"/>
                </a:solidFill>
                <a:latin typeface="Segoe UI"/>
                <a:ea typeface="Segoe UI"/>
                <a:cs typeface="Segoe UI"/>
              </a:defRPr>
            </a:lvl1pPr>
            <a:lvl2pPr algn="l">
              <a:defRPr sz="4275" b="1">
                <a:solidFill>
                  <a:srgbClr val="A76C4D"/>
                </a:solidFill>
                <a:latin typeface="Segoe UI"/>
                <a:ea typeface="Segoe UI"/>
                <a:cs typeface="Segoe UI"/>
              </a:defRPr>
            </a:lvl2pPr>
            <a:lvl3pPr algn="l">
              <a:defRPr sz="4275" b="1">
                <a:solidFill>
                  <a:srgbClr val="A76C4D"/>
                </a:solidFill>
                <a:latin typeface="Segoe UI"/>
                <a:ea typeface="Segoe UI"/>
                <a:cs typeface="Segoe UI"/>
              </a:defRPr>
            </a:lvl3pPr>
            <a:lvl4pPr algn="l">
              <a:defRPr sz="4275" b="1">
                <a:solidFill>
                  <a:srgbClr val="A76C4D"/>
                </a:solidFill>
                <a:latin typeface="Segoe UI"/>
                <a:ea typeface="Segoe UI"/>
                <a:cs typeface="Segoe UI"/>
              </a:defRPr>
            </a:lvl4pPr>
            <a:lvl5pPr algn="l">
              <a:defRPr sz="4275" b="1">
                <a:solidFill>
                  <a:srgbClr val="A76C4D"/>
                </a:solidFill>
                <a:latin typeface="Segoe UI"/>
                <a:ea typeface="Segoe UI"/>
                <a:cs typeface="Segoe UI"/>
              </a:defRPr>
            </a:lvl5pPr>
            <a:lvl6pPr algn="l">
              <a:defRPr sz="4275" b="1">
                <a:solidFill>
                  <a:srgbClr val="A76C4D"/>
                </a:solidFill>
                <a:latin typeface="Segoe UI"/>
                <a:ea typeface="Segoe UI"/>
                <a:cs typeface="Segoe UI"/>
              </a:defRPr>
            </a:lvl6pPr>
            <a:lvl7pPr algn="l">
              <a:defRPr sz="4275" b="1">
                <a:solidFill>
                  <a:srgbClr val="A76C4D"/>
                </a:solidFill>
                <a:latin typeface="Segoe UI"/>
                <a:ea typeface="Segoe UI"/>
                <a:cs typeface="Segoe UI"/>
              </a:defRPr>
            </a:lvl7pPr>
            <a:lvl8pPr algn="l">
              <a:defRPr sz="4275" b="1">
                <a:solidFill>
                  <a:srgbClr val="A76C4D"/>
                </a:solidFill>
                <a:latin typeface="Segoe UI"/>
                <a:ea typeface="Segoe UI"/>
                <a:cs typeface="Segoe UI"/>
              </a:defRPr>
            </a:lvl8pPr>
            <a:lvl9pPr algn="l">
              <a:defRPr sz="4275" b="1">
                <a:solidFill>
                  <a:srgbClr val="A76C4D"/>
                </a:solidFill>
                <a:latin typeface="Segoe UI"/>
                <a:ea typeface="Segoe UI"/>
                <a:cs typeface="Segoe UI"/>
              </a:defRPr>
            </a:lvl9pPr>
          </a:lstStyle>
          <a:p xmlns:a="http://schemas.openxmlformats.org/drawingml/2006/main">
            <a:pPr algn="l">
              <a:defRPr sz="4275" b="1">
                <a:solidFill>
                  <a:srgbClr val="A76C4D"/>
                </a:solidFill>
                <a:latin typeface="Segoe UI"/>
                <a:ea typeface="Segoe UI"/>
                <a:cs typeface="Segoe UI"/>
              </a:defRPr>
            </a:pPr>
            <a:r>
              <a:rPr sz="4275" b="1">
                <a:solidFill>
                  <a:srgbClr val="A76C4D"/>
                </a:solidFill>
                <a:latin typeface="Segoe UI"/>
                <a:ea typeface="Segoe UI"/>
                <a:cs typeface="Segoe UI"/>
              </a:rPr>
              <a:t>0,70×</a:t>
            </a:r>
          </a:p>
        </p:txBody>
      </p:sp>
      <p:sp>
        <p:nvSpPr>
          <p:cNvPr id="8" name="BB12001, 8 luồng">
            <a:extLst xmlns:a="http://schemas.openxmlformats.org/drawingml/2006/main">
              <a:ext uri="{FF2B5EF4-FFF2-40B4-BE49-F238E27FC236}">
                <a16:creationId xmlns:a16="http://schemas.microsoft.com/office/drawing/2014/main" id="{112A5A30-8FAE-4766-A295-B82CB1E284E8}"/>
              </a:ext>
            </a:extLst>
          </p:cNvPr>
          <p:cNvSpPr>
            <a:spLocks xmlns:a="http://schemas.openxmlformats.org/drawingml/2006/main" noGrp="1"/>
          </p:cNvSpPr>
          <p:nvPr/>
        </p:nvSpPr>
        <p:spPr>
          <a:xfrm xmlns:a="http://schemas.openxmlformats.org/drawingml/2006/main">
            <a:off x="8867775" y="48577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725" b="0">
                <a:solidFill>
                  <a:srgbClr val="61716F"/>
                </a:solidFill>
                <a:latin typeface="Segoe UI"/>
                <a:ea typeface="Segoe UI"/>
                <a:cs typeface="Segoe UI"/>
              </a:defRPr>
            </a:defPPr>
            <a:lvl1pPr algn="l">
              <a:defRPr sz="1725" b="0">
                <a:solidFill>
                  <a:srgbClr val="61716F"/>
                </a:solidFill>
                <a:latin typeface="Segoe UI"/>
                <a:ea typeface="Segoe UI"/>
                <a:cs typeface="Segoe UI"/>
              </a:defRPr>
            </a:lvl1pPr>
            <a:lvl2pPr algn="l">
              <a:defRPr sz="1725" b="0">
                <a:solidFill>
                  <a:srgbClr val="61716F"/>
                </a:solidFill>
                <a:latin typeface="Segoe UI"/>
                <a:ea typeface="Segoe UI"/>
                <a:cs typeface="Segoe UI"/>
              </a:defRPr>
            </a:lvl2pPr>
            <a:lvl3pPr algn="l">
              <a:defRPr sz="1725" b="0">
                <a:solidFill>
                  <a:srgbClr val="61716F"/>
                </a:solidFill>
                <a:latin typeface="Segoe UI"/>
                <a:ea typeface="Segoe UI"/>
                <a:cs typeface="Segoe UI"/>
              </a:defRPr>
            </a:lvl3pPr>
            <a:lvl4pPr algn="l">
              <a:defRPr sz="1725" b="0">
                <a:solidFill>
                  <a:srgbClr val="61716F"/>
                </a:solidFill>
                <a:latin typeface="Segoe UI"/>
                <a:ea typeface="Segoe UI"/>
                <a:cs typeface="Segoe UI"/>
              </a:defRPr>
            </a:lvl4pPr>
            <a:lvl5pPr algn="l">
              <a:defRPr sz="1725" b="0">
                <a:solidFill>
                  <a:srgbClr val="61716F"/>
                </a:solidFill>
                <a:latin typeface="Segoe UI"/>
                <a:ea typeface="Segoe UI"/>
                <a:cs typeface="Segoe UI"/>
              </a:defRPr>
            </a:lvl5pPr>
            <a:lvl6pPr algn="l">
              <a:defRPr sz="1725" b="0">
                <a:solidFill>
                  <a:srgbClr val="61716F"/>
                </a:solidFill>
                <a:latin typeface="Segoe UI"/>
                <a:ea typeface="Segoe UI"/>
                <a:cs typeface="Segoe UI"/>
              </a:defRPr>
            </a:lvl6pPr>
            <a:lvl7pPr algn="l">
              <a:defRPr sz="1725" b="0">
                <a:solidFill>
                  <a:srgbClr val="61716F"/>
                </a:solidFill>
                <a:latin typeface="Segoe UI"/>
                <a:ea typeface="Segoe UI"/>
                <a:cs typeface="Segoe UI"/>
              </a:defRPr>
            </a:lvl7pPr>
            <a:lvl8pPr algn="l">
              <a:defRPr sz="1725" b="0">
                <a:solidFill>
                  <a:srgbClr val="61716F"/>
                </a:solidFill>
                <a:latin typeface="Segoe UI"/>
                <a:ea typeface="Segoe UI"/>
                <a:cs typeface="Segoe UI"/>
              </a:defRPr>
            </a:lvl8pPr>
            <a:lvl9pPr algn="l">
              <a:defRPr sz="1725" b="0">
                <a:solidFill>
                  <a:srgbClr val="61716F"/>
                </a:solidFill>
                <a:latin typeface="Segoe UI"/>
                <a:ea typeface="Segoe UI"/>
                <a:cs typeface="Segoe UI"/>
              </a:defRPr>
            </a:lvl9pPr>
          </a:lstStyle>
          <a:p xmlns:a="http://schemas.openxmlformats.org/drawingml/2006/main">
            <a:pPr algn="l">
              <a:defRPr sz="1725" b="0">
                <a:solidFill>
                  <a:srgbClr val="61716F"/>
                </a:solidFill>
                <a:latin typeface="Segoe UI"/>
                <a:ea typeface="Segoe UI"/>
                <a:cs typeface="Segoe UI"/>
              </a:defRPr>
            </a:pPr>
            <a:r>
              <a:rPr sz="1725" b="0">
                <a:solidFill>
                  <a:srgbClr val="61716F"/>
                </a:solidFill>
                <a:latin typeface="Segoe UI"/>
                <a:ea typeface="Segoe UI"/>
                <a:cs typeface="Segoe UI"/>
              </a:rPr>
              <a:t>BB12001, 8 luồng</a:t>
            </a:r>
          </a:p>
        </p:txBody>
      </p:sp>
      <p:sp>
        <p:nvSpPr>
          <p:cNvPr id="9" name="Tải công việc và chi phí đồng bộ ảnh hưởng hiệu quả song song">
            <a:extLst xmlns:a="http://schemas.openxmlformats.org/drawingml/2006/main">
              <a:ext uri="{FF2B5EF4-FFF2-40B4-BE49-F238E27FC236}">
                <a16:creationId xmlns:a16="http://schemas.microsoft.com/office/drawing/2014/main" id="{49FCF778-7352-4D8E-93AC-E28E8FFD062F}"/>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Tải công việc và chi phí đồng bộ ảnh hưởng hiệu quả song song</a:t>
            </a:r>
          </a:p>
        </p:txBody>
      </p:sp>
      <p:sp>
        <p:nvSpPr>
          <p:cNvPr id="10" name="Nguồn: benchmark_summary.csv, nhóm Scalability">
            <a:extLst xmlns:a="http://schemas.openxmlformats.org/drawingml/2006/main">
              <a:ext uri="{FF2B5EF4-FFF2-40B4-BE49-F238E27FC236}">
                <a16:creationId xmlns:a16="http://schemas.microsoft.com/office/drawing/2014/main" id="{08B9C78D-06E1-4195-85D5-842BC325960E}"/>
              </a:ext>
            </a:extLst>
          </p:cNvPr>
          <p:cNvSpPr>
            <a:spLocks xmlns:a="http://schemas.openxmlformats.org/drawingml/2006/main" noGrp="1"/>
          </p:cNvSpPr>
          <p:nvPr/>
        </p:nvSpPr>
        <p:spPr>
          <a:xfrm xmlns:a="http://schemas.openxmlformats.org/drawingml/2006/main">
            <a:off x="762000" y="62865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61716F"/>
                </a:solidFill>
                <a:latin typeface="Segoe UI"/>
                <a:ea typeface="Segoe UI"/>
                <a:cs typeface="Segoe UI"/>
              </a:defRPr>
            </a:defPPr>
            <a:lvl1pPr algn="l">
              <a:defRPr sz="1200" b="0">
                <a:solidFill>
                  <a:srgbClr val="61716F"/>
                </a:solidFill>
                <a:latin typeface="Segoe UI"/>
                <a:ea typeface="Segoe UI"/>
                <a:cs typeface="Segoe UI"/>
              </a:defRPr>
            </a:lvl1pPr>
            <a:lvl2pPr algn="l">
              <a:defRPr sz="1200" b="0">
                <a:solidFill>
                  <a:srgbClr val="61716F"/>
                </a:solidFill>
                <a:latin typeface="Segoe UI"/>
                <a:ea typeface="Segoe UI"/>
                <a:cs typeface="Segoe UI"/>
              </a:defRPr>
            </a:lvl2pPr>
            <a:lvl3pPr algn="l">
              <a:defRPr sz="1200" b="0">
                <a:solidFill>
                  <a:srgbClr val="61716F"/>
                </a:solidFill>
                <a:latin typeface="Segoe UI"/>
                <a:ea typeface="Segoe UI"/>
                <a:cs typeface="Segoe UI"/>
              </a:defRPr>
            </a:lvl3pPr>
            <a:lvl4pPr algn="l">
              <a:defRPr sz="1200" b="0">
                <a:solidFill>
                  <a:srgbClr val="61716F"/>
                </a:solidFill>
                <a:latin typeface="Segoe UI"/>
                <a:ea typeface="Segoe UI"/>
                <a:cs typeface="Segoe UI"/>
              </a:defRPr>
            </a:lvl4pPr>
            <a:lvl5pPr algn="l">
              <a:defRPr sz="1200" b="0">
                <a:solidFill>
                  <a:srgbClr val="61716F"/>
                </a:solidFill>
                <a:latin typeface="Segoe UI"/>
                <a:ea typeface="Segoe UI"/>
                <a:cs typeface="Segoe UI"/>
              </a:defRPr>
            </a:lvl5pPr>
            <a:lvl6pPr algn="l">
              <a:defRPr sz="1200" b="0">
                <a:solidFill>
                  <a:srgbClr val="61716F"/>
                </a:solidFill>
                <a:latin typeface="Segoe UI"/>
                <a:ea typeface="Segoe UI"/>
                <a:cs typeface="Segoe UI"/>
              </a:defRPr>
            </a:lvl6pPr>
            <a:lvl7pPr algn="l">
              <a:defRPr sz="1200" b="0">
                <a:solidFill>
                  <a:srgbClr val="61716F"/>
                </a:solidFill>
                <a:latin typeface="Segoe UI"/>
                <a:ea typeface="Segoe UI"/>
                <a:cs typeface="Segoe UI"/>
              </a:defRPr>
            </a:lvl7pPr>
            <a:lvl8pPr algn="l">
              <a:defRPr sz="1200" b="0">
                <a:solidFill>
                  <a:srgbClr val="61716F"/>
                </a:solidFill>
                <a:latin typeface="Segoe UI"/>
                <a:ea typeface="Segoe UI"/>
                <a:cs typeface="Segoe UI"/>
              </a:defRPr>
            </a:lvl8pPr>
            <a:lvl9pPr algn="l">
              <a:defRPr sz="1200" b="0">
                <a:solidFill>
                  <a:srgbClr val="61716F"/>
                </a:solidFill>
                <a:latin typeface="Segoe UI"/>
                <a:ea typeface="Segoe UI"/>
                <a:cs typeface="Segoe UI"/>
              </a:defRPr>
            </a:lvl9pPr>
          </a:lstStyle>
          <a:p xmlns:a="http://schemas.openxmlformats.org/drawingml/2006/main">
            <a:pPr algn="l">
              <a:defRPr sz="1200" b="0">
                <a:solidFill>
                  <a:srgbClr val="61716F"/>
                </a:solidFill>
                <a:latin typeface="Segoe UI"/>
                <a:ea typeface="Segoe UI"/>
                <a:cs typeface="Segoe UI"/>
              </a:defRPr>
            </a:pPr>
            <a:r>
              <a:rPr sz="1200" b="0">
                <a:solidFill>
                  <a:srgbClr val="61716F"/>
                </a:solidFill>
                <a:latin typeface="Segoe UI"/>
                <a:ea typeface="Segoe UI"/>
                <a:cs typeface="Segoe UI"/>
              </a:rPr>
              <a:t>Nguồn: benchmark_summary.csv, nhóm Scalability</a:t>
            </a:r>
          </a:p>
        </p:txBody>
      </p:sp>
    </p:spTree>
    <p:extLst>
      <p:ext uri="{BB962C8B-B14F-4D97-AF65-F5344CB8AC3E}">
        <p14:creationId xmlns:p14="http://schemas.microsoft.com/office/powerpoint/2010/main" val="1272517492"/>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22">
            <a:extLst xmlns:a="http://schemas.openxmlformats.org/drawingml/2006/main">
              <a:ext uri="{FF2B5EF4-FFF2-40B4-BE49-F238E27FC236}">
                <a16:creationId xmlns:a16="http://schemas.microsoft.com/office/drawing/2014/main" id="{190E1637-658B-4510-A24B-AA157E28A641}"/>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22</a:t>
            </a:r>
          </a:p>
        </p:txBody>
      </p:sp>
      <p:sp>
        <p:nvSpPr>
          <p:cNvPr id="2" name="Chất lượng căn chỉnh theo dữ liệu chuẩn">
            <a:extLst xmlns:a="http://schemas.openxmlformats.org/drawingml/2006/main">
              <a:ext uri="{FF2B5EF4-FFF2-40B4-BE49-F238E27FC236}">
                <a16:creationId xmlns:a16="http://schemas.microsoft.com/office/drawing/2014/main" id="{0453F032-4E7D-4059-BE8D-707A1B5FC722}"/>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Chất lượng căn chỉnh theo dữ liệu chuẩn</a:t>
            </a:r>
          </a:p>
        </p:txBody>
      </p:sp>
      <p:sp>
        <p:nvSpPr>
          <p:cNvPr id="3" name="SP: đúng các cặp residue. TC: đúng toàn cột theo phép chấm của dự án">
            <a:extLst xmlns:a="http://schemas.openxmlformats.org/drawingml/2006/main">
              <a:ext uri="{FF2B5EF4-FFF2-40B4-BE49-F238E27FC236}">
                <a16:creationId xmlns:a16="http://schemas.microsoft.com/office/drawing/2014/main" id="{2482E71E-95F1-4F53-AE2B-088D78B6DD74}"/>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SP: đúng các cặp residue. TC: đúng toàn cột theo phép chấm của dự án</a:t>
            </a:r>
          </a:p>
        </p:txBody>
      </p:sp>
      <p:graphicFrame>
        <p:nvGraphicFramePr>
          <p:cNvPr id="4" name="">
            <a:extLst xmlns:a="http://schemas.openxmlformats.org/drawingml/2006/main">
              <a:ext uri="{FF2B5EF4-FFF2-40B4-BE49-F238E27FC236}">
                <a16:creationId xmlns:a16="http://schemas.microsoft.com/office/drawing/2014/main" id="{E762AB03-9FAA-4DA8-89E5-F307F042E560}"/>
              </a:ext>
            </a:extLst>
          </p:cNvPr>
          <p:cNvGraphicFramePr/>
          <p:nvPr/>
        </p:nvGraphicFramePr>
        <p:xfrm>
          <a:off xmlns:a="http://schemas.openxmlformats.org/drawingml/2006/main" x="762000" y="2390775"/>
          <a:ext xmlns:a="http://schemas.openxmlformats.org/drawingml/2006/main" cx="10668000" cy="2647950"/>
        </p:xfrm>
        <a:graphic xmlns:a="http://schemas.openxmlformats.org/drawingml/2006/main">
          <a:graphicData uri="http://schemas.openxmlformats.org/drawingml/2006/table">
            <a:tbl>
              <a:tblPr firstRow="0" firstCol="0" bandRow="0"/>
              <a:tblGrid>
                <a:gridCol w="4953000"/>
                <a:gridCol w="2857500"/>
                <a:gridCol w="2857500"/>
              </a:tblGrid>
              <a:tr h="661988">
                <a:tc>
                  <a:txBody>
                    <a:bodyPr anchor="ctr"/>
                    <a:lstStyle/>
                    <a:p>
                      <a:pPr algn="ctr"/>
                      <a:r>
                        <a:rPr sz="2475" b="1">
                          <a:solidFill>
                            <a:srgbClr val="147D78"/>
                          </a:solidFill>
                          <a:latin typeface="Segoe UI"/>
                          <a:ea typeface="Segoe UI"/>
                          <a:cs typeface="Segoe UI"/>
                        </a:rPr>
                        <a:t>Bộ dữ liệu</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475" b="1">
                          <a:solidFill>
                            <a:srgbClr val="147D78"/>
                          </a:solidFill>
                          <a:latin typeface="Segoe UI"/>
                          <a:ea typeface="Segoe UI"/>
                          <a:cs typeface="Segoe UI"/>
                        </a:rPr>
                        <a:t>SP</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2475" b="1">
                          <a:solidFill>
                            <a:srgbClr val="147D78"/>
                          </a:solidFill>
                          <a:latin typeface="Segoe UI"/>
                          <a:ea typeface="Segoe UI"/>
                          <a:cs typeface="Segoe UI"/>
                        </a:rPr>
                        <a:t>TC</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661988">
                <a:tc>
                  <a:txBody>
                    <a:bodyPr anchor="ctr"/>
                    <a:lstStyle/>
                    <a:p>
                      <a:pPr algn="ctr"/>
                      <a:r>
                        <a:rPr sz="2475">
                          <a:solidFill>
                            <a:srgbClr val="142D3B"/>
                          </a:solidFill>
                          <a:latin typeface="Segoe UI"/>
                          <a:ea typeface="Segoe UI"/>
                          <a:cs typeface="Segoe UI"/>
                        </a:rPr>
                        <a:t>BB11001</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475">
                          <a:solidFill>
                            <a:srgbClr val="142D3B"/>
                          </a:solidFill>
                          <a:latin typeface="Segoe UI"/>
                          <a:ea typeface="Segoe UI"/>
                          <a:cs typeface="Segoe UI"/>
                        </a:rPr>
                        <a:t>98,2%</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475">
                          <a:solidFill>
                            <a:srgbClr val="142D3B"/>
                          </a:solidFill>
                          <a:latin typeface="Segoe UI"/>
                          <a:ea typeface="Segoe UI"/>
                          <a:cs typeface="Segoe UI"/>
                        </a:rPr>
                        <a:t>96,5%</a:t>
                      </a:r>
                    </a:p>
                  </a:txBody>
                  <a:tcPr marL="76200" marR="76200" marT="57150" marB="57150" anchor="ctr">
                    <a:lnR w="9525">
                      <a:solidFill>
                        <a:srgbClr val="D7DED6"/>
                      </a:solidFill>
                    </a:lnR>
                    <a:lnB w="9525">
                      <a:solidFill>
                        <a:srgbClr val="D7DED6"/>
                      </a:solidFill>
                    </a:lnB>
                    <a:solidFill>
                      <a:srgbClr val="F7F5EF"/>
                    </a:solidFill>
                  </a:tcPr>
                </a:tc>
              </a:tr>
              <a:tr h="661988">
                <a:tc>
                  <a:txBody>
                    <a:bodyPr anchor="ctr"/>
                    <a:lstStyle/>
                    <a:p>
                      <a:pPr algn="ctr"/>
                      <a:r>
                        <a:rPr sz="2475">
                          <a:solidFill>
                            <a:srgbClr val="142D3B"/>
                          </a:solidFill>
                          <a:latin typeface="Segoe UI"/>
                          <a:ea typeface="Segoe UI"/>
                          <a:cs typeface="Segoe UI"/>
                        </a:rPr>
                        <a:t>BB12003</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475">
                          <a:solidFill>
                            <a:srgbClr val="142D3B"/>
                          </a:solidFill>
                          <a:latin typeface="Segoe UI"/>
                          <a:ea typeface="Segoe UI"/>
                          <a:cs typeface="Segoe UI"/>
                        </a:rPr>
                        <a:t>93,0%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475">
                          <a:solidFill>
                            <a:srgbClr val="142D3B"/>
                          </a:solidFill>
                          <a:latin typeface="Segoe UI"/>
                          <a:ea typeface="Segoe UI"/>
                          <a:cs typeface="Segoe UI"/>
                        </a:rPr>
                        <a:t>83,8%</a:t>
                      </a:r>
                    </a:p>
                  </a:txBody>
                  <a:tcPr marL="76200" marR="76200" marT="57150" marB="57150" anchor="ctr">
                    <a:lnR w="9525">
                      <a:solidFill>
                        <a:srgbClr val="D7DED6"/>
                      </a:solidFill>
                    </a:lnR>
                    <a:lnB w="9525">
                      <a:solidFill>
                        <a:srgbClr val="D7DED6"/>
                      </a:solidFill>
                    </a:lnB>
                    <a:solidFill>
                      <a:srgbClr val="F7F5EF"/>
                    </a:solidFill>
                  </a:tcPr>
                </a:tc>
              </a:tr>
              <a:tr h="661988">
                <a:tc>
                  <a:txBody>
                    <a:bodyPr anchor="ctr"/>
                    <a:lstStyle/>
                    <a:p>
                      <a:pPr algn="ctr"/>
                      <a:r>
                        <a:rPr sz="2475">
                          <a:solidFill>
                            <a:srgbClr val="142D3B"/>
                          </a:solidFill>
                          <a:latin typeface="Segoe UI"/>
                          <a:ea typeface="Segoe UI"/>
                          <a:cs typeface="Segoe UI"/>
                        </a:rPr>
                        <a:t>BB20003</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2475">
                          <a:solidFill>
                            <a:srgbClr val="142D3B"/>
                          </a:solidFill>
                          <a:latin typeface="Segoe UI"/>
                          <a:ea typeface="Segoe UI"/>
                          <a:cs typeface="Segoe UI"/>
                        </a:rPr>
                        <a:t>92,0%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2475">
                          <a:solidFill>
                            <a:srgbClr val="142D3B"/>
                          </a:solidFill>
                          <a:latin typeface="Segoe UI"/>
                          <a:ea typeface="Segoe UI"/>
                          <a:cs typeface="Segoe UI"/>
                        </a:rPr>
                        <a:t>0,0%</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SP cao vẫn có thể đi cùng TC thấp">
            <a:extLst xmlns:a="http://schemas.openxmlformats.org/drawingml/2006/main">
              <a:ext uri="{FF2B5EF4-FFF2-40B4-BE49-F238E27FC236}">
                <a16:creationId xmlns:a16="http://schemas.microsoft.com/office/drawing/2014/main" id="{5682C9BD-7A5A-45B3-8344-A1A1419AD835}"/>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SP cao vẫn có thể đi cùng TC thấp</a:t>
            </a:r>
          </a:p>
        </p:txBody>
      </p:sp>
      <p:sp>
        <p:nvSpPr>
          <p:cNvPr id="6" name="Nguồn: nhóm BAliBASE_Accuracy, không trộn với nhóm Scalability">
            <a:extLst xmlns:a="http://schemas.openxmlformats.org/drawingml/2006/main">
              <a:ext uri="{FF2B5EF4-FFF2-40B4-BE49-F238E27FC236}">
                <a16:creationId xmlns:a16="http://schemas.microsoft.com/office/drawing/2014/main" id="{9F53263A-5260-4F95-86A0-05A5A58DBCFC}"/>
              </a:ext>
            </a:extLst>
          </p:cNvPr>
          <p:cNvSpPr>
            <a:spLocks xmlns:a="http://schemas.openxmlformats.org/drawingml/2006/main" noGrp="1"/>
          </p:cNvSpPr>
          <p:nvPr/>
        </p:nvSpPr>
        <p:spPr>
          <a:xfrm xmlns:a="http://schemas.openxmlformats.org/drawingml/2006/main">
            <a:off x="762000" y="62865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61716F"/>
                </a:solidFill>
                <a:latin typeface="Segoe UI"/>
                <a:ea typeface="Segoe UI"/>
                <a:cs typeface="Segoe UI"/>
              </a:defRPr>
            </a:defPPr>
            <a:lvl1pPr algn="l">
              <a:defRPr sz="1200" b="0">
                <a:solidFill>
                  <a:srgbClr val="61716F"/>
                </a:solidFill>
                <a:latin typeface="Segoe UI"/>
                <a:ea typeface="Segoe UI"/>
                <a:cs typeface="Segoe UI"/>
              </a:defRPr>
            </a:lvl1pPr>
            <a:lvl2pPr algn="l">
              <a:defRPr sz="1200" b="0">
                <a:solidFill>
                  <a:srgbClr val="61716F"/>
                </a:solidFill>
                <a:latin typeface="Segoe UI"/>
                <a:ea typeface="Segoe UI"/>
                <a:cs typeface="Segoe UI"/>
              </a:defRPr>
            </a:lvl2pPr>
            <a:lvl3pPr algn="l">
              <a:defRPr sz="1200" b="0">
                <a:solidFill>
                  <a:srgbClr val="61716F"/>
                </a:solidFill>
                <a:latin typeface="Segoe UI"/>
                <a:ea typeface="Segoe UI"/>
                <a:cs typeface="Segoe UI"/>
              </a:defRPr>
            </a:lvl3pPr>
            <a:lvl4pPr algn="l">
              <a:defRPr sz="1200" b="0">
                <a:solidFill>
                  <a:srgbClr val="61716F"/>
                </a:solidFill>
                <a:latin typeface="Segoe UI"/>
                <a:ea typeface="Segoe UI"/>
                <a:cs typeface="Segoe UI"/>
              </a:defRPr>
            </a:lvl4pPr>
            <a:lvl5pPr algn="l">
              <a:defRPr sz="1200" b="0">
                <a:solidFill>
                  <a:srgbClr val="61716F"/>
                </a:solidFill>
                <a:latin typeface="Segoe UI"/>
                <a:ea typeface="Segoe UI"/>
                <a:cs typeface="Segoe UI"/>
              </a:defRPr>
            </a:lvl5pPr>
            <a:lvl6pPr algn="l">
              <a:defRPr sz="1200" b="0">
                <a:solidFill>
                  <a:srgbClr val="61716F"/>
                </a:solidFill>
                <a:latin typeface="Segoe UI"/>
                <a:ea typeface="Segoe UI"/>
                <a:cs typeface="Segoe UI"/>
              </a:defRPr>
            </a:lvl6pPr>
            <a:lvl7pPr algn="l">
              <a:defRPr sz="1200" b="0">
                <a:solidFill>
                  <a:srgbClr val="61716F"/>
                </a:solidFill>
                <a:latin typeface="Segoe UI"/>
                <a:ea typeface="Segoe UI"/>
                <a:cs typeface="Segoe UI"/>
              </a:defRPr>
            </a:lvl7pPr>
            <a:lvl8pPr algn="l">
              <a:defRPr sz="1200" b="0">
                <a:solidFill>
                  <a:srgbClr val="61716F"/>
                </a:solidFill>
                <a:latin typeface="Segoe UI"/>
                <a:ea typeface="Segoe UI"/>
                <a:cs typeface="Segoe UI"/>
              </a:defRPr>
            </a:lvl8pPr>
            <a:lvl9pPr algn="l">
              <a:defRPr sz="1200" b="0">
                <a:solidFill>
                  <a:srgbClr val="61716F"/>
                </a:solidFill>
                <a:latin typeface="Segoe UI"/>
                <a:ea typeface="Segoe UI"/>
                <a:cs typeface="Segoe UI"/>
              </a:defRPr>
            </a:lvl9pPr>
          </a:lstStyle>
          <a:p xmlns:a="http://schemas.openxmlformats.org/drawingml/2006/main">
            <a:pPr algn="l">
              <a:defRPr sz="1200" b="0">
                <a:solidFill>
                  <a:srgbClr val="61716F"/>
                </a:solidFill>
                <a:latin typeface="Segoe UI"/>
                <a:ea typeface="Segoe UI"/>
                <a:cs typeface="Segoe UI"/>
              </a:defRPr>
            </a:pPr>
            <a:r>
              <a:rPr sz="1200" b="0">
                <a:solidFill>
                  <a:srgbClr val="61716F"/>
                </a:solidFill>
                <a:latin typeface="Segoe UI"/>
                <a:ea typeface="Segoe UI"/>
                <a:cs typeface="Segoe UI"/>
              </a:rPr>
              <a:t>Nguồn: nhóm BAliBASE_Accuracy, không trộn với nhóm Scalability</a:t>
            </a:r>
          </a:p>
        </p:txBody>
      </p:sp>
    </p:spTree>
    <p:extLst>
      <p:ext uri="{BB962C8B-B14F-4D97-AF65-F5344CB8AC3E}">
        <p14:creationId xmlns:p14="http://schemas.microsoft.com/office/powerpoint/2010/main" val="262543395"/>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23">
            <a:extLst xmlns:a="http://schemas.openxmlformats.org/drawingml/2006/main">
              <a:ext uri="{FF2B5EF4-FFF2-40B4-BE49-F238E27FC236}">
                <a16:creationId xmlns:a16="http://schemas.microsoft.com/office/drawing/2014/main" id="{D09634A5-492D-4E73-8A80-60F4593D3D62}"/>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23</a:t>
            </a:r>
          </a:p>
        </p:txBody>
      </p:sp>
      <p:sp>
        <p:nvSpPr>
          <p:cNvPr id="2" name="Demo: từ chuỗi đầu vào đến căn chỉnh">
            <a:extLst xmlns:a="http://schemas.openxmlformats.org/drawingml/2006/main">
              <a:ext uri="{FF2B5EF4-FFF2-40B4-BE49-F238E27FC236}">
                <a16:creationId xmlns:a16="http://schemas.microsoft.com/office/drawing/2014/main" id="{782D21AC-88E4-4F29-B3F7-FBB6FF0C41E2}"/>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Demo: từ chuỗi đầu vào đến căn chỉnh</a:t>
            </a:r>
          </a:p>
        </p:txBody>
      </p:sp>
      <p:sp>
        <p:nvSpPr>
          <p:cNvPr id="3" name="2 phút trên Web GUI, dùng Hemoglobin để theo dõi các hàng kết quả">
            <a:extLst xmlns:a="http://schemas.openxmlformats.org/drawingml/2006/main">
              <a:ext uri="{FF2B5EF4-FFF2-40B4-BE49-F238E27FC236}">
                <a16:creationId xmlns:a16="http://schemas.microsoft.com/office/drawing/2014/main" id="{40E2E91F-2B63-4AA3-B459-04EC077BAB92}"/>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2 phút trên Web GUI, dùng Hemoglobin để theo dõi các hàng kết quả</a:t>
            </a:r>
          </a:p>
        </p:txBody>
      </p:sp>
      <p:pic>
        <p:nvPicPr>
          <p:cNvPr id="4" name="">
            <a:extLst xmlns:a="http://schemas.openxmlformats.org/drawingml/2006/main">
              <a:ext uri="{FF2B5EF4-FFF2-40B4-BE49-F238E27FC236}">
                <a16:creationId xmlns:a16="http://schemas.microsoft.com/office/drawing/2014/main" id="{F734D4F4-FE38-4D18-88CB-6E41433F219E}"/>
              </a:ext>
            </a:extLst>
          </p:cNvPr>
          <p:cNvPicPr>
            <a:picLocks xmlns:a="http://schemas.openxmlformats.org/drawingml/2006/main" noChangeAspect="1"/>
          </p:cNvPicPr>
          <p:nvPr/>
        </p:nvPicPr>
        <p:blipFill>
          <a:blip xmlns:r="http://schemas.openxmlformats.org/officeDocument/2006/relationships" xmlns:a="http://schemas.openxmlformats.org/drawingml/2006/main" r:embed="R19ca6511e91f46cc"/>
          <a:stretch xmlns:a="http://schemas.openxmlformats.org/drawingml/2006/main"/>
        </p:blipFill>
        <p:spPr>
          <a:xfrm xmlns:a="http://schemas.openxmlformats.org/drawingml/2006/main">
            <a:off x="762000" y="2346750"/>
            <a:ext cx="7620000" cy="3898049"/>
          </a:xfrm>
          <a:prstGeom xmlns:a="http://schemas.openxmlformats.org/drawingml/2006/main" prst="rect">
            <a:avLst/>
          </a:prstGeom>
        </p:spPr>
      </p:pic>
      <p:sp>
        <p:nvSpPr>
          <p:cNvPr id="5" name="1. Chọn Hemoglobin">
            <a:extLst xmlns:a="http://schemas.openxmlformats.org/drawingml/2006/main">
              <a:ext uri="{FF2B5EF4-FFF2-40B4-BE49-F238E27FC236}">
                <a16:creationId xmlns:a16="http://schemas.microsoft.com/office/drawing/2014/main" id="{75037235-EDA5-4F6F-A118-9EEE7EF54BEA}"/>
              </a:ext>
            </a:extLst>
          </p:cNvPr>
          <p:cNvSpPr>
            <a:spLocks xmlns:a="http://schemas.openxmlformats.org/drawingml/2006/main" noGrp="1"/>
          </p:cNvSpPr>
          <p:nvPr/>
        </p:nvSpPr>
        <p:spPr>
          <a:xfrm xmlns:a="http://schemas.openxmlformats.org/drawingml/2006/main">
            <a:off x="8763000" y="24574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142D3B"/>
                </a:solidFill>
                <a:latin typeface="Segoe UI"/>
                <a:ea typeface="Segoe UI"/>
                <a:cs typeface="Segoe UI"/>
              </a:defRPr>
            </a:defPPr>
            <a:lvl1pPr algn="l">
              <a:defRPr sz="1800" b="0">
                <a:solidFill>
                  <a:srgbClr val="142D3B"/>
                </a:solidFill>
                <a:latin typeface="Segoe UI"/>
                <a:ea typeface="Segoe UI"/>
                <a:cs typeface="Segoe UI"/>
              </a:defRPr>
            </a:lvl1pPr>
            <a:lvl2pPr algn="l">
              <a:defRPr sz="1800" b="0">
                <a:solidFill>
                  <a:srgbClr val="142D3B"/>
                </a:solidFill>
                <a:latin typeface="Segoe UI"/>
                <a:ea typeface="Segoe UI"/>
                <a:cs typeface="Segoe UI"/>
              </a:defRPr>
            </a:lvl2pPr>
            <a:lvl3pPr algn="l">
              <a:defRPr sz="1800" b="0">
                <a:solidFill>
                  <a:srgbClr val="142D3B"/>
                </a:solidFill>
                <a:latin typeface="Segoe UI"/>
                <a:ea typeface="Segoe UI"/>
                <a:cs typeface="Segoe UI"/>
              </a:defRPr>
            </a:lvl3pPr>
            <a:lvl4pPr algn="l">
              <a:defRPr sz="1800" b="0">
                <a:solidFill>
                  <a:srgbClr val="142D3B"/>
                </a:solidFill>
                <a:latin typeface="Segoe UI"/>
                <a:ea typeface="Segoe UI"/>
                <a:cs typeface="Segoe UI"/>
              </a:defRPr>
            </a:lvl4pPr>
            <a:lvl5pPr algn="l">
              <a:defRPr sz="1800" b="0">
                <a:solidFill>
                  <a:srgbClr val="142D3B"/>
                </a:solidFill>
                <a:latin typeface="Segoe UI"/>
                <a:ea typeface="Segoe UI"/>
                <a:cs typeface="Segoe UI"/>
              </a:defRPr>
            </a:lvl5pPr>
            <a:lvl6pPr algn="l">
              <a:defRPr sz="1800" b="0">
                <a:solidFill>
                  <a:srgbClr val="142D3B"/>
                </a:solidFill>
                <a:latin typeface="Segoe UI"/>
                <a:ea typeface="Segoe UI"/>
                <a:cs typeface="Segoe UI"/>
              </a:defRPr>
            </a:lvl6pPr>
            <a:lvl7pPr algn="l">
              <a:defRPr sz="1800" b="0">
                <a:solidFill>
                  <a:srgbClr val="142D3B"/>
                </a:solidFill>
                <a:latin typeface="Segoe UI"/>
                <a:ea typeface="Segoe UI"/>
                <a:cs typeface="Segoe UI"/>
              </a:defRPr>
            </a:lvl7pPr>
            <a:lvl8pPr algn="l">
              <a:defRPr sz="1800" b="0">
                <a:solidFill>
                  <a:srgbClr val="142D3B"/>
                </a:solidFill>
                <a:latin typeface="Segoe UI"/>
                <a:ea typeface="Segoe UI"/>
                <a:cs typeface="Segoe UI"/>
              </a:defRPr>
            </a:lvl8pPr>
            <a:lvl9pPr algn="l">
              <a:defRPr sz="1800" b="0">
                <a:solidFill>
                  <a:srgbClr val="142D3B"/>
                </a:solidFill>
                <a:latin typeface="Segoe UI"/>
                <a:ea typeface="Segoe UI"/>
                <a:cs typeface="Segoe UI"/>
              </a:defRPr>
            </a:lvl9pPr>
          </a:lstStyle>
          <a:p xmlns:a="http://schemas.openxmlformats.org/drawingml/2006/main">
            <a:pPr algn="l">
              <a:defRPr sz="1800" b="0">
                <a:solidFill>
                  <a:srgbClr val="142D3B"/>
                </a:solidFill>
                <a:latin typeface="Segoe UI"/>
                <a:ea typeface="Segoe UI"/>
                <a:cs typeface="Segoe UI"/>
              </a:defRPr>
            </a:pPr>
            <a:r>
              <a:rPr sz="1800" b="0">
                <a:solidFill>
                  <a:srgbClr val="142D3B"/>
                </a:solidFill>
                <a:latin typeface="Segoe UI"/>
                <a:ea typeface="Segoe UI"/>
                <a:cs typeface="Segoe UI"/>
              </a:rPr>
              <a:t>1. Chọn Hemoglobin</a:t>
            </a:r>
          </a:p>
        </p:txBody>
      </p:sp>
      <p:sp>
        <p:nvSpPr>
          <p:cNvPr id="6" name="2. Chạy căn chỉnh">
            <a:extLst xmlns:a="http://schemas.openxmlformats.org/drawingml/2006/main">
              <a:ext uri="{FF2B5EF4-FFF2-40B4-BE49-F238E27FC236}">
                <a16:creationId xmlns:a16="http://schemas.microsoft.com/office/drawing/2014/main" id="{FDF3122E-8747-4C77-AB59-D51F73ED01C6}"/>
              </a:ext>
            </a:extLst>
          </p:cNvPr>
          <p:cNvSpPr>
            <a:spLocks xmlns:a="http://schemas.openxmlformats.org/drawingml/2006/main" noGrp="1"/>
          </p:cNvSpPr>
          <p:nvPr/>
        </p:nvSpPr>
        <p:spPr>
          <a:xfrm xmlns:a="http://schemas.openxmlformats.org/drawingml/2006/main">
            <a:off x="8763000" y="31051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142D3B"/>
                </a:solidFill>
                <a:latin typeface="Segoe UI"/>
                <a:ea typeface="Segoe UI"/>
                <a:cs typeface="Segoe UI"/>
              </a:defRPr>
            </a:defPPr>
            <a:lvl1pPr algn="l">
              <a:defRPr sz="1800" b="0">
                <a:solidFill>
                  <a:srgbClr val="142D3B"/>
                </a:solidFill>
                <a:latin typeface="Segoe UI"/>
                <a:ea typeface="Segoe UI"/>
                <a:cs typeface="Segoe UI"/>
              </a:defRPr>
            </a:lvl1pPr>
            <a:lvl2pPr algn="l">
              <a:defRPr sz="1800" b="0">
                <a:solidFill>
                  <a:srgbClr val="142D3B"/>
                </a:solidFill>
                <a:latin typeface="Segoe UI"/>
                <a:ea typeface="Segoe UI"/>
                <a:cs typeface="Segoe UI"/>
              </a:defRPr>
            </a:lvl2pPr>
            <a:lvl3pPr algn="l">
              <a:defRPr sz="1800" b="0">
                <a:solidFill>
                  <a:srgbClr val="142D3B"/>
                </a:solidFill>
                <a:latin typeface="Segoe UI"/>
                <a:ea typeface="Segoe UI"/>
                <a:cs typeface="Segoe UI"/>
              </a:defRPr>
            </a:lvl3pPr>
            <a:lvl4pPr algn="l">
              <a:defRPr sz="1800" b="0">
                <a:solidFill>
                  <a:srgbClr val="142D3B"/>
                </a:solidFill>
                <a:latin typeface="Segoe UI"/>
                <a:ea typeface="Segoe UI"/>
                <a:cs typeface="Segoe UI"/>
              </a:defRPr>
            </a:lvl4pPr>
            <a:lvl5pPr algn="l">
              <a:defRPr sz="1800" b="0">
                <a:solidFill>
                  <a:srgbClr val="142D3B"/>
                </a:solidFill>
                <a:latin typeface="Segoe UI"/>
                <a:ea typeface="Segoe UI"/>
                <a:cs typeface="Segoe UI"/>
              </a:defRPr>
            </a:lvl5pPr>
            <a:lvl6pPr algn="l">
              <a:defRPr sz="1800" b="0">
                <a:solidFill>
                  <a:srgbClr val="142D3B"/>
                </a:solidFill>
                <a:latin typeface="Segoe UI"/>
                <a:ea typeface="Segoe UI"/>
                <a:cs typeface="Segoe UI"/>
              </a:defRPr>
            </a:lvl6pPr>
            <a:lvl7pPr algn="l">
              <a:defRPr sz="1800" b="0">
                <a:solidFill>
                  <a:srgbClr val="142D3B"/>
                </a:solidFill>
                <a:latin typeface="Segoe UI"/>
                <a:ea typeface="Segoe UI"/>
                <a:cs typeface="Segoe UI"/>
              </a:defRPr>
            </a:lvl7pPr>
            <a:lvl8pPr algn="l">
              <a:defRPr sz="1800" b="0">
                <a:solidFill>
                  <a:srgbClr val="142D3B"/>
                </a:solidFill>
                <a:latin typeface="Segoe UI"/>
                <a:ea typeface="Segoe UI"/>
                <a:cs typeface="Segoe UI"/>
              </a:defRPr>
            </a:lvl8pPr>
            <a:lvl9pPr algn="l">
              <a:defRPr sz="1800" b="0">
                <a:solidFill>
                  <a:srgbClr val="142D3B"/>
                </a:solidFill>
                <a:latin typeface="Segoe UI"/>
                <a:ea typeface="Segoe UI"/>
                <a:cs typeface="Segoe UI"/>
              </a:defRPr>
            </a:lvl9pPr>
          </a:lstStyle>
          <a:p xmlns:a="http://schemas.openxmlformats.org/drawingml/2006/main">
            <a:pPr algn="l">
              <a:defRPr sz="1800" b="0">
                <a:solidFill>
                  <a:srgbClr val="142D3B"/>
                </a:solidFill>
                <a:latin typeface="Segoe UI"/>
                <a:ea typeface="Segoe UI"/>
                <a:cs typeface="Segoe UI"/>
              </a:defRPr>
            </a:pPr>
            <a:r>
              <a:rPr sz="1800" b="0">
                <a:solidFill>
                  <a:srgbClr val="142D3B"/>
                </a:solidFill>
                <a:latin typeface="Segoe UI"/>
                <a:ea typeface="Segoe UI"/>
                <a:cs typeface="Segoe UI"/>
              </a:rPr>
              <a:t>2. Chạy căn chỉnh</a:t>
            </a:r>
          </a:p>
        </p:txBody>
      </p:sp>
      <p:sp>
        <p:nvSpPr>
          <p:cNvPr id="7" name="3. Xem gap và cây">
            <a:extLst xmlns:a="http://schemas.openxmlformats.org/drawingml/2006/main">
              <a:ext uri="{FF2B5EF4-FFF2-40B4-BE49-F238E27FC236}">
                <a16:creationId xmlns:a16="http://schemas.microsoft.com/office/drawing/2014/main" id="{C4D7BBB2-046F-4839-8F9F-59238C5FDCE9}"/>
              </a:ext>
            </a:extLst>
          </p:cNvPr>
          <p:cNvSpPr>
            <a:spLocks xmlns:a="http://schemas.openxmlformats.org/drawingml/2006/main" noGrp="1"/>
          </p:cNvSpPr>
          <p:nvPr/>
        </p:nvSpPr>
        <p:spPr>
          <a:xfrm xmlns:a="http://schemas.openxmlformats.org/drawingml/2006/main">
            <a:off x="8763000" y="37528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142D3B"/>
                </a:solidFill>
                <a:latin typeface="Segoe UI"/>
                <a:ea typeface="Segoe UI"/>
                <a:cs typeface="Segoe UI"/>
              </a:defRPr>
            </a:defPPr>
            <a:lvl1pPr algn="l">
              <a:defRPr sz="1800" b="0">
                <a:solidFill>
                  <a:srgbClr val="142D3B"/>
                </a:solidFill>
                <a:latin typeface="Segoe UI"/>
                <a:ea typeface="Segoe UI"/>
                <a:cs typeface="Segoe UI"/>
              </a:defRPr>
            </a:lvl1pPr>
            <a:lvl2pPr algn="l">
              <a:defRPr sz="1800" b="0">
                <a:solidFill>
                  <a:srgbClr val="142D3B"/>
                </a:solidFill>
                <a:latin typeface="Segoe UI"/>
                <a:ea typeface="Segoe UI"/>
                <a:cs typeface="Segoe UI"/>
              </a:defRPr>
            </a:lvl2pPr>
            <a:lvl3pPr algn="l">
              <a:defRPr sz="1800" b="0">
                <a:solidFill>
                  <a:srgbClr val="142D3B"/>
                </a:solidFill>
                <a:latin typeface="Segoe UI"/>
                <a:ea typeface="Segoe UI"/>
                <a:cs typeface="Segoe UI"/>
              </a:defRPr>
            </a:lvl3pPr>
            <a:lvl4pPr algn="l">
              <a:defRPr sz="1800" b="0">
                <a:solidFill>
                  <a:srgbClr val="142D3B"/>
                </a:solidFill>
                <a:latin typeface="Segoe UI"/>
                <a:ea typeface="Segoe UI"/>
                <a:cs typeface="Segoe UI"/>
              </a:defRPr>
            </a:lvl4pPr>
            <a:lvl5pPr algn="l">
              <a:defRPr sz="1800" b="0">
                <a:solidFill>
                  <a:srgbClr val="142D3B"/>
                </a:solidFill>
                <a:latin typeface="Segoe UI"/>
                <a:ea typeface="Segoe UI"/>
                <a:cs typeface="Segoe UI"/>
              </a:defRPr>
            </a:lvl5pPr>
            <a:lvl6pPr algn="l">
              <a:defRPr sz="1800" b="0">
                <a:solidFill>
                  <a:srgbClr val="142D3B"/>
                </a:solidFill>
                <a:latin typeface="Segoe UI"/>
                <a:ea typeface="Segoe UI"/>
                <a:cs typeface="Segoe UI"/>
              </a:defRPr>
            </a:lvl6pPr>
            <a:lvl7pPr algn="l">
              <a:defRPr sz="1800" b="0">
                <a:solidFill>
                  <a:srgbClr val="142D3B"/>
                </a:solidFill>
                <a:latin typeface="Segoe UI"/>
                <a:ea typeface="Segoe UI"/>
                <a:cs typeface="Segoe UI"/>
              </a:defRPr>
            </a:lvl7pPr>
            <a:lvl8pPr algn="l">
              <a:defRPr sz="1800" b="0">
                <a:solidFill>
                  <a:srgbClr val="142D3B"/>
                </a:solidFill>
                <a:latin typeface="Segoe UI"/>
                <a:ea typeface="Segoe UI"/>
                <a:cs typeface="Segoe UI"/>
              </a:defRPr>
            </a:lvl8pPr>
            <a:lvl9pPr algn="l">
              <a:defRPr sz="1800" b="0">
                <a:solidFill>
                  <a:srgbClr val="142D3B"/>
                </a:solidFill>
                <a:latin typeface="Segoe UI"/>
                <a:ea typeface="Segoe UI"/>
                <a:cs typeface="Segoe UI"/>
              </a:defRPr>
            </a:lvl9pPr>
          </a:lstStyle>
          <a:p xmlns:a="http://schemas.openxmlformats.org/drawingml/2006/main">
            <a:pPr algn="l">
              <a:defRPr sz="1800" b="0">
                <a:solidFill>
                  <a:srgbClr val="142D3B"/>
                </a:solidFill>
                <a:latin typeface="Segoe UI"/>
                <a:ea typeface="Segoe UI"/>
                <a:cs typeface="Segoe UI"/>
              </a:defRPr>
            </a:pPr>
            <a:r>
              <a:rPr sz="1800" b="0">
                <a:solidFill>
                  <a:srgbClr val="142D3B"/>
                </a:solidFill>
                <a:latin typeface="Segoe UI"/>
                <a:ea typeface="Segoe UI"/>
                <a:cs typeface="Segoe UI"/>
              </a:rPr>
              <a:t>3. Xem gap và cây</a:t>
            </a:r>
          </a:p>
        </p:txBody>
      </p:sp>
      <p:sp>
        <p:nvSpPr>
          <p:cNvPr id="8" name="4. Xuất FASTA">
            <a:extLst xmlns:a="http://schemas.openxmlformats.org/drawingml/2006/main">
              <a:ext uri="{FF2B5EF4-FFF2-40B4-BE49-F238E27FC236}">
                <a16:creationId xmlns:a16="http://schemas.microsoft.com/office/drawing/2014/main" id="{93F915D5-D901-435C-B1A8-ADC6753019F4}"/>
              </a:ext>
            </a:extLst>
          </p:cNvPr>
          <p:cNvSpPr>
            <a:spLocks xmlns:a="http://schemas.openxmlformats.org/drawingml/2006/main" noGrp="1"/>
          </p:cNvSpPr>
          <p:nvPr/>
        </p:nvSpPr>
        <p:spPr>
          <a:xfrm xmlns:a="http://schemas.openxmlformats.org/drawingml/2006/main">
            <a:off x="8763000" y="44005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142D3B"/>
                </a:solidFill>
                <a:latin typeface="Segoe UI"/>
                <a:ea typeface="Segoe UI"/>
                <a:cs typeface="Segoe UI"/>
              </a:defRPr>
            </a:defPPr>
            <a:lvl1pPr algn="l">
              <a:defRPr sz="1800" b="0">
                <a:solidFill>
                  <a:srgbClr val="142D3B"/>
                </a:solidFill>
                <a:latin typeface="Segoe UI"/>
                <a:ea typeface="Segoe UI"/>
                <a:cs typeface="Segoe UI"/>
              </a:defRPr>
            </a:lvl1pPr>
            <a:lvl2pPr algn="l">
              <a:defRPr sz="1800" b="0">
                <a:solidFill>
                  <a:srgbClr val="142D3B"/>
                </a:solidFill>
                <a:latin typeface="Segoe UI"/>
                <a:ea typeface="Segoe UI"/>
                <a:cs typeface="Segoe UI"/>
              </a:defRPr>
            </a:lvl2pPr>
            <a:lvl3pPr algn="l">
              <a:defRPr sz="1800" b="0">
                <a:solidFill>
                  <a:srgbClr val="142D3B"/>
                </a:solidFill>
                <a:latin typeface="Segoe UI"/>
                <a:ea typeface="Segoe UI"/>
                <a:cs typeface="Segoe UI"/>
              </a:defRPr>
            </a:lvl3pPr>
            <a:lvl4pPr algn="l">
              <a:defRPr sz="1800" b="0">
                <a:solidFill>
                  <a:srgbClr val="142D3B"/>
                </a:solidFill>
                <a:latin typeface="Segoe UI"/>
                <a:ea typeface="Segoe UI"/>
                <a:cs typeface="Segoe UI"/>
              </a:defRPr>
            </a:lvl4pPr>
            <a:lvl5pPr algn="l">
              <a:defRPr sz="1800" b="0">
                <a:solidFill>
                  <a:srgbClr val="142D3B"/>
                </a:solidFill>
                <a:latin typeface="Segoe UI"/>
                <a:ea typeface="Segoe UI"/>
                <a:cs typeface="Segoe UI"/>
              </a:defRPr>
            </a:lvl5pPr>
            <a:lvl6pPr algn="l">
              <a:defRPr sz="1800" b="0">
                <a:solidFill>
                  <a:srgbClr val="142D3B"/>
                </a:solidFill>
                <a:latin typeface="Segoe UI"/>
                <a:ea typeface="Segoe UI"/>
                <a:cs typeface="Segoe UI"/>
              </a:defRPr>
            </a:lvl6pPr>
            <a:lvl7pPr algn="l">
              <a:defRPr sz="1800" b="0">
                <a:solidFill>
                  <a:srgbClr val="142D3B"/>
                </a:solidFill>
                <a:latin typeface="Segoe UI"/>
                <a:ea typeface="Segoe UI"/>
                <a:cs typeface="Segoe UI"/>
              </a:defRPr>
            </a:lvl7pPr>
            <a:lvl8pPr algn="l">
              <a:defRPr sz="1800" b="0">
                <a:solidFill>
                  <a:srgbClr val="142D3B"/>
                </a:solidFill>
                <a:latin typeface="Segoe UI"/>
                <a:ea typeface="Segoe UI"/>
                <a:cs typeface="Segoe UI"/>
              </a:defRPr>
            </a:lvl8pPr>
            <a:lvl9pPr algn="l">
              <a:defRPr sz="1800" b="0">
                <a:solidFill>
                  <a:srgbClr val="142D3B"/>
                </a:solidFill>
                <a:latin typeface="Segoe UI"/>
                <a:ea typeface="Segoe UI"/>
                <a:cs typeface="Segoe UI"/>
              </a:defRPr>
            </a:lvl9pPr>
          </a:lstStyle>
          <a:p xmlns:a="http://schemas.openxmlformats.org/drawingml/2006/main">
            <a:pPr algn="l">
              <a:defRPr sz="1800" b="0">
                <a:solidFill>
                  <a:srgbClr val="142D3B"/>
                </a:solidFill>
                <a:latin typeface="Segoe UI"/>
                <a:ea typeface="Segoe UI"/>
                <a:cs typeface="Segoe UI"/>
              </a:defRPr>
            </a:pPr>
            <a:r>
              <a:rPr sz="1800" b="0">
                <a:solidFill>
                  <a:srgbClr val="142D3B"/>
                </a:solidFill>
                <a:latin typeface="Segoe UI"/>
                <a:ea typeface="Segoe UI"/>
                <a:cs typeface="Segoe UI"/>
              </a:rPr>
              <a:t>4. Xuất FASTA</a:t>
            </a:r>
          </a:p>
        </p:txBody>
      </p:sp>
      <p:sp>
        <p:nvSpPr>
          <p:cNvPr id="9" name="Ảnh dự phòng: kết quả đã lưu của bộ 40 chuỗi; demo trực tiếp dùng Hemo">
            <a:extLst xmlns:a="http://schemas.openxmlformats.org/drawingml/2006/main">
              <a:ext uri="{FF2B5EF4-FFF2-40B4-BE49-F238E27FC236}">
                <a16:creationId xmlns:a16="http://schemas.microsoft.com/office/drawing/2014/main" id="{27067413-1A03-4599-924A-337B9B87CDFC}"/>
              </a:ext>
            </a:extLst>
          </p:cNvPr>
          <p:cNvSpPr>
            <a:spLocks xmlns:a="http://schemas.openxmlformats.org/drawingml/2006/main" noGrp="1"/>
          </p:cNvSpPr>
          <p:nvPr/>
        </p:nvSpPr>
        <p:spPr>
          <a:xfrm xmlns:a="http://schemas.openxmlformats.org/drawingml/2006/main">
            <a:off x="762000" y="62865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61716F"/>
                </a:solidFill>
                <a:latin typeface="Segoe UI"/>
                <a:ea typeface="Segoe UI"/>
                <a:cs typeface="Segoe UI"/>
              </a:defRPr>
            </a:defPPr>
            <a:lvl1pPr algn="l">
              <a:defRPr sz="1200" b="0">
                <a:solidFill>
                  <a:srgbClr val="61716F"/>
                </a:solidFill>
                <a:latin typeface="Segoe UI"/>
                <a:ea typeface="Segoe UI"/>
                <a:cs typeface="Segoe UI"/>
              </a:defRPr>
            </a:lvl1pPr>
            <a:lvl2pPr algn="l">
              <a:defRPr sz="1200" b="0">
                <a:solidFill>
                  <a:srgbClr val="61716F"/>
                </a:solidFill>
                <a:latin typeface="Segoe UI"/>
                <a:ea typeface="Segoe UI"/>
                <a:cs typeface="Segoe UI"/>
              </a:defRPr>
            </a:lvl2pPr>
            <a:lvl3pPr algn="l">
              <a:defRPr sz="1200" b="0">
                <a:solidFill>
                  <a:srgbClr val="61716F"/>
                </a:solidFill>
                <a:latin typeface="Segoe UI"/>
                <a:ea typeface="Segoe UI"/>
                <a:cs typeface="Segoe UI"/>
              </a:defRPr>
            </a:lvl3pPr>
            <a:lvl4pPr algn="l">
              <a:defRPr sz="1200" b="0">
                <a:solidFill>
                  <a:srgbClr val="61716F"/>
                </a:solidFill>
                <a:latin typeface="Segoe UI"/>
                <a:ea typeface="Segoe UI"/>
                <a:cs typeface="Segoe UI"/>
              </a:defRPr>
            </a:lvl4pPr>
            <a:lvl5pPr algn="l">
              <a:defRPr sz="1200" b="0">
                <a:solidFill>
                  <a:srgbClr val="61716F"/>
                </a:solidFill>
                <a:latin typeface="Segoe UI"/>
                <a:ea typeface="Segoe UI"/>
                <a:cs typeface="Segoe UI"/>
              </a:defRPr>
            </a:lvl5pPr>
            <a:lvl6pPr algn="l">
              <a:defRPr sz="1200" b="0">
                <a:solidFill>
                  <a:srgbClr val="61716F"/>
                </a:solidFill>
                <a:latin typeface="Segoe UI"/>
                <a:ea typeface="Segoe UI"/>
                <a:cs typeface="Segoe UI"/>
              </a:defRPr>
            </a:lvl6pPr>
            <a:lvl7pPr algn="l">
              <a:defRPr sz="1200" b="0">
                <a:solidFill>
                  <a:srgbClr val="61716F"/>
                </a:solidFill>
                <a:latin typeface="Segoe UI"/>
                <a:ea typeface="Segoe UI"/>
                <a:cs typeface="Segoe UI"/>
              </a:defRPr>
            </a:lvl7pPr>
            <a:lvl8pPr algn="l">
              <a:defRPr sz="1200" b="0">
                <a:solidFill>
                  <a:srgbClr val="61716F"/>
                </a:solidFill>
                <a:latin typeface="Segoe UI"/>
                <a:ea typeface="Segoe UI"/>
                <a:cs typeface="Segoe UI"/>
              </a:defRPr>
            </a:lvl8pPr>
            <a:lvl9pPr algn="l">
              <a:defRPr sz="1200" b="0">
                <a:solidFill>
                  <a:srgbClr val="61716F"/>
                </a:solidFill>
                <a:latin typeface="Segoe UI"/>
                <a:ea typeface="Segoe UI"/>
                <a:cs typeface="Segoe UI"/>
              </a:defRPr>
            </a:lvl9pPr>
          </a:lstStyle>
          <a:p xmlns:a="http://schemas.openxmlformats.org/drawingml/2006/main">
            <a:pPr algn="l">
              <a:defRPr sz="1200" b="0">
                <a:solidFill>
                  <a:srgbClr val="61716F"/>
                </a:solidFill>
                <a:latin typeface="Segoe UI"/>
                <a:ea typeface="Segoe UI"/>
                <a:cs typeface="Segoe UI"/>
              </a:defRPr>
            </a:pPr>
            <a:r>
              <a:rPr sz="1200" b="0">
                <a:solidFill>
                  <a:srgbClr val="61716F"/>
                </a:solidFill>
                <a:latin typeface="Segoe UI"/>
                <a:ea typeface="Segoe UI"/>
                <a:cs typeface="Segoe UI"/>
              </a:rPr>
              <a:t>Ảnh dự phòng: kết quả đã lưu của bộ 40 chuỗi; demo trực tiếp dùng Hemoglobin</a:t>
            </a:r>
          </a:p>
        </p:txBody>
      </p:sp>
    </p:spTree>
    <p:extLst>
      <p:ext uri="{BB962C8B-B14F-4D97-AF65-F5344CB8AC3E}">
        <p14:creationId xmlns:p14="http://schemas.microsoft.com/office/powerpoint/2010/main" val="1142790912"/>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24">
            <a:extLst xmlns:a="http://schemas.openxmlformats.org/drawingml/2006/main">
              <a:ext uri="{FF2B5EF4-FFF2-40B4-BE49-F238E27FC236}">
                <a16:creationId xmlns:a16="http://schemas.microsoft.com/office/drawing/2014/main" id="{9E623932-14D0-48BC-A996-7EB455F83AD8}"/>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24</a:t>
            </a:r>
          </a:p>
        </p:txBody>
      </p:sp>
      <p:sp>
        <p:nvSpPr>
          <p:cNvPr id="2" name="Kết luận">
            <a:extLst xmlns:a="http://schemas.openxmlformats.org/drawingml/2006/main">
              <a:ext uri="{FF2B5EF4-FFF2-40B4-BE49-F238E27FC236}">
                <a16:creationId xmlns:a16="http://schemas.microsoft.com/office/drawing/2014/main" id="{C36F3775-735E-400A-82CD-376F0DBAF627}"/>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Kết luận</a:t>
            </a:r>
          </a:p>
        </p:txBody>
      </p:sp>
      <p:sp>
        <p:nvSpPr>
          <p:cNvPr id="3" name="Ba kỹ thuật phối hợp ở các cấp khác nhau">
            <a:extLst xmlns:a="http://schemas.openxmlformats.org/drawingml/2006/main">
              <a:ext uri="{FF2B5EF4-FFF2-40B4-BE49-F238E27FC236}">
                <a16:creationId xmlns:a16="http://schemas.microsoft.com/office/drawing/2014/main" id="{A7724503-36EC-4B29-B597-A46C95F8FEC2}"/>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Ba kỹ thuật phối hợp ở các cấp khác nhau</a:t>
            </a:r>
          </a:p>
        </p:txBody>
      </p:sp>
      <p:sp>
        <p:nvSpPr>
          <p:cNvPr id="4" name="01">
            <a:extLst xmlns:a="http://schemas.openxmlformats.org/drawingml/2006/main">
              <a:ext uri="{FF2B5EF4-FFF2-40B4-BE49-F238E27FC236}">
                <a16:creationId xmlns:a16="http://schemas.microsoft.com/office/drawing/2014/main" id="{29BFFDD1-D270-4AA9-A123-09F633743709}"/>
              </a:ext>
            </a:extLst>
          </p:cNvPr>
          <p:cNvSpPr>
            <a:spLocks xmlns:a="http://schemas.openxmlformats.org/drawingml/2006/main" noGrp="1"/>
          </p:cNvSpPr>
          <p:nvPr/>
        </p:nvSpPr>
        <p:spPr>
          <a:xfrm xmlns:a="http://schemas.openxmlformats.org/drawingml/2006/main">
            <a:off x="762000" y="22383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01</a:t>
            </a:r>
          </a:p>
        </p:txBody>
      </p:sp>
      <p:sp>
        <p:nvSpPr>
          <p:cNvPr id="5" name="Quy hoạch động">
            <a:extLst xmlns:a="http://schemas.openxmlformats.org/drawingml/2006/main">
              <a:ext uri="{FF2B5EF4-FFF2-40B4-BE49-F238E27FC236}">
                <a16:creationId xmlns:a16="http://schemas.microsoft.com/office/drawing/2014/main" id="{9111B4D9-CFE3-473C-A273-64A8F2AD452D}"/>
              </a:ext>
            </a:extLst>
          </p:cNvPr>
          <p:cNvSpPr>
            <a:spLocks xmlns:a="http://schemas.openxmlformats.org/drawingml/2006/main" noGrp="1"/>
          </p:cNvSpPr>
          <p:nvPr/>
        </p:nvSpPr>
        <p:spPr>
          <a:xfrm xmlns:a="http://schemas.openxmlformats.org/drawingml/2006/main">
            <a:off x="1714500" y="223837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Quy hoạch động</a:t>
            </a:r>
          </a:p>
        </p:txBody>
      </p:sp>
      <p:sp>
        <p:nvSpPr>
          <p:cNvPr id="6" name="Giải các bài toán căn chỉnh cặp và cột profile">
            <a:extLst xmlns:a="http://schemas.openxmlformats.org/drawingml/2006/main">
              <a:ext uri="{FF2B5EF4-FFF2-40B4-BE49-F238E27FC236}">
                <a16:creationId xmlns:a16="http://schemas.microsoft.com/office/drawing/2014/main" id="{F4E8091F-431D-4C55-BAF0-5BFC60162470}"/>
              </a:ext>
            </a:extLst>
          </p:cNvPr>
          <p:cNvSpPr>
            <a:spLocks xmlns:a="http://schemas.openxmlformats.org/drawingml/2006/main" noGrp="1"/>
          </p:cNvSpPr>
          <p:nvPr/>
        </p:nvSpPr>
        <p:spPr>
          <a:xfrm xmlns:a="http://schemas.openxmlformats.org/drawingml/2006/main">
            <a:off x="1714500" y="273367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Giải các bài toán căn chỉnh cặp và cột profile</a:t>
            </a:r>
          </a:p>
        </p:txBody>
      </p:sp>
      <p:sp>
        <p:nvSpPr>
          <p:cNvPr id="7" name="02">
            <a:extLst xmlns:a="http://schemas.openxmlformats.org/drawingml/2006/main">
              <a:ext uri="{FF2B5EF4-FFF2-40B4-BE49-F238E27FC236}">
                <a16:creationId xmlns:a16="http://schemas.microsoft.com/office/drawing/2014/main" id="{A0B50A65-677A-4081-84F8-49545155BB93}"/>
              </a:ext>
            </a:extLst>
          </p:cNvPr>
          <p:cNvSpPr>
            <a:spLocks xmlns:a="http://schemas.openxmlformats.org/drawingml/2006/main" noGrp="1"/>
          </p:cNvSpPr>
          <p:nvPr/>
        </p:nvSpPr>
        <p:spPr>
          <a:xfrm xmlns:a="http://schemas.openxmlformats.org/drawingml/2006/main">
            <a:off x="762000" y="3238500"/>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02</a:t>
            </a:r>
          </a:p>
        </p:txBody>
      </p:sp>
      <p:sp>
        <p:nvSpPr>
          <p:cNvPr id="8" name="Chia để trị">
            <a:extLst xmlns:a="http://schemas.openxmlformats.org/drawingml/2006/main">
              <a:ext uri="{FF2B5EF4-FFF2-40B4-BE49-F238E27FC236}">
                <a16:creationId xmlns:a16="http://schemas.microsoft.com/office/drawing/2014/main" id="{43AA9D47-2CC1-4557-BEFA-DB3A01EABC92}"/>
              </a:ext>
            </a:extLst>
          </p:cNvPr>
          <p:cNvSpPr>
            <a:spLocks xmlns:a="http://schemas.openxmlformats.org/drawingml/2006/main" noGrp="1"/>
          </p:cNvSpPr>
          <p:nvPr/>
        </p:nvSpPr>
        <p:spPr>
          <a:xfrm xmlns:a="http://schemas.openxmlformats.org/drawingml/2006/main">
            <a:off x="1714500" y="3238500"/>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Chia để trị</a:t>
            </a:r>
          </a:p>
        </p:txBody>
      </p:sp>
      <p:sp>
        <p:nvSpPr>
          <p:cNvPr id="9" name="Khôi phục căn chỉnh bằng các lượt quét tiến và lùi">
            <a:extLst xmlns:a="http://schemas.openxmlformats.org/drawingml/2006/main">
              <a:ext uri="{FF2B5EF4-FFF2-40B4-BE49-F238E27FC236}">
                <a16:creationId xmlns:a16="http://schemas.microsoft.com/office/drawing/2014/main" id="{F257A4B2-E273-4650-98DB-3D2B6A43A90D}"/>
              </a:ext>
            </a:extLst>
          </p:cNvPr>
          <p:cNvSpPr>
            <a:spLocks xmlns:a="http://schemas.openxmlformats.org/drawingml/2006/main" noGrp="1"/>
          </p:cNvSpPr>
          <p:nvPr/>
        </p:nvSpPr>
        <p:spPr>
          <a:xfrm xmlns:a="http://schemas.openxmlformats.org/drawingml/2006/main">
            <a:off x="1714500" y="37338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Khôi phục căn chỉnh bằng các lượt quét tiến và lùi</a:t>
            </a:r>
          </a:p>
        </p:txBody>
      </p:sp>
      <p:sp>
        <p:nvSpPr>
          <p:cNvPr id="10" name="03">
            <a:extLst xmlns:a="http://schemas.openxmlformats.org/drawingml/2006/main">
              <a:ext uri="{FF2B5EF4-FFF2-40B4-BE49-F238E27FC236}">
                <a16:creationId xmlns:a16="http://schemas.microsoft.com/office/drawing/2014/main" id="{DC383E31-0DCC-4D5F-9DE1-DDE4817DAEF1}"/>
              </a:ext>
            </a:extLst>
          </p:cNvPr>
          <p:cNvSpPr>
            <a:spLocks xmlns:a="http://schemas.openxmlformats.org/drawingml/2006/main" noGrp="1"/>
          </p:cNvSpPr>
          <p:nvPr/>
        </p:nvSpPr>
        <p:spPr>
          <a:xfrm xmlns:a="http://schemas.openxmlformats.org/drawingml/2006/main">
            <a:off x="762000" y="42386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075" b="1">
                <a:solidFill>
                  <a:srgbClr val="147D78"/>
                </a:solidFill>
                <a:latin typeface="Segoe UI"/>
                <a:ea typeface="Segoe UI"/>
                <a:cs typeface="Segoe UI"/>
              </a:defRPr>
            </a:defPPr>
            <a:lvl1pPr algn="l">
              <a:defRPr sz="3075" b="1">
                <a:solidFill>
                  <a:srgbClr val="147D78"/>
                </a:solidFill>
                <a:latin typeface="Segoe UI"/>
                <a:ea typeface="Segoe UI"/>
                <a:cs typeface="Segoe UI"/>
              </a:defRPr>
            </a:lvl1pPr>
            <a:lvl2pPr algn="l">
              <a:defRPr sz="3075" b="1">
                <a:solidFill>
                  <a:srgbClr val="147D78"/>
                </a:solidFill>
                <a:latin typeface="Segoe UI"/>
                <a:ea typeface="Segoe UI"/>
                <a:cs typeface="Segoe UI"/>
              </a:defRPr>
            </a:lvl2pPr>
            <a:lvl3pPr algn="l">
              <a:defRPr sz="3075" b="1">
                <a:solidFill>
                  <a:srgbClr val="147D78"/>
                </a:solidFill>
                <a:latin typeface="Segoe UI"/>
                <a:ea typeface="Segoe UI"/>
                <a:cs typeface="Segoe UI"/>
              </a:defRPr>
            </a:lvl3pPr>
            <a:lvl4pPr algn="l">
              <a:defRPr sz="3075" b="1">
                <a:solidFill>
                  <a:srgbClr val="147D78"/>
                </a:solidFill>
                <a:latin typeface="Segoe UI"/>
                <a:ea typeface="Segoe UI"/>
                <a:cs typeface="Segoe UI"/>
              </a:defRPr>
            </a:lvl4pPr>
            <a:lvl5pPr algn="l">
              <a:defRPr sz="3075" b="1">
                <a:solidFill>
                  <a:srgbClr val="147D78"/>
                </a:solidFill>
                <a:latin typeface="Segoe UI"/>
                <a:ea typeface="Segoe UI"/>
                <a:cs typeface="Segoe UI"/>
              </a:defRPr>
            </a:lvl5pPr>
            <a:lvl6pPr algn="l">
              <a:defRPr sz="3075" b="1">
                <a:solidFill>
                  <a:srgbClr val="147D78"/>
                </a:solidFill>
                <a:latin typeface="Segoe UI"/>
                <a:ea typeface="Segoe UI"/>
                <a:cs typeface="Segoe UI"/>
              </a:defRPr>
            </a:lvl6pPr>
            <a:lvl7pPr algn="l">
              <a:defRPr sz="3075" b="1">
                <a:solidFill>
                  <a:srgbClr val="147D78"/>
                </a:solidFill>
                <a:latin typeface="Segoe UI"/>
                <a:ea typeface="Segoe UI"/>
                <a:cs typeface="Segoe UI"/>
              </a:defRPr>
            </a:lvl7pPr>
            <a:lvl8pPr algn="l">
              <a:defRPr sz="3075" b="1">
                <a:solidFill>
                  <a:srgbClr val="147D78"/>
                </a:solidFill>
                <a:latin typeface="Segoe UI"/>
                <a:ea typeface="Segoe UI"/>
                <a:cs typeface="Segoe UI"/>
              </a:defRPr>
            </a:lvl8pPr>
            <a:lvl9pPr algn="l">
              <a:defRPr sz="3075" b="1">
                <a:solidFill>
                  <a:srgbClr val="147D78"/>
                </a:solidFill>
                <a:latin typeface="Segoe UI"/>
                <a:ea typeface="Segoe UI"/>
                <a:cs typeface="Segoe UI"/>
              </a:defRPr>
            </a:lvl9pPr>
          </a:lstStyle>
          <a:p xmlns:a="http://schemas.openxmlformats.org/drawingml/2006/main">
            <a:pPr algn="l">
              <a:defRPr sz="3075" b="1">
                <a:solidFill>
                  <a:srgbClr val="147D78"/>
                </a:solidFill>
                <a:latin typeface="Segoe UI"/>
                <a:ea typeface="Segoe UI"/>
                <a:cs typeface="Segoe UI"/>
              </a:defRPr>
            </a:pPr>
            <a:r>
              <a:rPr sz="3075" b="1">
                <a:solidFill>
                  <a:srgbClr val="147D78"/>
                </a:solidFill>
                <a:latin typeface="Segoe UI"/>
                <a:ea typeface="Segoe UI"/>
                <a:cs typeface="Segoe UI"/>
              </a:rPr>
              <a:t>03</a:t>
            </a:r>
          </a:p>
        </p:txBody>
      </p:sp>
      <p:sp>
        <p:nvSpPr>
          <p:cNvPr id="11" name="Song song">
            <a:extLst xmlns:a="http://schemas.openxmlformats.org/drawingml/2006/main">
              <a:ext uri="{FF2B5EF4-FFF2-40B4-BE49-F238E27FC236}">
                <a16:creationId xmlns:a16="http://schemas.microsoft.com/office/drawing/2014/main" id="{5E993423-1CF6-433F-83E3-348965C212FC}"/>
              </a:ext>
            </a:extLst>
          </p:cNvPr>
          <p:cNvSpPr>
            <a:spLocks xmlns:a="http://schemas.openxmlformats.org/drawingml/2006/main" noGrp="1"/>
          </p:cNvSpPr>
          <p:nvPr/>
        </p:nvSpPr>
        <p:spPr>
          <a:xfrm xmlns:a="http://schemas.openxmlformats.org/drawingml/2006/main">
            <a:off x="1714500" y="4238625"/>
            <a:ext cx="962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400" b="1">
                <a:solidFill>
                  <a:srgbClr val="142D3B"/>
                </a:solidFill>
                <a:latin typeface="Segoe UI"/>
                <a:ea typeface="Segoe UI"/>
                <a:cs typeface="Segoe UI"/>
              </a:defRPr>
            </a:defPPr>
            <a:lvl1pPr algn="l">
              <a:defRPr sz="2400" b="1">
                <a:solidFill>
                  <a:srgbClr val="142D3B"/>
                </a:solidFill>
                <a:latin typeface="Segoe UI"/>
                <a:ea typeface="Segoe UI"/>
                <a:cs typeface="Segoe UI"/>
              </a:defRPr>
            </a:lvl1pPr>
            <a:lvl2pPr algn="l">
              <a:defRPr sz="2400" b="1">
                <a:solidFill>
                  <a:srgbClr val="142D3B"/>
                </a:solidFill>
                <a:latin typeface="Segoe UI"/>
                <a:ea typeface="Segoe UI"/>
                <a:cs typeface="Segoe UI"/>
              </a:defRPr>
            </a:lvl2pPr>
            <a:lvl3pPr algn="l">
              <a:defRPr sz="2400" b="1">
                <a:solidFill>
                  <a:srgbClr val="142D3B"/>
                </a:solidFill>
                <a:latin typeface="Segoe UI"/>
                <a:ea typeface="Segoe UI"/>
                <a:cs typeface="Segoe UI"/>
              </a:defRPr>
            </a:lvl3pPr>
            <a:lvl4pPr algn="l">
              <a:defRPr sz="2400" b="1">
                <a:solidFill>
                  <a:srgbClr val="142D3B"/>
                </a:solidFill>
                <a:latin typeface="Segoe UI"/>
                <a:ea typeface="Segoe UI"/>
                <a:cs typeface="Segoe UI"/>
              </a:defRPr>
            </a:lvl4pPr>
            <a:lvl5pPr algn="l">
              <a:defRPr sz="2400" b="1">
                <a:solidFill>
                  <a:srgbClr val="142D3B"/>
                </a:solidFill>
                <a:latin typeface="Segoe UI"/>
                <a:ea typeface="Segoe UI"/>
                <a:cs typeface="Segoe UI"/>
              </a:defRPr>
            </a:lvl5pPr>
            <a:lvl6pPr algn="l">
              <a:defRPr sz="2400" b="1">
                <a:solidFill>
                  <a:srgbClr val="142D3B"/>
                </a:solidFill>
                <a:latin typeface="Segoe UI"/>
                <a:ea typeface="Segoe UI"/>
                <a:cs typeface="Segoe UI"/>
              </a:defRPr>
            </a:lvl6pPr>
            <a:lvl7pPr algn="l">
              <a:defRPr sz="2400" b="1">
                <a:solidFill>
                  <a:srgbClr val="142D3B"/>
                </a:solidFill>
                <a:latin typeface="Segoe UI"/>
                <a:ea typeface="Segoe UI"/>
                <a:cs typeface="Segoe UI"/>
              </a:defRPr>
            </a:lvl7pPr>
            <a:lvl8pPr algn="l">
              <a:defRPr sz="2400" b="1">
                <a:solidFill>
                  <a:srgbClr val="142D3B"/>
                </a:solidFill>
                <a:latin typeface="Segoe UI"/>
                <a:ea typeface="Segoe UI"/>
                <a:cs typeface="Segoe UI"/>
              </a:defRPr>
            </a:lvl8pPr>
            <a:lvl9pPr algn="l">
              <a:defRPr sz="2400" b="1">
                <a:solidFill>
                  <a:srgbClr val="142D3B"/>
                </a:solidFill>
                <a:latin typeface="Segoe UI"/>
                <a:ea typeface="Segoe UI"/>
                <a:cs typeface="Segoe UI"/>
              </a:defRPr>
            </a:lvl9pPr>
          </a:lstStyle>
          <a:p xmlns:a="http://schemas.openxmlformats.org/drawingml/2006/main">
            <a:pPr algn="l">
              <a:defRPr sz="2400" b="1">
                <a:solidFill>
                  <a:srgbClr val="142D3B"/>
                </a:solidFill>
                <a:latin typeface="Segoe UI"/>
                <a:ea typeface="Segoe UI"/>
                <a:cs typeface="Segoe UI"/>
              </a:defRPr>
            </a:pPr>
            <a:r>
              <a:rPr sz="2400" b="1">
                <a:solidFill>
                  <a:srgbClr val="142D3B"/>
                </a:solidFill>
                <a:latin typeface="Segoe UI"/>
                <a:ea typeface="Segoe UI"/>
                <a:cs typeface="Segoe UI"/>
              </a:rPr>
              <a:t>Song song</a:t>
            </a:r>
          </a:p>
        </p:txBody>
      </p:sp>
      <p:sp>
        <p:nvSpPr>
          <p:cNvPr id="12" name="Khai thác các cặp và nhánh độc lập trong pipeline">
            <a:extLst xmlns:a="http://schemas.openxmlformats.org/drawingml/2006/main">
              <a:ext uri="{FF2B5EF4-FFF2-40B4-BE49-F238E27FC236}">
                <a16:creationId xmlns:a16="http://schemas.microsoft.com/office/drawing/2014/main" id="{6447943C-3ED9-425E-8E83-ABD7F2A2E5E6}"/>
              </a:ext>
            </a:extLst>
          </p:cNvPr>
          <p:cNvSpPr>
            <a:spLocks xmlns:a="http://schemas.openxmlformats.org/drawingml/2006/main" noGrp="1"/>
          </p:cNvSpPr>
          <p:nvPr/>
        </p:nvSpPr>
        <p:spPr>
          <a:xfrm xmlns:a="http://schemas.openxmlformats.org/drawingml/2006/main">
            <a:off x="1714500" y="473392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Khai thác các cặp và nhánh độc lập trong pipeline</a:t>
            </a:r>
          </a:p>
        </p:txBody>
      </p:sp>
      <p:sp>
        <p:nvSpPr>
          <p:cNvPr id="13" name="Ưu tiên tiếp theo: đo RAM thực, profiling và cải thiện chất lượng MSA">
            <a:extLst xmlns:a="http://schemas.openxmlformats.org/drawingml/2006/main">
              <a:ext uri="{FF2B5EF4-FFF2-40B4-BE49-F238E27FC236}">
                <a16:creationId xmlns:a16="http://schemas.microsoft.com/office/drawing/2014/main" id="{2AA2F04F-CFA6-41E3-A476-D0E78780E56E}"/>
              </a:ext>
            </a:extLst>
          </p:cNvPr>
          <p:cNvSpPr>
            <a:spLocks xmlns:a="http://schemas.openxmlformats.org/drawingml/2006/main" noGrp="1"/>
          </p:cNvSpPr>
          <p:nvPr/>
        </p:nvSpPr>
        <p:spPr>
          <a:xfrm xmlns:a="http://schemas.openxmlformats.org/drawingml/2006/main">
            <a:off x="762000" y="5753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2100" b="1">
                <a:solidFill>
                  <a:srgbClr val="147D78"/>
                </a:solidFill>
                <a:latin typeface="Segoe UI"/>
                <a:ea typeface="Segoe UI"/>
                <a:cs typeface="Segoe UI"/>
              </a:defRPr>
            </a:defPPr>
            <a:lvl1pPr algn="l">
              <a:defRPr sz="2100" b="1">
                <a:solidFill>
                  <a:srgbClr val="147D78"/>
                </a:solidFill>
                <a:latin typeface="Segoe UI"/>
                <a:ea typeface="Segoe UI"/>
                <a:cs typeface="Segoe UI"/>
              </a:defRPr>
            </a:lvl1pPr>
            <a:lvl2pPr algn="l">
              <a:defRPr sz="2100" b="1">
                <a:solidFill>
                  <a:srgbClr val="147D78"/>
                </a:solidFill>
                <a:latin typeface="Segoe UI"/>
                <a:ea typeface="Segoe UI"/>
                <a:cs typeface="Segoe UI"/>
              </a:defRPr>
            </a:lvl2pPr>
            <a:lvl3pPr algn="l">
              <a:defRPr sz="2100" b="1">
                <a:solidFill>
                  <a:srgbClr val="147D78"/>
                </a:solidFill>
                <a:latin typeface="Segoe UI"/>
                <a:ea typeface="Segoe UI"/>
                <a:cs typeface="Segoe UI"/>
              </a:defRPr>
            </a:lvl3pPr>
            <a:lvl4pPr algn="l">
              <a:defRPr sz="2100" b="1">
                <a:solidFill>
                  <a:srgbClr val="147D78"/>
                </a:solidFill>
                <a:latin typeface="Segoe UI"/>
                <a:ea typeface="Segoe UI"/>
                <a:cs typeface="Segoe UI"/>
              </a:defRPr>
            </a:lvl4pPr>
            <a:lvl5pPr algn="l">
              <a:defRPr sz="2100" b="1">
                <a:solidFill>
                  <a:srgbClr val="147D78"/>
                </a:solidFill>
                <a:latin typeface="Segoe UI"/>
                <a:ea typeface="Segoe UI"/>
                <a:cs typeface="Segoe UI"/>
              </a:defRPr>
            </a:lvl5pPr>
            <a:lvl6pPr algn="l">
              <a:defRPr sz="2100" b="1">
                <a:solidFill>
                  <a:srgbClr val="147D78"/>
                </a:solidFill>
                <a:latin typeface="Segoe UI"/>
                <a:ea typeface="Segoe UI"/>
                <a:cs typeface="Segoe UI"/>
              </a:defRPr>
            </a:lvl6pPr>
            <a:lvl7pPr algn="l">
              <a:defRPr sz="2100" b="1">
                <a:solidFill>
                  <a:srgbClr val="147D78"/>
                </a:solidFill>
                <a:latin typeface="Segoe UI"/>
                <a:ea typeface="Segoe UI"/>
                <a:cs typeface="Segoe UI"/>
              </a:defRPr>
            </a:lvl7pPr>
            <a:lvl8pPr algn="l">
              <a:defRPr sz="2100" b="1">
                <a:solidFill>
                  <a:srgbClr val="147D78"/>
                </a:solidFill>
                <a:latin typeface="Segoe UI"/>
                <a:ea typeface="Segoe UI"/>
                <a:cs typeface="Segoe UI"/>
              </a:defRPr>
            </a:lvl8pPr>
            <a:lvl9pPr algn="l">
              <a:defRPr sz="2100" b="1">
                <a:solidFill>
                  <a:srgbClr val="147D78"/>
                </a:solidFill>
                <a:latin typeface="Segoe UI"/>
                <a:ea typeface="Segoe UI"/>
                <a:cs typeface="Segoe UI"/>
              </a:defRPr>
            </a:lvl9pPr>
          </a:lstStyle>
          <a:p xmlns:a="http://schemas.openxmlformats.org/drawingml/2006/main">
            <a:pPr algn="l">
              <a:defRPr sz="2100" b="1">
                <a:solidFill>
                  <a:srgbClr val="147D78"/>
                </a:solidFill>
                <a:latin typeface="Segoe UI"/>
                <a:ea typeface="Segoe UI"/>
                <a:cs typeface="Segoe UI"/>
              </a:defRPr>
            </a:pPr>
            <a:r>
              <a:rPr sz="2100" b="1">
                <a:solidFill>
                  <a:srgbClr val="147D78"/>
                </a:solidFill>
                <a:latin typeface="Segoe UI"/>
                <a:ea typeface="Segoe UI"/>
                <a:cs typeface="Segoe UI"/>
              </a:rPr>
              <a:t>Ưu tiên tiếp theo: đo RAM thực, profiling và cải thiện chất lượng MSA</a:t>
            </a:r>
          </a:p>
        </p:txBody>
      </p:sp>
    </p:spTree>
    <p:extLst>
      <p:ext uri="{BB962C8B-B14F-4D97-AF65-F5344CB8AC3E}">
        <p14:creationId xmlns:p14="http://schemas.microsoft.com/office/powerpoint/2010/main" val="863977969"/>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25">
            <a:extLst xmlns:a="http://schemas.openxmlformats.org/drawingml/2006/main">
              <a:ext uri="{FF2B5EF4-FFF2-40B4-BE49-F238E27FC236}">
                <a16:creationId xmlns:a16="http://schemas.microsoft.com/office/drawing/2014/main" id="{E2B0E2CA-E55A-4B4B-8692-7266D1C4A7C3}"/>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25</a:t>
            </a:r>
          </a:p>
        </p:txBody>
      </p:sp>
      <p:sp>
        <p:nvSpPr>
          <p:cNvPr id="2" name="Phụ lục: công thức truy hồi">
            <a:extLst xmlns:a="http://schemas.openxmlformats.org/drawingml/2006/main">
              <a:ext uri="{FF2B5EF4-FFF2-40B4-BE49-F238E27FC236}">
                <a16:creationId xmlns:a16="http://schemas.microsoft.com/office/drawing/2014/main" id="{AE5DDDDE-6C49-4A90-ADE7-4912187DCA81}"/>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Phụ lục: công thức truy hồi</a:t>
            </a:r>
          </a:p>
        </p:txBody>
      </p:sp>
      <p:sp>
        <p:nvSpPr>
          <p:cNvPr id="3" name="Theo các chuyển trạng thái trong Gotoh của dự án">
            <a:extLst xmlns:a="http://schemas.openxmlformats.org/drawingml/2006/main">
              <a:ext uri="{FF2B5EF4-FFF2-40B4-BE49-F238E27FC236}">
                <a16:creationId xmlns:a16="http://schemas.microsoft.com/office/drawing/2014/main" id="{5FE332D2-4593-415D-8DA0-E7BA1D24368F}"/>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Theo các chuyển trạng thái trong Gotoh của dự án</a:t>
            </a:r>
          </a:p>
        </p:txBody>
      </p:sp>
      <p:sp>
        <p:nvSpPr>
          <p:cNvPr id="4" name="M(i,j) = max{M, Iₓ, Iᵧ}(i−1,j−1) + s(aᵢ,bⱼ)">
            <a:extLst xmlns:a="http://schemas.openxmlformats.org/drawingml/2006/main">
              <a:ext uri="{FF2B5EF4-FFF2-40B4-BE49-F238E27FC236}">
                <a16:creationId xmlns:a16="http://schemas.microsoft.com/office/drawing/2014/main" id="{13C6B7C2-7AB0-42A0-B429-A0C857573525}"/>
              </a:ext>
            </a:extLst>
          </p:cNvPr>
          <p:cNvSpPr>
            <a:spLocks xmlns:a="http://schemas.openxmlformats.org/drawingml/2006/main" noGrp="1"/>
          </p:cNvSpPr>
          <p:nvPr/>
        </p:nvSpPr>
        <p:spPr>
          <a:xfrm xmlns:a="http://schemas.openxmlformats.org/drawingml/2006/main">
            <a:off x="762000" y="23622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M(i,j) = max{M, Iₓ, Iᵧ}(i−1,j−1) + s(aᵢ,bⱼ)</a:t>
            </a:r>
          </a:p>
        </p:txBody>
      </p:sp>
      <p:sp>
        <p:nvSpPr>
          <p:cNvPr id="5" name="Iₓ(i,j) = max{M(i−1,j)−10, Iₓ(i−1,j)−1, Iᵧ(i−1,j)−10}">
            <a:extLst xmlns:a="http://schemas.openxmlformats.org/drawingml/2006/main">
              <a:ext uri="{FF2B5EF4-FFF2-40B4-BE49-F238E27FC236}">
                <a16:creationId xmlns:a16="http://schemas.microsoft.com/office/drawing/2014/main" id="{736EE78F-9197-45B7-86B9-2BB97EC9D119}"/>
              </a:ext>
            </a:extLst>
          </p:cNvPr>
          <p:cNvSpPr>
            <a:spLocks xmlns:a="http://schemas.openxmlformats.org/drawingml/2006/main" noGrp="1"/>
          </p:cNvSpPr>
          <p:nvPr/>
        </p:nvSpPr>
        <p:spPr>
          <a:xfrm xmlns:a="http://schemas.openxmlformats.org/drawingml/2006/main">
            <a:off x="762000" y="3143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Iₓ(i,j) = max{M(i−1,j)−10, Iₓ(i−1,j)−1, Iᵧ(i−1,j)−10}</a:t>
            </a:r>
          </a:p>
        </p:txBody>
      </p:sp>
      <p:sp>
        <p:nvSpPr>
          <p:cNvPr id="6" name="Iᵧ(i,j) = max{M(i,j−1)−10, Iᵧ(i,j−1)−1, Iₓ(i,j−1)−10}">
            <a:extLst xmlns:a="http://schemas.openxmlformats.org/drawingml/2006/main">
              <a:ext uri="{FF2B5EF4-FFF2-40B4-BE49-F238E27FC236}">
                <a16:creationId xmlns:a16="http://schemas.microsoft.com/office/drawing/2014/main" id="{9A57A713-C110-4FAD-90E5-690246BDCB22}"/>
              </a:ext>
            </a:extLst>
          </p:cNvPr>
          <p:cNvSpPr>
            <a:spLocks xmlns:a="http://schemas.openxmlformats.org/drawingml/2006/main" noGrp="1"/>
          </p:cNvSpPr>
          <p:nvPr/>
        </p:nvSpPr>
        <p:spPr>
          <a:xfrm xmlns:a="http://schemas.openxmlformats.org/drawingml/2006/main">
            <a:off x="762000" y="39243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142D3B"/>
                </a:solidFill>
                <a:latin typeface="Segoe UI"/>
                <a:ea typeface="Segoe UI"/>
                <a:cs typeface="Segoe UI"/>
              </a:defRPr>
            </a:defPPr>
            <a:lvl1pPr algn="l">
              <a:defRPr sz="1950" b="0">
                <a:solidFill>
                  <a:srgbClr val="142D3B"/>
                </a:solidFill>
                <a:latin typeface="Segoe UI"/>
                <a:ea typeface="Segoe UI"/>
                <a:cs typeface="Segoe UI"/>
              </a:defRPr>
            </a:lvl1pPr>
            <a:lvl2pPr algn="l">
              <a:defRPr sz="1950" b="0">
                <a:solidFill>
                  <a:srgbClr val="142D3B"/>
                </a:solidFill>
                <a:latin typeface="Segoe UI"/>
                <a:ea typeface="Segoe UI"/>
                <a:cs typeface="Segoe UI"/>
              </a:defRPr>
            </a:lvl2pPr>
            <a:lvl3pPr algn="l">
              <a:defRPr sz="1950" b="0">
                <a:solidFill>
                  <a:srgbClr val="142D3B"/>
                </a:solidFill>
                <a:latin typeface="Segoe UI"/>
                <a:ea typeface="Segoe UI"/>
                <a:cs typeface="Segoe UI"/>
              </a:defRPr>
            </a:lvl3pPr>
            <a:lvl4pPr algn="l">
              <a:defRPr sz="1950" b="0">
                <a:solidFill>
                  <a:srgbClr val="142D3B"/>
                </a:solidFill>
                <a:latin typeface="Segoe UI"/>
                <a:ea typeface="Segoe UI"/>
                <a:cs typeface="Segoe UI"/>
              </a:defRPr>
            </a:lvl4pPr>
            <a:lvl5pPr algn="l">
              <a:defRPr sz="1950" b="0">
                <a:solidFill>
                  <a:srgbClr val="142D3B"/>
                </a:solidFill>
                <a:latin typeface="Segoe UI"/>
                <a:ea typeface="Segoe UI"/>
                <a:cs typeface="Segoe UI"/>
              </a:defRPr>
            </a:lvl5pPr>
            <a:lvl6pPr algn="l">
              <a:defRPr sz="1950" b="0">
                <a:solidFill>
                  <a:srgbClr val="142D3B"/>
                </a:solidFill>
                <a:latin typeface="Segoe UI"/>
                <a:ea typeface="Segoe UI"/>
                <a:cs typeface="Segoe UI"/>
              </a:defRPr>
            </a:lvl6pPr>
            <a:lvl7pPr algn="l">
              <a:defRPr sz="1950" b="0">
                <a:solidFill>
                  <a:srgbClr val="142D3B"/>
                </a:solidFill>
                <a:latin typeface="Segoe UI"/>
                <a:ea typeface="Segoe UI"/>
                <a:cs typeface="Segoe UI"/>
              </a:defRPr>
            </a:lvl7pPr>
            <a:lvl8pPr algn="l">
              <a:defRPr sz="1950" b="0">
                <a:solidFill>
                  <a:srgbClr val="142D3B"/>
                </a:solidFill>
                <a:latin typeface="Segoe UI"/>
                <a:ea typeface="Segoe UI"/>
                <a:cs typeface="Segoe UI"/>
              </a:defRPr>
            </a:lvl8pPr>
            <a:lvl9pPr algn="l">
              <a:defRPr sz="1950" b="0">
                <a:solidFill>
                  <a:srgbClr val="142D3B"/>
                </a:solidFill>
                <a:latin typeface="Segoe UI"/>
                <a:ea typeface="Segoe UI"/>
                <a:cs typeface="Segoe UI"/>
              </a:defRPr>
            </a:lvl9pPr>
          </a:lstStyle>
          <a:p xmlns:a="http://schemas.openxmlformats.org/drawingml/2006/main">
            <a:pPr algn="l">
              <a:defRPr sz="1950" b="0">
                <a:solidFill>
                  <a:srgbClr val="142D3B"/>
                </a:solidFill>
                <a:latin typeface="Segoe UI"/>
                <a:ea typeface="Segoe UI"/>
                <a:cs typeface="Segoe UI"/>
              </a:defRPr>
            </a:pPr>
            <a:r>
              <a:rPr sz="1950" b="0">
                <a:solidFill>
                  <a:srgbClr val="142D3B"/>
                </a:solidFill>
                <a:latin typeface="Segoe UI"/>
                <a:ea typeface="Segoe UI"/>
                <a:cs typeface="Segoe UI"/>
              </a:rPr>
              <a:t>Iᵧ(i,j) = max{M(i,j−1)−10, Iᵧ(i,j−1)−1, Iₓ(i,j−1)−10}</a:t>
            </a:r>
          </a:p>
        </p:txBody>
      </p:sp>
      <p:sp>
        <p:nvSpPr>
          <p:cNvPr id="7" name="M(0,0)=0; trạng thái không hợp lệ nhận −∞">
            <a:extLst xmlns:a="http://schemas.openxmlformats.org/drawingml/2006/main">
              <a:ext uri="{FF2B5EF4-FFF2-40B4-BE49-F238E27FC236}">
                <a16:creationId xmlns:a16="http://schemas.microsoft.com/office/drawing/2014/main" id="{6051AD82-2AA4-435B-8367-C1681B21B6D6}"/>
              </a:ext>
            </a:extLst>
          </p:cNvPr>
          <p:cNvSpPr>
            <a:spLocks xmlns:a="http://schemas.openxmlformats.org/drawingml/2006/main" noGrp="1"/>
          </p:cNvSpPr>
          <p:nvPr/>
        </p:nvSpPr>
        <p:spPr>
          <a:xfrm xmlns:a="http://schemas.openxmlformats.org/drawingml/2006/main">
            <a:off x="762000" y="48768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M(0,0)=0; trạng thái không hợp lệ nhận −∞</a:t>
            </a:r>
          </a:p>
        </p:txBody>
      </p:sp>
      <p:sp>
        <p:nvSpPr>
          <p:cNvPr id="8" name="Iₓ(i,0)=−10−(i−1); Iᵧ(0,j)=−10−(j−1)">
            <a:extLst xmlns:a="http://schemas.openxmlformats.org/drawingml/2006/main">
              <a:ext uri="{FF2B5EF4-FFF2-40B4-BE49-F238E27FC236}">
                <a16:creationId xmlns:a16="http://schemas.microsoft.com/office/drawing/2014/main" id="{EB241420-7550-4B67-ACD2-AF17443306A1}"/>
              </a:ext>
            </a:extLst>
          </p:cNvPr>
          <p:cNvSpPr>
            <a:spLocks xmlns:a="http://schemas.openxmlformats.org/drawingml/2006/main" noGrp="1"/>
          </p:cNvSpPr>
          <p:nvPr/>
        </p:nvSpPr>
        <p:spPr>
          <a:xfrm xmlns:a="http://schemas.openxmlformats.org/drawingml/2006/main">
            <a:off x="762000" y="530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Iₓ(i,0)=−10−(i−1); Iᵧ(0,j)=−10−(j−1)</a:t>
            </a:r>
          </a:p>
        </p:txBody>
      </p:sp>
      <p:sp>
        <p:nvSpPr>
          <p:cNvPr id="9" name="Điểm cắt Myers–Miller phải xét trạng thái biên và hiệu chỉnh gap chạy ">
            <a:extLst xmlns:a="http://schemas.openxmlformats.org/drawingml/2006/main">
              <a:ext uri="{FF2B5EF4-FFF2-40B4-BE49-F238E27FC236}">
                <a16:creationId xmlns:a16="http://schemas.microsoft.com/office/drawing/2014/main" id="{F1D755B7-A15A-4C23-9891-15153FAF7DFE}"/>
              </a:ext>
            </a:extLst>
          </p:cNvPr>
          <p:cNvSpPr>
            <a:spLocks xmlns:a="http://schemas.openxmlformats.org/drawingml/2006/main" noGrp="1"/>
          </p:cNvSpPr>
          <p:nvPr/>
        </p:nvSpPr>
        <p:spPr>
          <a:xfrm xmlns:a="http://schemas.openxmlformats.org/drawingml/2006/main">
            <a:off x="762000" y="62865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00" b="0">
                <a:solidFill>
                  <a:srgbClr val="61716F"/>
                </a:solidFill>
                <a:latin typeface="Segoe UI"/>
                <a:ea typeface="Segoe UI"/>
                <a:cs typeface="Segoe UI"/>
              </a:defRPr>
            </a:defPPr>
            <a:lvl1pPr algn="l">
              <a:defRPr sz="1200" b="0">
                <a:solidFill>
                  <a:srgbClr val="61716F"/>
                </a:solidFill>
                <a:latin typeface="Segoe UI"/>
                <a:ea typeface="Segoe UI"/>
                <a:cs typeface="Segoe UI"/>
              </a:defRPr>
            </a:lvl1pPr>
            <a:lvl2pPr algn="l">
              <a:defRPr sz="1200" b="0">
                <a:solidFill>
                  <a:srgbClr val="61716F"/>
                </a:solidFill>
                <a:latin typeface="Segoe UI"/>
                <a:ea typeface="Segoe UI"/>
                <a:cs typeface="Segoe UI"/>
              </a:defRPr>
            </a:lvl2pPr>
            <a:lvl3pPr algn="l">
              <a:defRPr sz="1200" b="0">
                <a:solidFill>
                  <a:srgbClr val="61716F"/>
                </a:solidFill>
                <a:latin typeface="Segoe UI"/>
                <a:ea typeface="Segoe UI"/>
                <a:cs typeface="Segoe UI"/>
              </a:defRPr>
            </a:lvl3pPr>
            <a:lvl4pPr algn="l">
              <a:defRPr sz="1200" b="0">
                <a:solidFill>
                  <a:srgbClr val="61716F"/>
                </a:solidFill>
                <a:latin typeface="Segoe UI"/>
                <a:ea typeface="Segoe UI"/>
                <a:cs typeface="Segoe UI"/>
              </a:defRPr>
            </a:lvl4pPr>
            <a:lvl5pPr algn="l">
              <a:defRPr sz="1200" b="0">
                <a:solidFill>
                  <a:srgbClr val="61716F"/>
                </a:solidFill>
                <a:latin typeface="Segoe UI"/>
                <a:ea typeface="Segoe UI"/>
                <a:cs typeface="Segoe UI"/>
              </a:defRPr>
            </a:lvl5pPr>
            <a:lvl6pPr algn="l">
              <a:defRPr sz="1200" b="0">
                <a:solidFill>
                  <a:srgbClr val="61716F"/>
                </a:solidFill>
                <a:latin typeface="Segoe UI"/>
                <a:ea typeface="Segoe UI"/>
                <a:cs typeface="Segoe UI"/>
              </a:defRPr>
            </a:lvl6pPr>
            <a:lvl7pPr algn="l">
              <a:defRPr sz="1200" b="0">
                <a:solidFill>
                  <a:srgbClr val="61716F"/>
                </a:solidFill>
                <a:latin typeface="Segoe UI"/>
                <a:ea typeface="Segoe UI"/>
                <a:cs typeface="Segoe UI"/>
              </a:defRPr>
            </a:lvl7pPr>
            <a:lvl8pPr algn="l">
              <a:defRPr sz="1200" b="0">
                <a:solidFill>
                  <a:srgbClr val="61716F"/>
                </a:solidFill>
                <a:latin typeface="Segoe UI"/>
                <a:ea typeface="Segoe UI"/>
                <a:cs typeface="Segoe UI"/>
              </a:defRPr>
            </a:lvl8pPr>
            <a:lvl9pPr algn="l">
              <a:defRPr sz="1200" b="0">
                <a:solidFill>
                  <a:srgbClr val="61716F"/>
                </a:solidFill>
                <a:latin typeface="Segoe UI"/>
                <a:ea typeface="Segoe UI"/>
                <a:cs typeface="Segoe UI"/>
              </a:defRPr>
            </a:lvl9pPr>
          </a:lstStyle>
          <a:p xmlns:a="http://schemas.openxmlformats.org/drawingml/2006/main">
            <a:pPr algn="l">
              <a:defRPr sz="1200" b="0">
                <a:solidFill>
                  <a:srgbClr val="61716F"/>
                </a:solidFill>
                <a:latin typeface="Segoe UI"/>
                <a:ea typeface="Segoe UI"/>
                <a:cs typeface="Segoe UI"/>
              </a:defRPr>
            </a:pPr>
            <a:r>
              <a:rPr sz="1200" b="0">
                <a:solidFill>
                  <a:srgbClr val="61716F"/>
                </a:solidFill>
                <a:latin typeface="Segoe UI"/>
                <a:ea typeface="Segoe UI"/>
                <a:cs typeface="Segoe UI"/>
              </a:rPr>
              <a:t>Điểm cắt Myers–Miller phải xét trạng thái biên và hiệu chỉnh gap chạy qua ranh giới</a:t>
            </a:r>
          </a:p>
        </p:txBody>
      </p:sp>
    </p:spTree>
    <p:extLst>
      <p:ext uri="{BB962C8B-B14F-4D97-AF65-F5344CB8AC3E}">
        <p14:creationId xmlns:p14="http://schemas.microsoft.com/office/powerpoint/2010/main" val="1756221246"/>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26">
            <a:extLst xmlns:a="http://schemas.openxmlformats.org/drawingml/2006/main">
              <a:ext uri="{FF2B5EF4-FFF2-40B4-BE49-F238E27FC236}">
                <a16:creationId xmlns:a16="http://schemas.microsoft.com/office/drawing/2014/main" id="{3D298523-2C06-473F-8CE1-69AEFB725914}"/>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26</a:t>
            </a:r>
          </a:p>
        </p:txBody>
      </p:sp>
      <p:sp>
        <p:nvSpPr>
          <p:cNvPr id="2" name="Phụ lục: lý thuyết và triển khai">
            <a:extLst xmlns:a="http://schemas.openxmlformats.org/drawingml/2006/main">
              <a:ext uri="{FF2B5EF4-FFF2-40B4-BE49-F238E27FC236}">
                <a16:creationId xmlns:a16="http://schemas.microsoft.com/office/drawing/2014/main" id="{BF19B76E-4490-4D87-9FDC-43643D143C8B}"/>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Phụ lục: lý thuyết và triển khai</a:t>
            </a:r>
          </a:p>
        </p:txBody>
      </p:sp>
      <p:sp>
        <p:nvSpPr>
          <p:cNvPr id="3" name="k là số chuỗi, L là độ dài điển hình, m và n là hai độ dài cặp">
            <a:extLst xmlns:a="http://schemas.openxmlformats.org/drawingml/2006/main">
              <a:ext uri="{FF2B5EF4-FFF2-40B4-BE49-F238E27FC236}">
                <a16:creationId xmlns:a16="http://schemas.microsoft.com/office/drawing/2014/main" id="{BDFFAD54-A8C9-4B21-B6ED-7F847B2FE252}"/>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k là số chuỗi, L là độ dài điển hình, m và n là hai độ dài cặp</a:t>
            </a:r>
          </a:p>
        </p:txBody>
      </p:sp>
      <p:graphicFrame>
        <p:nvGraphicFramePr>
          <p:cNvPr id="4" name="">
            <a:extLst xmlns:a="http://schemas.openxmlformats.org/drawingml/2006/main">
              <a:ext uri="{FF2B5EF4-FFF2-40B4-BE49-F238E27FC236}">
                <a16:creationId xmlns:a16="http://schemas.microsoft.com/office/drawing/2014/main" id="{B95E21DC-1784-4182-AAD9-1101E2A74B1E}"/>
              </a:ext>
            </a:extLst>
          </p:cNvPr>
          <p:cNvGraphicFramePr/>
          <p:nvPr/>
        </p:nvGraphicFramePr>
        <p:xfrm>
          <a:off xmlns:a="http://schemas.openxmlformats.org/drawingml/2006/main" x="762000" y="2276475"/>
          <a:ext xmlns:a="http://schemas.openxmlformats.org/drawingml/2006/main" cx="10668000" cy="2905125"/>
        </p:xfrm>
        <a:graphic xmlns:a="http://schemas.openxmlformats.org/drawingml/2006/main">
          <a:graphicData uri="http://schemas.openxmlformats.org/drawingml/2006/table">
            <a:tbl>
              <a:tblPr firstRow="0" firstCol="0" bandRow="0"/>
              <a:tblGrid>
                <a:gridCol w="3619500"/>
                <a:gridCol w="2762250"/>
                <a:gridCol w="4286250"/>
              </a:tblGrid>
              <a:tr h="581025">
                <a:tc>
                  <a:txBody>
                    <a:bodyPr anchor="ctr"/>
                    <a:lstStyle/>
                    <a:p>
                      <a:pPr algn="ctr"/>
                      <a:r>
                        <a:rPr sz="1725" b="1">
                          <a:solidFill>
                            <a:srgbClr val="147D78"/>
                          </a:solidFill>
                          <a:latin typeface="Segoe UI"/>
                          <a:ea typeface="Segoe UI"/>
                          <a:cs typeface="Segoe UI"/>
                        </a:rPr>
                        <a:t>Thành phần</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725" b="1">
                          <a:solidFill>
                            <a:srgbClr val="147D78"/>
                          </a:solidFill>
                          <a:latin typeface="Segoe UI"/>
                          <a:ea typeface="Segoe UI"/>
                          <a:cs typeface="Segoe UI"/>
                        </a:rPr>
                        <a:t>Chi phí tuần tự</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725" b="1">
                          <a:solidFill>
                            <a:srgbClr val="147D78"/>
                          </a:solidFill>
                          <a:latin typeface="Segoe UI"/>
                          <a:ea typeface="Segoe UI"/>
                          <a:cs typeface="Segoe UI"/>
                        </a:rPr>
                        <a:t>Lưu ý của bản hiện tại</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581025">
                <a:tc>
                  <a:txBody>
                    <a:bodyPr anchor="ctr"/>
                    <a:lstStyle/>
                    <a:p>
                      <a:pPr algn="ctr"/>
                      <a:r>
                        <a:rPr sz="1725">
                          <a:solidFill>
                            <a:srgbClr val="142D3B"/>
                          </a:solidFill>
                          <a:latin typeface="Segoe UI"/>
                          <a:ea typeface="Segoe UI"/>
                          <a:cs typeface="Segoe UI"/>
                        </a:rPr>
                        <a:t>Khoảng cách từng cặp</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O(k²L²)</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Gọi Gotoh lưu bảng đầy đủ</a:t>
                      </a:r>
                    </a:p>
                  </a:txBody>
                  <a:tcPr marL="76200" marR="76200" marT="57150" marB="57150" anchor="ctr">
                    <a:lnR w="9525">
                      <a:solidFill>
                        <a:srgbClr val="D7DED6"/>
                      </a:solidFill>
                    </a:lnR>
                    <a:lnB w="9525">
                      <a:solidFill>
                        <a:srgbClr val="D7DED6"/>
                      </a:solidFill>
                    </a:lnB>
                    <a:solidFill>
                      <a:srgbClr val="F7F5EF"/>
                    </a:solidFill>
                  </a:tcPr>
                </a:tc>
              </a:tr>
              <a:tr h="581025">
                <a:tc>
                  <a:txBody>
                    <a:bodyPr anchor="ctr"/>
                    <a:lstStyle/>
                    <a:p>
                      <a:pPr algn="ctr"/>
                      <a:r>
                        <a:rPr sz="1725">
                          <a:solidFill>
                            <a:srgbClr val="142D3B"/>
                          </a:solidFill>
                          <a:latin typeface="Segoe UI"/>
                          <a:ea typeface="Segoe UI"/>
                          <a:cs typeface="Segoe UI"/>
                        </a:rPr>
                        <a:t>UPGMA quét cặp gần nhất</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O(k³)</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Mỗi lượt quét bảng các cụm</a:t>
                      </a:r>
                    </a:p>
                  </a:txBody>
                  <a:tcPr marL="76200" marR="76200" marT="57150" marB="57150" anchor="ctr">
                    <a:lnR w="9525">
                      <a:solidFill>
                        <a:srgbClr val="D7DED6"/>
                      </a:solidFill>
                    </a:lnR>
                    <a:lnB w="9525">
                      <a:solidFill>
                        <a:srgbClr val="D7DED6"/>
                      </a:solidFill>
                    </a:lnB>
                    <a:solidFill>
                      <a:srgbClr val="F7F5EF"/>
                    </a:solidFill>
                  </a:tcPr>
                </a:tc>
              </a:tr>
              <a:tr h="581025">
                <a:tc>
                  <a:txBody>
                    <a:bodyPr anchor="ctr"/>
                    <a:lstStyle/>
                    <a:p>
                      <a:pPr algn="ctr"/>
                      <a:r>
                        <a:rPr sz="1725">
                          <a:solidFill>
                            <a:srgbClr val="142D3B"/>
                          </a:solidFill>
                          <a:latin typeface="Segoe UI"/>
                          <a:ea typeface="Segoe UI"/>
                          <a:cs typeface="Segoe UI"/>
                        </a:rPr>
                        <a:t>Myers–Miller chuẩn</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O(mn), DP O(min(m,n))</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Cần tái sử dụng vùng nhớ đúng</a:t>
                      </a:r>
                    </a:p>
                  </a:txBody>
                  <a:tcPr marL="76200" marR="76200" marT="57150" marB="57150" anchor="ctr">
                    <a:lnR w="9525">
                      <a:solidFill>
                        <a:srgbClr val="D7DED6"/>
                      </a:solidFill>
                    </a:lnR>
                    <a:lnB w="9525">
                      <a:solidFill>
                        <a:srgbClr val="D7DED6"/>
                      </a:solidFill>
                    </a:lnB>
                    <a:solidFill>
                      <a:srgbClr val="F7F5EF"/>
                    </a:solidFill>
                  </a:tcPr>
                </a:tc>
              </a:tr>
              <a:tr h="581025">
                <a:tc>
                  <a:txBody>
                    <a:bodyPr anchor="ctr"/>
                    <a:lstStyle/>
                    <a:p>
                      <a:pPr algn="ctr"/>
                      <a:r>
                        <a:rPr sz="1725">
                          <a:solidFill>
                            <a:srgbClr val="142D3B"/>
                          </a:solidFill>
                          <a:latin typeface="Segoe UI"/>
                          <a:ea typeface="Segoe UI"/>
                          <a:cs typeface="Segoe UI"/>
                        </a:rPr>
                        <a:t>Ghép progressive</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Σ O(mᵥnᵥ)</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Độ dài profile thay đổi theo nút</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5" name="Code hiện chưa hoán đổi chiều và giữ vector cha trong lúc đệ quy.">
            <a:extLst xmlns:a="http://schemas.openxmlformats.org/drawingml/2006/main">
              <a:ext uri="{FF2B5EF4-FFF2-40B4-BE49-F238E27FC236}">
                <a16:creationId xmlns:a16="http://schemas.microsoft.com/office/drawing/2014/main" id="{C439BA33-1F62-4627-863F-7F0CA41A6BA2}"/>
              </a:ext>
            </a:extLst>
          </p:cNvPr>
          <p:cNvSpPr>
            <a:spLocks xmlns:a="http://schemas.openxmlformats.org/drawingml/2006/main" noGrp="1"/>
          </p:cNvSpPr>
          <p:nvPr/>
        </p:nvSpPr>
        <p:spPr>
          <a:xfrm xmlns:a="http://schemas.openxmlformats.org/drawingml/2006/main">
            <a:off x="762000" y="54578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61716F"/>
                </a:solidFill>
                <a:latin typeface="Segoe UI"/>
                <a:ea typeface="Segoe UI"/>
                <a:cs typeface="Segoe UI"/>
              </a:defRPr>
            </a:defPPr>
            <a:lvl1pPr algn="l">
              <a:defRPr sz="1800" b="0">
                <a:solidFill>
                  <a:srgbClr val="61716F"/>
                </a:solidFill>
                <a:latin typeface="Segoe UI"/>
                <a:ea typeface="Segoe UI"/>
                <a:cs typeface="Segoe UI"/>
              </a:defRPr>
            </a:lvl1pPr>
            <a:lvl2pPr algn="l">
              <a:defRPr sz="1800" b="0">
                <a:solidFill>
                  <a:srgbClr val="61716F"/>
                </a:solidFill>
                <a:latin typeface="Segoe UI"/>
                <a:ea typeface="Segoe UI"/>
                <a:cs typeface="Segoe UI"/>
              </a:defRPr>
            </a:lvl2pPr>
            <a:lvl3pPr algn="l">
              <a:defRPr sz="1800" b="0">
                <a:solidFill>
                  <a:srgbClr val="61716F"/>
                </a:solidFill>
                <a:latin typeface="Segoe UI"/>
                <a:ea typeface="Segoe UI"/>
                <a:cs typeface="Segoe UI"/>
              </a:defRPr>
            </a:lvl3pPr>
            <a:lvl4pPr algn="l">
              <a:defRPr sz="1800" b="0">
                <a:solidFill>
                  <a:srgbClr val="61716F"/>
                </a:solidFill>
                <a:latin typeface="Segoe UI"/>
                <a:ea typeface="Segoe UI"/>
                <a:cs typeface="Segoe UI"/>
              </a:defRPr>
            </a:lvl4pPr>
            <a:lvl5pPr algn="l">
              <a:defRPr sz="1800" b="0">
                <a:solidFill>
                  <a:srgbClr val="61716F"/>
                </a:solidFill>
                <a:latin typeface="Segoe UI"/>
                <a:ea typeface="Segoe UI"/>
                <a:cs typeface="Segoe UI"/>
              </a:defRPr>
            </a:lvl5pPr>
            <a:lvl6pPr algn="l">
              <a:defRPr sz="1800" b="0">
                <a:solidFill>
                  <a:srgbClr val="61716F"/>
                </a:solidFill>
                <a:latin typeface="Segoe UI"/>
                <a:ea typeface="Segoe UI"/>
                <a:cs typeface="Segoe UI"/>
              </a:defRPr>
            </a:lvl6pPr>
            <a:lvl7pPr algn="l">
              <a:defRPr sz="1800" b="0">
                <a:solidFill>
                  <a:srgbClr val="61716F"/>
                </a:solidFill>
                <a:latin typeface="Segoe UI"/>
                <a:ea typeface="Segoe UI"/>
                <a:cs typeface="Segoe UI"/>
              </a:defRPr>
            </a:lvl7pPr>
            <a:lvl8pPr algn="l">
              <a:defRPr sz="1800" b="0">
                <a:solidFill>
                  <a:srgbClr val="61716F"/>
                </a:solidFill>
                <a:latin typeface="Segoe UI"/>
                <a:ea typeface="Segoe UI"/>
                <a:cs typeface="Segoe UI"/>
              </a:defRPr>
            </a:lvl8pPr>
            <a:lvl9pPr algn="l">
              <a:defRPr sz="1800" b="0">
                <a:solidFill>
                  <a:srgbClr val="61716F"/>
                </a:solidFill>
                <a:latin typeface="Segoe UI"/>
                <a:ea typeface="Segoe UI"/>
                <a:cs typeface="Segoe UI"/>
              </a:defRPr>
            </a:lvl9pPr>
          </a:lstStyle>
          <a:p xmlns:a="http://schemas.openxmlformats.org/drawingml/2006/main">
            <a:pPr algn="l">
              <a:defRPr sz="1800" b="0">
                <a:solidFill>
                  <a:srgbClr val="61716F"/>
                </a:solidFill>
                <a:latin typeface="Segoe UI"/>
                <a:ea typeface="Segoe UI"/>
                <a:cs typeface="Segoe UI"/>
              </a:defRPr>
            </a:pPr>
            <a:r>
              <a:rPr sz="1800" b="0">
                <a:solidFill>
                  <a:srgbClr val="61716F"/>
                </a:solidFill>
                <a:latin typeface="Segoe UI"/>
                <a:ea typeface="Segoe UI"/>
                <a:cs typeface="Segoe UI"/>
              </a:rPr>
              <a:t>Code hiện chưa hoán đổi chiều và giữ vector cha trong lúc đệ quy.</a:t>
            </a:r>
          </a:p>
        </p:txBody>
      </p:sp>
      <p:sp>
        <p:nvSpPr>
          <p:cNvPr id="6" name="Chưa thể dùng công thức 2(min(m,n)+1) để chứng minh peak RAM.">
            <a:extLst xmlns:a="http://schemas.openxmlformats.org/drawingml/2006/main">
              <a:ext uri="{FF2B5EF4-FFF2-40B4-BE49-F238E27FC236}">
                <a16:creationId xmlns:a16="http://schemas.microsoft.com/office/drawing/2014/main" id="{E809DB3C-B62C-4857-B7A5-FB4000752644}"/>
              </a:ext>
            </a:extLst>
          </p:cNvPr>
          <p:cNvSpPr>
            <a:spLocks xmlns:a="http://schemas.openxmlformats.org/drawingml/2006/main" noGrp="1"/>
          </p:cNvSpPr>
          <p:nvPr/>
        </p:nvSpPr>
        <p:spPr>
          <a:xfrm xmlns:a="http://schemas.openxmlformats.org/drawingml/2006/main">
            <a:off x="762000" y="58293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00" b="0">
                <a:solidFill>
                  <a:srgbClr val="61716F"/>
                </a:solidFill>
                <a:latin typeface="Segoe UI"/>
                <a:ea typeface="Segoe UI"/>
                <a:cs typeface="Segoe UI"/>
              </a:defRPr>
            </a:defPPr>
            <a:lvl1pPr algn="l">
              <a:defRPr sz="1800" b="0">
                <a:solidFill>
                  <a:srgbClr val="61716F"/>
                </a:solidFill>
                <a:latin typeface="Segoe UI"/>
                <a:ea typeface="Segoe UI"/>
                <a:cs typeface="Segoe UI"/>
              </a:defRPr>
            </a:lvl1pPr>
            <a:lvl2pPr algn="l">
              <a:defRPr sz="1800" b="0">
                <a:solidFill>
                  <a:srgbClr val="61716F"/>
                </a:solidFill>
                <a:latin typeface="Segoe UI"/>
                <a:ea typeface="Segoe UI"/>
                <a:cs typeface="Segoe UI"/>
              </a:defRPr>
            </a:lvl2pPr>
            <a:lvl3pPr algn="l">
              <a:defRPr sz="1800" b="0">
                <a:solidFill>
                  <a:srgbClr val="61716F"/>
                </a:solidFill>
                <a:latin typeface="Segoe UI"/>
                <a:ea typeface="Segoe UI"/>
                <a:cs typeface="Segoe UI"/>
              </a:defRPr>
            </a:lvl3pPr>
            <a:lvl4pPr algn="l">
              <a:defRPr sz="1800" b="0">
                <a:solidFill>
                  <a:srgbClr val="61716F"/>
                </a:solidFill>
                <a:latin typeface="Segoe UI"/>
                <a:ea typeface="Segoe UI"/>
                <a:cs typeface="Segoe UI"/>
              </a:defRPr>
            </a:lvl4pPr>
            <a:lvl5pPr algn="l">
              <a:defRPr sz="1800" b="0">
                <a:solidFill>
                  <a:srgbClr val="61716F"/>
                </a:solidFill>
                <a:latin typeface="Segoe UI"/>
                <a:ea typeface="Segoe UI"/>
                <a:cs typeface="Segoe UI"/>
              </a:defRPr>
            </a:lvl5pPr>
            <a:lvl6pPr algn="l">
              <a:defRPr sz="1800" b="0">
                <a:solidFill>
                  <a:srgbClr val="61716F"/>
                </a:solidFill>
                <a:latin typeface="Segoe UI"/>
                <a:ea typeface="Segoe UI"/>
                <a:cs typeface="Segoe UI"/>
              </a:defRPr>
            </a:lvl6pPr>
            <a:lvl7pPr algn="l">
              <a:defRPr sz="1800" b="0">
                <a:solidFill>
                  <a:srgbClr val="61716F"/>
                </a:solidFill>
                <a:latin typeface="Segoe UI"/>
                <a:ea typeface="Segoe UI"/>
                <a:cs typeface="Segoe UI"/>
              </a:defRPr>
            </a:lvl7pPr>
            <a:lvl8pPr algn="l">
              <a:defRPr sz="1800" b="0">
                <a:solidFill>
                  <a:srgbClr val="61716F"/>
                </a:solidFill>
                <a:latin typeface="Segoe UI"/>
                <a:ea typeface="Segoe UI"/>
                <a:cs typeface="Segoe UI"/>
              </a:defRPr>
            </a:lvl8pPr>
            <a:lvl9pPr algn="l">
              <a:defRPr sz="1800" b="0">
                <a:solidFill>
                  <a:srgbClr val="61716F"/>
                </a:solidFill>
                <a:latin typeface="Segoe UI"/>
                <a:ea typeface="Segoe UI"/>
                <a:cs typeface="Segoe UI"/>
              </a:defRPr>
            </a:lvl9pPr>
          </a:lstStyle>
          <a:p xmlns:a="http://schemas.openxmlformats.org/drawingml/2006/main">
            <a:pPr algn="l">
              <a:defRPr sz="1800" b="0">
                <a:solidFill>
                  <a:srgbClr val="61716F"/>
                </a:solidFill>
                <a:latin typeface="Segoe UI"/>
                <a:ea typeface="Segoe UI"/>
                <a:cs typeface="Segoe UI"/>
              </a:defRPr>
            </a:pPr>
            <a:r>
              <a:rPr sz="1800" b="0">
                <a:solidFill>
                  <a:srgbClr val="61716F"/>
                </a:solidFill>
                <a:latin typeface="Segoe UI"/>
                <a:ea typeface="Segoe UI"/>
                <a:cs typeface="Segoe UI"/>
              </a:rPr>
              <a:t>Chưa thể dùng công thức 2(min(m,n)+1) để chứng minh peak RAM.</a:t>
            </a:r>
          </a:p>
        </p:txBody>
      </p:sp>
    </p:spTree>
    <p:extLst>
      <p:ext uri="{BB962C8B-B14F-4D97-AF65-F5344CB8AC3E}">
        <p14:creationId xmlns:p14="http://schemas.microsoft.com/office/powerpoint/2010/main" val="770333932"/>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27">
            <a:extLst xmlns:a="http://schemas.openxmlformats.org/drawingml/2006/main">
              <a:ext uri="{FF2B5EF4-FFF2-40B4-BE49-F238E27FC236}">
                <a16:creationId xmlns:a16="http://schemas.microsoft.com/office/drawing/2014/main" id="{86AECF15-C9F9-40DB-ADC9-71D1366301D2}"/>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27</a:t>
            </a:r>
          </a:p>
        </p:txBody>
      </p:sp>
      <p:sp>
        <p:nvSpPr>
          <p:cNvPr id="2" name="Phụ lục: 13 ca đánh giá BAliBASE">
            <a:extLst xmlns:a="http://schemas.openxmlformats.org/drawingml/2006/main">
              <a:ext uri="{FF2B5EF4-FFF2-40B4-BE49-F238E27FC236}">
                <a16:creationId xmlns:a16="http://schemas.microsoft.com/office/drawing/2014/main" id="{E44C186F-4D7A-4418-9972-8AFFA8416EDB}"/>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Phụ lục: 13 ca đánh giá BAliBASE</a:t>
            </a:r>
          </a:p>
        </p:txBody>
      </p:sp>
      <p:sp>
        <p:nvSpPr>
          <p:cNvPr id="3" name="Chỉ nhóm BAliBASE_Accuracy trong CSV">
            <a:extLst xmlns:a="http://schemas.openxmlformats.org/drawingml/2006/main">
              <a:ext uri="{FF2B5EF4-FFF2-40B4-BE49-F238E27FC236}">
                <a16:creationId xmlns:a16="http://schemas.microsoft.com/office/drawing/2014/main" id="{28EB7EC5-AA55-43B9-B0A3-293F658E339C}"/>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Chỉ nhóm BAliBASE_Accuracy trong CSV</a:t>
            </a:r>
          </a:p>
        </p:txBody>
      </p:sp>
      <p:graphicFrame>
        <p:nvGraphicFramePr>
          <p:cNvPr id="4" name="">
            <a:extLst xmlns:a="http://schemas.openxmlformats.org/drawingml/2006/main">
              <a:ext uri="{FF2B5EF4-FFF2-40B4-BE49-F238E27FC236}">
                <a16:creationId xmlns:a16="http://schemas.microsoft.com/office/drawing/2014/main" id="{10889344-836F-41B8-9329-F74F6A939CC7}"/>
              </a:ext>
            </a:extLst>
          </p:cNvPr>
          <p:cNvGraphicFramePr/>
          <p:nvPr/>
        </p:nvGraphicFramePr>
        <p:xfrm>
          <a:off xmlns:a="http://schemas.openxmlformats.org/drawingml/2006/main" x="762000" y="2247900"/>
          <a:ext xmlns:a="http://schemas.openxmlformats.org/drawingml/2006/main" cx="5095875" cy="3190875"/>
        </p:xfrm>
        <a:graphic xmlns:a="http://schemas.openxmlformats.org/drawingml/2006/main">
          <a:graphicData uri="http://schemas.openxmlformats.org/drawingml/2006/table">
            <a:tbl>
              <a:tblPr firstRow="0" firstCol="0" bandRow="0"/>
              <a:tblGrid>
                <a:gridCol w="2238375"/>
                <a:gridCol w="1428750"/>
                <a:gridCol w="1428750"/>
              </a:tblGrid>
              <a:tr h="398859">
                <a:tc>
                  <a:txBody>
                    <a:bodyPr anchor="ctr"/>
                    <a:lstStyle/>
                    <a:p>
                      <a:pPr algn="ctr"/>
                      <a:r>
                        <a:rPr sz="1725" b="1">
                          <a:solidFill>
                            <a:srgbClr val="147D78"/>
                          </a:solidFill>
                          <a:latin typeface="Segoe UI"/>
                          <a:ea typeface="Segoe UI"/>
                          <a:cs typeface="Segoe UI"/>
                        </a:rPr>
                        <a:t>Bộ dữ liệu</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725" b="1">
                          <a:solidFill>
                            <a:srgbClr val="147D78"/>
                          </a:solidFill>
                          <a:latin typeface="Segoe UI"/>
                          <a:ea typeface="Segoe UI"/>
                          <a:cs typeface="Segoe UI"/>
                        </a:rPr>
                        <a:t>SP</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725" b="1">
                          <a:solidFill>
                            <a:srgbClr val="147D78"/>
                          </a:solidFill>
                          <a:latin typeface="Segoe UI"/>
                          <a:ea typeface="Segoe UI"/>
                          <a:cs typeface="Segoe UI"/>
                        </a:rPr>
                        <a:t>TC</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398859">
                <a:tc>
                  <a:txBody>
                    <a:bodyPr anchor="ctr"/>
                    <a:lstStyle/>
                    <a:p>
                      <a:pPr algn="ctr"/>
                      <a:r>
                        <a:rPr sz="1725">
                          <a:solidFill>
                            <a:srgbClr val="142D3B"/>
                          </a:solidFill>
                          <a:latin typeface="Segoe UI"/>
                          <a:ea typeface="Segoe UI"/>
                          <a:cs typeface="Segoe UI"/>
                        </a:rPr>
                        <a:t>BB11001</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0.9825</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0.9649</a:t>
                      </a:r>
                    </a:p>
                  </a:txBody>
                  <a:tcPr marL="76200" marR="76200" marT="57150" marB="57150" anchor="ctr">
                    <a:lnR w="9525">
                      <a:solidFill>
                        <a:srgbClr val="D7DED6"/>
                      </a:solidFill>
                    </a:lnR>
                    <a:lnB w="9525">
                      <a:solidFill>
                        <a:srgbClr val="D7DED6"/>
                      </a:solidFill>
                    </a:lnB>
                    <a:solidFill>
                      <a:srgbClr val="F7F5EF"/>
                    </a:solidFill>
                  </a:tcPr>
                </a:tc>
              </a:tr>
              <a:tr h="398859">
                <a:tc>
                  <a:txBody>
                    <a:bodyPr anchor="ctr"/>
                    <a:lstStyle/>
                    <a:p>
                      <a:pPr algn="ctr"/>
                      <a:r>
                        <a:rPr sz="1725">
                          <a:solidFill>
                            <a:srgbClr val="142D3B"/>
                          </a:solidFill>
                          <a:latin typeface="Segoe UI"/>
                          <a:ea typeface="Segoe UI"/>
                          <a:cs typeface="Segoe UI"/>
                        </a:rPr>
                        <a:t>BB11002</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0.4454</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0.0000</a:t>
                      </a:r>
                    </a:p>
                  </a:txBody>
                  <a:tcPr marL="76200" marR="76200" marT="57150" marB="57150" anchor="ctr">
                    <a:lnR w="9525">
                      <a:solidFill>
                        <a:srgbClr val="D7DED6"/>
                      </a:solidFill>
                    </a:lnR>
                    <a:lnB w="9525">
                      <a:solidFill>
                        <a:srgbClr val="D7DED6"/>
                      </a:solidFill>
                    </a:lnB>
                    <a:solidFill>
                      <a:srgbClr val="F7F5EF"/>
                    </a:solidFill>
                  </a:tcPr>
                </a:tc>
              </a:tr>
              <a:tr h="398859">
                <a:tc>
                  <a:txBody>
                    <a:bodyPr anchor="ctr"/>
                    <a:lstStyle/>
                    <a:p>
                      <a:pPr algn="ctr"/>
                      <a:r>
                        <a:rPr sz="1725">
                          <a:solidFill>
                            <a:srgbClr val="142D3B"/>
                          </a:solidFill>
                          <a:latin typeface="Segoe UI"/>
                          <a:ea typeface="Segoe UI"/>
                          <a:cs typeface="Segoe UI"/>
                        </a:rPr>
                        <a:t>BB11003</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0.4845</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0.3482</a:t>
                      </a:r>
                    </a:p>
                  </a:txBody>
                  <a:tcPr marL="76200" marR="76200" marT="57150" marB="57150" anchor="ctr">
                    <a:lnR w="9525">
                      <a:solidFill>
                        <a:srgbClr val="D7DED6"/>
                      </a:solidFill>
                    </a:lnR>
                    <a:lnB w="9525">
                      <a:solidFill>
                        <a:srgbClr val="D7DED6"/>
                      </a:solidFill>
                    </a:lnB>
                    <a:solidFill>
                      <a:srgbClr val="F7F5EF"/>
                    </a:solidFill>
                  </a:tcPr>
                </a:tc>
              </a:tr>
              <a:tr h="398859">
                <a:tc>
                  <a:txBody>
                    <a:bodyPr anchor="ctr"/>
                    <a:lstStyle/>
                    <a:p>
                      <a:pPr algn="ctr"/>
                      <a:r>
                        <a:rPr sz="1725">
                          <a:solidFill>
                            <a:srgbClr val="142D3B"/>
                          </a:solidFill>
                          <a:latin typeface="Segoe UI"/>
                          <a:ea typeface="Segoe UI"/>
                          <a:cs typeface="Segoe UI"/>
                        </a:rPr>
                        <a:t>BB11004</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0.4293</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0.1576</a:t>
                      </a:r>
                    </a:p>
                  </a:txBody>
                  <a:tcPr marL="76200" marR="76200" marT="57150" marB="57150" anchor="ctr">
                    <a:lnR w="9525">
                      <a:solidFill>
                        <a:srgbClr val="D7DED6"/>
                      </a:solidFill>
                    </a:lnR>
                    <a:lnB w="9525">
                      <a:solidFill>
                        <a:srgbClr val="D7DED6"/>
                      </a:solidFill>
                    </a:lnB>
                    <a:solidFill>
                      <a:srgbClr val="F7F5EF"/>
                    </a:solidFill>
                  </a:tcPr>
                </a:tc>
              </a:tr>
              <a:tr h="398859">
                <a:tc>
                  <a:txBody>
                    <a:bodyPr anchor="ctr"/>
                    <a:lstStyle/>
                    <a:p>
                      <a:pPr algn="ctr"/>
                      <a:r>
                        <a:rPr sz="1725">
                          <a:solidFill>
                            <a:srgbClr val="142D3B"/>
                          </a:solidFill>
                          <a:latin typeface="Segoe UI"/>
                          <a:ea typeface="Segoe UI"/>
                          <a:cs typeface="Segoe UI"/>
                        </a:rPr>
                        <a:t>BB11005</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0.3139</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0.0000</a:t>
                      </a:r>
                    </a:p>
                  </a:txBody>
                  <a:tcPr marL="76200" marR="76200" marT="57150" marB="57150" anchor="ctr">
                    <a:lnR w="9525">
                      <a:solidFill>
                        <a:srgbClr val="D7DED6"/>
                      </a:solidFill>
                    </a:lnR>
                    <a:lnB w="9525">
                      <a:solidFill>
                        <a:srgbClr val="D7DED6"/>
                      </a:solidFill>
                    </a:lnB>
                    <a:solidFill>
                      <a:srgbClr val="F7F5EF"/>
                    </a:solidFill>
                  </a:tcPr>
                </a:tc>
              </a:tr>
              <a:tr h="398859">
                <a:tc>
                  <a:txBody>
                    <a:bodyPr anchor="ctr"/>
                    <a:lstStyle/>
                    <a:p>
                      <a:pPr algn="ctr"/>
                      <a:r>
                        <a:rPr sz="1725">
                          <a:solidFill>
                            <a:srgbClr val="142D3B"/>
                          </a:solidFill>
                          <a:latin typeface="Segoe UI"/>
                          <a:ea typeface="Segoe UI"/>
                          <a:cs typeface="Segoe UI"/>
                        </a:rPr>
                        <a:t>BB12001</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0.8529</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0.6885</a:t>
                      </a:r>
                    </a:p>
                  </a:txBody>
                  <a:tcPr marL="76200" marR="76200" marT="57150" marB="57150" anchor="ctr">
                    <a:lnR w="9525">
                      <a:solidFill>
                        <a:srgbClr val="D7DED6"/>
                      </a:solidFill>
                    </a:lnR>
                    <a:lnB w="9525">
                      <a:solidFill>
                        <a:srgbClr val="D7DED6"/>
                      </a:solidFill>
                    </a:lnB>
                    <a:solidFill>
                      <a:srgbClr val="F7F5EF"/>
                    </a:solidFill>
                  </a:tcPr>
                </a:tc>
              </a:tr>
              <a:tr h="398859">
                <a:tc>
                  <a:txBody>
                    <a:bodyPr anchor="ctr"/>
                    <a:lstStyle/>
                    <a:p>
                      <a:pPr algn="ctr"/>
                      <a:r>
                        <a:rPr sz="1725">
                          <a:solidFill>
                            <a:srgbClr val="142D3B"/>
                          </a:solidFill>
                          <a:latin typeface="Segoe UI"/>
                          <a:ea typeface="Segoe UI"/>
                          <a:cs typeface="Segoe UI"/>
                        </a:rPr>
                        <a:t>BB12002</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0.8360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0.6788</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graphicFrame>
        <p:nvGraphicFramePr>
          <p:cNvPr id="5" name="">
            <a:extLst xmlns:a="http://schemas.openxmlformats.org/drawingml/2006/main">
              <a:ext uri="{FF2B5EF4-FFF2-40B4-BE49-F238E27FC236}">
                <a16:creationId xmlns:a16="http://schemas.microsoft.com/office/drawing/2014/main" id="{77E6ECAF-1317-41DA-B2D2-8C1014B76EFE}"/>
              </a:ext>
            </a:extLst>
          </p:cNvPr>
          <p:cNvGraphicFramePr/>
          <p:nvPr/>
        </p:nvGraphicFramePr>
        <p:xfrm>
          <a:off xmlns:a="http://schemas.openxmlformats.org/drawingml/2006/main" x="6334125" y="2247900"/>
          <a:ext xmlns:a="http://schemas.openxmlformats.org/drawingml/2006/main" cx="5095875" cy="3190875"/>
        </p:xfrm>
        <a:graphic xmlns:a="http://schemas.openxmlformats.org/drawingml/2006/main">
          <a:graphicData uri="http://schemas.openxmlformats.org/drawingml/2006/table">
            <a:tbl>
              <a:tblPr firstRow="0" firstCol="0" bandRow="0"/>
              <a:tblGrid>
                <a:gridCol w="2238375"/>
                <a:gridCol w="1428750"/>
                <a:gridCol w="1428750"/>
              </a:tblGrid>
              <a:tr h="455839">
                <a:tc>
                  <a:txBody>
                    <a:bodyPr anchor="ctr"/>
                    <a:lstStyle/>
                    <a:p>
                      <a:pPr algn="ctr"/>
                      <a:r>
                        <a:rPr sz="1725" b="1">
                          <a:solidFill>
                            <a:srgbClr val="147D78"/>
                          </a:solidFill>
                          <a:latin typeface="Segoe UI"/>
                          <a:ea typeface="Segoe UI"/>
                          <a:cs typeface="Segoe UI"/>
                        </a:rPr>
                        <a:t>Bộ dữ liệu</a:t>
                      </a:r>
                    </a:p>
                  </a:txBody>
                  <a:tcPr marL="76200" marR="76200" marT="57150" marB="57150" anchor="ctr">
                    <a:lnL w="9525">
                      <a:solidFill>
                        <a:srgbClr val="D7DED6"/>
                      </a:solidFill>
                    </a:lnL>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725" b="1">
                          <a:solidFill>
                            <a:srgbClr val="147D78"/>
                          </a:solidFill>
                          <a:latin typeface="Segoe UI"/>
                          <a:ea typeface="Segoe UI"/>
                          <a:cs typeface="Segoe UI"/>
                        </a:rPr>
                        <a:t>SP</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c>
                  <a:txBody>
                    <a:bodyPr anchor="ctr"/>
                    <a:lstStyle/>
                    <a:p>
                      <a:pPr algn="ctr"/>
                      <a:r>
                        <a:rPr sz="1725" b="1">
                          <a:solidFill>
                            <a:srgbClr val="147D78"/>
                          </a:solidFill>
                          <a:latin typeface="Segoe UI"/>
                          <a:ea typeface="Segoe UI"/>
                          <a:cs typeface="Segoe UI"/>
                        </a:rPr>
                        <a:t>TC</a:t>
                      </a:r>
                    </a:p>
                  </a:txBody>
                  <a:tcPr marL="76200" marR="76200" marT="57150" marB="57150" anchor="ctr">
                    <a:lnR w="9525">
                      <a:solidFill>
                        <a:srgbClr val="D7DED6"/>
                      </a:solidFill>
                    </a:lnR>
                    <a:lnT w="9525">
                      <a:solidFill>
                        <a:srgbClr val="D7DED6"/>
                      </a:solidFill>
                    </a:lnT>
                    <a:lnB w="9525">
                      <a:solidFill>
                        <a:srgbClr val="D7DED6"/>
                      </a:solidFill>
                    </a:lnB>
                    <a:solidFill>
                      <a:srgbClr val="DDECE6"/>
                    </a:solidFill>
                  </a:tcPr>
                </a:tc>
              </a:tr>
              <a:tr h="455839">
                <a:tc>
                  <a:txBody>
                    <a:bodyPr anchor="ctr"/>
                    <a:lstStyle/>
                    <a:p>
                      <a:pPr algn="ctr"/>
                      <a:r>
                        <a:rPr sz="1725">
                          <a:solidFill>
                            <a:srgbClr val="142D3B"/>
                          </a:solidFill>
                          <a:latin typeface="Segoe UI"/>
                          <a:ea typeface="Segoe UI"/>
                          <a:cs typeface="Segoe UI"/>
                        </a:rPr>
                        <a:t>BB12003</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0.9295</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0.8378</a:t>
                      </a:r>
                    </a:p>
                  </a:txBody>
                  <a:tcPr marL="76200" marR="76200" marT="57150" marB="57150" anchor="ctr">
                    <a:lnR w="9525">
                      <a:solidFill>
                        <a:srgbClr val="D7DED6"/>
                      </a:solidFill>
                    </a:lnR>
                    <a:lnB w="9525">
                      <a:solidFill>
                        <a:srgbClr val="D7DED6"/>
                      </a:solidFill>
                    </a:lnB>
                    <a:solidFill>
                      <a:srgbClr val="F7F5EF"/>
                    </a:solidFill>
                  </a:tcPr>
                </a:tc>
              </a:tr>
              <a:tr h="455839">
                <a:tc>
                  <a:txBody>
                    <a:bodyPr anchor="ctr"/>
                    <a:lstStyle/>
                    <a:p>
                      <a:pPr algn="ctr"/>
                      <a:r>
                        <a:rPr sz="1725">
                          <a:solidFill>
                            <a:srgbClr val="142D3B"/>
                          </a:solidFill>
                          <a:latin typeface="Segoe UI"/>
                          <a:ea typeface="Segoe UI"/>
                          <a:cs typeface="Segoe UI"/>
                        </a:rPr>
                        <a:t>BB12004</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0.8684</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0.5921</a:t>
                      </a:r>
                    </a:p>
                  </a:txBody>
                  <a:tcPr marL="76200" marR="76200" marT="57150" marB="57150" anchor="ctr">
                    <a:lnR w="9525">
                      <a:solidFill>
                        <a:srgbClr val="D7DED6"/>
                      </a:solidFill>
                    </a:lnR>
                    <a:lnB w="9525">
                      <a:solidFill>
                        <a:srgbClr val="D7DED6"/>
                      </a:solidFill>
                    </a:lnB>
                    <a:solidFill>
                      <a:srgbClr val="F7F5EF"/>
                    </a:solidFill>
                  </a:tcPr>
                </a:tc>
              </a:tr>
              <a:tr h="455839">
                <a:tc>
                  <a:txBody>
                    <a:bodyPr anchor="ctr"/>
                    <a:lstStyle/>
                    <a:p>
                      <a:pPr algn="ctr"/>
                      <a:r>
                        <a:rPr sz="1725">
                          <a:solidFill>
                            <a:srgbClr val="142D3B"/>
                          </a:solidFill>
                          <a:latin typeface="Segoe UI"/>
                          <a:ea typeface="Segoe UI"/>
                          <a:cs typeface="Segoe UI"/>
                        </a:rPr>
                        <a:t>BB12005</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0.8552</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0.6058</a:t>
                      </a:r>
                    </a:p>
                  </a:txBody>
                  <a:tcPr marL="76200" marR="76200" marT="57150" marB="57150" anchor="ctr">
                    <a:lnR w="9525">
                      <a:solidFill>
                        <a:srgbClr val="D7DED6"/>
                      </a:solidFill>
                    </a:lnR>
                    <a:lnB w="9525">
                      <a:solidFill>
                        <a:srgbClr val="D7DED6"/>
                      </a:solidFill>
                    </a:lnB>
                    <a:solidFill>
                      <a:srgbClr val="F7F5EF"/>
                    </a:solidFill>
                  </a:tcPr>
                </a:tc>
              </a:tr>
              <a:tr h="455839">
                <a:tc>
                  <a:txBody>
                    <a:bodyPr anchor="ctr"/>
                    <a:lstStyle/>
                    <a:p>
                      <a:pPr algn="ctr"/>
                      <a:r>
                        <a:rPr sz="1725">
                          <a:solidFill>
                            <a:srgbClr val="142D3B"/>
                          </a:solidFill>
                          <a:latin typeface="Segoe UI"/>
                          <a:ea typeface="Segoe UI"/>
                          <a:cs typeface="Segoe UI"/>
                        </a:rPr>
                        <a:t>BB20001</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0.4880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0.0000</a:t>
                      </a:r>
                    </a:p>
                  </a:txBody>
                  <a:tcPr marL="76200" marR="76200" marT="57150" marB="57150" anchor="ctr">
                    <a:lnR w="9525">
                      <a:solidFill>
                        <a:srgbClr val="D7DED6"/>
                      </a:solidFill>
                    </a:lnR>
                    <a:lnB w="9525">
                      <a:solidFill>
                        <a:srgbClr val="D7DED6"/>
                      </a:solidFill>
                    </a:lnB>
                    <a:solidFill>
                      <a:srgbClr val="F7F5EF"/>
                    </a:solidFill>
                  </a:tcPr>
                </a:tc>
              </a:tr>
              <a:tr h="455839">
                <a:tc>
                  <a:txBody>
                    <a:bodyPr anchor="ctr"/>
                    <a:lstStyle/>
                    <a:p>
                      <a:pPr algn="ctr"/>
                      <a:r>
                        <a:rPr sz="1725">
                          <a:solidFill>
                            <a:srgbClr val="142D3B"/>
                          </a:solidFill>
                          <a:latin typeface="Segoe UI"/>
                          <a:ea typeface="Segoe UI"/>
                          <a:cs typeface="Segoe UI"/>
                        </a:rPr>
                        <a:t>BB20002</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0.2589</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0.0000</a:t>
                      </a:r>
                    </a:p>
                  </a:txBody>
                  <a:tcPr marL="76200" marR="76200" marT="57150" marB="57150" anchor="ctr">
                    <a:lnR w="9525">
                      <a:solidFill>
                        <a:srgbClr val="D7DED6"/>
                      </a:solidFill>
                    </a:lnR>
                    <a:lnB w="9525">
                      <a:solidFill>
                        <a:srgbClr val="D7DED6"/>
                      </a:solidFill>
                    </a:lnB>
                    <a:solidFill>
                      <a:srgbClr val="F7F5EF"/>
                    </a:solidFill>
                  </a:tcPr>
                </a:tc>
              </a:tr>
              <a:tr h="455839">
                <a:tc>
                  <a:txBody>
                    <a:bodyPr anchor="ctr"/>
                    <a:lstStyle/>
                    <a:p>
                      <a:pPr algn="ctr"/>
                      <a:r>
                        <a:rPr sz="1725">
                          <a:solidFill>
                            <a:srgbClr val="142D3B"/>
                          </a:solidFill>
                          <a:latin typeface="Segoe UI"/>
                          <a:ea typeface="Segoe UI"/>
                          <a:cs typeface="Segoe UI"/>
                        </a:rPr>
                        <a:t>BB20003</a:t>
                      </a:r>
                    </a:p>
                  </a:txBody>
                  <a:tcPr marL="76200" marR="76200" marT="57150" marB="57150" anchor="ctr">
                    <a:lnL w="9525">
                      <a:solidFill>
                        <a:srgbClr val="D7DED6"/>
                      </a:solidFill>
                    </a:lnL>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0.9200</a:t>
                      </a:r>
                    </a:p>
                  </a:txBody>
                  <a:tcPr marL="76200" marR="76200" marT="57150" marB="57150" anchor="ctr">
                    <a:lnR w="9525">
                      <a:solidFill>
                        <a:srgbClr val="D7DED6"/>
                      </a:solidFill>
                    </a:lnR>
                    <a:lnB w="9525">
                      <a:solidFill>
                        <a:srgbClr val="D7DED6"/>
                      </a:solidFill>
                    </a:lnB>
                    <a:solidFill>
                      <a:srgbClr val="F7F5EF"/>
                    </a:solidFill>
                  </a:tcPr>
                </a:tc>
                <a:tc>
                  <a:txBody>
                    <a:bodyPr anchor="ctr"/>
                    <a:lstStyle/>
                    <a:p>
                      <a:pPr algn="ctr"/>
                      <a:r>
                        <a:rPr sz="1725">
                          <a:solidFill>
                            <a:srgbClr val="142D3B"/>
                          </a:solidFill>
                          <a:latin typeface="Segoe UI"/>
                          <a:ea typeface="Segoe UI"/>
                          <a:cs typeface="Segoe UI"/>
                        </a:rPr>
                        <a:t>0.0000</a:t>
                      </a:r>
                    </a:p>
                  </a:txBody>
                  <a:tcPr marL="76200" marR="76200" marT="57150" marB="57150" anchor="ctr">
                    <a:lnR w="9525">
                      <a:solidFill>
                        <a:srgbClr val="D7DED6"/>
                      </a:solidFill>
                    </a:lnR>
                    <a:lnB w="9525">
                      <a:solidFill>
                        <a:srgbClr val="D7DED6"/>
                      </a:solidFill>
                    </a:lnB>
                    <a:solidFill>
                      <a:srgbClr val="F7F5EF"/>
                    </a:solidFill>
                  </a:tcPr>
                </a:tc>
              </a:tr>
            </a:tbl>
          </a:graphicData>
        </a:graphic>
      </p:graphicFrame>
      <p:sp>
        <p:nvSpPr>
          <p:cNvPr id="6" name="TC của code bỏ cột tham chiếu có gap; tùy cờ, chỉ xét core block.">
            <a:extLst xmlns:a="http://schemas.openxmlformats.org/drawingml/2006/main">
              <a:ext uri="{FF2B5EF4-FFF2-40B4-BE49-F238E27FC236}">
                <a16:creationId xmlns:a16="http://schemas.microsoft.com/office/drawing/2014/main" id="{FD9B95C7-860E-41B4-A2AA-F96451B70CD5}"/>
              </a:ext>
            </a:extLst>
          </p:cNvPr>
          <p:cNvSpPr>
            <a:spLocks xmlns:a="http://schemas.openxmlformats.org/drawingml/2006/main" noGrp="1"/>
          </p:cNvSpPr>
          <p:nvPr/>
        </p:nvSpPr>
        <p:spPr>
          <a:xfrm xmlns:a="http://schemas.openxmlformats.org/drawingml/2006/main">
            <a:off x="762000" y="56578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725" b="0">
                <a:solidFill>
                  <a:srgbClr val="61716F"/>
                </a:solidFill>
                <a:latin typeface="Segoe UI"/>
                <a:ea typeface="Segoe UI"/>
                <a:cs typeface="Segoe UI"/>
              </a:defRPr>
            </a:defPPr>
            <a:lvl1pPr algn="l">
              <a:defRPr sz="1725" b="0">
                <a:solidFill>
                  <a:srgbClr val="61716F"/>
                </a:solidFill>
                <a:latin typeface="Segoe UI"/>
                <a:ea typeface="Segoe UI"/>
                <a:cs typeface="Segoe UI"/>
              </a:defRPr>
            </a:lvl1pPr>
            <a:lvl2pPr algn="l">
              <a:defRPr sz="1725" b="0">
                <a:solidFill>
                  <a:srgbClr val="61716F"/>
                </a:solidFill>
                <a:latin typeface="Segoe UI"/>
                <a:ea typeface="Segoe UI"/>
                <a:cs typeface="Segoe UI"/>
              </a:defRPr>
            </a:lvl2pPr>
            <a:lvl3pPr algn="l">
              <a:defRPr sz="1725" b="0">
                <a:solidFill>
                  <a:srgbClr val="61716F"/>
                </a:solidFill>
                <a:latin typeface="Segoe UI"/>
                <a:ea typeface="Segoe UI"/>
                <a:cs typeface="Segoe UI"/>
              </a:defRPr>
            </a:lvl3pPr>
            <a:lvl4pPr algn="l">
              <a:defRPr sz="1725" b="0">
                <a:solidFill>
                  <a:srgbClr val="61716F"/>
                </a:solidFill>
                <a:latin typeface="Segoe UI"/>
                <a:ea typeface="Segoe UI"/>
                <a:cs typeface="Segoe UI"/>
              </a:defRPr>
            </a:lvl4pPr>
            <a:lvl5pPr algn="l">
              <a:defRPr sz="1725" b="0">
                <a:solidFill>
                  <a:srgbClr val="61716F"/>
                </a:solidFill>
                <a:latin typeface="Segoe UI"/>
                <a:ea typeface="Segoe UI"/>
                <a:cs typeface="Segoe UI"/>
              </a:defRPr>
            </a:lvl5pPr>
            <a:lvl6pPr algn="l">
              <a:defRPr sz="1725" b="0">
                <a:solidFill>
                  <a:srgbClr val="61716F"/>
                </a:solidFill>
                <a:latin typeface="Segoe UI"/>
                <a:ea typeface="Segoe UI"/>
                <a:cs typeface="Segoe UI"/>
              </a:defRPr>
            </a:lvl6pPr>
            <a:lvl7pPr algn="l">
              <a:defRPr sz="1725" b="0">
                <a:solidFill>
                  <a:srgbClr val="61716F"/>
                </a:solidFill>
                <a:latin typeface="Segoe UI"/>
                <a:ea typeface="Segoe UI"/>
                <a:cs typeface="Segoe UI"/>
              </a:defRPr>
            </a:lvl7pPr>
            <a:lvl8pPr algn="l">
              <a:defRPr sz="1725" b="0">
                <a:solidFill>
                  <a:srgbClr val="61716F"/>
                </a:solidFill>
                <a:latin typeface="Segoe UI"/>
                <a:ea typeface="Segoe UI"/>
                <a:cs typeface="Segoe UI"/>
              </a:defRPr>
            </a:lvl8pPr>
            <a:lvl9pPr algn="l">
              <a:defRPr sz="1725" b="0">
                <a:solidFill>
                  <a:srgbClr val="61716F"/>
                </a:solidFill>
                <a:latin typeface="Segoe UI"/>
                <a:ea typeface="Segoe UI"/>
                <a:cs typeface="Segoe UI"/>
              </a:defRPr>
            </a:lvl9pPr>
          </a:lstStyle>
          <a:p xmlns:a="http://schemas.openxmlformats.org/drawingml/2006/main">
            <a:pPr algn="l">
              <a:defRPr sz="1725" b="0">
                <a:solidFill>
                  <a:srgbClr val="61716F"/>
                </a:solidFill>
                <a:latin typeface="Segoe UI"/>
                <a:ea typeface="Segoe UI"/>
                <a:cs typeface="Segoe UI"/>
              </a:defRPr>
            </a:pPr>
            <a:r>
              <a:rPr sz="1725" b="0">
                <a:solidFill>
                  <a:srgbClr val="61716F"/>
                </a:solidFill>
                <a:latin typeface="Segoe UI"/>
                <a:ea typeface="Segoe UI"/>
                <a:cs typeface="Segoe UI"/>
              </a:rPr>
              <a:t>TC của code bỏ cột tham chiếu có gap; tùy cờ, chỉ xét core block.</a:t>
            </a:r>
          </a:p>
        </p:txBody>
      </p:sp>
      <p:sp>
        <p:nvSpPr>
          <p:cNvPr id="7" name="Không diễn giải TC=0 thành “không có cặp residue nào căn đúng”.">
            <a:extLst xmlns:a="http://schemas.openxmlformats.org/drawingml/2006/main">
              <a:ext uri="{FF2B5EF4-FFF2-40B4-BE49-F238E27FC236}">
                <a16:creationId xmlns:a16="http://schemas.microsoft.com/office/drawing/2014/main" id="{A01EE422-2140-4319-B2F1-EA8ECD277678}"/>
              </a:ext>
            </a:extLst>
          </p:cNvPr>
          <p:cNvSpPr>
            <a:spLocks xmlns:a="http://schemas.openxmlformats.org/drawingml/2006/main" noGrp="1"/>
          </p:cNvSpPr>
          <p:nvPr/>
        </p:nvSpPr>
        <p:spPr>
          <a:xfrm xmlns:a="http://schemas.openxmlformats.org/drawingml/2006/main">
            <a:off x="762000" y="60102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725" b="0">
                <a:solidFill>
                  <a:srgbClr val="61716F"/>
                </a:solidFill>
                <a:latin typeface="Segoe UI"/>
                <a:ea typeface="Segoe UI"/>
                <a:cs typeface="Segoe UI"/>
              </a:defRPr>
            </a:defPPr>
            <a:lvl1pPr algn="l">
              <a:defRPr sz="1725" b="0">
                <a:solidFill>
                  <a:srgbClr val="61716F"/>
                </a:solidFill>
                <a:latin typeface="Segoe UI"/>
                <a:ea typeface="Segoe UI"/>
                <a:cs typeface="Segoe UI"/>
              </a:defRPr>
            </a:lvl1pPr>
            <a:lvl2pPr algn="l">
              <a:defRPr sz="1725" b="0">
                <a:solidFill>
                  <a:srgbClr val="61716F"/>
                </a:solidFill>
                <a:latin typeface="Segoe UI"/>
                <a:ea typeface="Segoe UI"/>
                <a:cs typeface="Segoe UI"/>
              </a:defRPr>
            </a:lvl2pPr>
            <a:lvl3pPr algn="l">
              <a:defRPr sz="1725" b="0">
                <a:solidFill>
                  <a:srgbClr val="61716F"/>
                </a:solidFill>
                <a:latin typeface="Segoe UI"/>
                <a:ea typeface="Segoe UI"/>
                <a:cs typeface="Segoe UI"/>
              </a:defRPr>
            </a:lvl3pPr>
            <a:lvl4pPr algn="l">
              <a:defRPr sz="1725" b="0">
                <a:solidFill>
                  <a:srgbClr val="61716F"/>
                </a:solidFill>
                <a:latin typeface="Segoe UI"/>
                <a:ea typeface="Segoe UI"/>
                <a:cs typeface="Segoe UI"/>
              </a:defRPr>
            </a:lvl4pPr>
            <a:lvl5pPr algn="l">
              <a:defRPr sz="1725" b="0">
                <a:solidFill>
                  <a:srgbClr val="61716F"/>
                </a:solidFill>
                <a:latin typeface="Segoe UI"/>
                <a:ea typeface="Segoe UI"/>
                <a:cs typeface="Segoe UI"/>
              </a:defRPr>
            </a:lvl5pPr>
            <a:lvl6pPr algn="l">
              <a:defRPr sz="1725" b="0">
                <a:solidFill>
                  <a:srgbClr val="61716F"/>
                </a:solidFill>
                <a:latin typeface="Segoe UI"/>
                <a:ea typeface="Segoe UI"/>
                <a:cs typeface="Segoe UI"/>
              </a:defRPr>
            </a:lvl6pPr>
            <a:lvl7pPr algn="l">
              <a:defRPr sz="1725" b="0">
                <a:solidFill>
                  <a:srgbClr val="61716F"/>
                </a:solidFill>
                <a:latin typeface="Segoe UI"/>
                <a:ea typeface="Segoe UI"/>
                <a:cs typeface="Segoe UI"/>
              </a:defRPr>
            </a:lvl7pPr>
            <a:lvl8pPr algn="l">
              <a:defRPr sz="1725" b="0">
                <a:solidFill>
                  <a:srgbClr val="61716F"/>
                </a:solidFill>
                <a:latin typeface="Segoe UI"/>
                <a:ea typeface="Segoe UI"/>
                <a:cs typeface="Segoe UI"/>
              </a:defRPr>
            </a:lvl8pPr>
            <a:lvl9pPr algn="l">
              <a:defRPr sz="1725" b="0">
                <a:solidFill>
                  <a:srgbClr val="61716F"/>
                </a:solidFill>
                <a:latin typeface="Segoe UI"/>
                <a:ea typeface="Segoe UI"/>
                <a:cs typeface="Segoe UI"/>
              </a:defRPr>
            </a:lvl9pPr>
          </a:lstStyle>
          <a:p xmlns:a="http://schemas.openxmlformats.org/drawingml/2006/main">
            <a:pPr algn="l">
              <a:defRPr sz="1725" b="0">
                <a:solidFill>
                  <a:srgbClr val="61716F"/>
                </a:solidFill>
                <a:latin typeface="Segoe UI"/>
                <a:ea typeface="Segoe UI"/>
                <a:cs typeface="Segoe UI"/>
              </a:defRPr>
            </a:pPr>
            <a:r>
              <a:rPr sz="1725" b="0">
                <a:solidFill>
                  <a:srgbClr val="61716F"/>
                </a:solidFill>
                <a:latin typeface="Segoe UI"/>
                <a:ea typeface="Segoe UI"/>
                <a:cs typeface="Segoe UI"/>
              </a:rPr>
              <a:t>Không diễn giải TC=0 thành “không có cặp residue nào căn đúng”.</a:t>
            </a:r>
          </a:p>
        </p:txBody>
      </p:sp>
    </p:spTree>
    <p:extLst>
      <p:ext uri="{BB962C8B-B14F-4D97-AF65-F5344CB8AC3E}">
        <p14:creationId xmlns:p14="http://schemas.microsoft.com/office/powerpoint/2010/main" val="245880215"/>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28">
            <a:extLst xmlns:a="http://schemas.openxmlformats.org/drawingml/2006/main">
              <a:ext uri="{FF2B5EF4-FFF2-40B4-BE49-F238E27FC236}">
                <a16:creationId xmlns:a16="http://schemas.microsoft.com/office/drawing/2014/main" id="{FBF41660-C470-464D-A994-96C7634D82E7}"/>
              </a:ext>
            </a:extLst>
          </p:cNvPr>
          <p:cNvSpPr>
            <a:spLocks xmlns:a="http://schemas.openxmlformats.org/drawingml/2006/main" noGrp="1"/>
          </p:cNvSpPr>
          <p:nvPr/>
        </p:nvSpPr>
        <p:spPr>
          <a:xfrm xmlns:a="http://schemas.openxmlformats.org/drawingml/2006/main">
            <a:off x="11144250" y="6191250"/>
            <a:ext cx="419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275" b="0">
                <a:solidFill>
                  <a:srgbClr val="61716F"/>
                </a:solidFill>
                <a:latin typeface="Segoe UI"/>
                <a:ea typeface="Segoe UI"/>
                <a:cs typeface="Segoe UI"/>
              </a:defRPr>
            </a:defPPr>
            <a:lvl1pPr algn="l">
              <a:defRPr sz="1275" b="0">
                <a:solidFill>
                  <a:srgbClr val="61716F"/>
                </a:solidFill>
                <a:latin typeface="Segoe UI"/>
                <a:ea typeface="Segoe UI"/>
                <a:cs typeface="Segoe UI"/>
              </a:defRPr>
            </a:lvl1pPr>
            <a:lvl2pPr algn="l">
              <a:defRPr sz="1275" b="0">
                <a:solidFill>
                  <a:srgbClr val="61716F"/>
                </a:solidFill>
                <a:latin typeface="Segoe UI"/>
                <a:ea typeface="Segoe UI"/>
                <a:cs typeface="Segoe UI"/>
              </a:defRPr>
            </a:lvl2pPr>
            <a:lvl3pPr algn="l">
              <a:defRPr sz="1275" b="0">
                <a:solidFill>
                  <a:srgbClr val="61716F"/>
                </a:solidFill>
                <a:latin typeface="Segoe UI"/>
                <a:ea typeface="Segoe UI"/>
                <a:cs typeface="Segoe UI"/>
              </a:defRPr>
            </a:lvl3pPr>
            <a:lvl4pPr algn="l">
              <a:defRPr sz="1275" b="0">
                <a:solidFill>
                  <a:srgbClr val="61716F"/>
                </a:solidFill>
                <a:latin typeface="Segoe UI"/>
                <a:ea typeface="Segoe UI"/>
                <a:cs typeface="Segoe UI"/>
              </a:defRPr>
            </a:lvl4pPr>
            <a:lvl5pPr algn="l">
              <a:defRPr sz="1275" b="0">
                <a:solidFill>
                  <a:srgbClr val="61716F"/>
                </a:solidFill>
                <a:latin typeface="Segoe UI"/>
                <a:ea typeface="Segoe UI"/>
                <a:cs typeface="Segoe UI"/>
              </a:defRPr>
            </a:lvl5pPr>
            <a:lvl6pPr algn="l">
              <a:defRPr sz="1275" b="0">
                <a:solidFill>
                  <a:srgbClr val="61716F"/>
                </a:solidFill>
                <a:latin typeface="Segoe UI"/>
                <a:ea typeface="Segoe UI"/>
                <a:cs typeface="Segoe UI"/>
              </a:defRPr>
            </a:lvl6pPr>
            <a:lvl7pPr algn="l">
              <a:defRPr sz="1275" b="0">
                <a:solidFill>
                  <a:srgbClr val="61716F"/>
                </a:solidFill>
                <a:latin typeface="Segoe UI"/>
                <a:ea typeface="Segoe UI"/>
                <a:cs typeface="Segoe UI"/>
              </a:defRPr>
            </a:lvl7pPr>
            <a:lvl8pPr algn="l">
              <a:defRPr sz="1275" b="0">
                <a:solidFill>
                  <a:srgbClr val="61716F"/>
                </a:solidFill>
                <a:latin typeface="Segoe UI"/>
                <a:ea typeface="Segoe UI"/>
                <a:cs typeface="Segoe UI"/>
              </a:defRPr>
            </a:lvl8pPr>
            <a:lvl9pPr algn="l">
              <a:defRPr sz="1275" b="0">
                <a:solidFill>
                  <a:srgbClr val="61716F"/>
                </a:solidFill>
                <a:latin typeface="Segoe UI"/>
                <a:ea typeface="Segoe UI"/>
                <a:cs typeface="Segoe UI"/>
              </a:defRPr>
            </a:lvl9pPr>
          </a:lstStyle>
          <a:p xmlns:a="http://schemas.openxmlformats.org/drawingml/2006/main">
            <a:pPr algn="l">
              <a:defRPr sz="1275" b="0">
                <a:solidFill>
                  <a:srgbClr val="61716F"/>
                </a:solidFill>
                <a:latin typeface="Segoe UI"/>
                <a:ea typeface="Segoe UI"/>
                <a:cs typeface="Segoe UI"/>
              </a:defRPr>
            </a:pPr>
            <a:r>
              <a:rPr sz="1275" b="0">
                <a:solidFill>
                  <a:srgbClr val="61716F"/>
                </a:solidFill>
                <a:latin typeface="Segoe UI"/>
                <a:ea typeface="Segoe UI"/>
                <a:cs typeface="Segoe UI"/>
              </a:rPr>
              <a:t>28</a:t>
            </a:r>
          </a:p>
        </p:txBody>
      </p:sp>
      <p:sp>
        <p:nvSpPr>
          <p:cNvPr id="2" name="Tài liệu tham khảo">
            <a:extLst xmlns:a="http://schemas.openxmlformats.org/drawingml/2006/main">
              <a:ext uri="{FF2B5EF4-FFF2-40B4-BE49-F238E27FC236}">
                <a16:creationId xmlns:a16="http://schemas.microsoft.com/office/drawing/2014/main" id="{54E0921A-479F-4035-B740-7373D59EE712}"/>
              </a:ext>
            </a:extLst>
          </p:cNvPr>
          <p:cNvSpPr>
            <a:spLocks xmlns:a="http://schemas.openxmlformats.org/drawingml/2006/main" noGrp="1"/>
          </p:cNvSpPr>
          <p:nvPr/>
        </p:nvSpPr>
        <p:spPr>
          <a:xfrm xmlns:a="http://schemas.openxmlformats.org/drawingml/2006/main">
            <a:off x="762000" y="666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3825" b="1">
                <a:solidFill>
                  <a:srgbClr val="142D3B"/>
                </a:solidFill>
                <a:latin typeface="Segoe UI"/>
                <a:ea typeface="Segoe UI"/>
                <a:cs typeface="Segoe UI"/>
              </a:defRPr>
            </a:defPPr>
            <a:lvl1pPr algn="l">
              <a:defRPr sz="3825" b="1">
                <a:solidFill>
                  <a:srgbClr val="142D3B"/>
                </a:solidFill>
                <a:latin typeface="Segoe UI"/>
                <a:ea typeface="Segoe UI"/>
                <a:cs typeface="Segoe UI"/>
              </a:defRPr>
            </a:lvl1pPr>
            <a:lvl2pPr algn="l">
              <a:defRPr sz="3825" b="1">
                <a:solidFill>
                  <a:srgbClr val="142D3B"/>
                </a:solidFill>
                <a:latin typeface="Segoe UI"/>
                <a:ea typeface="Segoe UI"/>
                <a:cs typeface="Segoe UI"/>
              </a:defRPr>
            </a:lvl2pPr>
            <a:lvl3pPr algn="l">
              <a:defRPr sz="3825" b="1">
                <a:solidFill>
                  <a:srgbClr val="142D3B"/>
                </a:solidFill>
                <a:latin typeface="Segoe UI"/>
                <a:ea typeface="Segoe UI"/>
                <a:cs typeface="Segoe UI"/>
              </a:defRPr>
            </a:lvl3pPr>
            <a:lvl4pPr algn="l">
              <a:defRPr sz="3825" b="1">
                <a:solidFill>
                  <a:srgbClr val="142D3B"/>
                </a:solidFill>
                <a:latin typeface="Segoe UI"/>
                <a:ea typeface="Segoe UI"/>
                <a:cs typeface="Segoe UI"/>
              </a:defRPr>
            </a:lvl4pPr>
            <a:lvl5pPr algn="l">
              <a:defRPr sz="3825" b="1">
                <a:solidFill>
                  <a:srgbClr val="142D3B"/>
                </a:solidFill>
                <a:latin typeface="Segoe UI"/>
                <a:ea typeface="Segoe UI"/>
                <a:cs typeface="Segoe UI"/>
              </a:defRPr>
            </a:lvl5pPr>
            <a:lvl6pPr algn="l">
              <a:defRPr sz="3825" b="1">
                <a:solidFill>
                  <a:srgbClr val="142D3B"/>
                </a:solidFill>
                <a:latin typeface="Segoe UI"/>
                <a:ea typeface="Segoe UI"/>
                <a:cs typeface="Segoe UI"/>
              </a:defRPr>
            </a:lvl6pPr>
            <a:lvl7pPr algn="l">
              <a:defRPr sz="3825" b="1">
                <a:solidFill>
                  <a:srgbClr val="142D3B"/>
                </a:solidFill>
                <a:latin typeface="Segoe UI"/>
                <a:ea typeface="Segoe UI"/>
                <a:cs typeface="Segoe UI"/>
              </a:defRPr>
            </a:lvl7pPr>
            <a:lvl8pPr algn="l">
              <a:defRPr sz="3825" b="1">
                <a:solidFill>
                  <a:srgbClr val="142D3B"/>
                </a:solidFill>
                <a:latin typeface="Segoe UI"/>
                <a:ea typeface="Segoe UI"/>
                <a:cs typeface="Segoe UI"/>
              </a:defRPr>
            </a:lvl8pPr>
            <a:lvl9pPr algn="l">
              <a:defRPr sz="3825" b="1">
                <a:solidFill>
                  <a:srgbClr val="142D3B"/>
                </a:solidFill>
                <a:latin typeface="Segoe UI"/>
                <a:ea typeface="Segoe UI"/>
                <a:cs typeface="Segoe UI"/>
              </a:defRPr>
            </a:lvl9pPr>
          </a:lstStyle>
          <a:p xmlns:a="http://schemas.openxmlformats.org/drawingml/2006/main">
            <a:pPr algn="l">
              <a:defRPr sz="3825" b="1">
                <a:solidFill>
                  <a:srgbClr val="142D3B"/>
                </a:solidFill>
                <a:latin typeface="Segoe UI"/>
                <a:ea typeface="Segoe UI"/>
                <a:cs typeface="Segoe UI"/>
              </a:defRPr>
            </a:pPr>
            <a:r>
              <a:rPr sz="3825" b="1">
                <a:solidFill>
                  <a:srgbClr val="142D3B"/>
                </a:solidFill>
                <a:latin typeface="Segoe UI"/>
                <a:ea typeface="Segoe UI"/>
                <a:cs typeface="Segoe UI"/>
              </a:rPr>
              <a:t>Tài liệu tham khảo</a:t>
            </a:r>
          </a:p>
        </p:txBody>
      </p:sp>
      <p:sp>
        <p:nvSpPr>
          <p:cNvPr id="3" name="Nguồn học thuật và bằng chứng thực nghiệm">
            <a:extLst xmlns:a="http://schemas.openxmlformats.org/drawingml/2006/main">
              <a:ext uri="{FF2B5EF4-FFF2-40B4-BE49-F238E27FC236}">
                <a16:creationId xmlns:a16="http://schemas.microsoft.com/office/drawing/2014/main" id="{892BB8CF-194D-46C8-996E-CADEDCBABD70}"/>
              </a:ext>
            </a:extLst>
          </p:cNvPr>
          <p:cNvSpPr>
            <a:spLocks xmlns:a="http://schemas.openxmlformats.org/drawingml/2006/main" noGrp="1"/>
          </p:cNvSpPr>
          <p:nvPr/>
        </p:nvSpPr>
        <p:spPr>
          <a:xfrm xmlns:a="http://schemas.openxmlformats.org/drawingml/2006/main">
            <a:off x="7620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950" b="0">
                <a:solidFill>
                  <a:srgbClr val="61716F"/>
                </a:solidFill>
                <a:latin typeface="Segoe UI"/>
                <a:ea typeface="Segoe UI"/>
                <a:cs typeface="Segoe UI"/>
              </a:defRPr>
            </a:defPPr>
            <a:lvl1pPr algn="l">
              <a:defRPr sz="1950" b="0">
                <a:solidFill>
                  <a:srgbClr val="61716F"/>
                </a:solidFill>
                <a:latin typeface="Segoe UI"/>
                <a:ea typeface="Segoe UI"/>
                <a:cs typeface="Segoe UI"/>
              </a:defRPr>
            </a:lvl1pPr>
            <a:lvl2pPr algn="l">
              <a:defRPr sz="1950" b="0">
                <a:solidFill>
                  <a:srgbClr val="61716F"/>
                </a:solidFill>
                <a:latin typeface="Segoe UI"/>
                <a:ea typeface="Segoe UI"/>
                <a:cs typeface="Segoe UI"/>
              </a:defRPr>
            </a:lvl2pPr>
            <a:lvl3pPr algn="l">
              <a:defRPr sz="1950" b="0">
                <a:solidFill>
                  <a:srgbClr val="61716F"/>
                </a:solidFill>
                <a:latin typeface="Segoe UI"/>
                <a:ea typeface="Segoe UI"/>
                <a:cs typeface="Segoe UI"/>
              </a:defRPr>
            </a:lvl3pPr>
            <a:lvl4pPr algn="l">
              <a:defRPr sz="1950" b="0">
                <a:solidFill>
                  <a:srgbClr val="61716F"/>
                </a:solidFill>
                <a:latin typeface="Segoe UI"/>
                <a:ea typeface="Segoe UI"/>
                <a:cs typeface="Segoe UI"/>
              </a:defRPr>
            </a:lvl4pPr>
            <a:lvl5pPr algn="l">
              <a:defRPr sz="1950" b="0">
                <a:solidFill>
                  <a:srgbClr val="61716F"/>
                </a:solidFill>
                <a:latin typeface="Segoe UI"/>
                <a:ea typeface="Segoe UI"/>
                <a:cs typeface="Segoe UI"/>
              </a:defRPr>
            </a:lvl5pPr>
            <a:lvl6pPr algn="l">
              <a:defRPr sz="1950" b="0">
                <a:solidFill>
                  <a:srgbClr val="61716F"/>
                </a:solidFill>
                <a:latin typeface="Segoe UI"/>
                <a:ea typeface="Segoe UI"/>
                <a:cs typeface="Segoe UI"/>
              </a:defRPr>
            </a:lvl6pPr>
            <a:lvl7pPr algn="l">
              <a:defRPr sz="1950" b="0">
                <a:solidFill>
                  <a:srgbClr val="61716F"/>
                </a:solidFill>
                <a:latin typeface="Segoe UI"/>
                <a:ea typeface="Segoe UI"/>
                <a:cs typeface="Segoe UI"/>
              </a:defRPr>
            </a:lvl7pPr>
            <a:lvl8pPr algn="l">
              <a:defRPr sz="1950" b="0">
                <a:solidFill>
                  <a:srgbClr val="61716F"/>
                </a:solidFill>
                <a:latin typeface="Segoe UI"/>
                <a:ea typeface="Segoe UI"/>
                <a:cs typeface="Segoe UI"/>
              </a:defRPr>
            </a:lvl8pPr>
            <a:lvl9pPr algn="l">
              <a:defRPr sz="1950" b="0">
                <a:solidFill>
                  <a:srgbClr val="61716F"/>
                </a:solidFill>
                <a:latin typeface="Segoe UI"/>
                <a:ea typeface="Segoe UI"/>
                <a:cs typeface="Segoe UI"/>
              </a:defRPr>
            </a:lvl9pPr>
          </a:lstStyle>
          <a:p xmlns:a="http://schemas.openxmlformats.org/drawingml/2006/main">
            <a:pPr algn="l">
              <a:defRPr sz="1950" b="0">
                <a:solidFill>
                  <a:srgbClr val="61716F"/>
                </a:solidFill>
                <a:latin typeface="Segoe UI"/>
                <a:ea typeface="Segoe UI"/>
                <a:cs typeface="Segoe UI"/>
              </a:defRPr>
            </a:pPr>
            <a:r>
              <a:rPr sz="1950" b="0">
                <a:solidFill>
                  <a:srgbClr val="61716F"/>
                </a:solidFill>
                <a:latin typeface="Segoe UI"/>
                <a:ea typeface="Segoe UI"/>
                <a:cs typeface="Segoe UI"/>
              </a:rPr>
              <a:t>Nguồn học thuật và bằng chứng thực nghiệm</a:t>
            </a:r>
          </a:p>
        </p:txBody>
      </p:sp>
      <p:sp>
        <p:nvSpPr>
          <p:cNvPr id="4" name="Gotoh (1982) — An improved algorithm for matching biological sequences">
            <a:extLst xmlns:a="http://schemas.openxmlformats.org/drawingml/2006/main">
              <a:ext uri="{FF2B5EF4-FFF2-40B4-BE49-F238E27FC236}">
                <a16:creationId xmlns:a16="http://schemas.microsoft.com/office/drawing/2014/main" id="{C1779B61-8171-4E01-8FEF-233A73186A21}"/>
              </a:ext>
            </a:extLst>
          </p:cNvPr>
          <p:cNvSpPr>
            <a:spLocks xmlns:a="http://schemas.openxmlformats.org/drawingml/2006/main" noGrp="1"/>
          </p:cNvSpPr>
          <p:nvPr/>
        </p:nvSpPr>
        <p:spPr>
          <a:xfrm xmlns:a="http://schemas.openxmlformats.org/drawingml/2006/main">
            <a:off x="762000" y="23526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142D3B"/>
                </a:solidFill>
                <a:latin typeface="Segoe UI"/>
                <a:ea typeface="Segoe UI"/>
                <a:cs typeface="Segoe UI"/>
              </a:defRPr>
            </a:defPPr>
            <a:lvl1pPr algn="l">
              <a:defRPr sz="1875" b="0">
                <a:solidFill>
                  <a:srgbClr val="142D3B"/>
                </a:solidFill>
                <a:latin typeface="Segoe UI"/>
                <a:ea typeface="Segoe UI"/>
                <a:cs typeface="Segoe UI"/>
              </a:defRPr>
            </a:lvl1pPr>
            <a:lvl2pPr algn="l">
              <a:defRPr sz="1875" b="0">
                <a:solidFill>
                  <a:srgbClr val="142D3B"/>
                </a:solidFill>
                <a:latin typeface="Segoe UI"/>
                <a:ea typeface="Segoe UI"/>
                <a:cs typeface="Segoe UI"/>
              </a:defRPr>
            </a:lvl2pPr>
            <a:lvl3pPr algn="l">
              <a:defRPr sz="1875" b="0">
                <a:solidFill>
                  <a:srgbClr val="142D3B"/>
                </a:solidFill>
                <a:latin typeface="Segoe UI"/>
                <a:ea typeface="Segoe UI"/>
                <a:cs typeface="Segoe UI"/>
              </a:defRPr>
            </a:lvl3pPr>
            <a:lvl4pPr algn="l">
              <a:defRPr sz="1875" b="0">
                <a:solidFill>
                  <a:srgbClr val="142D3B"/>
                </a:solidFill>
                <a:latin typeface="Segoe UI"/>
                <a:ea typeface="Segoe UI"/>
                <a:cs typeface="Segoe UI"/>
              </a:defRPr>
            </a:lvl4pPr>
            <a:lvl5pPr algn="l">
              <a:defRPr sz="1875" b="0">
                <a:solidFill>
                  <a:srgbClr val="142D3B"/>
                </a:solidFill>
                <a:latin typeface="Segoe UI"/>
                <a:ea typeface="Segoe UI"/>
                <a:cs typeface="Segoe UI"/>
              </a:defRPr>
            </a:lvl5pPr>
            <a:lvl6pPr algn="l">
              <a:defRPr sz="1875" b="0">
                <a:solidFill>
                  <a:srgbClr val="142D3B"/>
                </a:solidFill>
                <a:latin typeface="Segoe UI"/>
                <a:ea typeface="Segoe UI"/>
                <a:cs typeface="Segoe UI"/>
              </a:defRPr>
            </a:lvl6pPr>
            <a:lvl7pPr algn="l">
              <a:defRPr sz="1875" b="0">
                <a:solidFill>
                  <a:srgbClr val="142D3B"/>
                </a:solidFill>
                <a:latin typeface="Segoe UI"/>
                <a:ea typeface="Segoe UI"/>
                <a:cs typeface="Segoe UI"/>
              </a:defRPr>
            </a:lvl7pPr>
            <a:lvl8pPr algn="l">
              <a:defRPr sz="1875" b="0">
                <a:solidFill>
                  <a:srgbClr val="142D3B"/>
                </a:solidFill>
                <a:latin typeface="Segoe UI"/>
                <a:ea typeface="Segoe UI"/>
                <a:cs typeface="Segoe UI"/>
              </a:defRPr>
            </a:lvl8pPr>
            <a:lvl9pPr algn="l">
              <a:defRPr sz="1875" b="0">
                <a:solidFill>
                  <a:srgbClr val="142D3B"/>
                </a:solidFill>
                <a:latin typeface="Segoe UI"/>
                <a:ea typeface="Segoe UI"/>
                <a:cs typeface="Segoe UI"/>
              </a:defRPr>
            </a:lvl9pPr>
          </a:lstStyle>
          <a:p xmlns:a="http://schemas.openxmlformats.org/drawingml/2006/main">
            <a:pPr algn="l">
              <a:defRPr sz="1875" b="0">
                <a:solidFill>
                  <a:srgbClr val="142D3B"/>
                </a:solidFill>
                <a:latin typeface="Segoe UI"/>
                <a:ea typeface="Segoe UI"/>
                <a:cs typeface="Segoe UI"/>
              </a:defRPr>
            </a:pPr>
            <a:r>
              <a:rPr sz="1875" b="0">
                <a:solidFill>
                  <a:srgbClr val="142D3B"/>
                </a:solidFill>
                <a:latin typeface="Segoe UI"/>
                <a:ea typeface="Segoe UI"/>
                <a:cs typeface="Segoe UI"/>
              </a:rPr>
              <a:t>Gotoh (1982) — An improved algorithm for matching biological sequences</a:t>
            </a:r>
          </a:p>
        </p:txBody>
      </p:sp>
      <p:sp>
        <p:nvSpPr>
          <p:cNvPr id="5" name="Myers &amp; Miller (1988) — Optimal alignments in linear space">
            <a:extLst xmlns:a="http://schemas.openxmlformats.org/drawingml/2006/main">
              <a:ext uri="{FF2B5EF4-FFF2-40B4-BE49-F238E27FC236}">
                <a16:creationId xmlns:a16="http://schemas.microsoft.com/office/drawing/2014/main" id="{2B718112-244A-4063-AB11-27D386A8DCCF}"/>
              </a:ext>
            </a:extLst>
          </p:cNvPr>
          <p:cNvSpPr>
            <a:spLocks xmlns:a="http://schemas.openxmlformats.org/drawingml/2006/main" noGrp="1"/>
          </p:cNvSpPr>
          <p:nvPr/>
        </p:nvSpPr>
        <p:spPr>
          <a:xfrm xmlns:a="http://schemas.openxmlformats.org/drawingml/2006/main">
            <a:off x="762000" y="29718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142D3B"/>
                </a:solidFill>
                <a:latin typeface="Segoe UI"/>
                <a:ea typeface="Segoe UI"/>
                <a:cs typeface="Segoe UI"/>
              </a:defRPr>
            </a:defPPr>
            <a:lvl1pPr algn="l">
              <a:defRPr sz="1875" b="0">
                <a:solidFill>
                  <a:srgbClr val="142D3B"/>
                </a:solidFill>
                <a:latin typeface="Segoe UI"/>
                <a:ea typeface="Segoe UI"/>
                <a:cs typeface="Segoe UI"/>
              </a:defRPr>
            </a:lvl1pPr>
            <a:lvl2pPr algn="l">
              <a:defRPr sz="1875" b="0">
                <a:solidFill>
                  <a:srgbClr val="142D3B"/>
                </a:solidFill>
                <a:latin typeface="Segoe UI"/>
                <a:ea typeface="Segoe UI"/>
                <a:cs typeface="Segoe UI"/>
              </a:defRPr>
            </a:lvl2pPr>
            <a:lvl3pPr algn="l">
              <a:defRPr sz="1875" b="0">
                <a:solidFill>
                  <a:srgbClr val="142D3B"/>
                </a:solidFill>
                <a:latin typeface="Segoe UI"/>
                <a:ea typeface="Segoe UI"/>
                <a:cs typeface="Segoe UI"/>
              </a:defRPr>
            </a:lvl3pPr>
            <a:lvl4pPr algn="l">
              <a:defRPr sz="1875" b="0">
                <a:solidFill>
                  <a:srgbClr val="142D3B"/>
                </a:solidFill>
                <a:latin typeface="Segoe UI"/>
                <a:ea typeface="Segoe UI"/>
                <a:cs typeface="Segoe UI"/>
              </a:defRPr>
            </a:lvl4pPr>
            <a:lvl5pPr algn="l">
              <a:defRPr sz="1875" b="0">
                <a:solidFill>
                  <a:srgbClr val="142D3B"/>
                </a:solidFill>
                <a:latin typeface="Segoe UI"/>
                <a:ea typeface="Segoe UI"/>
                <a:cs typeface="Segoe UI"/>
              </a:defRPr>
            </a:lvl5pPr>
            <a:lvl6pPr algn="l">
              <a:defRPr sz="1875" b="0">
                <a:solidFill>
                  <a:srgbClr val="142D3B"/>
                </a:solidFill>
                <a:latin typeface="Segoe UI"/>
                <a:ea typeface="Segoe UI"/>
                <a:cs typeface="Segoe UI"/>
              </a:defRPr>
            </a:lvl6pPr>
            <a:lvl7pPr algn="l">
              <a:defRPr sz="1875" b="0">
                <a:solidFill>
                  <a:srgbClr val="142D3B"/>
                </a:solidFill>
                <a:latin typeface="Segoe UI"/>
                <a:ea typeface="Segoe UI"/>
                <a:cs typeface="Segoe UI"/>
              </a:defRPr>
            </a:lvl7pPr>
            <a:lvl8pPr algn="l">
              <a:defRPr sz="1875" b="0">
                <a:solidFill>
                  <a:srgbClr val="142D3B"/>
                </a:solidFill>
                <a:latin typeface="Segoe UI"/>
                <a:ea typeface="Segoe UI"/>
                <a:cs typeface="Segoe UI"/>
              </a:defRPr>
            </a:lvl8pPr>
            <a:lvl9pPr algn="l">
              <a:defRPr sz="1875" b="0">
                <a:solidFill>
                  <a:srgbClr val="142D3B"/>
                </a:solidFill>
                <a:latin typeface="Segoe UI"/>
                <a:ea typeface="Segoe UI"/>
                <a:cs typeface="Segoe UI"/>
              </a:defRPr>
            </a:lvl9pPr>
          </a:lstStyle>
          <a:p xmlns:a="http://schemas.openxmlformats.org/drawingml/2006/main">
            <a:pPr algn="l">
              <a:defRPr sz="1875" b="0">
                <a:solidFill>
                  <a:srgbClr val="142D3B"/>
                </a:solidFill>
                <a:latin typeface="Segoe UI"/>
                <a:ea typeface="Segoe UI"/>
                <a:cs typeface="Segoe UI"/>
              </a:defRPr>
            </a:pPr>
            <a:r>
              <a:rPr sz="1875" b="0">
                <a:solidFill>
                  <a:srgbClr val="142D3B"/>
                </a:solidFill>
                <a:latin typeface="Segoe UI"/>
                <a:ea typeface="Segoe UI"/>
                <a:cs typeface="Segoe UI"/>
              </a:rPr>
              <a:t>Myers &amp; Miller (1988) — Optimal alignments in linear space</a:t>
            </a:r>
          </a:p>
        </p:txBody>
      </p:sp>
      <p:sp>
        <p:nvSpPr>
          <p:cNvPr id="6" name="Henikoff &amp; Henikoff (1992) — Amino acid substitution matrices">
            <a:extLst xmlns:a="http://schemas.openxmlformats.org/drawingml/2006/main">
              <a:ext uri="{FF2B5EF4-FFF2-40B4-BE49-F238E27FC236}">
                <a16:creationId xmlns:a16="http://schemas.microsoft.com/office/drawing/2014/main" id="{DEAB4E36-3023-4485-98C2-F562719CFA47}"/>
              </a:ext>
            </a:extLst>
          </p:cNvPr>
          <p:cNvSpPr>
            <a:spLocks xmlns:a="http://schemas.openxmlformats.org/drawingml/2006/main" noGrp="1"/>
          </p:cNvSpPr>
          <p:nvPr/>
        </p:nvSpPr>
        <p:spPr>
          <a:xfrm xmlns:a="http://schemas.openxmlformats.org/drawingml/2006/main">
            <a:off x="762000" y="35909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142D3B"/>
                </a:solidFill>
                <a:latin typeface="Segoe UI"/>
                <a:ea typeface="Segoe UI"/>
                <a:cs typeface="Segoe UI"/>
              </a:defRPr>
            </a:defPPr>
            <a:lvl1pPr algn="l">
              <a:defRPr sz="1875" b="0">
                <a:solidFill>
                  <a:srgbClr val="142D3B"/>
                </a:solidFill>
                <a:latin typeface="Segoe UI"/>
                <a:ea typeface="Segoe UI"/>
                <a:cs typeface="Segoe UI"/>
              </a:defRPr>
            </a:lvl1pPr>
            <a:lvl2pPr algn="l">
              <a:defRPr sz="1875" b="0">
                <a:solidFill>
                  <a:srgbClr val="142D3B"/>
                </a:solidFill>
                <a:latin typeface="Segoe UI"/>
                <a:ea typeface="Segoe UI"/>
                <a:cs typeface="Segoe UI"/>
              </a:defRPr>
            </a:lvl2pPr>
            <a:lvl3pPr algn="l">
              <a:defRPr sz="1875" b="0">
                <a:solidFill>
                  <a:srgbClr val="142D3B"/>
                </a:solidFill>
                <a:latin typeface="Segoe UI"/>
                <a:ea typeface="Segoe UI"/>
                <a:cs typeface="Segoe UI"/>
              </a:defRPr>
            </a:lvl3pPr>
            <a:lvl4pPr algn="l">
              <a:defRPr sz="1875" b="0">
                <a:solidFill>
                  <a:srgbClr val="142D3B"/>
                </a:solidFill>
                <a:latin typeface="Segoe UI"/>
                <a:ea typeface="Segoe UI"/>
                <a:cs typeface="Segoe UI"/>
              </a:defRPr>
            </a:lvl4pPr>
            <a:lvl5pPr algn="l">
              <a:defRPr sz="1875" b="0">
                <a:solidFill>
                  <a:srgbClr val="142D3B"/>
                </a:solidFill>
                <a:latin typeface="Segoe UI"/>
                <a:ea typeface="Segoe UI"/>
                <a:cs typeface="Segoe UI"/>
              </a:defRPr>
            </a:lvl5pPr>
            <a:lvl6pPr algn="l">
              <a:defRPr sz="1875" b="0">
                <a:solidFill>
                  <a:srgbClr val="142D3B"/>
                </a:solidFill>
                <a:latin typeface="Segoe UI"/>
                <a:ea typeface="Segoe UI"/>
                <a:cs typeface="Segoe UI"/>
              </a:defRPr>
            </a:lvl6pPr>
            <a:lvl7pPr algn="l">
              <a:defRPr sz="1875" b="0">
                <a:solidFill>
                  <a:srgbClr val="142D3B"/>
                </a:solidFill>
                <a:latin typeface="Segoe UI"/>
                <a:ea typeface="Segoe UI"/>
                <a:cs typeface="Segoe UI"/>
              </a:defRPr>
            </a:lvl7pPr>
            <a:lvl8pPr algn="l">
              <a:defRPr sz="1875" b="0">
                <a:solidFill>
                  <a:srgbClr val="142D3B"/>
                </a:solidFill>
                <a:latin typeface="Segoe UI"/>
                <a:ea typeface="Segoe UI"/>
                <a:cs typeface="Segoe UI"/>
              </a:defRPr>
            </a:lvl8pPr>
            <a:lvl9pPr algn="l">
              <a:defRPr sz="1875" b="0">
                <a:solidFill>
                  <a:srgbClr val="142D3B"/>
                </a:solidFill>
                <a:latin typeface="Segoe UI"/>
                <a:ea typeface="Segoe UI"/>
                <a:cs typeface="Segoe UI"/>
              </a:defRPr>
            </a:lvl9pPr>
          </a:lstStyle>
          <a:p xmlns:a="http://schemas.openxmlformats.org/drawingml/2006/main">
            <a:pPr algn="l">
              <a:defRPr sz="1875" b="0">
                <a:solidFill>
                  <a:srgbClr val="142D3B"/>
                </a:solidFill>
                <a:latin typeface="Segoe UI"/>
                <a:ea typeface="Segoe UI"/>
                <a:cs typeface="Segoe UI"/>
              </a:defRPr>
            </a:pPr>
            <a:r>
              <a:rPr sz="1875" b="0">
                <a:solidFill>
                  <a:srgbClr val="142D3B"/>
                </a:solidFill>
                <a:latin typeface="Segoe UI"/>
                <a:ea typeface="Segoe UI"/>
                <a:cs typeface="Segoe UI"/>
              </a:rPr>
              <a:t>Henikoff &amp; Henikoff (1992) — Amino acid substitution matrices</a:t>
            </a:r>
          </a:p>
        </p:txBody>
      </p:sp>
      <p:sp>
        <p:nvSpPr>
          <p:cNvPr id="7" name="Thompson và cộng sự (2005) — BAliBASE 3.0">
            <a:extLst xmlns:a="http://schemas.openxmlformats.org/drawingml/2006/main">
              <a:ext uri="{FF2B5EF4-FFF2-40B4-BE49-F238E27FC236}">
                <a16:creationId xmlns:a16="http://schemas.microsoft.com/office/drawing/2014/main" id="{999F533F-5E57-4FF5-A9A2-12AAD50C8BEF}"/>
              </a:ext>
            </a:extLst>
          </p:cNvPr>
          <p:cNvSpPr>
            <a:spLocks xmlns:a="http://schemas.openxmlformats.org/drawingml/2006/main" noGrp="1"/>
          </p:cNvSpPr>
          <p:nvPr/>
        </p:nvSpPr>
        <p:spPr>
          <a:xfrm xmlns:a="http://schemas.openxmlformats.org/drawingml/2006/main">
            <a:off x="762000" y="4210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142D3B"/>
                </a:solidFill>
                <a:latin typeface="Segoe UI"/>
                <a:ea typeface="Segoe UI"/>
                <a:cs typeface="Segoe UI"/>
              </a:defRPr>
            </a:defPPr>
            <a:lvl1pPr algn="l">
              <a:defRPr sz="1875" b="0">
                <a:solidFill>
                  <a:srgbClr val="142D3B"/>
                </a:solidFill>
                <a:latin typeface="Segoe UI"/>
                <a:ea typeface="Segoe UI"/>
                <a:cs typeface="Segoe UI"/>
              </a:defRPr>
            </a:lvl1pPr>
            <a:lvl2pPr algn="l">
              <a:defRPr sz="1875" b="0">
                <a:solidFill>
                  <a:srgbClr val="142D3B"/>
                </a:solidFill>
                <a:latin typeface="Segoe UI"/>
                <a:ea typeface="Segoe UI"/>
                <a:cs typeface="Segoe UI"/>
              </a:defRPr>
            </a:lvl2pPr>
            <a:lvl3pPr algn="l">
              <a:defRPr sz="1875" b="0">
                <a:solidFill>
                  <a:srgbClr val="142D3B"/>
                </a:solidFill>
                <a:latin typeface="Segoe UI"/>
                <a:ea typeface="Segoe UI"/>
                <a:cs typeface="Segoe UI"/>
              </a:defRPr>
            </a:lvl3pPr>
            <a:lvl4pPr algn="l">
              <a:defRPr sz="1875" b="0">
                <a:solidFill>
                  <a:srgbClr val="142D3B"/>
                </a:solidFill>
                <a:latin typeface="Segoe UI"/>
                <a:ea typeface="Segoe UI"/>
                <a:cs typeface="Segoe UI"/>
              </a:defRPr>
            </a:lvl4pPr>
            <a:lvl5pPr algn="l">
              <a:defRPr sz="1875" b="0">
                <a:solidFill>
                  <a:srgbClr val="142D3B"/>
                </a:solidFill>
                <a:latin typeface="Segoe UI"/>
                <a:ea typeface="Segoe UI"/>
                <a:cs typeface="Segoe UI"/>
              </a:defRPr>
            </a:lvl5pPr>
            <a:lvl6pPr algn="l">
              <a:defRPr sz="1875" b="0">
                <a:solidFill>
                  <a:srgbClr val="142D3B"/>
                </a:solidFill>
                <a:latin typeface="Segoe UI"/>
                <a:ea typeface="Segoe UI"/>
                <a:cs typeface="Segoe UI"/>
              </a:defRPr>
            </a:lvl6pPr>
            <a:lvl7pPr algn="l">
              <a:defRPr sz="1875" b="0">
                <a:solidFill>
                  <a:srgbClr val="142D3B"/>
                </a:solidFill>
                <a:latin typeface="Segoe UI"/>
                <a:ea typeface="Segoe UI"/>
                <a:cs typeface="Segoe UI"/>
              </a:defRPr>
            </a:lvl7pPr>
            <a:lvl8pPr algn="l">
              <a:defRPr sz="1875" b="0">
                <a:solidFill>
                  <a:srgbClr val="142D3B"/>
                </a:solidFill>
                <a:latin typeface="Segoe UI"/>
                <a:ea typeface="Segoe UI"/>
                <a:cs typeface="Segoe UI"/>
              </a:defRPr>
            </a:lvl8pPr>
            <a:lvl9pPr algn="l">
              <a:defRPr sz="1875" b="0">
                <a:solidFill>
                  <a:srgbClr val="142D3B"/>
                </a:solidFill>
                <a:latin typeface="Segoe UI"/>
                <a:ea typeface="Segoe UI"/>
                <a:cs typeface="Segoe UI"/>
              </a:defRPr>
            </a:lvl9pPr>
          </a:lstStyle>
          <a:p xmlns:a="http://schemas.openxmlformats.org/drawingml/2006/main">
            <a:pPr algn="l">
              <a:defRPr sz="1875" b="0">
                <a:solidFill>
                  <a:srgbClr val="142D3B"/>
                </a:solidFill>
                <a:latin typeface="Segoe UI"/>
                <a:ea typeface="Segoe UI"/>
                <a:cs typeface="Segoe UI"/>
              </a:defRPr>
            </a:pPr>
            <a:r>
              <a:rPr sz="1875" b="0">
                <a:solidFill>
                  <a:srgbClr val="142D3B"/>
                </a:solidFill>
                <a:latin typeface="Segoe UI"/>
                <a:ea typeface="Segoe UI"/>
                <a:cs typeface="Segoe UI"/>
              </a:rPr>
              <a:t>Thompson và cộng sự (2005) — BAliBASE 3.0</a:t>
            </a:r>
          </a:p>
        </p:txBody>
      </p:sp>
      <p:sp>
        <p:nvSpPr>
          <p:cNvPr id="8" name="Source code C++17 của dự án MSA Nhóm 5">
            <a:extLst xmlns:a="http://schemas.openxmlformats.org/drawingml/2006/main">
              <a:ext uri="{FF2B5EF4-FFF2-40B4-BE49-F238E27FC236}">
                <a16:creationId xmlns:a16="http://schemas.microsoft.com/office/drawing/2014/main" id="{6F62E72B-9ED0-4F0D-822A-EF0746F5F7D0}"/>
              </a:ext>
            </a:extLst>
          </p:cNvPr>
          <p:cNvSpPr>
            <a:spLocks xmlns:a="http://schemas.openxmlformats.org/drawingml/2006/main" noGrp="1"/>
          </p:cNvSpPr>
          <p:nvPr/>
        </p:nvSpPr>
        <p:spPr>
          <a:xfrm xmlns:a="http://schemas.openxmlformats.org/drawingml/2006/main">
            <a:off x="762000" y="52292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Source code C++17 của dự án MSA Nhóm 5</a:t>
            </a:r>
          </a:p>
        </p:txBody>
      </p:sp>
      <p:sp>
        <p:nvSpPr>
          <p:cNvPr id="9" name="benchmark_summary.csv và các log thực nghiệm trong results/logs">
            <a:extLst xmlns:a="http://schemas.openxmlformats.org/drawingml/2006/main">
              <a:ext uri="{FF2B5EF4-FFF2-40B4-BE49-F238E27FC236}">
                <a16:creationId xmlns:a16="http://schemas.microsoft.com/office/drawing/2014/main" id="{D03E6A87-A21F-4785-815D-944C5C106DB2}"/>
              </a:ext>
            </a:extLst>
          </p:cNvPr>
          <p:cNvSpPr>
            <a:spLocks xmlns:a="http://schemas.openxmlformats.org/drawingml/2006/main" noGrp="1"/>
          </p:cNvSpPr>
          <p:nvPr/>
        </p:nvSpPr>
        <p:spPr>
          <a:xfrm xmlns:a="http://schemas.openxmlformats.org/drawingml/2006/main">
            <a:off x="762000" y="56388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lgn="l">
              <a:defRPr sz="1875" b="0">
                <a:solidFill>
                  <a:srgbClr val="61716F"/>
                </a:solidFill>
                <a:latin typeface="Segoe UI"/>
                <a:ea typeface="Segoe UI"/>
                <a:cs typeface="Segoe UI"/>
              </a:defRPr>
            </a:defPPr>
            <a:lvl1pPr algn="l">
              <a:defRPr sz="1875" b="0">
                <a:solidFill>
                  <a:srgbClr val="61716F"/>
                </a:solidFill>
                <a:latin typeface="Segoe UI"/>
                <a:ea typeface="Segoe UI"/>
                <a:cs typeface="Segoe UI"/>
              </a:defRPr>
            </a:lvl1pPr>
            <a:lvl2pPr algn="l">
              <a:defRPr sz="1875" b="0">
                <a:solidFill>
                  <a:srgbClr val="61716F"/>
                </a:solidFill>
                <a:latin typeface="Segoe UI"/>
                <a:ea typeface="Segoe UI"/>
                <a:cs typeface="Segoe UI"/>
              </a:defRPr>
            </a:lvl2pPr>
            <a:lvl3pPr algn="l">
              <a:defRPr sz="1875" b="0">
                <a:solidFill>
                  <a:srgbClr val="61716F"/>
                </a:solidFill>
                <a:latin typeface="Segoe UI"/>
                <a:ea typeface="Segoe UI"/>
                <a:cs typeface="Segoe UI"/>
              </a:defRPr>
            </a:lvl3pPr>
            <a:lvl4pPr algn="l">
              <a:defRPr sz="1875" b="0">
                <a:solidFill>
                  <a:srgbClr val="61716F"/>
                </a:solidFill>
                <a:latin typeface="Segoe UI"/>
                <a:ea typeface="Segoe UI"/>
                <a:cs typeface="Segoe UI"/>
              </a:defRPr>
            </a:lvl4pPr>
            <a:lvl5pPr algn="l">
              <a:defRPr sz="1875" b="0">
                <a:solidFill>
                  <a:srgbClr val="61716F"/>
                </a:solidFill>
                <a:latin typeface="Segoe UI"/>
                <a:ea typeface="Segoe UI"/>
                <a:cs typeface="Segoe UI"/>
              </a:defRPr>
            </a:lvl5pPr>
            <a:lvl6pPr algn="l">
              <a:defRPr sz="1875" b="0">
                <a:solidFill>
                  <a:srgbClr val="61716F"/>
                </a:solidFill>
                <a:latin typeface="Segoe UI"/>
                <a:ea typeface="Segoe UI"/>
                <a:cs typeface="Segoe UI"/>
              </a:defRPr>
            </a:lvl6pPr>
            <a:lvl7pPr algn="l">
              <a:defRPr sz="1875" b="0">
                <a:solidFill>
                  <a:srgbClr val="61716F"/>
                </a:solidFill>
                <a:latin typeface="Segoe UI"/>
                <a:ea typeface="Segoe UI"/>
                <a:cs typeface="Segoe UI"/>
              </a:defRPr>
            </a:lvl7pPr>
            <a:lvl8pPr algn="l">
              <a:defRPr sz="1875" b="0">
                <a:solidFill>
                  <a:srgbClr val="61716F"/>
                </a:solidFill>
                <a:latin typeface="Segoe UI"/>
                <a:ea typeface="Segoe UI"/>
                <a:cs typeface="Segoe UI"/>
              </a:defRPr>
            </a:lvl8pPr>
            <a:lvl9pPr algn="l">
              <a:defRPr sz="1875" b="0">
                <a:solidFill>
                  <a:srgbClr val="61716F"/>
                </a:solidFill>
                <a:latin typeface="Segoe UI"/>
                <a:ea typeface="Segoe UI"/>
                <a:cs typeface="Segoe UI"/>
              </a:defRPr>
            </a:lvl9pPr>
          </a:lstStyle>
          <a:p xmlns:a="http://schemas.openxmlformats.org/drawingml/2006/main">
            <a:pPr algn="l">
              <a:defRPr sz="1875" b="0">
                <a:solidFill>
                  <a:srgbClr val="61716F"/>
                </a:solidFill>
                <a:latin typeface="Segoe UI"/>
                <a:ea typeface="Segoe UI"/>
                <a:cs typeface="Segoe UI"/>
              </a:defRPr>
            </a:pPr>
            <a:r>
              <a:rPr sz="1875" b="0">
                <a:solidFill>
                  <a:srgbClr val="61716F"/>
                </a:solidFill>
                <a:latin typeface="Segoe UI"/>
                <a:ea typeface="Segoe UI"/>
                <a:cs typeface="Segoe UI"/>
              </a:rPr>
              <a:t>benchmark_summary.csv và các log thực nghiệm trong results/logs</a:t>
            </a:r>
          </a:p>
        </p:txBody>
      </p:sp>
    </p:spTree>
    <p:extLst>
      <p:ext uri="{BB962C8B-B14F-4D97-AF65-F5344CB8AC3E}">
        <p14:creationId xmlns:p14="http://schemas.microsoft.com/office/powerpoint/2010/main" val="13593924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2026-10-23T11:08:32.5900000Z</dcterms:created>
  <dcterms:modified xsi:type="dcterms:W3CDTF">2026-10-23T11:08:32.5900000Z</dcterms:modified>
</coreProperties>
</file>