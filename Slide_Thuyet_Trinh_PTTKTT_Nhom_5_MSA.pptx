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Thầy/Cô và các bạn. Hôm nay Nhóm 5 xin trình bày báo cáo đồ án môn Phân tích và Thiết kế Thuật toán với đề tài: Thuật toán Chia để trị Song song kết hợp Quy hoạch động cho Căn chỉnh Đa chuỗi Protein/ADN (MSA). Đóng góp trọng tâm của nhóm là giải quyết nút thắt bộ nhớ bậc hai O(mn) của quy hoạch động truyền thống xuống tuyến tính O(min(m,n)), tiết kiệm hơn 1.350 lần RAM mà không làm giảm điểm số, kết hợp song song hóa đa tầng OpenMP/MPI và kiểm chứng trên chuẩn quốc tế BAliBASE 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mô hình hóa toán học, cho k chuỗi sinh học có độ dài khác nhau, ta cần chèn các dấu gạch ngang '-' để đưa chúng về cùng độ dài L sao cho tổng điểm tương đồng cặp đôi Sum-of-Pairs trên toàn bộ các cột là lớn nhất. Điểm tương đồng giữa 2 amino acid được tra từ ma trận tiến hóa BLOSUM62. Đặc biệt, hệ thống áp dụng hàm phạt khoảng trống Affine: mở khoảng trống mới phạt nặng (-10), kéo dài khoảng trống phạt nhẹ (-1) để gom cụm các đột biến mất đoạn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tóm tắt 3 rào cản lớn của bài toán MSA: Thứ nhất, quy hoạch động chính xác trên k chuỗi là bài toán NP-Hard với bộ nhớ O(N^k). Thứ hai, ngay cả khi quy về căn chỉnh cặp đôi bằng thuật toán Gotoh 3 ma trận, bộ nhớ bậc hai O(mn) vẫn gây tràn RAM khi chuỗi dài hoặc khi chạy song song nhiều luồng. Từ đó, nhóm đề xuất giải pháp 3 trụ cột ở khung màu xanh bên dưới: Chia để trị tuyến tính Myers-Miller, Progressive Profile UPGMA, và Song song hóa đa tầng OpenMP/MPI.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kiến trúc tổng thể 4 giai đoạn của hệ thống Progressive MSA. Thay vì căn chỉnh tất cả chuỗi cùng lúc, ta tính khoảng cách tiến hóa giữa mọi cặp ở Giai đoạn 1, dựng cây hướng dẫn UPGMA ở Giai đoạn 2, lập lịch các nhánh con độc lập ở Giai đoạn 3, và hợp nhất tuần tự các Profile từ lá lên gốc bằng thuật toán chia để trị Myers-Miller ở Giai đoạn 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xử lý phạt khoảng trống Affine, thuật toán Gotoh duy trì 3 trạng thái tại mỗi ô (i,j): M (khớp), Ix (khoảng trống dọc) và Iy (khoảng trống ngang). Nhận xét mấu chốt nằm ở cột bên phải: nếu chỉ cần tính điểm số cuối cùng (như ở Bước 1 tính ma trận khoảng cách), ta chỉ cần nhớ dòng liền trước, tốn O(n) bộ nhớ. Lý do duy nhất khiến Gotoh tốn O(mn) bộ nhớ là để lưu vết đường đi ngược từ (m,n) về (0,0). Đây chính là bài toán mà Chia để trị Myers-Miller giải quyết ở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cốt lõi nhất của phần thiết kế thuật toán. Quan sát hình bên trái: thay vì lưu toàn bộ ma trận, ta cắt đôi ma trận tại dòng giữa i* = m/2. Ta chạy 1 lượt DP xuôi từ đỉnh xuống dòng i* và 1 lượt DP ngược từ đáy lên dòng i*, mỗi lượt chỉ dùng 2 hàng vector 1 chiều tốn O(n) bộ nhớ. Tại dòng giữa i*, tổng điểm xuôi cộng điểm ngược đạt cực đại tại cột j* nào thì đường đi tối ưu toàn cục bắt buộc phải đi qua điểm (i*, j*) đó! Đặc biệt, ở phương trình thứ hai trong khung xanh, nhóm xử lý trường hợp một khoảng trống mở từ nửa trên xuyên thẳng qua đường cắt xuống nửa dưới bằng cách trừ đi G_open và cộng G_ext để không phạt mở khoảng trống 2 lần. Sau khi tìm được (i*, j*), bài toán tách thành 2 bài toán con có tổng diện tích chỉ còn đúng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có ma trận khoảng cách giữa mọi cặp chuỗi từ Giai đoạn 1, thuật toán UPGMA khởi tạo mỗi chuỗi là một cụm lá độc lập. Ở mỗi bước lặp, thuật toán tìm 2 cụm có khoảng cách nhỏ nhất để ghép thành một nút cha mới trên cây nhị phân, đồng thời cập nhật khoảng cách từ cụm mới tới các cụm còn lại bằng trung bình có trọng số theo số lượng chuỗi con. Nhóm cũng thiết kế cơ chế Deterministic Tie-Breaking để cây sinh ra luôn bất biến dù chạy trên bao nhiêu luồng OpenMP.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các nút nhánh bên trong cây UPGMA, ta cần căn chỉnh một nhóm chuỗi này với một nhóm chuỗi khác (gọi là Profile-to-Profile). Điểm tinh tế trong thiết kế của nhóm là không viết lại thuật toán quy hoạch động mới, mà tổng quát hóa chính thuật toán chia để trị Myers-Miller: thay vì so sánh 2 ký tự A[i] và B[j], ta định nghĩa hàm điểm trung bình cặp đôi PSP(x, y) giữa toàn bộ các ký tự ở cột x của Profile 1 với cột y của Profile 2. Khi chèn khoảng trống, cả một cột dấu '-' được chèn đồng bộ vào mọi chuỗi trong Profile để không phá vỡ căn chỉnh của các bước trước.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tăng tốc độ xử lý trên cả máy trạm đa nhân lẫn cụm máy tính HPC, nhóm xây dựng kiến trúc song song 3 tầng. Ở Giai đoạn 1 (tính ma trận khoảng cách), các cặp hoàn toàn độc lập nên đạt hiệu suất song song cao nhất nhờ chia vòng tròn Block-Cyclic trên MPI và lập lịch động schedule(dynamic, 1) trên OpenMP. Ở Giai đoạn căn chỉnh cây UPGMA, vì nút cha phụ thuộc dữ liệu vào 2 nút con, nhóm thiết kế thuật toán Level-Set Tree Scheduler gom các nút có cùng độ cao Topo vào một đợt sóng để chạy song song. Hình nhỏ bên dưới minh họa thêm kỹ thuật Wavefront Anti-Diagonal: các ô nằm trên cùng đường chéo phụ chỉ phụ thuộc vào 2 đường chéo trước đó nên có thể tính đồng thời.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trình bày phép chứng minh toán học chặt chẽ cho cả Không gian và Thời gian. Ở Định lý 1 bên trái: vì các vector 1 chiều chỉ có kích thước n+1 và được giải phóng trước khi đi vào nhánh đệ quy, bộ nhớ tại mọi thời điểm chỉ tỉ lệ thuận với O(min(m,n)). Ở Định lý 2 bên phải: một câu hỏi kinh điển của môn Phân tích thuật toán là tại sao gọi đệ quy log₂(m) tầng mà thời gian không bị nhân thêm log₂(m)? Câu trả lời nằm ở tính chất triệt tiêu j*: tổng diện tích của 2 nửa bài toán con luôn bằng (m/2)*j* + (m/2)*(n - j*) = (1/2)*m*n. Do đó tổng khối lượng tính toán qua mọi tầng đệ quy lập thành cấp số nhân công bội 1/2: 1 + 1/2 + 1/4 + ... hội tụ về đúng bằng 2! Tức là thời gian chỉ gấp đôi hằng số so với Gotoh, giữ nguyên bậc O(mn).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tổng hợp trên slide đối chiếu trực tiếp toàn bộ các giai đoạn. Đáng chú ý nhất là không gian bộ nhớ của toàn hệ thống chỉ còn O(k*L), tức chỉ tương đương kích thước lưu trữ các chuỗi đầu ra. Ở nửa dưới, nhóm kết hợp Định luật Amdahl và Định luật Gustafson: với một bộ dữ liệu cố định, nút gốc của cây UPGMA tạo ra phần tuần tự (1-f) khoảng 15%, nhưng khi số lượng chuỗi k tăng lên hàng chục hay hàng trăm chuỗi, pha tính ma trận khoảng cách O(k²N²) chiếm ưu thế tuyệt đối, giúp tỷ lệ song song hóa tiến dần tới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sang Phần 4 — Thực nghiệm trên bộ dữ liệu chuẩn quốc tế BAliBASE 3.0. Thực nghiệm đầu tiên kiểm chứng hiệu quả tiết kiệm bộ nhớ của Myers-Miller so với Gotoh truyền thống. Quan sát biểu đồ cột thang đo Logarit bên trái và bảng số liệu bên phải: với cặp chuỗi dài 897 amino acid, Gotoh cần gần 9,5 MB bộ nhớ cho 3 ma trận, trong khi Myers-Miller chỉ dùng đúng 7,02 KB — tức giảm 1.353,5 lần! Quan trọng hơn cả, cột ngoài cùng bên phải xác nhận điểm số quy hoạch động của hai thuật toán trùng khớp 100%.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Thực nghiệm 2, nhóm đo đạc thời gian chạy thực tế trên 1, 2, 4 và 8 luồng OpenMP. Kết quả cho thấy quy luật rất rõ ràng: với các tập dữ liệu lớn có hàng trăm cặp chuỗi như BB20001 hay Benchmark 40 chuỗi (780 cặp), thời gian giảm mạnh và đạt Speedup cực đại 1,73 lần. Ngược lại, với tập dữ liệu rất nhỏ như BB11001 chỉ có 4 chuỗi (chạy mất 5 mili-giây), việc dùng tới 8 luồng chỉ làm tốn thêm chi phí đồng bộ rào chắn OpenMP. Sự tiệm cận của đường thực nghiệm so với đường lý thuyết Amdahl phản ánh chính xác phần tuần tự tại nút gốc của cây UPGMA.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Thực nghiệm thứ 3 kiểm tra chất lượng sinh học của kết quả căn chỉnh bằng cách so sánh tự động với các file chuẩn BAliBASE 3.0 được xác thực bằng cấu trúc tinh thể học tia X. Trên nhóm RV12 (độ tương đồng trung bình 20-40%), thuật toán đạt kết quả rất cao với SP trung bình 86,84% và TC đạt 68,06%. Trên nhóm khó nhất là RV11 (Vùng hoàng hôn dưới 20% tương đồng), mẫu BB11001 vẫn đạt tới 98,2% điểm SP. Nhóm cũng phân tích rõ tại sao trên RV20 điểm SP đạt tới 92% (BB20003) nhưng điểm TC bằng 0: vì TC đòi hỏi cả 40 chuỗi trong cột phải đúng đồng thời 100%, nên chỉ cần 1 chuỗi bị dịch nhẹ ở bước sớm theo luật 'Once a gap, always a gap' là cột đó mất điểm TC.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đặt hệ thống của Nhóm 5 cạnh hai phần mềm sinh tin học tiêu chuẩn quốc tế là ClustalW 2.1 và MUSCLE v3.8 trên bộ dữ liệu BB20001: Hình A bên trái cho thấy hệ thống của nhóm có mức tiêu thụ bộ nhớ RAM đỉnh thấp nhất — chỉ 26,8 MB so với ~50 MB của ClustalW/MUSCLE và 320 MB của Gotoh. Hình B bên phải cho thấy điểm SP của nhóm đạt 0,488 — vượt qua ClustalW (0,472) và tiệm cận rất sát MUSCLE (0,495).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mặt kỹ thuật phần mềm, toàn bộ hệ thống được viết bằng C++17 hiện đại, chia thành 6 namespace rõ ràng và biên dịch ra 2 thực thi độc lập: msa_align (OpenMP) và msa_align_mpi (Hybrid MPI + OpenMP). Để đảm bảo độ tin cậy tuyệt đối của thuật toán chia để trị phức tạp, nhóm đã xây dựng 108 Unit Tests với 139.463 phép kiểm tra assertion và 234 bài kiểm thử tích hợp End-to-End, đạt tỷ lệ vượt qua 100%.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cạnh công cụ dòng lệnh CLI, nhóm phát triển giao diện Web GUI Studio kết nối trực tiếp tới nhân C++17 qua FastAPI. Trên màn hình là 3 phân hệ trực quan hóa chính: (1) Ma trận căn chỉnh tô màu theo tính chất hóa lý của từng amino acid kèm biểu đồ mức độ bảo tồn cột; (2) Cây phát sinh chủng loại UPGMA dạng đồ họa vector SVG tương tác; và (3) Dashboard đo đạc Speedup đa luồng và tỷ lệ nén bộ nhớ theo thời gian thực. Sau đây nhóm xin phép chuyển sang trình duyệt trong khoảng 1 phút rưỡi để demo trực tiếp trên bộ dữ liệu chuẩn BAliBASE.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kết luận, đồ án của Nhóm 5 đã giải quyết trọn vẹn bài toán Căn chỉnh Đa chuỗi từ nền tảng lý thuyết, chứng minh độ phức tạp toán học đến cài đặt hệ thống C++17 song song và kiểm chứng trên chuẩn quốc tế BAliBASE 3.0. Trong tương lai, việc tích hợp thêm vòng lặp tinh chỉnh Iterative Refinement trên nền tảng bộ nhớ tuyến tính sẵn có của nhóm sẽ giúp nâng cao hơn nữa điểm số TC trên các họ gen lớn. Cảm ơn Thầy/Cô và các bạn đã lắng nghe, nhóm rất mong nhận được các câu hỏi phản biện ạ!</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dự phòng giải thích chi tiết kỹ thuật Gap Coalescing trong bài báo gốc của Myers &amp; Miller (1988) khi hội đồng hỏi sâu về cách nối 2 nửa quy hoạch động có phạt khoảng trống Affine.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dự phòng giải thích lý do điểm TC bằng 0 trên tập RV20 dù điểm SP đạt 92%.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dự phòng phân tích nguyên nhân kiến trúc máy tính và hình thái cây nhị phân dẫn tới ngưỡng bão hòa Speedup ở 8 luồng.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822960"/>
            <a:ext cx="4754880" cy="38404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BÁO CÁO ĐỒ ÁN • PHÂN TÍCH &amp; THIẾT KẾ THUẬT TOÁN</a:t>
            </a:r>
          </a:p>
        </p:txBody>
      </p:sp>
      <p:sp>
        <p:nvSpPr>
          <p:cNvPr id="4" name="TextBox 3"/>
          <p:cNvSpPr txBox="1"/>
          <p:nvPr/>
        </p:nvSpPr>
        <p:spPr>
          <a:xfrm>
            <a:off x="731520" y="1417320"/>
            <a:ext cx="10698480" cy="2286000"/>
          </a:xfrm>
          <a:prstGeom prst="rect">
            <a:avLst/>
          </a:prstGeom>
          <a:noFill/>
        </p:spPr>
        <p:txBody>
          <a:bodyPr wrap="square">
            <a:spAutoFit/>
          </a:bodyPr>
          <a:lstStyle/>
          <a:p>
            <a:pPr>
              <a:spcAft>
                <a:spcPts val="1400"/>
              </a:spcAft>
              <a:defRPr sz="3000" b="1">
                <a:solidFill>
                  <a:srgbClr val="FFFFFF"/>
                </a:solidFill>
                <a:latin typeface="Segoe UI"/>
              </a:defRPr>
            </a:pPr>
            <a:r>
              <a:t>THUẬT TOÁN CHIA ĐỂ TRỊ SONG SONG KẾT HỢP QUY HOẠCH ĐỘNG CHO CĂN CHỈNH ĐA CHUỖI PROTEIN/ADN (MSA)</a:t>
            </a:r>
          </a:p>
          <a:p>
            <a:pPr>
              <a:defRPr sz="1550">
                <a:solidFill>
                  <a:srgbClr val="7DD3FC"/>
                </a:solidFill>
                <a:latin typeface="Segoe UI"/>
              </a:defRPr>
            </a:pPr>
            <a:r>
              <a:t>Tối ưu Bộ nhớ Tuyến tính O(min(m,n)) bằng Myers-Miller • Cây Hướng dẫn UPGMA • Song song Đa tầng OpenMP &amp; MPI</a:t>
            </a:r>
          </a:p>
        </p:txBody>
      </p:sp>
      <p:sp>
        <p:nvSpPr>
          <p:cNvPr id="5" name="Rounded Rectangle 4"/>
          <p:cNvSpPr/>
          <p:nvPr/>
        </p:nvSpPr>
        <p:spPr>
          <a:xfrm>
            <a:off x="731520" y="3977639"/>
            <a:ext cx="2542032" cy="1325880"/>
          </a:xfrm>
          <a:prstGeom prst="roundRect">
            <a:avLst/>
          </a:prstGeom>
          <a:solidFill>
            <a:srgbClr val="1E293B"/>
          </a:solidFill>
          <a:ln w="2222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lIns="137160" tIns="164592"/>
          <a:lstStyle/>
          <a:p>
            <a:pPr algn="ctr">
              <a:defRPr sz="2200" b="1">
                <a:solidFill>
                  <a:srgbClr val="0284C7"/>
                </a:solidFill>
                <a:latin typeface="Segoe UI"/>
              </a:defRPr>
            </a:pPr>
            <a:r>
              <a:t>1.353,5×</a:t>
            </a:r>
          </a:p>
          <a:p>
            <a:pPr>
              <a:defRPr sz="1150">
                <a:solidFill>
                  <a:srgbClr val="E2E8F0"/>
                </a:solidFill>
                <a:latin typeface="Segoe UI"/>
              </a:defRPr>
            </a:pPr>
            <a:r>
              <a:t>Giảm bộ nhớ RAM đỉnh</a:t>
            </a:r>
            <a:br/>
            <a:r>
              <a:t>O(mn) → O(min(m, n))</a:t>
            </a:r>
          </a:p>
        </p:txBody>
      </p:sp>
      <p:sp>
        <p:nvSpPr>
          <p:cNvPr id="6" name="Rounded Rectangle 5"/>
          <p:cNvSpPr/>
          <p:nvPr/>
        </p:nvSpPr>
        <p:spPr>
          <a:xfrm>
            <a:off x="3456432" y="3977639"/>
            <a:ext cx="2542032" cy="1325880"/>
          </a:xfrm>
          <a:prstGeom prst="roundRect">
            <a:avLst/>
          </a:prstGeom>
          <a:solidFill>
            <a:srgbClr val="1E293B"/>
          </a:solidFill>
          <a:ln w="222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37160" tIns="164592"/>
          <a:lstStyle/>
          <a:p>
            <a:pPr algn="ctr">
              <a:defRPr sz="2200" b="1">
                <a:solidFill>
                  <a:srgbClr val="059669"/>
                </a:solidFill>
                <a:latin typeface="Segoe UI"/>
              </a:defRPr>
            </a:pPr>
            <a:r>
              <a:t>100% Match</a:t>
            </a:r>
          </a:p>
          <a:p>
            <a:pPr>
              <a:defRPr sz="1150">
                <a:solidFill>
                  <a:srgbClr val="E2E8F0"/>
                </a:solidFill>
                <a:latin typeface="Segoe UI"/>
              </a:defRPr>
            </a:pPr>
            <a:r>
              <a:t>Độ chính xác điểm số</a:t>
            </a:r>
            <a:br/>
            <a:r>
              <a:t>trùng khớp Gotoh NW</a:t>
            </a:r>
          </a:p>
        </p:txBody>
      </p:sp>
      <p:sp>
        <p:nvSpPr>
          <p:cNvPr id="7" name="Rounded Rectangle 6"/>
          <p:cNvSpPr/>
          <p:nvPr/>
        </p:nvSpPr>
        <p:spPr>
          <a:xfrm>
            <a:off x="6181344" y="3977639"/>
            <a:ext cx="2542032" cy="1325880"/>
          </a:xfrm>
          <a:prstGeom prst="roundRect">
            <a:avLst/>
          </a:prstGeom>
          <a:solidFill>
            <a:srgbClr val="1E293B"/>
          </a:solidFill>
          <a:ln w="2222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37160" tIns="164592"/>
          <a:lstStyle/>
          <a:p>
            <a:pPr algn="ctr">
              <a:defRPr sz="2200" b="1">
                <a:solidFill>
                  <a:srgbClr val="D97706"/>
                </a:solidFill>
                <a:latin typeface="Segoe UI"/>
              </a:defRPr>
            </a:pPr>
            <a:r>
              <a:t>OpenMP + MPI</a:t>
            </a:r>
          </a:p>
          <a:p>
            <a:pPr>
              <a:defRPr sz="1150">
                <a:solidFill>
                  <a:srgbClr val="E2E8F0"/>
                </a:solidFill>
                <a:latin typeface="Segoe UI"/>
              </a:defRPr>
            </a:pPr>
            <a:r>
              <a:t>Song song hóa đa tầng</a:t>
            </a:r>
            <a:br/>
            <a:r>
              <a:t>Speedup tới 1,73×</a:t>
            </a:r>
          </a:p>
        </p:txBody>
      </p:sp>
      <p:sp>
        <p:nvSpPr>
          <p:cNvPr id="8" name="Rounded Rectangle 7"/>
          <p:cNvSpPr/>
          <p:nvPr/>
        </p:nvSpPr>
        <p:spPr>
          <a:xfrm>
            <a:off x="8906256" y="3977639"/>
            <a:ext cx="2542032" cy="1325880"/>
          </a:xfrm>
          <a:prstGeom prst="roundRect">
            <a:avLst/>
          </a:prstGeom>
          <a:solidFill>
            <a:srgbClr val="1E293B"/>
          </a:solidFill>
          <a:ln w="2222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137160" tIns="164592"/>
          <a:lstStyle/>
          <a:p>
            <a:pPr algn="ctr">
              <a:defRPr sz="2200" b="1">
                <a:solidFill>
                  <a:srgbClr val="7C3AED"/>
                </a:solidFill>
                <a:latin typeface="Segoe UI"/>
              </a:defRPr>
            </a:pPr>
            <a:r>
              <a:t>BAliBASE 3.0</a:t>
            </a:r>
          </a:p>
          <a:p>
            <a:pPr>
              <a:defRPr sz="1150">
                <a:solidFill>
                  <a:srgbClr val="E2E8F0"/>
                </a:solidFill>
                <a:latin typeface="Segoe UI"/>
              </a:defRPr>
            </a:pPr>
            <a:r>
              <a:t>Đạt 86,8% SP Score</a:t>
            </a:r>
            <a:br/>
            <a:r>
              <a:t>342 Automated Tests</a:t>
            </a:r>
          </a:p>
        </p:txBody>
      </p:sp>
      <p:sp>
        <p:nvSpPr>
          <p:cNvPr id="9" name="TextBox 8"/>
          <p:cNvSpPr txBox="1"/>
          <p:nvPr/>
        </p:nvSpPr>
        <p:spPr>
          <a:xfrm>
            <a:off x="731520" y="5715000"/>
            <a:ext cx="10698480" cy="731520"/>
          </a:xfrm>
          <a:prstGeom prst="rect">
            <a:avLst/>
          </a:prstGeom>
          <a:noFill/>
        </p:spPr>
        <p:txBody>
          <a:bodyPr wrap="none">
            <a:spAutoFit/>
          </a:bodyPr>
          <a:lstStyle/>
          <a:p>
            <a:pPr>
              <a:defRPr sz="1300" b="1">
                <a:solidFill>
                  <a:srgbClr val="94A3B8"/>
                </a:solidFill>
                <a:latin typeface="Segoe UI"/>
              </a:defRPr>
            </a:pPr>
            <a:r>
              <a:t>Thực hiện: Nhóm 5   |   Ngôn ngữ: Modern C++17, OpenMP, MPI, Python FastAPI   |   Chuẩn đánh giá: BAliBASE 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1 • ĐẶT VẤN ĐỀ &amp; MÔ HÌNH HÓA</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Bài toán Căn chỉnh Đa chuỗi (MSA) &amp; Mô hình Hóa Toán học</a:t>
            </a:r>
          </a:p>
          <a:p>
            <a:pPr>
              <a:defRPr sz="1150" i="1">
                <a:solidFill>
                  <a:srgbClr val="BAE6FD"/>
                </a:solidFill>
                <a:latin typeface="Segoe UI"/>
              </a:defRPr>
            </a:pPr>
            <a:r>
              <a:t>MSA tìm kiếm sự tương đồng tiến hóa thông qua tối ưu hóa hàm mục tiêu Sum-of-Pairs và phạt khoảng trống Affine</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2 / 18</a:t>
            </a:r>
          </a:p>
        </p:txBody>
      </p:sp>
      <p:sp>
        <p:nvSpPr>
          <p:cNvPr id="9" name="Rounded Rectangle 8"/>
          <p:cNvSpPr/>
          <p:nvPr/>
        </p:nvSpPr>
        <p:spPr>
          <a:xfrm>
            <a:off x="411480" y="1261872"/>
            <a:ext cx="553212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5532120"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1. Bối cảnh Sinh học &amp; Định nghĩa Hình thức</a:t>
            </a:r>
          </a:p>
        </p:txBody>
      </p:sp>
      <p:sp>
        <p:nvSpPr>
          <p:cNvPr id="11" name="TextBox 10"/>
          <p:cNvSpPr txBox="1"/>
          <p:nvPr/>
        </p:nvSpPr>
        <p:spPr>
          <a:xfrm>
            <a:off x="594360" y="1746504"/>
            <a:ext cx="5166360" cy="2286000"/>
          </a:xfrm>
          <a:prstGeom prst="rect">
            <a:avLst/>
          </a:prstGeom>
          <a:noFill/>
        </p:spPr>
        <p:txBody>
          <a:bodyPr wrap="square" lIns="0" rIns="0" tIns="0" bIns="0">
            <a:spAutoFit/>
          </a:bodyPr>
          <a:lstStyle/>
          <a:p>
            <a:pPr>
              <a:spcAft>
                <a:spcPts val="800"/>
              </a:spcAft>
            </a:pPr>
            <a:r>
              <a:rPr sz="1200" b="1">
                <a:solidFill>
                  <a:srgbClr val="1E293B"/>
                </a:solidFill>
                <a:latin typeface="Segoe UI"/>
              </a:rPr>
              <a:t>• Đầu vào: </a:t>
            </a:r>
            <a:r>
              <a:rPr sz="1200">
                <a:solidFill>
                  <a:srgbClr val="1E293B"/>
                </a:solidFill>
                <a:latin typeface="Segoe UI"/>
              </a:rPr>
              <a:t>Tập k chuỗi sinh học S = {S₁, S₂, ..., Sₖ} trên bảng chữ cái Σ (20 Amino Acid hoặc 4 Nucleotide), độ dài n₁, n₂, ..., nₖ.</a:t>
            </a:r>
          </a:p>
          <a:p>
            <a:pPr>
              <a:spcAft>
                <a:spcPts val="800"/>
              </a:spcAft>
            </a:pPr>
            <a:r>
              <a:rPr sz="1200" b="1">
                <a:solidFill>
                  <a:srgbClr val="1E293B"/>
                </a:solidFill>
                <a:latin typeface="Segoe UI"/>
              </a:rPr>
              <a:t>• Biến đổi Căn chỉnh: </a:t>
            </a:r>
            <a:r>
              <a:rPr sz="1200">
                <a:solidFill>
                  <a:srgbClr val="1E293B"/>
                </a:solidFill>
                <a:latin typeface="Segoe UI"/>
              </a:rPr>
              <a:t>Chèn ký tự khoảng trống '-' vào các chuỗi để tạo ma trận A kích thước k × L (với max(nᵢ) ≤ L ≤ ∑nᵢ), không có cột nào chứa toàn '-'.</a:t>
            </a:r>
          </a:p>
          <a:p>
            <a:pPr>
              <a:spcAft>
                <a:spcPts val="800"/>
              </a:spcAft>
            </a:pPr>
            <a:r>
              <a:rPr sz="1200" b="1">
                <a:solidFill>
                  <a:srgbClr val="1E293B"/>
                </a:solidFill>
                <a:latin typeface="Segoe UI"/>
              </a:rPr>
              <a:t>• Ý nghĩa Thực tiễn: </a:t>
            </a:r>
            <a:r>
              <a:rPr sz="1200">
                <a:solidFill>
                  <a:srgbClr val="1E293B"/>
                </a:solidFill>
                <a:latin typeface="Segoe UI"/>
              </a:rPr>
              <a:t>Phát hiện vùng bảo tồn tiến hóa, dự đoán cấu trúc bậc 3 Protein, dựng cây phát sinh chủng loại (Phylogenetics).</a:t>
            </a:r>
          </a:p>
        </p:txBody>
      </p:sp>
      <p:sp>
        <p:nvSpPr>
          <p:cNvPr id="12" name="Rounded Rectangle 11"/>
          <p:cNvSpPr/>
          <p:nvPr/>
        </p:nvSpPr>
        <p:spPr>
          <a:xfrm>
            <a:off x="594360" y="3977639"/>
            <a:ext cx="5166360" cy="2148840"/>
          </a:xfrm>
          <a:prstGeom prst="roundRect">
            <a:avLst>
              <a:gd name="adj" fmla="val 3000"/>
            </a:avLst>
          </a:prstGeom>
          <a:solidFill>
            <a:srgbClr val="F1F5F9"/>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050791"/>
            <a:ext cx="4873752" cy="2002536"/>
          </a:xfrm>
          <a:prstGeom prst="rect">
            <a:avLst/>
          </a:prstGeom>
          <a:noFill/>
        </p:spPr>
        <p:txBody>
          <a:bodyPr wrap="square" lIns="0" tIns="0" rIns="0" bIns="0">
            <a:spAutoFit/>
          </a:bodyPr>
          <a:lstStyle/>
          <a:p>
            <a:pPr>
              <a:spcAft>
                <a:spcPts val="400"/>
              </a:spcAft>
              <a:defRPr sz="1150" b="1">
                <a:solidFill>
                  <a:srgbClr val="1E293B"/>
                </a:solidFill>
                <a:latin typeface="Segoe UI"/>
              </a:defRPr>
            </a:pPr>
            <a:r>
              <a:t>Ví dụ Minh họa Căn chỉnh Đa chuỗi (Bảo tồn Cột):</a:t>
            </a:r>
          </a:p>
          <a:p>
            <a:pPr>
              <a:spcAft>
                <a:spcPts val="300"/>
              </a:spcAft>
              <a:defRPr sz="1150" b="1">
                <a:solidFill>
                  <a:srgbClr val="0F172A"/>
                </a:solidFill>
                <a:latin typeface="Consolas"/>
              </a:defRPr>
            </a:pPr>
            <a:r>
              <a:t>Trước căn chỉnh (Độ dài lệch nhau):</a:t>
            </a:r>
          </a:p>
          <a:p>
            <a:pPr>
              <a:spcAft>
                <a:spcPts val="300"/>
              </a:spcAft>
              <a:defRPr sz="1150" b="1">
                <a:solidFill>
                  <a:srgbClr val="0F172A"/>
                </a:solidFill>
                <a:latin typeface="Consolas"/>
              </a:defRPr>
            </a:pPr>
            <a:r>
              <a:t>  Seq1: MVLSPADKTNVKAAW</a:t>
            </a:r>
          </a:p>
          <a:p>
            <a:pPr>
              <a:spcAft>
                <a:spcPts val="300"/>
              </a:spcAft>
              <a:defRPr sz="1150" b="1">
                <a:solidFill>
                  <a:srgbClr val="0F172A"/>
                </a:solidFill>
                <a:latin typeface="Consolas"/>
              </a:defRPr>
            </a:pPr>
            <a:r>
              <a:t>  Seq2: MVLSAADKTNVK</a:t>
            </a:r>
          </a:p>
          <a:p>
            <a:pPr>
              <a:spcAft>
                <a:spcPts val="300"/>
              </a:spcAft>
              <a:defRPr sz="1150" b="1">
                <a:solidFill>
                  <a:srgbClr val="0F172A"/>
                </a:solidFill>
                <a:latin typeface="Consolas"/>
              </a:defRPr>
            </a:pPr>
            <a:r>
              <a:t>Sau căn chỉnh MSA (Khớp các cột tương đồng):</a:t>
            </a:r>
          </a:p>
          <a:p>
            <a:pPr>
              <a:spcAft>
                <a:spcPts val="300"/>
              </a:spcAft>
              <a:defRPr sz="1150" b="1">
                <a:solidFill>
                  <a:srgbClr val="0F172A"/>
                </a:solidFill>
                <a:latin typeface="Consolas"/>
              </a:defRPr>
            </a:pPr>
            <a:r>
              <a:t>  Seq1: M V L S P A D K T N V K A A W</a:t>
            </a:r>
          </a:p>
          <a:p>
            <a:pPr>
              <a:spcAft>
                <a:spcPts val="300"/>
              </a:spcAft>
              <a:defRPr sz="1150" b="1">
                <a:solidFill>
                  <a:srgbClr val="0F172A"/>
                </a:solidFill>
                <a:latin typeface="Consolas"/>
              </a:defRPr>
            </a:pPr>
            <a:r>
              <a:t>  Seq2: M V L S A A D K T N V K - - -</a:t>
            </a:r>
          </a:p>
          <a:p>
            <a:pPr>
              <a:spcAft>
                <a:spcPts val="300"/>
              </a:spcAft>
              <a:defRPr sz="1150" b="1">
                <a:solidFill>
                  <a:srgbClr val="0F172A"/>
                </a:solidFill>
                <a:latin typeface="Consolas"/>
              </a:defRPr>
            </a:pPr>
            <a:r>
              <a:t>  Seq3: M V L S E G E W Q L V L H V W</a:t>
            </a:r>
          </a:p>
          <a:p>
            <a:pPr>
              <a:spcAft>
                <a:spcPts val="300"/>
              </a:spcAft>
              <a:defRPr sz="1150" b="1">
                <a:solidFill>
                  <a:srgbClr val="0F172A"/>
                </a:solidFill>
                <a:latin typeface="Consolas"/>
              </a:defRPr>
            </a:pPr>
            <a:r>
              <a:t>        * * * * . . : . . : * :      </a:t>
            </a:r>
          </a:p>
        </p:txBody>
      </p:sp>
      <p:sp>
        <p:nvSpPr>
          <p:cNvPr id="14" name="Rounded Rectangle 13"/>
          <p:cNvSpPr/>
          <p:nvPr/>
        </p:nvSpPr>
        <p:spPr>
          <a:xfrm>
            <a:off x="6172200" y="1261872"/>
            <a:ext cx="560527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72200" y="1261872"/>
            <a:ext cx="5605272"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2. Mô hình Hàm Mục tiêu Tối ưu hóa</a:t>
            </a:r>
          </a:p>
        </p:txBody>
      </p:sp>
      <p:sp>
        <p:nvSpPr>
          <p:cNvPr id="16" name="Rounded Rectangle 15"/>
          <p:cNvSpPr/>
          <p:nvPr/>
        </p:nvSpPr>
        <p:spPr>
          <a:xfrm>
            <a:off x="6355080" y="1773936"/>
            <a:ext cx="5239512" cy="2057400"/>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1384" y="1847088"/>
            <a:ext cx="4946904" cy="1911095"/>
          </a:xfrm>
          <a:prstGeom prst="rect">
            <a:avLst/>
          </a:prstGeom>
          <a:noFill/>
        </p:spPr>
        <p:txBody>
          <a:bodyPr wrap="square" lIns="0" tIns="0" rIns="0" bIns="0">
            <a:spAutoFit/>
          </a:bodyPr>
          <a:lstStyle/>
          <a:p>
            <a:pPr>
              <a:spcAft>
                <a:spcPts val="400"/>
              </a:spcAft>
              <a:defRPr sz="1150" b="1">
                <a:solidFill>
                  <a:srgbClr val="0284C7"/>
                </a:solidFill>
                <a:latin typeface="Segoe UI"/>
              </a:defRPr>
            </a:pPr>
            <a:r>
              <a:t>Hàm mục tiêu Sum-of-Pairs (SP Score) + Ma trận BLOSUM62:</a:t>
            </a:r>
          </a:p>
          <a:p>
            <a:pPr>
              <a:spcAft>
                <a:spcPts val="300"/>
              </a:spcAft>
              <a:defRPr sz="1150" b="1">
                <a:solidFill>
                  <a:srgbClr val="0F172A"/>
                </a:solidFill>
                <a:latin typeface="Consolas"/>
              </a:defRPr>
            </a:pPr>
            <a:r>
              <a:t>SP(A) = ∑_{1 ≤ p &lt; q ≤ k}  ∑_{c = 1..L}  score(A[p,c], A[q,c])</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Khớp 2 Amino Acid: score(x, y) = BLOSUM62(x, y)</a:t>
            </a:r>
          </a:p>
          <a:p>
            <a:pPr>
              <a:spcAft>
                <a:spcPts val="300"/>
              </a:spcAft>
              <a:defRPr sz="1150" b="1">
                <a:solidFill>
                  <a:srgbClr val="0F172A"/>
                </a:solidFill>
                <a:latin typeface="Consolas"/>
              </a:defRPr>
            </a:pPr>
            <a:r>
              <a:t>• Cặp (-, -) giữa 2 khoảng trống: score('-', '-') = 0</a:t>
            </a:r>
          </a:p>
          <a:p>
            <a:pPr>
              <a:spcAft>
                <a:spcPts val="300"/>
              </a:spcAft>
              <a:defRPr sz="1150" b="1">
                <a:solidFill>
                  <a:srgbClr val="0F172A"/>
                </a:solidFill>
                <a:latin typeface="Consolas"/>
              </a:defRPr>
            </a:pPr>
            <a:r>
              <a:t>• Mục tiêu: Tìm ma trận A* đạt argmax SP(A)</a:t>
            </a:r>
          </a:p>
        </p:txBody>
      </p:sp>
      <p:sp>
        <p:nvSpPr>
          <p:cNvPr id="18" name="Rounded Rectangle 17"/>
          <p:cNvSpPr/>
          <p:nvPr/>
        </p:nvSpPr>
        <p:spPr>
          <a:xfrm>
            <a:off x="6355080" y="3977639"/>
            <a:ext cx="5239512" cy="2148840"/>
          </a:xfrm>
          <a:prstGeom prst="roundRect">
            <a:avLst>
              <a:gd name="adj" fmla="val 3000"/>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01384" y="4050791"/>
            <a:ext cx="4946904" cy="2002536"/>
          </a:xfrm>
          <a:prstGeom prst="rect">
            <a:avLst/>
          </a:prstGeom>
          <a:noFill/>
        </p:spPr>
        <p:txBody>
          <a:bodyPr wrap="square" lIns="0" tIns="0" rIns="0" bIns="0">
            <a:spAutoFit/>
          </a:bodyPr>
          <a:lstStyle/>
          <a:p>
            <a:pPr>
              <a:spcAft>
                <a:spcPts val="400"/>
              </a:spcAft>
              <a:defRPr sz="1150" b="1">
                <a:solidFill>
                  <a:srgbClr val="059669"/>
                </a:solidFill>
                <a:latin typeface="Segoe UI"/>
              </a:defRPr>
            </a:pPr>
            <a:r>
              <a:t>Mô hình Phạt Khoảng trống Affine (Affine Gap Penalty):</a:t>
            </a:r>
          </a:p>
          <a:p>
            <a:pPr>
              <a:spcAft>
                <a:spcPts val="300"/>
              </a:spcAft>
              <a:defRPr sz="1150" b="1">
                <a:solidFill>
                  <a:srgbClr val="0F172A"/>
                </a:solidFill>
                <a:latin typeface="Consolas"/>
              </a:defRPr>
            </a:pPr>
            <a:r>
              <a:t>γ(g) = G_open + (g - 1) × G_ext   (với g ≥ 1)</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Mở khoảng trống mới:   G_open = -10 (Phạt nặng)</a:t>
            </a:r>
          </a:p>
          <a:p>
            <a:pPr>
              <a:spcAft>
                <a:spcPts val="300"/>
              </a:spcAft>
              <a:defRPr sz="1150" b="1">
                <a:solidFill>
                  <a:srgbClr val="0F172A"/>
                </a:solidFill>
                <a:latin typeface="Consolas"/>
              </a:defRPr>
            </a:pPr>
            <a:r>
              <a:t>• Kéo dài khoảng trống: G_ext  = -1  (Phạt nhẹ)</a:t>
            </a:r>
          </a:p>
          <a:p>
            <a:pPr>
              <a:spcAft>
                <a:spcPts val="300"/>
              </a:spcAft>
              <a:defRPr sz="1150" b="1">
                <a:solidFill>
                  <a:srgbClr val="0F172A"/>
                </a:solidFill>
                <a:latin typeface="Consolas"/>
              </a:defRPr>
            </a:pPr>
            <a:r>
              <a:t>→ Phản ánh đúng đột biến sinh học: 1 sự kiện mất đoạn</a:t>
            </a:r>
          </a:p>
          <a:p>
            <a:pPr>
              <a:spcAft>
                <a:spcPts val="300"/>
              </a:spcAft>
              <a:defRPr sz="1150" b="1">
                <a:solidFill>
                  <a:srgbClr val="0F172A"/>
                </a:solidFill>
                <a:latin typeface="Consolas"/>
              </a:defRPr>
            </a:pPr>
            <a:r>
              <a:t>  dài xảy ra phổ biến hơn nhiều đột biến đơn lẻ rời rạc.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1 • ĐẶT VẤN ĐỀ &amp; MÔ HÌNH HÓA</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Thách thức Tính toán: Sự Bùng nổ Không gian Trạng thái &amp; Bộ nhớ</a:t>
            </a:r>
          </a:p>
          <a:p>
            <a:pPr>
              <a:defRPr sz="1150" i="1">
                <a:solidFill>
                  <a:srgbClr val="BAE6FD"/>
                </a:solidFill>
                <a:latin typeface="Segoe UI"/>
              </a:defRPr>
            </a:pPr>
            <a:r>
              <a:t>Quy hoạch động đa chiều là NP-Hard O(2^k · N^k), trong khi DP cặp đôi truyền thống gây tràn RAM ở O(N²)</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3 / 18</a:t>
            </a:r>
          </a:p>
        </p:txBody>
      </p:sp>
      <p:sp>
        <p:nvSpPr>
          <p:cNvPr id="9" name="Rounded Rectangle 8"/>
          <p:cNvSpPr/>
          <p:nvPr/>
        </p:nvSpPr>
        <p:spPr>
          <a:xfrm>
            <a:off x="411480" y="1261872"/>
            <a:ext cx="3675887" cy="3794760"/>
          </a:xfrm>
          <a:prstGeom prst="roundRect">
            <a:avLst>
              <a:gd name="adj" fmla="val 2000"/>
            </a:avLst>
          </a:prstGeom>
          <a:solidFill>
            <a:srgbClr val="FFFFFF"/>
          </a:solidFill>
          <a:ln w="15875">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3675887" cy="384048"/>
          </a:xfrm>
          <a:prstGeom prst="roundRect">
            <a:avLst>
              <a:gd name="adj" fmla="val 2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1. Bùng nổ Tổ hợp Đa chiều (NP-Hard)</a:t>
            </a:r>
          </a:p>
        </p:txBody>
      </p:sp>
      <p:sp>
        <p:nvSpPr>
          <p:cNvPr id="11" name="TextBox 10"/>
          <p:cNvSpPr txBox="1"/>
          <p:nvPr/>
        </p:nvSpPr>
        <p:spPr>
          <a:xfrm>
            <a:off x="557784" y="1773936"/>
            <a:ext cx="3383280" cy="3108960"/>
          </a:xfrm>
          <a:prstGeom prst="rect">
            <a:avLst/>
          </a:prstGeom>
          <a:noFill/>
        </p:spPr>
        <p:txBody>
          <a:bodyPr wrap="square" lIns="0" rIns="0" tIns="0" bIns="0">
            <a:spAutoFit/>
          </a:bodyPr>
          <a:lstStyle/>
          <a:p>
            <a:pPr>
              <a:spcAft>
                <a:spcPts val="800"/>
              </a:spcAft>
            </a:pPr>
            <a:r>
              <a:rPr sz="1150" b="1">
                <a:solidFill>
                  <a:srgbClr val="1E293B"/>
                </a:solidFill>
                <a:latin typeface="Segoe UI"/>
              </a:rPr>
              <a:t>• DP Đa chiều chính xác: </a:t>
            </a:r>
            <a:r>
              <a:rPr sz="1150">
                <a:solidFill>
                  <a:srgbClr val="1E293B"/>
                </a:solidFill>
                <a:latin typeface="Segoe UI"/>
              </a:rPr>
              <a:t>Cần duy trì siêu lập phương (hypercube) k chiều.</a:t>
            </a:r>
          </a:p>
          <a:p>
            <a:pPr>
              <a:spcAft>
                <a:spcPts val="800"/>
              </a:spcAft>
            </a:pPr>
            <a:r>
              <a:rPr sz="1150" b="1">
                <a:solidFill>
                  <a:srgbClr val="1E293B"/>
                </a:solidFill>
                <a:latin typeface="Segoe UI"/>
              </a:rPr>
              <a:t>• Độ phức tạp Bộ nhớ: </a:t>
            </a:r>
            <a:r>
              <a:rPr sz="1150">
                <a:solidFill>
                  <a:srgbClr val="1E293B"/>
                </a:solidFill>
                <a:latin typeface="Segoe UI"/>
              </a:rPr>
              <a:t>O(N^k) — Với k = 10 chuỗi, N = 500 → cần 10²⁷ ô nhớ!</a:t>
            </a:r>
          </a:p>
          <a:p>
            <a:pPr>
              <a:spcAft>
                <a:spcPts val="800"/>
              </a:spcAft>
            </a:pPr>
            <a:r>
              <a:rPr sz="1150" b="1">
                <a:solidFill>
                  <a:srgbClr val="1E293B"/>
                </a:solidFill>
                <a:latin typeface="Segoe UI"/>
              </a:rPr>
              <a:t>• Độ phức tạp Thời gian: </a:t>
            </a:r>
            <a:r>
              <a:rPr sz="1150">
                <a:solidFill>
                  <a:srgbClr val="1E293B"/>
                </a:solidFill>
                <a:latin typeface="Segoe UI"/>
              </a:rPr>
              <a:t>O(2^k · N^k) tại mỗi đỉnh.</a:t>
            </a:r>
          </a:p>
          <a:p>
            <a:pPr>
              <a:spcAft>
                <a:spcPts val="800"/>
              </a:spcAft>
            </a:pPr>
            <a:r>
              <a:rPr sz="1150" b="1">
                <a:solidFill>
                  <a:srgbClr val="1E293B"/>
                </a:solidFill>
                <a:latin typeface="Segoe UI"/>
              </a:rPr>
              <a:t>• Định lý Wang &amp; Jiang (1994): </a:t>
            </a:r>
            <a:r>
              <a:rPr sz="1150">
                <a:solidFill>
                  <a:srgbClr val="1E293B"/>
                </a:solidFill>
                <a:latin typeface="Segoe UI"/>
              </a:rPr>
              <a:t>Bài toán MSA tối ưu hóa SP Score thuộc lớp NP-Complete. Không thể giải chính xác khi k ≥ 5.</a:t>
            </a:r>
          </a:p>
        </p:txBody>
      </p:sp>
      <p:sp>
        <p:nvSpPr>
          <p:cNvPr id="12" name="Rounded Rectangle 11"/>
          <p:cNvSpPr/>
          <p:nvPr/>
        </p:nvSpPr>
        <p:spPr>
          <a:xfrm>
            <a:off x="4233672" y="1261872"/>
            <a:ext cx="3675887" cy="3794760"/>
          </a:xfrm>
          <a:prstGeom prst="roundRect">
            <a:avLst>
              <a:gd name="adj" fmla="val 2000"/>
            </a:avLst>
          </a:prstGeom>
          <a:solidFill>
            <a:srgbClr val="FFFFFF"/>
          </a:solidFill>
          <a:ln w="15875">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33672" y="1261872"/>
            <a:ext cx="3675887" cy="384048"/>
          </a:xfrm>
          <a:prstGeom prst="roundRect">
            <a:avLst>
              <a:gd name="adj" fmla="val 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2. Nút thắt Bộ nhớ Bậc hai Gotoh O(mn)</a:t>
            </a:r>
          </a:p>
        </p:txBody>
      </p:sp>
      <p:sp>
        <p:nvSpPr>
          <p:cNvPr id="14" name="TextBox 13"/>
          <p:cNvSpPr txBox="1"/>
          <p:nvPr/>
        </p:nvSpPr>
        <p:spPr>
          <a:xfrm>
            <a:off x="4379976" y="1773936"/>
            <a:ext cx="3383280" cy="3108960"/>
          </a:xfrm>
          <a:prstGeom prst="rect">
            <a:avLst/>
          </a:prstGeom>
          <a:noFill/>
        </p:spPr>
        <p:txBody>
          <a:bodyPr wrap="square" lIns="0" rIns="0" tIns="0" bIns="0">
            <a:spAutoFit/>
          </a:bodyPr>
          <a:lstStyle/>
          <a:p>
            <a:pPr>
              <a:spcAft>
                <a:spcPts val="800"/>
              </a:spcAft>
            </a:pPr>
            <a:r>
              <a:rPr sz="1150" b="1">
                <a:solidFill>
                  <a:srgbClr val="1E293B"/>
                </a:solidFill>
                <a:latin typeface="Segoe UI"/>
              </a:rPr>
              <a:t>• Thuật toán Gotoh (1982): </a:t>
            </a:r>
            <a:r>
              <a:rPr sz="1150">
                <a:solidFill>
                  <a:srgbClr val="1E293B"/>
                </a:solidFill>
                <a:latin typeface="Segoe UI"/>
              </a:rPr>
              <a:t>Để xử lý Affine Gap trên 2 chuỗi (m, n), cần lưu 3 ma trận 2D: M, Ix, Iy.</a:t>
            </a:r>
          </a:p>
          <a:p>
            <a:pPr>
              <a:spcAft>
                <a:spcPts val="800"/>
              </a:spcAft>
            </a:pPr>
            <a:r>
              <a:rPr sz="1150" b="1">
                <a:solidFill>
                  <a:srgbClr val="1E293B"/>
                </a:solidFill>
                <a:latin typeface="Segoe UI"/>
              </a:rPr>
              <a:t>• Dung lượng RAM: </a:t>
            </a:r>
            <a:r>
              <a:rPr sz="1150">
                <a:solidFill>
                  <a:srgbClr val="1E293B"/>
                </a:solidFill>
                <a:latin typeface="Segoe UI"/>
              </a:rPr>
              <a:t>3 × m × n × 4 bytes.</a:t>
            </a:r>
          </a:p>
          <a:p>
            <a:pPr>
              <a:spcAft>
                <a:spcPts val="800"/>
              </a:spcAft>
            </a:pPr>
            <a:r>
              <a:rPr sz="1150" b="1">
                <a:solidFill>
                  <a:srgbClr val="1E293B"/>
                </a:solidFill>
                <a:latin typeface="Segoe UI"/>
              </a:rPr>
              <a:t>• Khi chuỗi dài (m = n = 10.000): </a:t>
            </a:r>
            <a:r>
              <a:rPr sz="1150">
                <a:solidFill>
                  <a:srgbClr val="1E293B"/>
                </a:solidFill>
                <a:latin typeface="Segoe UI"/>
              </a:rPr>
              <a:t>Tốn ~1,2 GB RAM chỉ cho MỘT cặp chuỗi duy nhất!</a:t>
            </a:r>
          </a:p>
          <a:p>
            <a:pPr>
              <a:spcAft>
                <a:spcPts val="800"/>
              </a:spcAft>
            </a:pPr>
            <a:r>
              <a:rPr sz="1150" b="1">
                <a:solidFill>
                  <a:srgbClr val="1E293B"/>
                </a:solidFill>
                <a:latin typeface="Segoe UI"/>
              </a:rPr>
              <a:t>• Hệ quả khi chạy Đa luồng: </a:t>
            </a:r>
            <a:r>
              <a:rPr sz="1150">
                <a:solidFill>
                  <a:srgbClr val="1E293B"/>
                </a:solidFill>
                <a:latin typeface="Segoe UI"/>
              </a:rPr>
              <a:t>Nếu P luồng cùng căn chỉnh trên ma trận 2D, hệ thống lập tức tràn bộ nhớ (Out-Of-Memory).</a:t>
            </a:r>
          </a:p>
        </p:txBody>
      </p:sp>
      <p:sp>
        <p:nvSpPr>
          <p:cNvPr id="15" name="Rounded Rectangle 14"/>
          <p:cNvSpPr/>
          <p:nvPr/>
        </p:nvSpPr>
        <p:spPr>
          <a:xfrm>
            <a:off x="8055863" y="1261872"/>
            <a:ext cx="3675887" cy="3794760"/>
          </a:xfrm>
          <a:prstGeom prst="roundRect">
            <a:avLst>
              <a:gd name="adj" fmla="val 2000"/>
            </a:avLst>
          </a:prstGeom>
          <a:solidFill>
            <a:srgbClr val="FFFF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5863" y="1261872"/>
            <a:ext cx="3675887" cy="384048"/>
          </a:xfrm>
          <a:prstGeom prst="roundRect">
            <a:avLst>
              <a:gd name="adj" fmla="val 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3. Chi phí Thời gian Tuần tự Lớn</a:t>
            </a:r>
          </a:p>
        </p:txBody>
      </p:sp>
      <p:sp>
        <p:nvSpPr>
          <p:cNvPr id="17" name="TextBox 16"/>
          <p:cNvSpPr txBox="1"/>
          <p:nvPr/>
        </p:nvSpPr>
        <p:spPr>
          <a:xfrm>
            <a:off x="8202167" y="1773936"/>
            <a:ext cx="3383280" cy="3108960"/>
          </a:xfrm>
          <a:prstGeom prst="rect">
            <a:avLst/>
          </a:prstGeom>
          <a:noFill/>
        </p:spPr>
        <p:txBody>
          <a:bodyPr wrap="square" lIns="0" rIns="0" tIns="0" bIns="0">
            <a:spAutoFit/>
          </a:bodyPr>
          <a:lstStyle/>
          <a:p>
            <a:pPr>
              <a:spcAft>
                <a:spcPts val="800"/>
              </a:spcAft>
            </a:pPr>
            <a:r>
              <a:rPr sz="1150" b="1">
                <a:solidFill>
                  <a:srgbClr val="1E293B"/>
                </a:solidFill>
                <a:latin typeface="Segoe UI"/>
              </a:rPr>
              <a:t>• Ma trận Khoảng cách: </a:t>
            </a:r>
            <a:r>
              <a:rPr sz="1150">
                <a:solidFill>
                  <a:srgbClr val="1E293B"/>
                </a:solidFill>
                <a:latin typeface="Segoe UI"/>
              </a:rPr>
              <a:t>Cần thực hiện k(k-1)/2 phép căn chỉnh cặp đôi độc lập (ví dụ k=40 → 780 cặp).</a:t>
            </a:r>
          </a:p>
          <a:p>
            <a:pPr>
              <a:spcAft>
                <a:spcPts val="800"/>
              </a:spcAft>
            </a:pPr>
            <a:r>
              <a:rPr sz="1150" b="1">
                <a:solidFill>
                  <a:srgbClr val="1E293B"/>
                </a:solidFill>
                <a:latin typeface="Segoe UI"/>
              </a:rPr>
              <a:t>• Căn chỉnh Profile trên Cây: </a:t>
            </a:r>
            <a:r>
              <a:rPr sz="1150">
                <a:solidFill>
                  <a:srgbClr val="1E293B"/>
                </a:solidFill>
                <a:latin typeface="Segoe UI"/>
              </a:rPr>
              <a:t>Tính điểm cột-đối-cột PSP tốn O(|P₁|·|P₂|) cho mỗi ô quy hoạch động.</a:t>
            </a:r>
          </a:p>
          <a:p>
            <a:pPr>
              <a:spcAft>
                <a:spcPts val="800"/>
              </a:spcAft>
            </a:pPr>
            <a:r>
              <a:rPr sz="1150" b="1">
                <a:solidFill>
                  <a:srgbClr val="1E293B"/>
                </a:solidFill>
                <a:latin typeface="Segoe UI"/>
              </a:rPr>
              <a:t>• Nhu cầu Cấp thiết: </a:t>
            </a:r>
            <a:r>
              <a:rPr sz="1150">
                <a:solidFill>
                  <a:srgbClr val="1E293B"/>
                </a:solidFill>
                <a:latin typeface="Segoe UI"/>
              </a:rPr>
              <a:t>Cần kết hợp giải thuật tiết kiệm bộ nhớ với kiến trúc tính toán song song đa nhân / phân tán.</a:t>
            </a:r>
          </a:p>
        </p:txBody>
      </p:sp>
      <p:sp>
        <p:nvSpPr>
          <p:cNvPr id="18" name="Rounded Rectangle 17"/>
          <p:cNvSpPr/>
          <p:nvPr/>
        </p:nvSpPr>
        <p:spPr>
          <a:xfrm>
            <a:off x="411480" y="5230368"/>
            <a:ext cx="11365992" cy="1143000"/>
          </a:xfrm>
          <a:prstGeom prst="roundRect">
            <a:avLst>
              <a:gd name="adj" fmla="val 2000"/>
            </a:avLst>
          </a:prstGeom>
          <a:solidFill>
            <a:srgbClr val="D1FAE5"/>
          </a:solidFill>
          <a:ln w="1587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5230368"/>
            <a:ext cx="11365992"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ĐÓNG GÓP &amp; GIẢI PHÁP CỦA NHÓM 5 (3 TRỤ CỘT KỸ THUẬT)</a:t>
            </a:r>
          </a:p>
        </p:txBody>
      </p:sp>
      <p:sp>
        <p:nvSpPr>
          <p:cNvPr id="20" name="TextBox 19"/>
          <p:cNvSpPr txBox="1"/>
          <p:nvPr/>
        </p:nvSpPr>
        <p:spPr>
          <a:xfrm>
            <a:off x="594360" y="5687567"/>
            <a:ext cx="10972800" cy="640080"/>
          </a:xfrm>
          <a:prstGeom prst="rect">
            <a:avLst/>
          </a:prstGeom>
          <a:noFill/>
        </p:spPr>
        <p:txBody>
          <a:bodyPr wrap="square" lIns="0" rIns="0" tIns="0" bIns="0">
            <a:spAutoFit/>
          </a:bodyPr>
          <a:lstStyle/>
          <a:p>
            <a:pPr>
              <a:spcAft>
                <a:spcPts val="300"/>
              </a:spcAft>
            </a:pPr>
            <a:r>
              <a:rPr sz="1100" b="1">
                <a:solidFill>
                  <a:srgbClr val="1E293B"/>
                </a:solidFill>
                <a:latin typeface="Segoe UI"/>
              </a:rPr>
              <a:t>① Chia để trị Myers-Miller (Hirschberg): </a:t>
            </a:r>
            <a:r>
              <a:rPr sz="1100">
                <a:solidFill>
                  <a:srgbClr val="1E293B"/>
                </a:solidFill>
                <a:latin typeface="Segoe UI"/>
              </a:rPr>
              <a:t>Ép không gian bộ nhớ từ O(mn) xuống tuyến tính O(min(m, n)) — tiết kiệm tới 1.353× RAM, giữ nguyên 100% điểm số tối ưu.</a:t>
            </a:r>
          </a:p>
          <a:p>
            <a:pPr>
              <a:spcAft>
                <a:spcPts val="300"/>
              </a:spcAft>
            </a:pPr>
            <a:r>
              <a:rPr sz="1100" b="1">
                <a:solidFill>
                  <a:srgbClr val="1E293B"/>
                </a:solidFill>
                <a:latin typeface="Segoe UI"/>
              </a:rPr>
              <a:t>② Xấp xỉ Tiến bộ UPGMA + Profile-to-Profile: </a:t>
            </a:r>
            <a:r>
              <a:rPr sz="1100">
                <a:solidFill>
                  <a:srgbClr val="1E293B"/>
                </a:solidFill>
                <a:latin typeface="Segoe UI"/>
              </a:rPr>
              <a:t>Đưa bài toán NP-Hard O(2^k·N^k) về đa thức O(k²N² + kL²) với nguyên lý bảo tồn khoảng trống.</a:t>
            </a:r>
          </a:p>
          <a:p>
            <a:pPr>
              <a:spcAft>
                <a:spcPts val="300"/>
              </a:spcAft>
            </a:pPr>
            <a:r>
              <a:rPr sz="1100" b="1">
                <a:solidFill>
                  <a:srgbClr val="1E293B"/>
                </a:solidFill>
                <a:latin typeface="Segoe UI"/>
              </a:rPr>
              <a:t>③ Kiến trúc Song song Đa tầng Hybrid (MPI + OpenMP): </a:t>
            </a:r>
            <a:r>
              <a:rPr sz="1100">
                <a:solidFill>
                  <a:srgbClr val="1E293B"/>
                </a:solidFill>
                <a:latin typeface="Segoe UI"/>
              </a:rPr>
              <a:t>Song song hóa ma trận khoảng cách, lập lịch cây theo tầng (Level-Set) và đường chéo Wavefront.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2 • THIẾT KẾ THUẬT TOÁN LÕI</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Tổng quan Pipeline Căn chỉnh Đa chuỗi Tiến bộ (Progressive MSA)</a:t>
            </a:r>
          </a:p>
          <a:p>
            <a:pPr>
              <a:defRPr sz="1150" i="1">
                <a:solidFill>
                  <a:srgbClr val="BAE6FD"/>
                </a:solidFill>
                <a:latin typeface="Segoe UI"/>
              </a:defRPr>
            </a:pPr>
            <a:r>
              <a:t>Chuyển bài toán NP-Hard về chuỗi 4 giai đoạn đa thức có khả năng mở rộng và song song hóa cao</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4 / 18</a:t>
            </a:r>
          </a:p>
        </p:txBody>
      </p:sp>
      <p:sp>
        <p:nvSpPr>
          <p:cNvPr id="9" name="Rounded Rectangle 8"/>
          <p:cNvSpPr/>
          <p:nvPr/>
        </p:nvSpPr>
        <p:spPr>
          <a:xfrm>
            <a:off x="411480" y="1261872"/>
            <a:ext cx="672084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4_1_system_architecture.png"/>
          <p:cNvPicPr>
            <a:picLocks noChangeAspect="1"/>
          </p:cNvPicPr>
          <p:nvPr/>
        </p:nvPicPr>
        <p:blipFill>
          <a:blip r:embed="rId2"/>
          <a:stretch>
            <a:fillRect/>
          </a:stretch>
        </p:blipFill>
        <p:spPr>
          <a:xfrm>
            <a:off x="484632" y="1558012"/>
            <a:ext cx="6574536" cy="4482638"/>
          </a:xfrm>
          <a:prstGeom prst="rect">
            <a:avLst/>
          </a:prstGeom>
        </p:spPr>
      </p:pic>
      <p:sp>
        <p:nvSpPr>
          <p:cNvPr id="11" name="Rounded Rectangle 10"/>
          <p:cNvSpPr/>
          <p:nvPr/>
        </p:nvSpPr>
        <p:spPr>
          <a:xfrm>
            <a:off x="7315200" y="1261872"/>
            <a:ext cx="446227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0" y="1261872"/>
            <a:ext cx="4462272"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Luồng Xử lý 4 Giai đoạn Chính</a:t>
            </a:r>
          </a:p>
        </p:txBody>
      </p:sp>
      <p:sp>
        <p:nvSpPr>
          <p:cNvPr id="13" name="TextBox 12"/>
          <p:cNvSpPr txBox="1"/>
          <p:nvPr/>
        </p:nvSpPr>
        <p:spPr>
          <a:xfrm>
            <a:off x="7479792" y="1773936"/>
            <a:ext cx="4133087" cy="4389120"/>
          </a:xfrm>
          <a:prstGeom prst="rect">
            <a:avLst/>
          </a:prstGeom>
          <a:noFill/>
        </p:spPr>
        <p:txBody>
          <a:bodyPr wrap="square" lIns="0" rIns="0" tIns="0" bIns="0">
            <a:spAutoFit/>
          </a:bodyPr>
          <a:lstStyle/>
          <a:p>
            <a:pPr>
              <a:spcAft>
                <a:spcPts val="1000"/>
              </a:spcAft>
            </a:pPr>
            <a:r>
              <a:rPr sz="1150" b="1">
                <a:solidFill>
                  <a:srgbClr val="0284C7"/>
                </a:solidFill>
                <a:latin typeface="Segoe UI"/>
              </a:rPr>
              <a:t>Giai đoạn 1 — Ma trận Khoảng cách O(k²N²/P):</a:t>
            </a:r>
            <a:r>
              <a:rPr sz="1150">
                <a:solidFill>
                  <a:srgbClr val="1E293B"/>
                </a:solidFill>
                <a:latin typeface="Segoe UI"/>
              </a:rPr>
              <a:t>
Tính k(k-1)/2 cặp điểm tương đồng độc lập bằng DP 1 chiều (chỉ lưu 2 hàng), chuẩn hóa về khoảng cách tiến hóa d(A,B) ∈ [0, 1].</a:t>
            </a:r>
          </a:p>
          <a:p>
            <a:pPr>
              <a:spcAft>
                <a:spcPts val="1000"/>
              </a:spcAft>
            </a:pPr>
            <a:r>
              <a:rPr sz="1150" b="1">
                <a:solidFill>
                  <a:srgbClr val="7C3AED"/>
                </a:solidFill>
                <a:latin typeface="Segoe UI"/>
              </a:rPr>
              <a:t>Giai đoạn 2 — Cây Hướng dẫn UPGMA O(k²):</a:t>
            </a:r>
            <a:r>
              <a:rPr sz="1150">
                <a:solidFill>
                  <a:srgbClr val="1E293B"/>
                </a:solidFill>
                <a:latin typeface="Segoe UI"/>
              </a:rPr>
              <a:t>
Gom cụm phân cấp từ cặp chuỗi gần nhất đến xa nhất, sinh cây nhị phân dẫn đường (Binary Guide Tree).</a:t>
            </a:r>
          </a:p>
          <a:p>
            <a:pPr>
              <a:spcAft>
                <a:spcPts val="1000"/>
              </a:spcAft>
            </a:pPr>
            <a:r>
              <a:rPr sz="1150" b="1">
                <a:solidFill>
                  <a:srgbClr val="059669"/>
                </a:solidFill>
                <a:latin typeface="Segoe UI"/>
              </a:rPr>
              <a:t>Giai đoạn 3 — Lập lịch Cây Song song:</a:t>
            </a:r>
            <a:r>
              <a:rPr sz="1150">
                <a:solidFill>
                  <a:srgbClr val="1E293B"/>
                </a:solidFill>
                <a:latin typeface="Segoe UI"/>
              </a:rPr>
              <a:t>
Phân tích phụ thuộc dữ liệu trên cây UPGMA, gom các nút nhánh độc lập theo từng tầng (Level-Set).</a:t>
            </a:r>
          </a:p>
          <a:p>
            <a:pPr>
              <a:spcAft>
                <a:spcPts val="1000"/>
              </a:spcAft>
            </a:pPr>
            <a:r>
              <a:rPr sz="1150" b="1">
                <a:solidFill>
                  <a:srgbClr val="E11D48"/>
                </a:solidFill>
                <a:latin typeface="Segoe UI"/>
              </a:rPr>
              <a:t>Giai đoạn 4 — Căn chỉnh Profile Myers-Miller:</a:t>
            </a:r>
            <a:r>
              <a:rPr sz="1150">
                <a:solidFill>
                  <a:srgbClr val="1E293B"/>
                </a:solidFill>
                <a:latin typeface="Segoe UI"/>
              </a:rPr>
              <a:t>
Hợp nhất cặp Profile con tại mỗi nút cha bằng Chia để trị không gian tuyến tính O(min(m,n)) + bảo tồn khoảng trống.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2 • THIẾT KẾ THUẬT TOÁN LÕI</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Quy hoạch Động Gotoh (1982) Baseline &amp; Nút thắt Truy vết</a:t>
            </a:r>
          </a:p>
          <a:p>
            <a:pPr>
              <a:defRPr sz="1150" i="1">
                <a:solidFill>
                  <a:srgbClr val="BAE6FD"/>
                </a:solidFill>
                <a:latin typeface="Segoe UI"/>
              </a:defRPr>
            </a:pPr>
            <a:r>
              <a:t>Giải quyết chính xác phạt khoảng trống Affine bằng 3 trạng thái nhưng đòi hỏi O(mn) bộ nhớ để lưu vết đường đi</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5 / 18</a:t>
            </a:r>
          </a:p>
        </p:txBody>
      </p:sp>
      <p:sp>
        <p:nvSpPr>
          <p:cNvPr id="9" name="Rounded Rectangle 8"/>
          <p:cNvSpPr/>
          <p:nvPr/>
        </p:nvSpPr>
        <p:spPr>
          <a:xfrm>
            <a:off x="411480" y="1261872"/>
            <a:ext cx="626364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6263640"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1. Hệ Phương trình Truy hồi 3 Ma trận của Gotoh (1982)</a:t>
            </a:r>
          </a:p>
        </p:txBody>
      </p:sp>
      <p:sp>
        <p:nvSpPr>
          <p:cNvPr id="11" name="TextBox 10"/>
          <p:cNvSpPr txBox="1"/>
          <p:nvPr/>
        </p:nvSpPr>
        <p:spPr>
          <a:xfrm>
            <a:off x="594360" y="1737360"/>
            <a:ext cx="5897880" cy="914400"/>
          </a:xfrm>
          <a:prstGeom prst="rect">
            <a:avLst/>
          </a:prstGeom>
          <a:noFill/>
        </p:spPr>
        <p:txBody>
          <a:bodyPr wrap="square" lIns="0" rIns="0" tIns="0" bIns="0">
            <a:spAutoFit/>
          </a:bodyPr>
          <a:lstStyle/>
          <a:p>
            <a:pPr>
              <a:spcAft>
                <a:spcPts val="600"/>
              </a:spcAft>
            </a:pPr>
            <a:r>
              <a:rPr sz="1150" b="1">
                <a:solidFill>
                  <a:srgbClr val="1E293B"/>
                </a:solidFill>
                <a:latin typeface="Segoe UI"/>
              </a:rPr>
              <a:t>Tại mỗi tọa độ (i, j), duy trì </a:t>
            </a:r>
            <a:r>
              <a:rPr sz="1150">
                <a:solidFill>
                  <a:srgbClr val="1E293B"/>
                </a:solidFill>
                <a:latin typeface="Segoe UI"/>
              </a:rPr>
              <a:t>3 giá trị quy hoạch động đại diện cho 3 trạng thái kết thúc của tiền tố A[1..i] và B[1..j]:</a:t>
            </a:r>
          </a:p>
        </p:txBody>
      </p:sp>
      <p:sp>
        <p:nvSpPr>
          <p:cNvPr id="12" name="Rounded Rectangle 11"/>
          <p:cNvSpPr/>
          <p:nvPr/>
        </p:nvSpPr>
        <p:spPr>
          <a:xfrm>
            <a:off x="594360" y="2212848"/>
            <a:ext cx="5897880" cy="1234440"/>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2286000"/>
            <a:ext cx="5605272" cy="1088136"/>
          </a:xfrm>
          <a:prstGeom prst="rect">
            <a:avLst/>
          </a:prstGeom>
          <a:noFill/>
        </p:spPr>
        <p:txBody>
          <a:bodyPr wrap="square" lIns="0" tIns="0" rIns="0" bIns="0">
            <a:spAutoFit/>
          </a:bodyPr>
          <a:lstStyle/>
          <a:p>
            <a:pPr>
              <a:spcAft>
                <a:spcPts val="400"/>
              </a:spcAft>
              <a:defRPr sz="1150" b="1">
                <a:solidFill>
                  <a:srgbClr val="0284C7"/>
                </a:solidFill>
                <a:latin typeface="Segoe UI"/>
              </a:defRPr>
            </a:pPr>
            <a:r>
              <a:t>① Trạng thái Khớp / Thay thế — M(i, j):</a:t>
            </a:r>
          </a:p>
          <a:p>
            <a:pPr>
              <a:spcAft>
                <a:spcPts val="300"/>
              </a:spcAft>
              <a:defRPr sz="1150" b="1">
                <a:solidFill>
                  <a:srgbClr val="0F172A"/>
                </a:solidFill>
                <a:latin typeface="Consolas"/>
              </a:defRPr>
            </a:pPr>
            <a:r>
              <a:t>M(i, j) = σ(Aᵢ, Bⱼ) + max { M(i-1, j-1),</a:t>
            </a:r>
          </a:p>
          <a:p>
            <a:pPr>
              <a:spcAft>
                <a:spcPts val="300"/>
              </a:spcAft>
              <a:defRPr sz="1150" b="1">
                <a:solidFill>
                  <a:srgbClr val="0F172A"/>
                </a:solidFill>
                <a:latin typeface="Consolas"/>
              </a:defRPr>
            </a:pPr>
            <a:r>
              <a:t>                            Ix(i-1, j-1),</a:t>
            </a:r>
          </a:p>
          <a:p>
            <a:pPr>
              <a:spcAft>
                <a:spcPts val="300"/>
              </a:spcAft>
              <a:defRPr sz="1150" b="1">
                <a:solidFill>
                  <a:srgbClr val="0F172A"/>
                </a:solidFill>
                <a:latin typeface="Consolas"/>
              </a:defRPr>
            </a:pPr>
            <a:r>
              <a:t>                            Iy(i-1, j-1) }</a:t>
            </a:r>
          </a:p>
        </p:txBody>
      </p:sp>
      <p:sp>
        <p:nvSpPr>
          <p:cNvPr id="14" name="Rounded Rectangle 13"/>
          <p:cNvSpPr/>
          <p:nvPr/>
        </p:nvSpPr>
        <p:spPr>
          <a:xfrm>
            <a:off x="594360" y="3547872"/>
            <a:ext cx="5897880" cy="1234440"/>
          </a:xfrm>
          <a:prstGeom prst="roundRect">
            <a:avLst>
              <a:gd name="adj" fmla="val 3000"/>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0664" y="3621024"/>
            <a:ext cx="5605272" cy="1088136"/>
          </a:xfrm>
          <a:prstGeom prst="rect">
            <a:avLst/>
          </a:prstGeom>
          <a:noFill/>
        </p:spPr>
        <p:txBody>
          <a:bodyPr wrap="square" lIns="0" tIns="0" rIns="0" bIns="0">
            <a:spAutoFit/>
          </a:bodyPr>
          <a:lstStyle/>
          <a:p>
            <a:pPr>
              <a:spcAft>
                <a:spcPts val="400"/>
              </a:spcAft>
              <a:defRPr sz="1150" b="1">
                <a:solidFill>
                  <a:srgbClr val="D97706"/>
                </a:solidFill>
                <a:latin typeface="Segoe UI"/>
              </a:defRPr>
            </a:pPr>
            <a:r>
              <a:t>② Trạng thái Khoảng trống Dọc (Xóa ký tự Aᵢ) — Ix(i, j):</a:t>
            </a:r>
          </a:p>
          <a:p>
            <a:pPr>
              <a:spcAft>
                <a:spcPts val="300"/>
              </a:spcAft>
              <a:defRPr sz="1150" b="1">
                <a:solidFill>
                  <a:srgbClr val="0F172A"/>
                </a:solidFill>
                <a:latin typeface="Consolas"/>
              </a:defRPr>
            </a:pPr>
            <a:r>
              <a:t>Ix(i, j) = max { M(i-1, j)  + G_open + G_ext,</a:t>
            </a:r>
          </a:p>
          <a:p>
            <a:pPr>
              <a:spcAft>
                <a:spcPts val="300"/>
              </a:spcAft>
              <a:defRPr sz="1150" b="1">
                <a:solidFill>
                  <a:srgbClr val="0F172A"/>
                </a:solidFill>
                <a:latin typeface="Consolas"/>
              </a:defRPr>
            </a:pPr>
            <a:r>
              <a:t>                 Ix(i-1, j) + G_ext }</a:t>
            </a:r>
          </a:p>
        </p:txBody>
      </p:sp>
      <p:sp>
        <p:nvSpPr>
          <p:cNvPr id="16" name="Rounded Rectangle 15"/>
          <p:cNvSpPr/>
          <p:nvPr/>
        </p:nvSpPr>
        <p:spPr>
          <a:xfrm>
            <a:off x="594360" y="4882896"/>
            <a:ext cx="5897880" cy="1234440"/>
          </a:xfrm>
          <a:prstGeom prst="roundRect">
            <a:avLst>
              <a:gd name="adj" fmla="val 3000"/>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4956048"/>
            <a:ext cx="5605272" cy="1088136"/>
          </a:xfrm>
          <a:prstGeom prst="rect">
            <a:avLst/>
          </a:prstGeom>
          <a:noFill/>
        </p:spPr>
        <p:txBody>
          <a:bodyPr wrap="square" lIns="0" tIns="0" rIns="0" bIns="0">
            <a:spAutoFit/>
          </a:bodyPr>
          <a:lstStyle/>
          <a:p>
            <a:pPr>
              <a:spcAft>
                <a:spcPts val="400"/>
              </a:spcAft>
              <a:defRPr sz="1150" b="1">
                <a:solidFill>
                  <a:srgbClr val="059669"/>
                </a:solidFill>
                <a:latin typeface="Segoe UI"/>
              </a:defRPr>
            </a:pPr>
            <a:r>
              <a:t>③ Trạng thái Khoảng trống Ngang (Chèn ký tự Bⱼ) — Iy(i, j):</a:t>
            </a:r>
          </a:p>
          <a:p>
            <a:pPr>
              <a:spcAft>
                <a:spcPts val="300"/>
              </a:spcAft>
              <a:defRPr sz="1150" b="1">
                <a:solidFill>
                  <a:srgbClr val="0F172A"/>
                </a:solidFill>
                <a:latin typeface="Consolas"/>
              </a:defRPr>
            </a:pPr>
            <a:r>
              <a:t>Iy(i, j) = max { M(i, j-1)  + G_open + G_ext,</a:t>
            </a:r>
          </a:p>
          <a:p>
            <a:pPr>
              <a:spcAft>
                <a:spcPts val="300"/>
              </a:spcAft>
              <a:defRPr sz="1150" b="1">
                <a:solidFill>
                  <a:srgbClr val="0F172A"/>
                </a:solidFill>
                <a:latin typeface="Consolas"/>
              </a:defRPr>
            </a:pPr>
            <a:r>
              <a:t>                 Iy(i, j-1) + G_ext }</a:t>
            </a:r>
          </a:p>
        </p:txBody>
      </p:sp>
      <p:sp>
        <p:nvSpPr>
          <p:cNvPr id="18" name="Rounded Rectangle 17"/>
          <p:cNvSpPr/>
          <p:nvPr/>
        </p:nvSpPr>
        <p:spPr>
          <a:xfrm>
            <a:off x="6858000" y="1261872"/>
            <a:ext cx="491947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58000" y="1261872"/>
            <a:ext cx="4919472" cy="384048"/>
          </a:xfrm>
          <a:prstGeom prst="roundRect">
            <a:avLst>
              <a:gd name="adj" fmla="val 2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2. Phân tích Sự Đánh đổi: Tính Điểm vs. Truy Vết</a:t>
            </a:r>
          </a:p>
        </p:txBody>
      </p:sp>
      <p:sp>
        <p:nvSpPr>
          <p:cNvPr id="20" name="TextBox 19"/>
          <p:cNvSpPr txBox="1"/>
          <p:nvPr/>
        </p:nvSpPr>
        <p:spPr>
          <a:xfrm>
            <a:off x="7040880" y="1773936"/>
            <a:ext cx="4553712" cy="2834640"/>
          </a:xfrm>
          <a:prstGeom prst="rect">
            <a:avLst/>
          </a:prstGeom>
          <a:noFill/>
        </p:spPr>
        <p:txBody>
          <a:bodyPr wrap="square" lIns="0" rIns="0" tIns="0" bIns="0">
            <a:spAutoFit/>
          </a:bodyPr>
          <a:lstStyle/>
          <a:p>
            <a:pPr>
              <a:spcAft>
                <a:spcPts val="1200"/>
              </a:spcAft>
            </a:pPr>
            <a:r>
              <a:rPr sz="1200" b="1">
                <a:solidFill>
                  <a:srgbClr val="059669"/>
                </a:solidFill>
                <a:latin typeface="Segoe UI"/>
              </a:rPr>
              <a:t>• Khi CHỈ tính điểm số tối ưu S(A, B):</a:t>
            </a:r>
            <a:r>
              <a:rPr sz="1200">
                <a:solidFill>
                  <a:srgbClr val="1E293B"/>
                </a:solidFill>
                <a:latin typeface="Segoe UI"/>
              </a:rPr>
              <a:t>
Dòng thứ i chỉ phụ thuộc vào dòng i-1 liền trước → Chỉ cần lưu 2 hàng vector (prev &amp; curr), tốn bộ nhớ tuyến tính O(n).</a:t>
            </a:r>
          </a:p>
          <a:p>
            <a:pPr>
              <a:spcAft>
                <a:spcPts val="1200"/>
              </a:spcAft>
            </a:pPr>
            <a:r>
              <a:rPr sz="1200" b="1">
                <a:solidFill>
                  <a:srgbClr val="E11D48"/>
                </a:solidFill>
                <a:latin typeface="Segoe UI"/>
              </a:rPr>
              <a:t>• Khi CẦN khôi phục chuỗi căn chỉnh (Backtracking):</a:t>
            </a:r>
            <a:r>
              <a:rPr sz="1200">
                <a:solidFill>
                  <a:srgbClr val="1E293B"/>
                </a:solidFill>
                <a:latin typeface="Segoe UI"/>
              </a:rPr>
              <a:t>
Thuật toán Gotoh truyền thống phải lưu toàn bộ 3 ma trận M, Ix, Iy kích thước (m+1)×(n+1) để lần ngược mũi tên từ (m,n) về (0,0) → Bắt buộc tốn O(mn) bộ nhớ!</a:t>
            </a:r>
          </a:p>
        </p:txBody>
      </p:sp>
      <p:sp>
        <p:nvSpPr>
          <p:cNvPr id="21" name="Rounded Rectangle 20"/>
          <p:cNvSpPr/>
          <p:nvPr/>
        </p:nvSpPr>
        <p:spPr>
          <a:xfrm>
            <a:off x="7040880" y="4526280"/>
            <a:ext cx="4553712" cy="1600200"/>
          </a:xfrm>
          <a:prstGeom prst="roundRect">
            <a:avLst>
              <a:gd name="adj" fmla="val 3000"/>
            </a:avLst>
          </a:prstGeom>
          <a:solidFill>
            <a:srgbClr val="FFE4E6"/>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87184" y="4599432"/>
            <a:ext cx="4261104" cy="1453896"/>
          </a:xfrm>
          <a:prstGeom prst="rect">
            <a:avLst/>
          </a:prstGeom>
          <a:noFill/>
        </p:spPr>
        <p:txBody>
          <a:bodyPr wrap="square" lIns="0" tIns="0" rIns="0" bIns="0">
            <a:spAutoFit/>
          </a:bodyPr>
          <a:lstStyle/>
          <a:p>
            <a:pPr>
              <a:spcAft>
                <a:spcPts val="400"/>
              </a:spcAft>
              <a:defRPr sz="1150" b="1">
                <a:solidFill>
                  <a:srgbClr val="E11D48"/>
                </a:solidFill>
                <a:latin typeface="Segoe UI"/>
              </a:defRPr>
            </a:pPr>
            <a:r>
              <a:t>Câu hỏi Nghiên cứu Trọng tâm:</a:t>
            </a:r>
          </a:p>
          <a:p>
            <a:pPr>
              <a:spcAft>
                <a:spcPts val="300"/>
              </a:spcAft>
              <a:defRPr sz="1150" b="1">
                <a:solidFill>
                  <a:srgbClr val="0F172A"/>
                </a:solidFill>
                <a:latin typeface="Consolas"/>
              </a:defRPr>
            </a:pPr>
            <a:r>
              <a:t>Làm thế nào để khôi phục chính xác</a:t>
            </a:r>
          </a:p>
          <a:p>
            <a:pPr>
              <a:spcAft>
                <a:spcPts val="300"/>
              </a:spcAft>
              <a:defRPr sz="1150" b="1">
                <a:solidFill>
                  <a:srgbClr val="0F172A"/>
                </a:solidFill>
                <a:latin typeface="Consolas"/>
              </a:defRPr>
            </a:pPr>
            <a:r>
              <a:t>100% đường đi căn chỉnh tối ưu của</a:t>
            </a:r>
          </a:p>
          <a:p>
            <a:pPr>
              <a:spcAft>
                <a:spcPts val="300"/>
              </a:spcAft>
              <a:defRPr sz="1150" b="1">
                <a:solidFill>
                  <a:srgbClr val="0F172A"/>
                </a:solidFill>
                <a:latin typeface="Consolas"/>
              </a:defRPr>
            </a:pPr>
            <a:r>
              <a:t>mô hình Affine Gap mà CHỈ sử dụng</a:t>
            </a:r>
          </a:p>
          <a:p>
            <a:pPr>
              <a:spcAft>
                <a:spcPts val="300"/>
              </a:spcAft>
              <a:defRPr sz="1150" b="1">
                <a:solidFill>
                  <a:srgbClr val="0F172A"/>
                </a:solidFill>
                <a:latin typeface="Consolas"/>
              </a:defRPr>
            </a:pPr>
            <a:r>
              <a:t>các vector 1 chiều O(min(m, 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2 • THIẾT KẾ THUẬT TOÁN LÕI</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Đột phá Chia để trị Không gian Tuyến tính Myers-Miller (1988)</a:t>
            </a:r>
          </a:p>
          <a:p>
            <a:pPr>
              <a:defRPr sz="1150" i="1">
                <a:solidFill>
                  <a:srgbClr val="BAE6FD"/>
                </a:solidFill>
                <a:latin typeface="Segoe UI"/>
              </a:defRPr>
            </a:pPr>
            <a:r>
              <a:t>Tìm giao điểm tối ưu (i*, j*) tại dòng giữa i* = ⌊m/2⌋ bằng 2 lượt quét DP Xuôi &amp; Ngược chỉ với vector 1 chiều O(n)</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6 / 18</a:t>
            </a:r>
          </a:p>
        </p:txBody>
      </p:sp>
      <p:sp>
        <p:nvSpPr>
          <p:cNvPr id="9" name="Rounded Rectangle 8"/>
          <p:cNvSpPr/>
          <p:nvPr/>
        </p:nvSpPr>
        <p:spPr>
          <a:xfrm>
            <a:off x="411480" y="1261872"/>
            <a:ext cx="589788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2_1_myers_miller_cut.png"/>
          <p:cNvPicPr>
            <a:picLocks noChangeAspect="1"/>
          </p:cNvPicPr>
          <p:nvPr/>
        </p:nvPicPr>
        <p:blipFill>
          <a:blip r:embed="rId2"/>
          <a:stretch>
            <a:fillRect/>
          </a:stretch>
        </p:blipFill>
        <p:spPr>
          <a:xfrm>
            <a:off x="484632" y="1922501"/>
            <a:ext cx="5751576" cy="3753660"/>
          </a:xfrm>
          <a:prstGeom prst="rect">
            <a:avLst/>
          </a:prstGeom>
        </p:spPr>
      </p:pic>
      <p:sp>
        <p:nvSpPr>
          <p:cNvPr id="11" name="Rounded Rectangle 10"/>
          <p:cNvSpPr/>
          <p:nvPr/>
        </p:nvSpPr>
        <p:spPr>
          <a:xfrm>
            <a:off x="6492240" y="1261872"/>
            <a:ext cx="528523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92240" y="1261872"/>
            <a:ext cx="5285232"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Cơ chế Chia để trị 4 Bước (Linear-Space D&amp;C)</a:t>
            </a:r>
          </a:p>
        </p:txBody>
      </p:sp>
      <p:sp>
        <p:nvSpPr>
          <p:cNvPr id="13" name="TextBox 12"/>
          <p:cNvSpPr txBox="1"/>
          <p:nvPr/>
        </p:nvSpPr>
        <p:spPr>
          <a:xfrm>
            <a:off x="6656832" y="1755648"/>
            <a:ext cx="4956048" cy="2148840"/>
          </a:xfrm>
          <a:prstGeom prst="rect">
            <a:avLst/>
          </a:prstGeom>
          <a:noFill/>
        </p:spPr>
        <p:txBody>
          <a:bodyPr wrap="square" lIns="0" rIns="0" tIns="0" bIns="0">
            <a:spAutoFit/>
          </a:bodyPr>
          <a:lstStyle/>
          <a:p>
            <a:pPr>
              <a:spcAft>
                <a:spcPts val="600"/>
              </a:spcAft>
            </a:pPr>
            <a:r>
              <a:rPr sz="1150" b="1">
                <a:solidFill>
                  <a:srgbClr val="1E293B"/>
                </a:solidFill>
                <a:latin typeface="Segoe UI"/>
              </a:rPr>
              <a:t>1. Chia (Divide): </a:t>
            </a:r>
            <a:r>
              <a:rPr sz="1150">
                <a:solidFill>
                  <a:srgbClr val="1E293B"/>
                </a:solidFill>
                <a:latin typeface="Segoe UI"/>
              </a:rPr>
              <a:t>Cắt ngang ma trận tại dòng giữa i* = ⌊m / 2⌋.</a:t>
            </a:r>
          </a:p>
          <a:p>
            <a:pPr>
              <a:spcAft>
                <a:spcPts val="600"/>
              </a:spcAft>
            </a:pPr>
            <a:r>
              <a:rPr sz="1150" b="1">
                <a:solidFill>
                  <a:srgbClr val="1E293B"/>
                </a:solidFill>
                <a:latin typeface="Segoe UI"/>
              </a:rPr>
              <a:t>2. Quét Xuôi (Forward Pass - O(n) RAM): </a:t>
            </a:r>
            <a:r>
              <a:rPr sz="1150">
                <a:solidFill>
                  <a:srgbClr val="1E293B"/>
                </a:solidFill>
                <a:latin typeface="Segoe UI"/>
              </a:rPr>
              <a:t>Chạy DP 2 hàng từ (0,0) → dòng i*, thu được vector điểm tiền tố Fwd_M[j], Fwd_Ix[j].</a:t>
            </a:r>
          </a:p>
          <a:p>
            <a:pPr>
              <a:spcAft>
                <a:spcPts val="600"/>
              </a:spcAft>
            </a:pPr>
            <a:r>
              <a:rPr sz="1150" b="1">
                <a:solidFill>
                  <a:srgbClr val="1E293B"/>
                </a:solidFill>
                <a:latin typeface="Segoe UI"/>
              </a:rPr>
              <a:t>3. Quét Ngược (Backward Pass - O(n) RAM): </a:t>
            </a:r>
            <a:r>
              <a:rPr sz="1150">
                <a:solidFill>
                  <a:srgbClr val="1E293B"/>
                </a:solidFill>
                <a:latin typeface="Segoe UI"/>
              </a:rPr>
              <a:t>Chạy DP 2 hàng từ (m,n) ngược về dòng i* trên hậu tố đảo ngược, thu được Bwd_M[j], Bwd_Ix[j].</a:t>
            </a:r>
          </a:p>
        </p:txBody>
      </p:sp>
      <p:sp>
        <p:nvSpPr>
          <p:cNvPr id="14" name="Rounded Rectangle 13"/>
          <p:cNvSpPr/>
          <p:nvPr/>
        </p:nvSpPr>
        <p:spPr>
          <a:xfrm>
            <a:off x="6656832" y="3822191"/>
            <a:ext cx="4956048" cy="1508760"/>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03136" y="3895344"/>
            <a:ext cx="4663440" cy="1362456"/>
          </a:xfrm>
          <a:prstGeom prst="rect">
            <a:avLst/>
          </a:prstGeom>
          <a:noFill/>
        </p:spPr>
        <p:txBody>
          <a:bodyPr wrap="square" lIns="0" tIns="0" rIns="0" bIns="0">
            <a:spAutoFit/>
          </a:bodyPr>
          <a:lstStyle/>
          <a:p>
            <a:pPr>
              <a:spcAft>
                <a:spcPts val="400"/>
              </a:spcAft>
              <a:defRPr sz="1150" b="1">
                <a:solidFill>
                  <a:srgbClr val="0284C7"/>
                </a:solidFill>
                <a:latin typeface="Segoe UI"/>
              </a:defRPr>
            </a:pPr>
            <a:r>
              <a:t>4. Tìm Cột Cắt Tối ưu j* &amp; Hợp nhất Khoảng trống (Gap Coalescing):</a:t>
            </a:r>
          </a:p>
          <a:p>
            <a:pPr>
              <a:spcAft>
                <a:spcPts val="300"/>
              </a:spcAft>
              <a:defRPr sz="1150" b="1">
                <a:solidFill>
                  <a:srgbClr val="0F172A"/>
                </a:solidFill>
                <a:latin typeface="Consolas"/>
              </a:defRPr>
            </a:pPr>
            <a:r>
              <a:t>j* = argmax_{0 ≤ j ≤ n} max {</a:t>
            </a:r>
          </a:p>
          <a:p>
            <a:pPr>
              <a:spcAft>
                <a:spcPts val="300"/>
              </a:spcAft>
              <a:defRPr sz="1150" b="1">
                <a:solidFill>
                  <a:srgbClr val="0F172A"/>
                </a:solidFill>
                <a:latin typeface="Consolas"/>
              </a:defRPr>
            </a:pPr>
            <a:r>
              <a:t>   Fwd_M(j)  + Bwd_M(j),</a:t>
            </a:r>
          </a:p>
          <a:p>
            <a:pPr>
              <a:spcAft>
                <a:spcPts val="300"/>
              </a:spcAft>
              <a:defRPr sz="1150" b="1">
                <a:solidFill>
                  <a:srgbClr val="0F172A"/>
                </a:solidFill>
                <a:latin typeface="Consolas"/>
              </a:defRPr>
            </a:pPr>
            <a:r>
              <a:t>   Fwd_Ix(j) + Bwd_Ix(j) - G_open + G_ext</a:t>
            </a:r>
          </a:p>
          <a:p>
            <a:pPr>
              <a:spcAft>
                <a:spcPts val="300"/>
              </a:spcAft>
              <a:defRPr sz="1150" b="1">
                <a:solidFill>
                  <a:srgbClr val="0F172A"/>
                </a:solidFill>
                <a:latin typeface="Consolas"/>
              </a:defRPr>
            </a:pPr>
            <a:r>
              <a:t>}</a:t>
            </a:r>
          </a:p>
        </p:txBody>
      </p:sp>
      <p:sp>
        <p:nvSpPr>
          <p:cNvPr id="16" name="TextBox 15"/>
          <p:cNvSpPr txBox="1"/>
          <p:nvPr/>
        </p:nvSpPr>
        <p:spPr>
          <a:xfrm>
            <a:off x="6656832" y="5413248"/>
            <a:ext cx="4956048" cy="868680"/>
          </a:xfrm>
          <a:prstGeom prst="rect">
            <a:avLst/>
          </a:prstGeom>
          <a:noFill/>
        </p:spPr>
        <p:txBody>
          <a:bodyPr wrap="square" lIns="0" rIns="0" tIns="0" bIns="0">
            <a:spAutoFit/>
          </a:bodyPr>
          <a:lstStyle/>
          <a:p>
            <a:pPr>
              <a:spcAft>
                <a:spcPts val="400"/>
              </a:spcAft>
            </a:pPr>
            <a:r>
              <a:rPr sz="1080" b="1">
                <a:solidFill>
                  <a:srgbClr val="E11D48"/>
                </a:solidFill>
                <a:latin typeface="Segoe UI"/>
              </a:rPr>
              <a:t>• Hiệu chỉnh (-G_open + G_ext): </a:t>
            </a:r>
            <a:r>
              <a:rPr sz="1080">
                <a:solidFill>
                  <a:srgbClr val="1E293B"/>
                </a:solidFill>
                <a:latin typeface="Segoe UI"/>
              </a:rPr>
              <a:t>Nếu 1 khoảng trống xuyên qua đường cắt i*, cả lượt xuôi và ngược đều đã phạt G_open → Cộng bù để hợp nhất thành 1 gap duy nhất!</a:t>
            </a:r>
          </a:p>
          <a:p>
            <a:pPr>
              <a:spcAft>
                <a:spcPts val="400"/>
              </a:spcAft>
            </a:pPr>
            <a:r>
              <a:rPr sz="1080" b="1">
                <a:solidFill>
                  <a:srgbClr val="1E293B"/>
                </a:solidFill>
                <a:latin typeface="Segoe UI"/>
              </a:rPr>
              <a:t>• Đệ quy 2 Nửa Góc phần tư: </a:t>
            </a:r>
            <a:r>
              <a:rPr sz="1080">
                <a:solidFill>
                  <a:srgbClr val="1E293B"/>
                </a:solidFill>
                <a:latin typeface="Segoe UI"/>
              </a:rPr>
              <a:t>Gọi đệ quy trên (0,0)→(i*,j*) và (i*,j*)→(m,n). Tổng diện tích giảm đúng một nửa!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2 • THIẾT KẾ THUẬT TOÁN LÕI</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Xây dựng Cây Hướng dẫn Phân cấp UPGMA (Guide Tree)</a:t>
            </a:r>
          </a:p>
          <a:p>
            <a:pPr>
              <a:defRPr sz="1150" i="1">
                <a:solidFill>
                  <a:srgbClr val="BAE6FD"/>
                </a:solidFill>
                <a:latin typeface="Segoe UI"/>
              </a:defRPr>
            </a:pPr>
            <a:r>
              <a:t>Gom cụm phân cấp theo khoảng cách trung bình trọng số, định hướng thứ tự căn chỉnh từ cặp gần nhất đến xa nhất</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7 / 18</a:t>
            </a:r>
          </a:p>
        </p:txBody>
      </p:sp>
      <p:sp>
        <p:nvSpPr>
          <p:cNvPr id="9" name="Rounded Rectangle 8"/>
          <p:cNvSpPr/>
          <p:nvPr/>
        </p:nvSpPr>
        <p:spPr>
          <a:xfrm>
            <a:off x="411480" y="1261872"/>
            <a:ext cx="571500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2_3_upgma_clustering.png"/>
          <p:cNvPicPr>
            <a:picLocks noChangeAspect="1"/>
          </p:cNvPicPr>
          <p:nvPr/>
        </p:nvPicPr>
        <p:blipFill>
          <a:blip r:embed="rId2"/>
          <a:stretch>
            <a:fillRect/>
          </a:stretch>
        </p:blipFill>
        <p:spPr>
          <a:xfrm>
            <a:off x="484632" y="2187341"/>
            <a:ext cx="5568696" cy="3223981"/>
          </a:xfrm>
          <a:prstGeom prst="rect">
            <a:avLst/>
          </a:prstGeom>
        </p:spPr>
      </p:pic>
      <p:sp>
        <p:nvSpPr>
          <p:cNvPr id="11" name="Rounded Rectangle 10"/>
          <p:cNvSpPr/>
          <p:nvPr/>
        </p:nvSpPr>
        <p:spPr>
          <a:xfrm>
            <a:off x="6309360" y="1261872"/>
            <a:ext cx="546811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261872"/>
            <a:ext cx="5468112" cy="384048"/>
          </a:xfrm>
          <a:prstGeom prst="roundRect">
            <a:avLst>
              <a:gd name="adj" fmla="val 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Quy trình Toán học Thuật toán UPGMA</a:t>
            </a:r>
          </a:p>
        </p:txBody>
      </p:sp>
      <p:sp>
        <p:nvSpPr>
          <p:cNvPr id="13" name="Rounded Rectangle 12"/>
          <p:cNvSpPr/>
          <p:nvPr/>
        </p:nvSpPr>
        <p:spPr>
          <a:xfrm>
            <a:off x="6492240" y="1773936"/>
            <a:ext cx="5102352" cy="1325880"/>
          </a:xfrm>
          <a:prstGeom prst="roundRect">
            <a:avLst>
              <a:gd name="adj" fmla="val 3000"/>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38544" y="1847088"/>
            <a:ext cx="4809744" cy="1179576"/>
          </a:xfrm>
          <a:prstGeom prst="rect">
            <a:avLst/>
          </a:prstGeom>
          <a:noFill/>
        </p:spPr>
        <p:txBody>
          <a:bodyPr wrap="square" lIns="0" tIns="0" rIns="0" bIns="0">
            <a:spAutoFit/>
          </a:bodyPr>
          <a:lstStyle/>
          <a:p>
            <a:pPr>
              <a:spcAft>
                <a:spcPts val="400"/>
              </a:spcAft>
              <a:defRPr sz="1150" b="1">
                <a:solidFill>
                  <a:srgbClr val="7C3AED"/>
                </a:solidFill>
                <a:latin typeface="Segoe UI"/>
              </a:defRPr>
            </a:pPr>
            <a:r>
              <a:t>1. Chuẩn hóa Khoảng cách Tiến hóa Cặp đôi d(A, B) ∈ [0, 1]:</a:t>
            </a:r>
          </a:p>
          <a:p>
            <a:pPr>
              <a:spcAft>
                <a:spcPts val="300"/>
              </a:spcAft>
              <a:defRPr sz="1150" b="1">
                <a:solidFill>
                  <a:srgbClr val="0F172A"/>
                </a:solidFill>
                <a:latin typeface="Consolas"/>
              </a:defRPr>
            </a:pPr>
            <a:r>
              <a:t>d(S_a, S_b) = max( 0.0,</a:t>
            </a:r>
          </a:p>
          <a:p>
            <a:pPr>
              <a:spcAft>
                <a:spcPts val="300"/>
              </a:spcAft>
              <a:defRPr sz="1150" b="1">
                <a:solidFill>
                  <a:srgbClr val="0F172A"/>
                </a:solidFill>
                <a:latin typeface="Consolas"/>
              </a:defRPr>
            </a:pPr>
            <a:r>
              <a:t>   1.0 - Score(S_a, S_b) / max(Score(S_a, S_a), Score(S_b, S_b))</a:t>
            </a:r>
          </a:p>
          <a:p>
            <a:pPr>
              <a:spcAft>
                <a:spcPts val="300"/>
              </a:spcAft>
              <a:defRPr sz="1150" b="1">
                <a:solidFill>
                  <a:srgbClr val="0F172A"/>
                </a:solidFill>
                <a:latin typeface="Consolas"/>
              </a:defRPr>
            </a:pPr>
            <a:r>
              <a:t>)</a:t>
            </a:r>
          </a:p>
        </p:txBody>
      </p:sp>
      <p:sp>
        <p:nvSpPr>
          <p:cNvPr id="15" name="Rounded Rectangle 14"/>
          <p:cNvSpPr/>
          <p:nvPr/>
        </p:nvSpPr>
        <p:spPr>
          <a:xfrm>
            <a:off x="6492240" y="3182112"/>
            <a:ext cx="5102352" cy="1417320"/>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38544" y="3255264"/>
            <a:ext cx="4809744" cy="1271016"/>
          </a:xfrm>
          <a:prstGeom prst="rect">
            <a:avLst/>
          </a:prstGeom>
          <a:noFill/>
        </p:spPr>
        <p:txBody>
          <a:bodyPr wrap="square" lIns="0" tIns="0" rIns="0" bIns="0">
            <a:spAutoFit/>
          </a:bodyPr>
          <a:lstStyle/>
          <a:p>
            <a:pPr>
              <a:spcAft>
                <a:spcPts val="400"/>
              </a:spcAft>
              <a:defRPr sz="1150" b="1">
                <a:solidFill>
                  <a:srgbClr val="0284C7"/>
                </a:solidFill>
                <a:latin typeface="Segoe UI"/>
              </a:defRPr>
            </a:pPr>
            <a:r>
              <a:t>2. Công thức Cập nhật Khoảng cách Cụm Trung bình Trọng số:</a:t>
            </a:r>
          </a:p>
          <a:p>
            <a:pPr>
              <a:spcAft>
                <a:spcPts val="300"/>
              </a:spcAft>
              <a:defRPr sz="1150" b="1">
                <a:solidFill>
                  <a:srgbClr val="0F172A"/>
                </a:solidFill>
                <a:latin typeface="Consolas"/>
              </a:defRPr>
            </a:pPr>
            <a:r>
              <a:t>Khi hợp nhất 2 cụm gần nhất C_u và C_v thành cụm cha C_w:</a:t>
            </a:r>
          </a:p>
          <a:p>
            <a:pPr>
              <a:spcAft>
                <a:spcPts val="300"/>
              </a:spcAft>
              <a:defRPr sz="1150" b="1">
                <a:solidFill>
                  <a:srgbClr val="0F172A"/>
                </a:solidFill>
                <a:latin typeface="Consolas"/>
              </a:defRPr>
            </a:pPr>
            <a:r>
              <a:t>d(C_w, C_q) = ( |C_u|·d(C_u, C_q) + |C_v|·d(C_v, C_q) )</a:t>
            </a:r>
          </a:p>
          <a:p>
            <a:pPr>
              <a:spcAft>
                <a:spcPts val="300"/>
              </a:spcAft>
              <a:defRPr sz="1150" b="1">
                <a:solidFill>
                  <a:srgbClr val="0F172A"/>
                </a:solidFill>
                <a:latin typeface="Consolas"/>
              </a:defRPr>
            </a:pPr>
            <a:r>
              <a:t>              / ( |C_u| + |C_v| )</a:t>
            </a:r>
          </a:p>
        </p:txBody>
      </p:sp>
      <p:sp>
        <p:nvSpPr>
          <p:cNvPr id="17" name="TextBox 16"/>
          <p:cNvSpPr txBox="1"/>
          <p:nvPr/>
        </p:nvSpPr>
        <p:spPr>
          <a:xfrm>
            <a:off x="6492240" y="4736592"/>
            <a:ext cx="5102352" cy="1463040"/>
          </a:xfrm>
          <a:prstGeom prst="rect">
            <a:avLst/>
          </a:prstGeom>
          <a:noFill/>
        </p:spPr>
        <p:txBody>
          <a:bodyPr wrap="square" lIns="0" rIns="0" tIns="0" bIns="0">
            <a:spAutoFit/>
          </a:bodyPr>
          <a:lstStyle/>
          <a:p>
            <a:pPr>
              <a:spcAft>
                <a:spcPts val="600"/>
              </a:spcAft>
            </a:pPr>
            <a:r>
              <a:rPr sz="1120" b="1">
                <a:solidFill>
                  <a:srgbClr val="1E293B"/>
                </a:solidFill>
                <a:latin typeface="Segoe UI"/>
              </a:rPr>
              <a:t>• Độ phức tạp: </a:t>
            </a:r>
            <a:r>
              <a:rPr sz="1120">
                <a:solidFill>
                  <a:srgbClr val="1E293B"/>
                </a:solidFill>
                <a:latin typeface="Segoe UI"/>
              </a:rPr>
              <a:t>O(k²) cả thời gian và không gian — thực thi &lt; 1 ms với k ≤ 100 chuỗi.</a:t>
            </a:r>
          </a:p>
          <a:p>
            <a:pPr>
              <a:spcAft>
                <a:spcPts val="600"/>
              </a:spcAft>
            </a:pPr>
            <a:r>
              <a:rPr sz="1120" b="1">
                <a:solidFill>
                  <a:srgbClr val="1E293B"/>
                </a:solidFill>
                <a:latin typeface="Segoe UI"/>
              </a:rPr>
              <a:t>• Tính Tiền định (Deterministic Tie-Breaking): </a:t>
            </a:r>
            <a:r>
              <a:rPr sz="1120">
                <a:solidFill>
                  <a:srgbClr val="1E293B"/>
                </a:solidFill>
                <a:latin typeface="Segoe UI"/>
              </a:rPr>
              <a:t>Khi hai cặp cụm có khoảng cách bằng nhau tới ngưỡng ε = 10⁻⁹, ưu tiên cặp có chỉ số ID nhỏ hơn → Đảm bảo cây UPGMA giống nhau 100% giữa chạy 1 luồng và đa luồng.</a:t>
            </a:r>
          </a:p>
          <a:p>
            <a:pPr>
              <a:spcAft>
                <a:spcPts val="600"/>
              </a:spcAft>
            </a:pPr>
            <a:r>
              <a:rPr sz="1120" b="1">
                <a:solidFill>
                  <a:srgbClr val="1E293B"/>
                </a:solidFill>
                <a:latin typeface="Segoe UI"/>
              </a:rPr>
              <a:t>• Xuất chuẩn Sinh tin học: </a:t>
            </a:r>
            <a:r>
              <a:rPr sz="1120">
                <a:solidFill>
                  <a:srgbClr val="1E293B"/>
                </a:solidFill>
                <a:latin typeface="Segoe UI"/>
              </a:rPr>
              <a:t>Hỗ trợ xuất định dạng chuỗi Newick (.nwk) và 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2 • THIẾT KẾ THUẬT TOÁN LÕI</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Căn chỉnh Profile-to-Profile &amp; Nguyên lý Bảo tồn Khoảng trống</a:t>
            </a:r>
          </a:p>
          <a:p>
            <a:pPr>
              <a:defRPr sz="1150" i="1">
                <a:solidFill>
                  <a:srgbClr val="BAE6FD"/>
                </a:solidFill>
                <a:latin typeface="Segoe UI"/>
              </a:defRPr>
            </a:pPr>
            <a:r>
              <a:t>Tổng quát hóa thuật toán Myers-Miller từ 2 chuỗi đơn lên 2 Profile thông qua hàm điểm cột PSP và luật 'Once a gap, always a gap'</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8 / 18</a:t>
            </a:r>
          </a:p>
        </p:txBody>
      </p:sp>
      <p:sp>
        <p:nvSpPr>
          <p:cNvPr id="9" name="Rounded Rectangle 8"/>
          <p:cNvSpPr/>
          <p:nvPr/>
        </p:nvSpPr>
        <p:spPr>
          <a:xfrm>
            <a:off x="411480" y="1261872"/>
            <a:ext cx="571500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2_2_profile_alignment.png"/>
          <p:cNvPicPr>
            <a:picLocks noChangeAspect="1"/>
          </p:cNvPicPr>
          <p:nvPr/>
        </p:nvPicPr>
        <p:blipFill>
          <a:blip r:embed="rId2"/>
          <a:stretch>
            <a:fillRect/>
          </a:stretch>
        </p:blipFill>
        <p:spPr>
          <a:xfrm>
            <a:off x="484632" y="2267940"/>
            <a:ext cx="5568696" cy="3062782"/>
          </a:xfrm>
          <a:prstGeom prst="rect">
            <a:avLst/>
          </a:prstGeom>
        </p:spPr>
      </p:pic>
      <p:sp>
        <p:nvSpPr>
          <p:cNvPr id="11" name="Rounded Rectangle 10"/>
          <p:cNvSpPr/>
          <p:nvPr/>
        </p:nvSpPr>
        <p:spPr>
          <a:xfrm>
            <a:off x="6309360" y="1261872"/>
            <a:ext cx="546811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261872"/>
            <a:ext cx="5468112"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Mở rộng Chia để trị lên Không gian Profile</a:t>
            </a:r>
          </a:p>
        </p:txBody>
      </p:sp>
      <p:sp>
        <p:nvSpPr>
          <p:cNvPr id="13" name="TextBox 12"/>
          <p:cNvSpPr txBox="1"/>
          <p:nvPr/>
        </p:nvSpPr>
        <p:spPr>
          <a:xfrm>
            <a:off x="6492240" y="1755648"/>
            <a:ext cx="5102352" cy="1188720"/>
          </a:xfrm>
          <a:prstGeom prst="rect">
            <a:avLst/>
          </a:prstGeom>
          <a:noFill/>
        </p:spPr>
        <p:txBody>
          <a:bodyPr wrap="square" lIns="0" rIns="0" tIns="0" bIns="0">
            <a:spAutoFit/>
          </a:bodyPr>
          <a:lstStyle/>
          <a:p>
            <a:pPr>
              <a:spcAft>
                <a:spcPts val="600"/>
              </a:spcAft>
            </a:pPr>
            <a:r>
              <a:rPr sz="1150" b="1">
                <a:solidFill>
                  <a:srgbClr val="1E293B"/>
                </a:solidFill>
                <a:latin typeface="Segoe UI"/>
              </a:rPr>
              <a:t>• Cấu trúc Profile: </a:t>
            </a:r>
            <a:r>
              <a:rPr sz="1150">
                <a:solidFill>
                  <a:srgbClr val="1E293B"/>
                </a:solidFill>
                <a:latin typeface="Segoe UI"/>
              </a:rPr>
              <a:t>Mỗi nút trong cây UPGMA lưu một Profile P gồm |P| chuỗi đã căn chỉnh có cùng độ dài cột L_P.</a:t>
            </a:r>
          </a:p>
          <a:p>
            <a:pPr>
              <a:spcAft>
                <a:spcPts val="600"/>
              </a:spcAft>
            </a:pPr>
            <a:r>
              <a:rPr sz="1150" b="1">
                <a:solidFill>
                  <a:srgbClr val="1E293B"/>
                </a:solidFill>
                <a:latin typeface="Segoe UI"/>
              </a:rPr>
              <a:t>• Tái sử dụng Lõi Myers-Miller: </a:t>
            </a:r>
            <a:r>
              <a:rPr sz="1150">
                <a:solidFill>
                  <a:srgbClr val="1E293B"/>
                </a:solidFill>
                <a:latin typeface="Segoe UI"/>
              </a:rPr>
              <a:t>Xem Profile P₁ (dài m cột) và P₂ (dài n cột) như 2 'siêu chuỗi' mà mỗi phần tử là một Cột Vector Tần suất.</a:t>
            </a:r>
          </a:p>
        </p:txBody>
      </p:sp>
      <p:sp>
        <p:nvSpPr>
          <p:cNvPr id="14" name="Rounded Rectangle 13"/>
          <p:cNvSpPr/>
          <p:nvPr/>
        </p:nvSpPr>
        <p:spPr>
          <a:xfrm>
            <a:off x="6492240" y="2944368"/>
            <a:ext cx="5102352" cy="1600200"/>
          </a:xfrm>
          <a:prstGeom prst="roundRect">
            <a:avLst>
              <a:gd name="adj" fmla="val 3000"/>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38544" y="3017520"/>
            <a:ext cx="4809744" cy="1453896"/>
          </a:xfrm>
          <a:prstGeom prst="rect">
            <a:avLst/>
          </a:prstGeom>
          <a:noFill/>
        </p:spPr>
        <p:txBody>
          <a:bodyPr wrap="square" lIns="0" tIns="0" rIns="0" bIns="0">
            <a:spAutoFit/>
          </a:bodyPr>
          <a:lstStyle/>
          <a:p>
            <a:pPr>
              <a:spcAft>
                <a:spcPts val="400"/>
              </a:spcAft>
              <a:defRPr sz="1150" b="1">
                <a:solidFill>
                  <a:srgbClr val="059669"/>
                </a:solidFill>
                <a:latin typeface="Segoe UI"/>
              </a:defRPr>
            </a:pPr>
            <a:r>
              <a:t>Hàm Điểm Tương đồng Cột-đối-Cột (Profile Sum-of-Pairs — PSP):</a:t>
            </a:r>
          </a:p>
          <a:p>
            <a:pPr>
              <a:spcAft>
                <a:spcPts val="300"/>
              </a:spcAft>
              <a:defRPr sz="1150" b="1">
                <a:solidFill>
                  <a:srgbClr val="0F172A"/>
                </a:solidFill>
                <a:latin typeface="Consolas"/>
              </a:defRPr>
            </a:pPr>
            <a:r>
              <a:t>PSP(x, y) =  1 / (|P₁| · |P₂|)</a:t>
            </a:r>
          </a:p>
          <a:p>
            <a:pPr>
              <a:spcAft>
                <a:spcPts val="300"/>
              </a:spcAft>
              <a:defRPr sz="1150" b="1">
                <a:solidFill>
                  <a:srgbClr val="0F172A"/>
                </a:solidFill>
                <a:latin typeface="Consolas"/>
              </a:defRPr>
            </a:pPr>
            <a:r>
              <a:t>           × ∑_{r=1..|P₁|} ∑_{s=1..|P₂|} score(P₁[r, x], P₂[s, y])</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Thay thế trực tiếp hàm σ(Aᵢ, Bⱼ) trong phương trình Myers-Miller!</a:t>
            </a:r>
          </a:p>
        </p:txBody>
      </p:sp>
      <p:sp>
        <p:nvSpPr>
          <p:cNvPr id="16" name="TextBox 15"/>
          <p:cNvSpPr txBox="1"/>
          <p:nvPr/>
        </p:nvSpPr>
        <p:spPr>
          <a:xfrm>
            <a:off x="6492240" y="4681728"/>
            <a:ext cx="5102352" cy="1508760"/>
          </a:xfrm>
          <a:prstGeom prst="rect">
            <a:avLst/>
          </a:prstGeom>
          <a:noFill/>
        </p:spPr>
        <p:txBody>
          <a:bodyPr wrap="square" lIns="0" rIns="0" tIns="0" bIns="0">
            <a:spAutoFit/>
          </a:bodyPr>
          <a:lstStyle/>
          <a:p>
            <a:pPr>
              <a:spcAft>
                <a:spcPts val="600"/>
              </a:spcAft>
            </a:pPr>
            <a:r>
              <a:rPr sz="1120" b="1">
                <a:solidFill>
                  <a:srgbClr val="0F172A"/>
                </a:solidFill>
                <a:latin typeface="Segoe UI"/>
              </a:rPr>
              <a:t>• Quy tắc 'Once a gap, always a gap' (Feng &amp; Doolittle): </a:t>
            </a:r>
            <a:r>
              <a:rPr sz="1120">
                <a:solidFill>
                  <a:srgbClr val="1E293B"/>
                </a:solidFill>
                <a:latin typeface="Segoe UI"/>
              </a:rPr>
              <a:t>Khi bước truy vết Myers-Miller quyết định chèn một khoảng trống vào Profile P₁, một cột gồm toàn ký tự '-' được chèn đồng loạt vào TẤT CẢ |P₁| chuỗi con tại cùng vị trí đó.</a:t>
            </a:r>
          </a:p>
          <a:p>
            <a:pPr>
              <a:spcAft>
                <a:spcPts val="600"/>
              </a:spcAft>
            </a:pPr>
            <a:r>
              <a:rPr sz="1120" b="1">
                <a:solidFill>
                  <a:srgbClr val="1E293B"/>
                </a:solidFill>
                <a:latin typeface="Segoe UI"/>
              </a:rPr>
              <a:t>• Ý nghĩa Toán học: </a:t>
            </a:r>
            <a:r>
              <a:rPr sz="1120">
                <a:solidFill>
                  <a:srgbClr val="1E293B"/>
                </a:solidFill>
                <a:latin typeface="Segoe UI"/>
              </a:rPr>
              <a:t>Bảo toàn 100% quan hệ căn chỉnh nội bộ đã tối ưu ở các nhánh cây con phía dưới.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3 • SONG SONG HÓA &amp; ĐỘ PHỨC TẠP</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Kiến trúc Tính toán Song song Đa tầng Hybrid (MPI + OpenMP)</a:t>
            </a:r>
          </a:p>
          <a:p>
            <a:pPr>
              <a:defRPr sz="1150" i="1">
                <a:solidFill>
                  <a:srgbClr val="BAE6FD"/>
                </a:solidFill>
                <a:latin typeface="Segoe UI"/>
              </a:defRPr>
            </a:pPr>
            <a:r>
              <a:t>Khai thác tính song song ở cả 3 mức: Phân tán Cụm máy tính (MPI), Đa luồng Cặp chuỗi/Nhánh cây (OpenMP) và Đường chéo phụ</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9 / 18</a:t>
            </a:r>
          </a:p>
        </p:txBody>
      </p:sp>
      <p:sp>
        <p:nvSpPr>
          <p:cNvPr id="9" name="Rounded Rectangle 8"/>
          <p:cNvSpPr/>
          <p:nvPr/>
        </p:nvSpPr>
        <p:spPr>
          <a:xfrm>
            <a:off x="411480" y="1261872"/>
            <a:ext cx="6812280" cy="333756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5_parallel_architecture.png"/>
          <p:cNvPicPr>
            <a:picLocks noChangeAspect="1"/>
          </p:cNvPicPr>
          <p:nvPr/>
        </p:nvPicPr>
        <p:blipFill>
          <a:blip r:embed="rId2"/>
          <a:stretch>
            <a:fillRect/>
          </a:stretch>
        </p:blipFill>
        <p:spPr>
          <a:xfrm>
            <a:off x="916478" y="1335024"/>
            <a:ext cx="5802283" cy="3191256"/>
          </a:xfrm>
          <a:prstGeom prst="rect">
            <a:avLst/>
          </a:prstGeom>
        </p:spPr>
      </p:pic>
      <p:sp>
        <p:nvSpPr>
          <p:cNvPr id="11" name="Rounded Rectangle 10"/>
          <p:cNvSpPr/>
          <p:nvPr/>
        </p:nvSpPr>
        <p:spPr>
          <a:xfrm>
            <a:off x="411480" y="4681728"/>
            <a:ext cx="6812280" cy="1664208"/>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3_1_wavefront_antidiagonal.png"/>
          <p:cNvPicPr>
            <a:picLocks noChangeAspect="1"/>
          </p:cNvPicPr>
          <p:nvPr/>
        </p:nvPicPr>
        <p:blipFill>
          <a:blip r:embed="rId3"/>
          <a:stretch>
            <a:fillRect/>
          </a:stretch>
        </p:blipFill>
        <p:spPr>
          <a:xfrm>
            <a:off x="2742438" y="4754880"/>
            <a:ext cx="2150364" cy="1517904"/>
          </a:xfrm>
          <a:prstGeom prst="rect">
            <a:avLst/>
          </a:prstGeom>
        </p:spPr>
      </p:pic>
      <p:sp>
        <p:nvSpPr>
          <p:cNvPr id="13" name="Rounded Rectangle 12"/>
          <p:cNvSpPr/>
          <p:nvPr/>
        </p:nvSpPr>
        <p:spPr>
          <a:xfrm>
            <a:off x="7388352" y="1261872"/>
            <a:ext cx="438912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88352" y="1261872"/>
            <a:ext cx="4389120" cy="384048"/>
          </a:xfrm>
          <a:prstGeom prst="roundRect">
            <a:avLst>
              <a:gd name="adj" fmla="val 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3 Cấp độ Song song Hóa &amp; Cân bằng Tải</a:t>
            </a:r>
          </a:p>
        </p:txBody>
      </p:sp>
      <p:sp>
        <p:nvSpPr>
          <p:cNvPr id="15" name="TextBox 14"/>
          <p:cNvSpPr txBox="1"/>
          <p:nvPr/>
        </p:nvSpPr>
        <p:spPr>
          <a:xfrm>
            <a:off x="7552944" y="1773936"/>
            <a:ext cx="4059936" cy="4572000"/>
          </a:xfrm>
          <a:prstGeom prst="rect">
            <a:avLst/>
          </a:prstGeom>
          <a:noFill/>
        </p:spPr>
        <p:txBody>
          <a:bodyPr wrap="square" lIns="0" rIns="0" tIns="0" bIns="0">
            <a:spAutoFit/>
          </a:bodyPr>
          <a:lstStyle/>
          <a:p>
            <a:pPr>
              <a:spcAft>
                <a:spcPts val="800"/>
              </a:spcAft>
            </a:pPr>
            <a:r>
              <a:rPr sz="1100" b="1">
                <a:solidFill>
                  <a:srgbClr val="0284C7"/>
                </a:solidFill>
                <a:latin typeface="Segoe UI"/>
              </a:rPr>
              <a:t>Cấp 1 — Liên Node bằng MPI (Distributed):</a:t>
            </a:r>
            <a:r>
              <a:rPr sz="1100">
                <a:solidFill>
                  <a:srgbClr val="1E293B"/>
                </a:solidFill>
                <a:latin typeface="Segoe UI"/>
              </a:rPr>
              <a:t>
• Chia k(k-1)/2 cặp theo vòng tròn Block-Cyclic (idx % P == rank) giúp cân bằng tải tự nhiên.
• Đồng bộ kết quả qua MPI_Allgatherv với chi phí truyền thông tối thiểu O(k²).</a:t>
            </a:r>
          </a:p>
          <a:p>
            <a:pPr>
              <a:spcAft>
                <a:spcPts val="800"/>
              </a:spcAft>
            </a:pPr>
            <a:r>
              <a:rPr sz="1100" b="1">
                <a:solidFill>
                  <a:srgbClr val="059669"/>
                </a:solidFill>
                <a:latin typeface="Segoe UI"/>
              </a:rPr>
              <a:t>Cấp 2 — Đa luồng OpenMP (Shared Memory):</a:t>
            </a:r>
            <a:r>
              <a:rPr sz="1100">
                <a:solidFill>
                  <a:srgbClr val="1E293B"/>
                </a:solidFill>
                <a:latin typeface="Segoe UI"/>
              </a:rPr>
              <a:t>
• Giai đoạn 1: #pragma omp parallel for schedule(dynamic, 1) chống lệch tải khi độ dài chuỗi chênh lệch.
• Giai đoạn 3 (Level-Set Tree Scheduler): Phân rã cây UPGMA theo tầng độ cao Topo; các nhánh con độc lập cùng tầng chạy song song.</a:t>
            </a:r>
          </a:p>
          <a:p>
            <a:pPr>
              <a:spcAft>
                <a:spcPts val="800"/>
              </a:spcAft>
            </a:pPr>
            <a:r>
              <a:rPr sz="1100" b="1">
                <a:solidFill>
                  <a:srgbClr val="7C3AED"/>
                </a:solidFill>
                <a:latin typeface="Segoe UI"/>
              </a:rPr>
              <a:t>Cấp 3 — Wavefront Anti-Diagonal DP:</a:t>
            </a:r>
            <a:r>
              <a:rPr sz="1100">
                <a:solidFill>
                  <a:srgbClr val="1E293B"/>
                </a:solidFill>
                <a:latin typeface="Segoe UI"/>
              </a:rPr>
              <a:t>
• Các ô (i, j) trên cùng đường chéo phụ i + j = d hoàn toàn độc lập dữ liệu → tính song song cho chuỗi cực dài.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3 • SONG SONG HÓA &amp; ĐỘ PHỨC TẠP</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Chứng minh Toán học Độ phức tạp Bộ nhớ O(N) &amp; Thời gian 2·NM</a:t>
            </a:r>
          </a:p>
          <a:p>
            <a:pPr>
              <a:defRPr sz="1150" i="1">
                <a:solidFill>
                  <a:srgbClr val="BAE6FD"/>
                </a:solidFill>
                <a:latin typeface="Segoe UI"/>
              </a:defRPr>
            </a:pPr>
            <a:r>
              <a:t>Định lý chuỗi hình học chứng minh Chia để trị Myers-Miller giảm bậc bộ nhớ mà chỉ tăng thời gian đúng 2 lần hằng số</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10 / 18</a:t>
            </a:r>
          </a:p>
        </p:txBody>
      </p:sp>
      <p:sp>
        <p:nvSpPr>
          <p:cNvPr id="9" name="Rounded Rectangle 8"/>
          <p:cNvSpPr/>
          <p:nvPr/>
        </p:nvSpPr>
        <p:spPr>
          <a:xfrm>
            <a:off x="411480" y="1261872"/>
            <a:ext cx="553212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5532120"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Định lý 1: Chứng minh Độ phức tạp Không gian Tuyến tính</a:t>
            </a:r>
          </a:p>
        </p:txBody>
      </p:sp>
      <p:sp>
        <p:nvSpPr>
          <p:cNvPr id="11" name="TextBox 10"/>
          <p:cNvSpPr txBox="1"/>
          <p:nvPr/>
        </p:nvSpPr>
        <p:spPr>
          <a:xfrm>
            <a:off x="594360" y="1773936"/>
            <a:ext cx="5166360" cy="2011680"/>
          </a:xfrm>
          <a:prstGeom prst="rect">
            <a:avLst/>
          </a:prstGeom>
          <a:noFill/>
        </p:spPr>
        <p:txBody>
          <a:bodyPr wrap="square" lIns="0" rIns="0" tIns="0" bIns="0">
            <a:spAutoFit/>
          </a:bodyPr>
          <a:lstStyle/>
          <a:p>
            <a:pPr>
              <a:spcAft>
                <a:spcPts val="800"/>
              </a:spcAft>
            </a:pPr>
            <a:r>
              <a:rPr sz="1120" b="1">
                <a:solidFill>
                  <a:srgbClr val="1E293B"/>
                </a:solidFill>
                <a:latin typeface="Segoe UI"/>
              </a:rPr>
              <a:t>• Cấp phát Vector Tĩnh tại mỗi Bước Chia để trị:</a:t>
            </a:r>
            <a:r>
              <a:rPr sz="1120">
                <a:solidFill>
                  <a:srgbClr val="1E293B"/>
                </a:solidFill>
                <a:latin typeface="Segoe UI"/>
              </a:rPr>
              <a:t>
Lượt quét xuôi và ngược chỉ sử dụng 6 vector 1 chiều kích thước (n + 1): fwd_M, fwd_Ix, fwd_Iy và bwd_M, bwd_Ix, bwd_Iy.</a:t>
            </a:r>
          </a:p>
          <a:p>
            <a:pPr>
              <a:spcAft>
                <a:spcPts val="800"/>
              </a:spcAft>
            </a:pPr>
            <a:r>
              <a:rPr sz="1120" b="1">
                <a:solidFill>
                  <a:srgbClr val="1E293B"/>
                </a:solidFill>
                <a:latin typeface="Segoe UI"/>
              </a:rPr>
              <a:t>• Thu hồi / Tái sử dụng Bộ nhớ trước khi Đệ quy:</a:t>
            </a:r>
            <a:r>
              <a:rPr sz="1120">
                <a:solidFill>
                  <a:srgbClr val="1E293B"/>
                </a:solidFill>
                <a:latin typeface="Segoe UI"/>
              </a:rPr>
              <a:t>
Sau khi tìm được cột cắt j*, các vector tạm được giải phóng trước khi gọi đệ quy xuống 2 bài toán con → Bộ nhớ KHÔNG cộng dồn theo số nút đệ quy!</a:t>
            </a:r>
          </a:p>
          <a:p>
            <a:pPr>
              <a:spcAft>
                <a:spcPts val="800"/>
              </a:spcAft>
            </a:pPr>
            <a:r>
              <a:rPr sz="1120" b="1">
                <a:solidFill>
                  <a:srgbClr val="1E293B"/>
                </a:solidFill>
                <a:latin typeface="Segoe UI"/>
              </a:rPr>
              <a:t>• Độ sâu Ngăn xếp Đệ quy (Call Stack):</a:t>
            </a:r>
            <a:r>
              <a:rPr sz="1120">
                <a:solidFill>
                  <a:srgbClr val="1E293B"/>
                </a:solidFill>
                <a:latin typeface="Segoe UI"/>
              </a:rPr>
              <a:t>
Mỗi bước chia đôi m → m/2 nên chiều cao cây đệ quy tối đa là ⌈log₂ m⌉.</a:t>
            </a:r>
          </a:p>
        </p:txBody>
      </p:sp>
      <p:sp>
        <p:nvSpPr>
          <p:cNvPr id="12" name="Rounded Rectangle 11"/>
          <p:cNvSpPr/>
          <p:nvPr/>
        </p:nvSpPr>
        <p:spPr>
          <a:xfrm>
            <a:off x="594360" y="4069080"/>
            <a:ext cx="5166360" cy="2057400"/>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142232"/>
            <a:ext cx="4873752" cy="1911095"/>
          </a:xfrm>
          <a:prstGeom prst="rect">
            <a:avLst/>
          </a:prstGeom>
          <a:noFill/>
        </p:spPr>
        <p:txBody>
          <a:bodyPr wrap="square" lIns="0" tIns="0" rIns="0" bIns="0">
            <a:spAutoFit/>
          </a:bodyPr>
          <a:lstStyle/>
          <a:p>
            <a:pPr>
              <a:spcAft>
                <a:spcPts val="400"/>
              </a:spcAft>
              <a:defRPr sz="1150" b="1">
                <a:solidFill>
                  <a:srgbClr val="0284C7"/>
                </a:solidFill>
                <a:latin typeface="Segoe UI"/>
              </a:defRPr>
            </a:pPr>
            <a:r>
              <a:t>Tổng Không gian Bộ nhớ Đỉnh (Peak Memory Bound):</a:t>
            </a:r>
          </a:p>
          <a:p>
            <a:pPr>
              <a:spcAft>
                <a:spcPts val="300"/>
              </a:spcAft>
              <a:defRPr sz="1150" b="1">
                <a:solidFill>
                  <a:srgbClr val="0F172A"/>
                </a:solidFill>
                <a:latin typeface="Consolas"/>
              </a:defRPr>
            </a:pPr>
            <a:r>
              <a:t>• Cho 1 cặp chuỗi (m ≥ n):</a:t>
            </a:r>
          </a:p>
          <a:p>
            <a:pPr>
              <a:spcAft>
                <a:spcPts val="300"/>
              </a:spcAft>
              <a:defRPr sz="1150" b="1">
                <a:solidFill>
                  <a:srgbClr val="0F172A"/>
                </a:solidFill>
                <a:latin typeface="Consolas"/>
              </a:defRPr>
            </a:pPr>
            <a:r>
              <a:t>  S_pair(m, n) = 6·(n + 1)·sizeof(int) + O(log₂ m)</a:t>
            </a:r>
          </a:p>
          <a:p>
            <a:pPr>
              <a:spcAft>
                <a:spcPts val="300"/>
              </a:spcAft>
              <a:defRPr sz="1150" b="1">
                <a:solidFill>
                  <a:srgbClr val="0F172A"/>
                </a:solidFill>
                <a:latin typeface="Consolas"/>
              </a:defRPr>
            </a:pPr>
            <a:r>
              <a:t>               = O(min(m, n))   [Tuyến tính hoàn toàn!]</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Cho toàn bộ Pipeline MSA (k chuỗi, P luồng):</a:t>
            </a:r>
          </a:p>
          <a:p>
            <a:pPr>
              <a:spcAft>
                <a:spcPts val="300"/>
              </a:spcAft>
              <a:defRPr sz="1150" b="1">
                <a:solidFill>
                  <a:srgbClr val="0F172A"/>
                </a:solidFill>
                <a:latin typeface="Consolas"/>
              </a:defRPr>
            </a:pPr>
            <a:r>
              <a:t>  S_total(k, L, P) = O(k · L + P · L + k²) = O(k · L)</a:t>
            </a:r>
          </a:p>
        </p:txBody>
      </p:sp>
      <p:sp>
        <p:nvSpPr>
          <p:cNvPr id="14" name="Rounded Rectangle 13"/>
          <p:cNvSpPr/>
          <p:nvPr/>
        </p:nvSpPr>
        <p:spPr>
          <a:xfrm>
            <a:off x="6172200" y="1261872"/>
            <a:ext cx="560527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72200" y="1261872"/>
            <a:ext cx="5605272"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Định lý 2: Chứng minh Độ phức tạp Thời gian Chuỗi Hình học</a:t>
            </a:r>
          </a:p>
        </p:txBody>
      </p:sp>
      <p:sp>
        <p:nvSpPr>
          <p:cNvPr id="16" name="TextBox 15"/>
          <p:cNvSpPr txBox="1"/>
          <p:nvPr/>
        </p:nvSpPr>
        <p:spPr>
          <a:xfrm>
            <a:off x="6355080" y="1773936"/>
            <a:ext cx="5239512" cy="1691640"/>
          </a:xfrm>
          <a:prstGeom prst="rect">
            <a:avLst/>
          </a:prstGeom>
          <a:noFill/>
        </p:spPr>
        <p:txBody>
          <a:bodyPr wrap="square" lIns="0" rIns="0" tIns="0" bIns="0">
            <a:spAutoFit/>
          </a:bodyPr>
          <a:lstStyle/>
          <a:p>
            <a:pPr>
              <a:spcAft>
                <a:spcPts val="800"/>
              </a:spcAft>
            </a:pPr>
            <a:r>
              <a:rPr sz="1120" b="1">
                <a:solidFill>
                  <a:srgbClr val="1E293B"/>
                </a:solidFill>
                <a:latin typeface="Segoe UI"/>
              </a:rPr>
              <a:t>• Bất biến Diện tích ở Mức Đệ quy thứ r:</a:t>
            </a:r>
            <a:r>
              <a:rPr sz="1120">
                <a:solidFill>
                  <a:srgbClr val="1E293B"/>
                </a:solidFill>
                <a:latin typeface="Segoe UI"/>
              </a:rPr>
              <a:t>
Tại mức 0 (gốc), quét xuôi nửa trên (m/2 × n) + quét ngược nửa dưới (m/2 × n) tốn đúng c · m · n phép tính.</a:t>
            </a:r>
          </a:p>
          <a:p>
            <a:pPr>
              <a:spcAft>
                <a:spcPts val="800"/>
              </a:spcAft>
            </a:pPr>
            <a:r>
              <a:rPr sz="1120" b="1">
                <a:solidFill>
                  <a:srgbClr val="1E293B"/>
                </a:solidFill>
                <a:latin typeface="Segoe UI"/>
              </a:rPr>
              <a:t>• Tổng diện tích 2 bài toán con ở mức 1 (với bất kỳ cột cắt j* nào):</a:t>
            </a:r>
            <a:r>
              <a:rPr sz="1120">
                <a:solidFill>
                  <a:srgbClr val="1E293B"/>
                </a:solidFill>
                <a:latin typeface="Segoe UI"/>
              </a:rPr>
              <a:t>
Area₁ = (m/2)·j* + (m/2)·(n - j*) = (m/2)·(j* + n - j*) = ½ (m · n)!</a:t>
            </a:r>
          </a:p>
        </p:txBody>
      </p:sp>
      <p:sp>
        <p:nvSpPr>
          <p:cNvPr id="17" name="Rounded Rectangle 16"/>
          <p:cNvSpPr/>
          <p:nvPr/>
        </p:nvSpPr>
        <p:spPr>
          <a:xfrm>
            <a:off x="6355080" y="3520440"/>
            <a:ext cx="5239512" cy="2606040"/>
          </a:xfrm>
          <a:prstGeom prst="roundRect">
            <a:avLst>
              <a:gd name="adj" fmla="val 3000"/>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3593592"/>
            <a:ext cx="4946904" cy="2459736"/>
          </a:xfrm>
          <a:prstGeom prst="rect">
            <a:avLst/>
          </a:prstGeom>
          <a:noFill/>
        </p:spPr>
        <p:txBody>
          <a:bodyPr wrap="square" lIns="0" tIns="0" rIns="0" bIns="0">
            <a:spAutoFit/>
          </a:bodyPr>
          <a:lstStyle/>
          <a:p>
            <a:pPr>
              <a:spcAft>
                <a:spcPts val="400"/>
              </a:spcAft>
              <a:defRPr sz="1150" b="1">
                <a:solidFill>
                  <a:srgbClr val="059669"/>
                </a:solidFill>
                <a:latin typeface="Segoe UI"/>
              </a:defRPr>
            </a:pPr>
            <a:r>
              <a:t>Khai triển Tổng Chuỗi Hình học Hội tụ (Master Sum):</a:t>
            </a:r>
          </a:p>
          <a:p>
            <a:pPr>
              <a:spcAft>
                <a:spcPts val="300"/>
              </a:spcAft>
              <a:defRPr sz="1150" b="1">
                <a:solidFill>
                  <a:srgbClr val="0F172A"/>
                </a:solidFill>
                <a:latin typeface="Consolas"/>
              </a:defRPr>
            </a:pPr>
            <a:r>
              <a:t>T(m, n) = c·mn + c·(mn / 2) + c·(mn / 4) + ... + c·(mn / 2^log₂m)</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 c·mn × ∑_{r = 0..log₂m} (1 / 2)^r</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 c·mn × (1 + 1/2 + 1/4 + 1/8 + ...) = 2 · c · m · n</a:t>
            </a:r>
          </a:p>
          <a:p>
            <a:pPr>
              <a:spcAft>
                <a:spcPts val="300"/>
              </a:spcAft>
              <a:defRPr sz="1150" b="1">
                <a:solidFill>
                  <a:srgbClr val="0F172A"/>
                </a:solidFill>
                <a:latin typeface="Consolas"/>
              </a:defRPr>
            </a:pPr>
          </a:p>
          <a:p>
            <a:pPr>
              <a:spcAft>
                <a:spcPts val="300"/>
              </a:spcAft>
              <a:defRPr sz="1150" b="1">
                <a:solidFill>
                  <a:srgbClr val="0F172A"/>
                </a:solidFill>
                <a:latin typeface="Consolas"/>
              </a:defRPr>
            </a:pPr>
            <a:r>
              <a:t>⇒ T(m, n) = 2 · T_Gotoh(m, n) = O(m · n)   (Điều phải chứng minh)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3 • SONG SONG HÓA &amp; ĐỘ PHỨC TẠP</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Tổng hợp Độ phức tạp Toàn Hệ thống &amp; Phân tích Định luật Amdahl</a:t>
            </a:r>
          </a:p>
          <a:p>
            <a:pPr>
              <a:defRPr sz="1150" i="1">
                <a:solidFill>
                  <a:srgbClr val="BAE6FD"/>
                </a:solidFill>
                <a:latin typeface="Segoe UI"/>
              </a:defRPr>
            </a:pPr>
            <a:r>
              <a:t>Đối sánh toàn diện giữa Baseline và Hệ thống Đề xuất kèm mô hình giới hạn tăng tốc song song</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11 / 18</a:t>
            </a:r>
          </a:p>
        </p:txBody>
      </p:sp>
      <p:graphicFrame>
        <p:nvGraphicFramePr>
          <p:cNvPr id="9" name="Table 8"/>
          <p:cNvGraphicFramePr>
            <a:graphicFrameLocks noGrp="1"/>
          </p:cNvGraphicFramePr>
          <p:nvPr/>
        </p:nvGraphicFramePr>
        <p:xfrm>
          <a:off x="411480" y="1261872"/>
          <a:ext cx="11365992" cy="2880360"/>
        </p:xfrm>
        <a:graphic>
          <a:graphicData uri="http://schemas.openxmlformats.org/drawingml/2006/table">
            <a:tbl>
              <a:tblPr firstRow="1" bandRow="1">
                <a:tableStyleId>{5C22544A-7EE6-4342-B048-85BDC9FD1C3A}</a:tableStyleId>
              </a:tblPr>
              <a:tblGrid>
                <a:gridCol w="2423160"/>
                <a:gridCol w="1691640"/>
                <a:gridCol w="2057400"/>
                <a:gridCol w="2057400"/>
                <a:gridCol w="3136392"/>
              </a:tblGrid>
              <a:tr h="480060">
                <a:tc>
                  <a:txBody>
                    <a:bodyPr/>
                    <a:lstStyle/>
                    <a:p>
                      <a:pPr algn="l">
                        <a:defRPr sz="1050" b="1">
                          <a:solidFill>
                            <a:srgbClr val="FFFFFF"/>
                          </a:solidFill>
                          <a:latin typeface="Segoe UI"/>
                        </a:defRPr>
                      </a:pPr>
                      <a:r>
                        <a:t>Giai đoạn / Thuật toán</a:t>
                      </a:r>
                    </a:p>
                  </a:txBody>
                  <a:tcPr anchor="ctr">
                    <a:solidFill>
                      <a:srgbClr val="0F172A"/>
                    </a:solidFill>
                  </a:tcPr>
                </a:tc>
                <a:tc>
                  <a:txBody>
                    <a:bodyPr/>
                    <a:lstStyle/>
                    <a:p>
                      <a:pPr algn="ctr">
                        <a:defRPr sz="1050" b="1">
                          <a:solidFill>
                            <a:srgbClr val="FFFFFF"/>
                          </a:solidFill>
                          <a:latin typeface="Segoe UI"/>
                        </a:defRPr>
                      </a:pPr>
                      <a:r>
                        <a:t>Thời gian Tuần tự</a:t>
                      </a:r>
                    </a:p>
                  </a:txBody>
                  <a:tcPr anchor="ctr">
                    <a:solidFill>
                      <a:srgbClr val="0F172A"/>
                    </a:solidFill>
                  </a:tcPr>
                </a:tc>
                <a:tc>
                  <a:txBody>
                    <a:bodyPr/>
                    <a:lstStyle/>
                    <a:p>
                      <a:pPr algn="ctr">
                        <a:defRPr sz="1050" b="1">
                          <a:solidFill>
                            <a:srgbClr val="FFFFFF"/>
                          </a:solidFill>
                          <a:latin typeface="Segoe UI"/>
                        </a:defRPr>
                      </a:pPr>
                      <a:r>
                        <a:t>Thời gian Song song (P luồng)</a:t>
                      </a:r>
                    </a:p>
                  </a:txBody>
                  <a:tcPr anchor="ctr">
                    <a:solidFill>
                      <a:srgbClr val="0F172A"/>
                    </a:solidFill>
                  </a:tcPr>
                </a:tc>
                <a:tc>
                  <a:txBody>
                    <a:bodyPr/>
                    <a:lstStyle/>
                    <a:p>
                      <a:pPr algn="ctr">
                        <a:defRPr sz="1050" b="1">
                          <a:solidFill>
                            <a:srgbClr val="FFFFFF"/>
                          </a:solidFill>
                          <a:latin typeface="Segoe UI"/>
                        </a:defRPr>
                      </a:pPr>
                      <a:r>
                        <a:t>Không gian Bộ nhớ</a:t>
                      </a:r>
                    </a:p>
                  </a:txBody>
                  <a:tcPr anchor="ctr">
                    <a:solidFill>
                      <a:srgbClr val="0F172A"/>
                    </a:solidFill>
                  </a:tcPr>
                </a:tc>
                <a:tc>
                  <a:txBody>
                    <a:bodyPr/>
                    <a:lstStyle/>
                    <a:p>
                      <a:pPr algn="ctr">
                        <a:defRPr sz="1050" b="1">
                          <a:solidFill>
                            <a:srgbClr val="FFFFFF"/>
                          </a:solidFill>
                          <a:latin typeface="Segoe UI"/>
                        </a:defRPr>
                      </a:pPr>
                      <a:r>
                        <a:t>Đóng góp &amp; Ý nghĩa Kỹ thuật</a:t>
                      </a:r>
                    </a:p>
                  </a:txBody>
                  <a:tcPr anchor="ctr">
                    <a:solidFill>
                      <a:srgbClr val="0F172A"/>
                    </a:solidFill>
                  </a:tcPr>
                </a:tc>
              </a:tr>
              <a:tr h="480060">
                <a:tc>
                  <a:txBody>
                    <a:bodyPr/>
                    <a:lstStyle/>
                    <a:p>
                      <a:pPr algn="l">
                        <a:defRPr sz="1050" b="1">
                          <a:solidFill>
                            <a:srgbClr val="1E293B"/>
                          </a:solidFill>
                          <a:latin typeface="Segoe UI"/>
                        </a:defRPr>
                      </a:pPr>
                      <a:r>
                        <a:t>Gotoh NW (1982) Baseline</a:t>
                      </a:r>
                    </a:p>
                  </a:txBody>
                  <a:tcPr anchor="ctr">
                    <a:solidFill>
                      <a:srgbClr val="FFFFFF"/>
                    </a:solidFill>
                  </a:tcPr>
                </a:tc>
                <a:tc>
                  <a:txBody>
                    <a:bodyPr/>
                    <a:lstStyle/>
                    <a:p>
                      <a:pPr algn="ctr">
                        <a:defRPr sz="1050" b="0">
                          <a:solidFill>
                            <a:srgbClr val="1E293B"/>
                          </a:solidFill>
                          <a:latin typeface="Segoe UI"/>
                        </a:defRPr>
                      </a:pPr>
                      <a:r>
                        <a:t>O(m · n)</a:t>
                      </a:r>
                    </a:p>
                  </a:txBody>
                  <a:tcPr anchor="ctr">
                    <a:solidFill>
                      <a:srgbClr val="FFFFFF"/>
                    </a:solidFill>
                  </a:tcPr>
                </a:tc>
                <a:tc>
                  <a:txBody>
                    <a:bodyPr/>
                    <a:lstStyle/>
                    <a:p>
                      <a:pPr algn="ctr">
                        <a:defRPr sz="1050" b="0">
                          <a:solidFill>
                            <a:srgbClr val="1E293B"/>
                          </a:solidFill>
                          <a:latin typeface="Segoe UI"/>
                        </a:defRPr>
                      </a:pPr>
                      <a:r>
                        <a:t>—</a:t>
                      </a:r>
                    </a:p>
                  </a:txBody>
                  <a:tcPr anchor="ctr">
                    <a:solidFill>
                      <a:srgbClr val="FFFFFF"/>
                    </a:solidFill>
                  </a:tcPr>
                </a:tc>
                <a:tc>
                  <a:txBody>
                    <a:bodyPr/>
                    <a:lstStyle/>
                    <a:p>
                      <a:pPr algn="ctr">
                        <a:defRPr sz="1050" b="0">
                          <a:solidFill>
                            <a:srgbClr val="1E293B"/>
                          </a:solidFill>
                          <a:latin typeface="Segoe UI"/>
                        </a:defRPr>
                      </a:pPr>
                      <a:r>
                        <a:t>O(m · n)  [3 ma trận 2D]</a:t>
                      </a:r>
                    </a:p>
                  </a:txBody>
                  <a:tcPr anchor="ctr">
                    <a:solidFill>
                      <a:srgbClr val="FFFFFF"/>
                    </a:solidFill>
                  </a:tcPr>
                </a:tc>
                <a:tc>
                  <a:txBody>
                    <a:bodyPr/>
                    <a:lstStyle/>
                    <a:p>
                      <a:pPr algn="ctr">
                        <a:defRPr sz="1050" b="0">
                          <a:solidFill>
                            <a:srgbClr val="1E293B"/>
                          </a:solidFill>
                          <a:latin typeface="Segoe UI"/>
                        </a:defRPr>
                      </a:pPr>
                      <a:r>
                        <a:t>Tràn RAM khi chuỗi dài m, n ≥ 10⁴</a:t>
                      </a:r>
                    </a:p>
                  </a:txBody>
                  <a:tcPr anchor="ctr">
                    <a:solidFill>
                      <a:srgbClr val="FFFFFF"/>
                    </a:solidFill>
                  </a:tcPr>
                </a:tc>
              </a:tr>
              <a:tr h="480060">
                <a:tc>
                  <a:txBody>
                    <a:bodyPr/>
                    <a:lstStyle/>
                    <a:p>
                      <a:pPr algn="l">
                        <a:defRPr sz="1050" b="1">
                          <a:solidFill>
                            <a:srgbClr val="1E293B"/>
                          </a:solidFill>
                          <a:latin typeface="Segoe UI"/>
                        </a:defRPr>
                      </a:pPr>
                      <a:r>
                        <a:t>Myers-Miller D&amp;C (Đề xuất)</a:t>
                      </a:r>
                    </a:p>
                  </a:txBody>
                  <a:tcPr anchor="ctr">
                    <a:solidFill>
                      <a:srgbClr val="D1FAE5"/>
                    </a:solidFill>
                  </a:tcPr>
                </a:tc>
                <a:tc>
                  <a:txBody>
                    <a:bodyPr/>
                    <a:lstStyle/>
                    <a:p>
                      <a:pPr algn="ctr">
                        <a:defRPr sz="1050" b="1">
                          <a:solidFill>
                            <a:srgbClr val="059669"/>
                          </a:solidFill>
                          <a:latin typeface="Segoe UI"/>
                        </a:defRPr>
                      </a:pPr>
                      <a:r>
                        <a:t>2 · O(m · n)</a:t>
                      </a:r>
                    </a:p>
                  </a:txBody>
                  <a:tcPr anchor="ctr">
                    <a:solidFill>
                      <a:srgbClr val="D1FAE5"/>
                    </a:solidFill>
                  </a:tcPr>
                </a:tc>
                <a:tc>
                  <a:txBody>
                    <a:bodyPr/>
                    <a:lstStyle/>
                    <a:p>
                      <a:pPr algn="ctr">
                        <a:defRPr sz="1050" b="1">
                          <a:solidFill>
                            <a:srgbClr val="059669"/>
                          </a:solidFill>
                          <a:latin typeface="Segoe UI"/>
                        </a:defRPr>
                      </a:pPr>
                      <a:r>
                        <a:t>O(m · n / P_wave)</a:t>
                      </a:r>
                    </a:p>
                  </a:txBody>
                  <a:tcPr anchor="ctr">
                    <a:solidFill>
                      <a:srgbClr val="D1FAE5"/>
                    </a:solidFill>
                  </a:tcPr>
                </a:tc>
                <a:tc>
                  <a:txBody>
                    <a:bodyPr/>
                    <a:lstStyle/>
                    <a:p>
                      <a:pPr algn="ctr">
                        <a:defRPr sz="1050" b="1">
                          <a:solidFill>
                            <a:srgbClr val="059669"/>
                          </a:solidFill>
                          <a:latin typeface="Segoe UI"/>
                        </a:defRPr>
                      </a:pPr>
                      <a:r>
                        <a:t>O(min(m, n))  [Vector 1D]</a:t>
                      </a:r>
                    </a:p>
                  </a:txBody>
                  <a:tcPr anchor="ctr">
                    <a:solidFill>
                      <a:srgbClr val="D1FAE5"/>
                    </a:solidFill>
                  </a:tcPr>
                </a:tc>
                <a:tc>
                  <a:txBody>
                    <a:bodyPr/>
                    <a:lstStyle/>
                    <a:p>
                      <a:pPr algn="ctr">
                        <a:defRPr sz="1050" b="1">
                          <a:solidFill>
                            <a:srgbClr val="059669"/>
                          </a:solidFill>
                          <a:latin typeface="Segoe UI"/>
                        </a:defRPr>
                      </a:pPr>
                      <a:r>
                        <a:t>Giảm &gt;90× – 1.353× RAM, khớp 100% điểm</a:t>
                      </a:r>
                    </a:p>
                  </a:txBody>
                  <a:tcPr anchor="ctr">
                    <a:solidFill>
                      <a:srgbClr val="D1FAE5"/>
                    </a:solidFill>
                  </a:tcPr>
                </a:tc>
              </a:tr>
              <a:tr h="480060">
                <a:tc>
                  <a:txBody>
                    <a:bodyPr/>
                    <a:lstStyle/>
                    <a:p>
                      <a:pPr algn="l">
                        <a:defRPr sz="1050" b="1">
                          <a:solidFill>
                            <a:srgbClr val="1E293B"/>
                          </a:solidFill>
                          <a:latin typeface="Segoe UI"/>
                        </a:defRPr>
                      </a:pPr>
                      <a:r>
                        <a:t>GĐ 1: Ma trận Khoảng cách</a:t>
                      </a:r>
                    </a:p>
                  </a:txBody>
                  <a:tcPr anchor="ctr">
                    <a:solidFill>
                      <a:srgbClr val="FFFFFF"/>
                    </a:solidFill>
                  </a:tcPr>
                </a:tc>
                <a:tc>
                  <a:txBody>
                    <a:bodyPr/>
                    <a:lstStyle/>
                    <a:p>
                      <a:pPr algn="ctr">
                        <a:defRPr sz="1050" b="0">
                          <a:solidFill>
                            <a:srgbClr val="1E293B"/>
                          </a:solidFill>
                          <a:latin typeface="Segoe UI"/>
                        </a:defRPr>
                      </a:pPr>
                      <a:r>
                        <a:t>O(k² · N²)</a:t>
                      </a:r>
                    </a:p>
                  </a:txBody>
                  <a:tcPr anchor="ctr">
                    <a:solidFill>
                      <a:srgbClr val="FFFFFF"/>
                    </a:solidFill>
                  </a:tcPr>
                </a:tc>
                <a:tc>
                  <a:txBody>
                    <a:bodyPr/>
                    <a:lstStyle/>
                    <a:p>
                      <a:pPr algn="ctr">
                        <a:defRPr sz="1050" b="0">
                          <a:solidFill>
                            <a:srgbClr val="1E293B"/>
                          </a:solidFill>
                          <a:latin typeface="Segoe UI"/>
                        </a:defRPr>
                      </a:pPr>
                      <a:r>
                        <a:t>O(k² · N² / P)</a:t>
                      </a:r>
                    </a:p>
                  </a:txBody>
                  <a:tcPr anchor="ctr">
                    <a:solidFill>
                      <a:srgbClr val="FFFFFF"/>
                    </a:solidFill>
                  </a:tcPr>
                </a:tc>
                <a:tc>
                  <a:txBody>
                    <a:bodyPr/>
                    <a:lstStyle/>
                    <a:p>
                      <a:pPr algn="ctr">
                        <a:defRPr sz="1050" b="0">
                          <a:solidFill>
                            <a:srgbClr val="1E293B"/>
                          </a:solidFill>
                          <a:latin typeface="Segoe UI"/>
                        </a:defRPr>
                      </a:pPr>
                      <a:r>
                        <a:t>O(k² + P · N)</a:t>
                      </a:r>
                    </a:p>
                  </a:txBody>
                  <a:tcPr anchor="ctr">
                    <a:solidFill>
                      <a:srgbClr val="FFFFFF"/>
                    </a:solidFill>
                  </a:tcPr>
                </a:tc>
                <a:tc>
                  <a:txBody>
                    <a:bodyPr/>
                    <a:lstStyle/>
                    <a:p>
                      <a:pPr algn="ctr">
                        <a:defRPr sz="1050" b="0">
                          <a:solidFill>
                            <a:srgbClr val="1E293B"/>
                          </a:solidFill>
                          <a:latin typeface="Segoe UI"/>
                        </a:defRPr>
                      </a:pPr>
                      <a:r>
                        <a:t>Song song lý tưởng k(k-1)/2 cặp độc lập</a:t>
                      </a:r>
                    </a:p>
                  </a:txBody>
                  <a:tcPr anchor="ctr">
                    <a:solidFill>
                      <a:srgbClr val="FFFFFF"/>
                    </a:solidFill>
                  </a:tcPr>
                </a:tc>
              </a:tr>
              <a:tr h="480060">
                <a:tc>
                  <a:txBody>
                    <a:bodyPr/>
                    <a:lstStyle/>
                    <a:p>
                      <a:pPr algn="l">
                        <a:defRPr sz="1050" b="1">
                          <a:solidFill>
                            <a:srgbClr val="1E293B"/>
                          </a:solidFill>
                          <a:latin typeface="Segoe UI"/>
                        </a:defRPr>
                      </a:pPr>
                      <a:r>
                        <a:t>GĐ 2: Cây Hướng dẫn UPGMA</a:t>
                      </a:r>
                    </a:p>
                  </a:txBody>
                  <a:tcPr anchor="ctr">
                    <a:solidFill>
                      <a:srgbClr val="F1F5F9"/>
                    </a:solidFill>
                  </a:tcPr>
                </a:tc>
                <a:tc>
                  <a:txBody>
                    <a:bodyPr/>
                    <a:lstStyle/>
                    <a:p>
                      <a:pPr algn="ctr">
                        <a:defRPr sz="1050" b="0">
                          <a:solidFill>
                            <a:srgbClr val="1E293B"/>
                          </a:solidFill>
                          <a:latin typeface="Segoe UI"/>
                        </a:defRPr>
                      </a:pPr>
                      <a:r>
                        <a:t>O(k²)</a:t>
                      </a:r>
                    </a:p>
                  </a:txBody>
                  <a:tcPr anchor="ctr">
                    <a:solidFill>
                      <a:srgbClr val="F1F5F9"/>
                    </a:solidFill>
                  </a:tcPr>
                </a:tc>
                <a:tc>
                  <a:txBody>
                    <a:bodyPr/>
                    <a:lstStyle/>
                    <a:p>
                      <a:pPr algn="ctr">
                        <a:defRPr sz="1050" b="0">
                          <a:solidFill>
                            <a:srgbClr val="1E293B"/>
                          </a:solidFill>
                          <a:latin typeface="Segoe UI"/>
                        </a:defRPr>
                      </a:pPr>
                      <a:r>
                        <a:t>O(k²) [Tuần tự nhanh]</a:t>
                      </a:r>
                    </a:p>
                  </a:txBody>
                  <a:tcPr anchor="ctr">
                    <a:solidFill>
                      <a:srgbClr val="F1F5F9"/>
                    </a:solidFill>
                  </a:tcPr>
                </a:tc>
                <a:tc>
                  <a:txBody>
                    <a:bodyPr/>
                    <a:lstStyle/>
                    <a:p>
                      <a:pPr algn="ctr">
                        <a:defRPr sz="1050" b="0">
                          <a:solidFill>
                            <a:srgbClr val="1E293B"/>
                          </a:solidFill>
                          <a:latin typeface="Segoe UI"/>
                        </a:defRPr>
                      </a:pPr>
                      <a:r>
                        <a:t>O(k²)</a:t>
                      </a:r>
                    </a:p>
                  </a:txBody>
                  <a:tcPr anchor="ctr">
                    <a:solidFill>
                      <a:srgbClr val="F1F5F9"/>
                    </a:solidFill>
                  </a:tcPr>
                </a:tc>
                <a:tc>
                  <a:txBody>
                    <a:bodyPr/>
                    <a:lstStyle/>
                    <a:p>
                      <a:pPr algn="ctr">
                        <a:defRPr sz="1050" b="0">
                          <a:solidFill>
                            <a:srgbClr val="1E293B"/>
                          </a:solidFill>
                          <a:latin typeface="Segoe UI"/>
                        </a:defRPr>
                      </a:pPr>
                      <a:r>
                        <a:t>Thời gian không đáng kể (&lt; 1 ms với k ≤ 100)</a:t>
                      </a:r>
                    </a:p>
                  </a:txBody>
                  <a:tcPr anchor="ctr">
                    <a:solidFill>
                      <a:srgbClr val="F1F5F9"/>
                    </a:solidFill>
                  </a:tcPr>
                </a:tc>
              </a:tr>
              <a:tr h="480060">
                <a:tc>
                  <a:txBody>
                    <a:bodyPr/>
                    <a:lstStyle/>
                    <a:p>
                      <a:pPr algn="l">
                        <a:defRPr sz="1050" b="1">
                          <a:solidFill>
                            <a:srgbClr val="1E293B"/>
                          </a:solidFill>
                          <a:latin typeface="Segoe UI"/>
                        </a:defRPr>
                      </a:pPr>
                      <a:r>
                        <a:t>GĐ 3 &amp; 4: Progressive Tree</a:t>
                      </a:r>
                    </a:p>
                  </a:txBody>
                  <a:tcPr anchor="ctr">
                    <a:solidFill>
                      <a:srgbClr val="D1FAE5"/>
                    </a:solidFill>
                  </a:tcPr>
                </a:tc>
                <a:tc>
                  <a:txBody>
                    <a:bodyPr/>
                    <a:lstStyle/>
                    <a:p>
                      <a:pPr algn="ctr">
                        <a:defRPr sz="1050" b="1">
                          <a:solidFill>
                            <a:srgbClr val="059669"/>
                          </a:solidFill>
                          <a:latin typeface="Segoe UI"/>
                        </a:defRPr>
                      </a:pPr>
                      <a:r>
                        <a:t>O(k · L²)</a:t>
                      </a:r>
                    </a:p>
                  </a:txBody>
                  <a:tcPr anchor="ctr">
                    <a:solidFill>
                      <a:srgbClr val="D1FAE5"/>
                    </a:solidFill>
                  </a:tcPr>
                </a:tc>
                <a:tc>
                  <a:txBody>
                    <a:bodyPr/>
                    <a:lstStyle/>
                    <a:p>
                      <a:pPr algn="ctr">
                        <a:defRPr sz="1050" b="1">
                          <a:solidFill>
                            <a:srgbClr val="059669"/>
                          </a:solidFill>
                          <a:latin typeface="Segoe UI"/>
                        </a:defRPr>
                      </a:pPr>
                      <a:r>
                        <a:t>O(k · L² / P_tree)</a:t>
                      </a:r>
                    </a:p>
                  </a:txBody>
                  <a:tcPr anchor="ctr">
                    <a:solidFill>
                      <a:srgbClr val="D1FAE5"/>
                    </a:solidFill>
                  </a:tcPr>
                </a:tc>
                <a:tc>
                  <a:txBody>
                    <a:bodyPr/>
                    <a:lstStyle/>
                    <a:p>
                      <a:pPr algn="ctr">
                        <a:defRPr sz="1050" b="1">
                          <a:solidFill>
                            <a:srgbClr val="059669"/>
                          </a:solidFill>
                          <a:latin typeface="Segoe UI"/>
                        </a:defRPr>
                      </a:pPr>
                      <a:r>
                        <a:t>O(k · L)</a:t>
                      </a:r>
                    </a:p>
                  </a:txBody>
                  <a:tcPr anchor="ctr">
                    <a:solidFill>
                      <a:srgbClr val="D1FAE5"/>
                    </a:solidFill>
                  </a:tcPr>
                </a:tc>
                <a:tc>
                  <a:txBody>
                    <a:bodyPr/>
                    <a:lstStyle/>
                    <a:p>
                      <a:pPr algn="ctr">
                        <a:defRPr sz="1050" b="1">
                          <a:solidFill>
                            <a:srgbClr val="059669"/>
                          </a:solidFill>
                          <a:latin typeface="Segoe UI"/>
                        </a:defRPr>
                      </a:pPr>
                      <a:r>
                        <a:t>Duyệt cây Level-Set + Profile Myers-Miller</a:t>
                      </a:r>
                    </a:p>
                  </a:txBody>
                  <a:tcPr anchor="ctr">
                    <a:solidFill>
                      <a:srgbClr val="D1FAE5"/>
                    </a:solidFill>
                  </a:tcPr>
                </a:tc>
              </a:tr>
            </a:tbl>
          </a:graphicData>
        </a:graphic>
      </p:graphicFrame>
      <p:sp>
        <p:nvSpPr>
          <p:cNvPr id="10" name="Rounded Rectangle 9"/>
          <p:cNvSpPr/>
          <p:nvPr/>
        </p:nvSpPr>
        <p:spPr>
          <a:xfrm>
            <a:off x="411480" y="4315968"/>
            <a:ext cx="5532120" cy="2029968"/>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4315968"/>
            <a:ext cx="5532120"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Mô hình Giới hạn Tăng tốc — Định luật Amdahl (1967)</a:t>
            </a:r>
          </a:p>
        </p:txBody>
      </p:sp>
      <p:sp>
        <p:nvSpPr>
          <p:cNvPr id="12" name="Rounded Rectangle 11"/>
          <p:cNvSpPr/>
          <p:nvPr/>
        </p:nvSpPr>
        <p:spPr>
          <a:xfrm>
            <a:off x="594360" y="4791455"/>
            <a:ext cx="5166360" cy="749808"/>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864607"/>
            <a:ext cx="4873752" cy="603503"/>
          </a:xfrm>
          <a:prstGeom prst="rect">
            <a:avLst/>
          </a:prstGeom>
          <a:noFill/>
        </p:spPr>
        <p:txBody>
          <a:bodyPr wrap="square" lIns="0" tIns="0" rIns="0" bIns="0">
            <a:spAutoFit/>
          </a:bodyPr>
          <a:lstStyle/>
          <a:p>
            <a:pPr>
              <a:spcAft>
                <a:spcPts val="300"/>
              </a:spcAft>
              <a:defRPr sz="1150" b="1">
                <a:solidFill>
                  <a:srgbClr val="0F172A"/>
                </a:solidFill>
                <a:latin typeface="Consolas"/>
              </a:defRPr>
            </a:pPr>
            <a:r>
              <a:t>S(P) = T(1) / T(P) ≤  1 / [ (1 - f) + (f / P) ]</a:t>
            </a:r>
          </a:p>
        </p:txBody>
      </p:sp>
      <p:sp>
        <p:nvSpPr>
          <p:cNvPr id="14" name="TextBox 13"/>
          <p:cNvSpPr txBox="1"/>
          <p:nvPr/>
        </p:nvSpPr>
        <p:spPr>
          <a:xfrm>
            <a:off x="594360" y="5559552"/>
            <a:ext cx="5166360" cy="731520"/>
          </a:xfrm>
          <a:prstGeom prst="rect">
            <a:avLst/>
          </a:prstGeom>
          <a:noFill/>
        </p:spPr>
        <p:txBody>
          <a:bodyPr wrap="square" lIns="0" rIns="0" tIns="0" bIns="0">
            <a:spAutoFit/>
          </a:bodyPr>
          <a:lstStyle/>
          <a:p>
            <a:pPr>
              <a:spcAft>
                <a:spcPts val="600"/>
              </a:spcAft>
            </a:pPr>
            <a:r>
              <a:rPr sz="1080" b="1">
                <a:solidFill>
                  <a:srgbClr val="1E293B"/>
                </a:solidFill>
                <a:latin typeface="Segoe UI"/>
              </a:rPr>
              <a:t>• Tỷ lệ tuần tự (1 - f) ≈ 15% – 25%: </a:t>
            </a:r>
            <a:r>
              <a:rPr sz="1080">
                <a:solidFill>
                  <a:srgbClr val="1E293B"/>
                </a:solidFill>
                <a:latin typeface="Segoe UI"/>
              </a:rPr>
              <a:t>Sinh ra tại nút gốc cây UPGMA (phải chờ 2 nhánh con hoàn tất mới gộp được Profile cuối cùng). Với f = 0.85, P = 8 → S_max ≈ 3.9×.</a:t>
            </a:r>
          </a:p>
        </p:txBody>
      </p:sp>
      <p:sp>
        <p:nvSpPr>
          <p:cNvPr id="15" name="Rounded Rectangle 14"/>
          <p:cNvSpPr/>
          <p:nvPr/>
        </p:nvSpPr>
        <p:spPr>
          <a:xfrm>
            <a:off x="6172200" y="4315968"/>
            <a:ext cx="5605272" cy="2029968"/>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72200" y="4315968"/>
            <a:ext cx="5605272"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Khả năng Mở rộng Quy mô Lớn — Định luật Gustafson</a:t>
            </a:r>
          </a:p>
        </p:txBody>
      </p:sp>
      <p:sp>
        <p:nvSpPr>
          <p:cNvPr id="17" name="Rounded Rectangle 16"/>
          <p:cNvSpPr/>
          <p:nvPr/>
        </p:nvSpPr>
        <p:spPr>
          <a:xfrm>
            <a:off x="6355080" y="4791455"/>
            <a:ext cx="5239512" cy="749808"/>
          </a:xfrm>
          <a:prstGeom prst="roundRect">
            <a:avLst>
              <a:gd name="adj" fmla="val 3000"/>
            </a:avLst>
          </a:prstGeom>
          <a:solidFill>
            <a:srgbClr val="D1FAE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01384" y="4864607"/>
            <a:ext cx="4946904" cy="603503"/>
          </a:xfrm>
          <a:prstGeom prst="rect">
            <a:avLst/>
          </a:prstGeom>
          <a:noFill/>
        </p:spPr>
        <p:txBody>
          <a:bodyPr wrap="square" lIns="0" tIns="0" rIns="0" bIns="0">
            <a:spAutoFit/>
          </a:bodyPr>
          <a:lstStyle/>
          <a:p>
            <a:pPr>
              <a:spcAft>
                <a:spcPts val="300"/>
              </a:spcAft>
              <a:defRPr sz="1150" b="1">
                <a:solidFill>
                  <a:srgbClr val="0F172A"/>
                </a:solidFill>
                <a:latin typeface="Consolas"/>
              </a:defRPr>
            </a:pPr>
            <a:r>
              <a:t>S_scaled(P) = (1 - f_seq) + P · f_par   (khi k → ∞)</a:t>
            </a:r>
          </a:p>
        </p:txBody>
      </p:sp>
      <p:sp>
        <p:nvSpPr>
          <p:cNvPr id="19" name="TextBox 18"/>
          <p:cNvSpPr txBox="1"/>
          <p:nvPr/>
        </p:nvSpPr>
        <p:spPr>
          <a:xfrm>
            <a:off x="6355080" y="5559552"/>
            <a:ext cx="5239512" cy="731520"/>
          </a:xfrm>
          <a:prstGeom prst="rect">
            <a:avLst/>
          </a:prstGeom>
          <a:noFill/>
        </p:spPr>
        <p:txBody>
          <a:bodyPr wrap="square" lIns="0" rIns="0" tIns="0" bIns="0">
            <a:spAutoFit/>
          </a:bodyPr>
          <a:lstStyle/>
          <a:p>
            <a:pPr>
              <a:spcAft>
                <a:spcPts val="600"/>
              </a:spcAft>
            </a:pPr>
            <a:r>
              <a:rPr sz="1080" b="1">
                <a:solidFill>
                  <a:srgbClr val="1E293B"/>
                </a:solidFill>
                <a:latin typeface="Segoe UI"/>
              </a:rPr>
              <a:t>• Khi số lượng chuỗi k tăng lớn: </a:t>
            </a:r>
            <a:r>
              <a:rPr sz="1080">
                <a:solidFill>
                  <a:srgbClr val="1E293B"/>
                </a:solidFill>
                <a:latin typeface="Segoe UI"/>
              </a:rPr>
              <a:t>Giai đoạn 1 tăng bậc hai O(k²N²) chiếm tỷ trọng áp đảo so với Giai đoạn 4 O(kL²) → Tỷ lệ song song f_par → 1, hệ thống mở rộng rất tốt!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4 • THỰC NGHIỆM BALIBASE 3.0 &amp; ĐỐI SÁNH</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Thực nghiệm 1: Kiểm chứng Nén Bộ nhớ Gotoh O(N²) vs. Myers-Miller O(N)</a:t>
            </a:r>
          </a:p>
          <a:p>
            <a:pPr>
              <a:defRPr sz="1150" i="1">
                <a:solidFill>
                  <a:srgbClr val="BAE6FD"/>
                </a:solidFill>
                <a:latin typeface="Segoe UI"/>
              </a:defRPr>
            </a:pPr>
            <a:r>
              <a:t>Tiết kiệm tới 1.353,5× dung lượng RAM đỉnh và đạt độ trùng khớp điểm số tuyệt đối 100% trên mọi tập thử nghiệm</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12 / 18</a:t>
            </a:r>
          </a:p>
        </p:txBody>
      </p:sp>
      <p:sp>
        <p:nvSpPr>
          <p:cNvPr id="9" name="Rounded Rectangle 8"/>
          <p:cNvSpPr/>
          <p:nvPr/>
        </p:nvSpPr>
        <p:spPr>
          <a:xfrm>
            <a:off x="411480" y="1261872"/>
            <a:ext cx="617220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1_memory_scaling.png"/>
          <p:cNvPicPr>
            <a:picLocks noChangeAspect="1"/>
          </p:cNvPicPr>
          <p:nvPr/>
        </p:nvPicPr>
        <p:blipFill>
          <a:blip r:embed="rId2"/>
          <a:stretch>
            <a:fillRect/>
          </a:stretch>
        </p:blipFill>
        <p:spPr>
          <a:xfrm>
            <a:off x="484632" y="2058517"/>
            <a:ext cx="6025896" cy="3481628"/>
          </a:xfrm>
          <a:prstGeom prst="rect">
            <a:avLst/>
          </a:prstGeom>
        </p:spPr>
      </p:pic>
      <p:sp>
        <p:nvSpPr>
          <p:cNvPr id="11" name="Rounded Rectangle 10"/>
          <p:cNvSpPr/>
          <p:nvPr/>
        </p:nvSpPr>
        <p:spPr>
          <a:xfrm>
            <a:off x="6748272" y="1261872"/>
            <a:ext cx="502920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48272" y="1261872"/>
            <a:ext cx="5029200"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Bảng Đối chứng Thực tế (--baseline-compare)</a:t>
            </a:r>
          </a:p>
        </p:txBody>
      </p:sp>
      <p:graphicFrame>
        <p:nvGraphicFramePr>
          <p:cNvPr id="13" name="Table 12"/>
          <p:cNvGraphicFramePr>
            <a:graphicFrameLocks noGrp="1"/>
          </p:cNvGraphicFramePr>
          <p:nvPr/>
        </p:nvGraphicFramePr>
        <p:xfrm>
          <a:off x="6894576" y="1773936"/>
          <a:ext cx="4736592" cy="2514600"/>
        </p:xfrm>
        <a:graphic>
          <a:graphicData uri="http://schemas.openxmlformats.org/drawingml/2006/table">
            <a:tbl>
              <a:tblPr firstRow="1" bandRow="1">
                <a:tableStyleId>{5C22544A-7EE6-4342-B048-85BDC9FD1C3A}</a:tableStyleId>
              </a:tblPr>
              <a:tblGrid>
                <a:gridCol w="1298448"/>
                <a:gridCol w="932688"/>
                <a:gridCol w="932688"/>
                <a:gridCol w="749808"/>
                <a:gridCol w="822960"/>
              </a:tblGrid>
              <a:tr h="419100">
                <a:tc>
                  <a:txBody>
                    <a:bodyPr/>
                    <a:lstStyle/>
                    <a:p>
                      <a:pPr algn="l">
                        <a:defRPr sz="950" b="1">
                          <a:solidFill>
                            <a:srgbClr val="FFFFFF"/>
                          </a:solidFill>
                          <a:latin typeface="Segoe UI"/>
                        </a:defRPr>
                      </a:pPr>
                      <a:r>
                        <a:t>Bộ dữ liệu (Độ dài)</a:t>
                      </a:r>
                    </a:p>
                  </a:txBody>
                  <a:tcPr anchor="ctr">
                    <a:solidFill>
                      <a:srgbClr val="0F172A"/>
                    </a:solidFill>
                  </a:tcPr>
                </a:tc>
                <a:tc>
                  <a:txBody>
                    <a:bodyPr/>
                    <a:lstStyle/>
                    <a:p>
                      <a:pPr algn="ctr">
                        <a:defRPr sz="950" b="1">
                          <a:solidFill>
                            <a:srgbClr val="FFFFFF"/>
                          </a:solidFill>
                          <a:latin typeface="Segoe UI"/>
                        </a:defRPr>
                      </a:pPr>
                      <a:r>
                        <a:t>Gotoh O(N²)</a:t>
                      </a:r>
                    </a:p>
                  </a:txBody>
                  <a:tcPr anchor="ctr">
                    <a:solidFill>
                      <a:srgbClr val="0F172A"/>
                    </a:solidFill>
                  </a:tcPr>
                </a:tc>
                <a:tc>
                  <a:txBody>
                    <a:bodyPr/>
                    <a:lstStyle/>
                    <a:p>
                      <a:pPr algn="ctr">
                        <a:defRPr sz="950" b="1">
                          <a:solidFill>
                            <a:srgbClr val="FFFFFF"/>
                          </a:solidFill>
                          <a:latin typeface="Segoe UI"/>
                        </a:defRPr>
                      </a:pPr>
                      <a:r>
                        <a:t>Myers-Miller</a:t>
                      </a:r>
                    </a:p>
                  </a:txBody>
                  <a:tcPr anchor="ctr">
                    <a:solidFill>
                      <a:srgbClr val="0F172A"/>
                    </a:solidFill>
                  </a:tcPr>
                </a:tc>
                <a:tc>
                  <a:txBody>
                    <a:bodyPr/>
                    <a:lstStyle/>
                    <a:p>
                      <a:pPr algn="ctr">
                        <a:defRPr sz="950" b="1">
                          <a:solidFill>
                            <a:srgbClr val="FFFFFF"/>
                          </a:solidFill>
                          <a:latin typeface="Segoe UI"/>
                        </a:defRPr>
                      </a:pPr>
                      <a:r>
                        <a:t>Giảm RAM</a:t>
                      </a:r>
                    </a:p>
                  </a:txBody>
                  <a:tcPr anchor="ctr">
                    <a:solidFill>
                      <a:srgbClr val="0F172A"/>
                    </a:solidFill>
                  </a:tcPr>
                </a:tc>
                <a:tc>
                  <a:txBody>
                    <a:bodyPr/>
                    <a:lstStyle/>
                    <a:p>
                      <a:pPr algn="ctr">
                        <a:defRPr sz="950" b="1">
                          <a:solidFill>
                            <a:srgbClr val="FFFFFF"/>
                          </a:solidFill>
                          <a:latin typeface="Segoe UI"/>
                        </a:defRPr>
                      </a:pPr>
                      <a:r>
                        <a:t>Điểm số</a:t>
                      </a:r>
                    </a:p>
                  </a:txBody>
                  <a:tcPr anchor="ctr">
                    <a:solidFill>
                      <a:srgbClr val="0F172A"/>
                    </a:solidFill>
                  </a:tcPr>
                </a:tc>
              </a:tr>
              <a:tr h="419100">
                <a:tc>
                  <a:txBody>
                    <a:bodyPr/>
                    <a:lstStyle/>
                    <a:p>
                      <a:pPr algn="l">
                        <a:defRPr sz="950" b="1">
                          <a:solidFill>
                            <a:srgbClr val="1E293B"/>
                          </a:solidFill>
                          <a:latin typeface="Segoe UI"/>
                        </a:defRPr>
                      </a:pPr>
                      <a:r>
                        <a:t>RV11 (85 aa)</a:t>
                      </a:r>
                    </a:p>
                  </a:txBody>
                  <a:tcPr anchor="ctr">
                    <a:solidFill>
                      <a:srgbClr val="FFFFFF"/>
                    </a:solidFill>
                  </a:tcPr>
                </a:tc>
                <a:tc>
                  <a:txBody>
                    <a:bodyPr/>
                    <a:lstStyle/>
                    <a:p>
                      <a:pPr algn="ctr">
                        <a:defRPr sz="950" b="0">
                          <a:solidFill>
                            <a:srgbClr val="1E293B"/>
                          </a:solidFill>
                          <a:latin typeface="Segoe UI"/>
                        </a:defRPr>
                      </a:pPr>
                      <a:r>
                        <a:t>85,0 KB</a:t>
                      </a:r>
                    </a:p>
                  </a:txBody>
                  <a:tcPr anchor="ctr">
                    <a:solidFill>
                      <a:srgbClr val="FFFFFF"/>
                    </a:solidFill>
                  </a:tcPr>
                </a:tc>
                <a:tc>
                  <a:txBody>
                    <a:bodyPr/>
                    <a:lstStyle/>
                    <a:p>
                      <a:pPr algn="ctr">
                        <a:defRPr sz="950" b="0">
                          <a:solidFill>
                            <a:srgbClr val="1E293B"/>
                          </a:solidFill>
                          <a:latin typeface="Segoe UI"/>
                        </a:defRPr>
                      </a:pPr>
                      <a:r>
                        <a:t>0,66 KB</a:t>
                      </a:r>
                    </a:p>
                  </a:txBody>
                  <a:tcPr anchor="ctr">
                    <a:solidFill>
                      <a:srgbClr val="FFFFFF"/>
                    </a:solidFill>
                  </a:tcPr>
                </a:tc>
                <a:tc>
                  <a:txBody>
                    <a:bodyPr/>
                    <a:lstStyle/>
                    <a:p>
                      <a:pPr algn="ctr">
                        <a:defRPr sz="950" b="0">
                          <a:solidFill>
                            <a:srgbClr val="1E293B"/>
                          </a:solidFill>
                          <a:latin typeface="Segoe UI"/>
                        </a:defRPr>
                      </a:pPr>
                      <a:r>
                        <a:t>129,5×</a:t>
                      </a:r>
                    </a:p>
                  </a:txBody>
                  <a:tcPr anchor="ctr">
                    <a:solidFill>
                      <a:srgbClr val="FFFFFF"/>
                    </a:solidFill>
                  </a:tcPr>
                </a:tc>
                <a:tc>
                  <a:txBody>
                    <a:bodyPr/>
                    <a:lstStyle/>
                    <a:p>
                      <a:pPr algn="ctr">
                        <a:defRPr sz="950" b="0">
                          <a:solidFill>
                            <a:srgbClr val="1E293B"/>
                          </a:solidFill>
                          <a:latin typeface="Segoe UI"/>
                        </a:defRPr>
                      </a:pPr>
                      <a:r>
                        <a:t>100% Match</a:t>
                      </a:r>
                    </a:p>
                  </a:txBody>
                  <a:tcPr anchor="ctr">
                    <a:solidFill>
                      <a:srgbClr val="FFFFFF"/>
                    </a:solidFill>
                  </a:tcPr>
                </a:tc>
              </a:tr>
              <a:tr h="419100">
                <a:tc>
                  <a:txBody>
                    <a:bodyPr/>
                    <a:lstStyle/>
                    <a:p>
                      <a:pPr algn="l">
                        <a:defRPr sz="950" b="1">
                          <a:solidFill>
                            <a:srgbClr val="1E293B"/>
                          </a:solidFill>
                          <a:latin typeface="Segoe UI"/>
                        </a:defRPr>
                      </a:pPr>
                      <a:r>
                        <a:t>RV20 (74 aa)</a:t>
                      </a:r>
                    </a:p>
                  </a:txBody>
                  <a:tcPr anchor="ctr">
                    <a:solidFill>
                      <a:srgbClr val="F1F5F9"/>
                    </a:solidFill>
                  </a:tcPr>
                </a:tc>
                <a:tc>
                  <a:txBody>
                    <a:bodyPr/>
                    <a:lstStyle/>
                    <a:p>
                      <a:pPr algn="ctr">
                        <a:defRPr sz="950" b="0">
                          <a:solidFill>
                            <a:srgbClr val="1E293B"/>
                          </a:solidFill>
                          <a:latin typeface="Segoe UI"/>
                        </a:defRPr>
                      </a:pPr>
                      <a:r>
                        <a:t>74,1 KB</a:t>
                      </a:r>
                    </a:p>
                  </a:txBody>
                  <a:tcPr anchor="ctr">
                    <a:solidFill>
                      <a:srgbClr val="F1F5F9"/>
                    </a:solidFill>
                  </a:tcPr>
                </a:tc>
                <a:tc>
                  <a:txBody>
                    <a:bodyPr/>
                    <a:lstStyle/>
                    <a:p>
                      <a:pPr algn="ctr">
                        <a:defRPr sz="950" b="0">
                          <a:solidFill>
                            <a:srgbClr val="1E293B"/>
                          </a:solidFill>
                          <a:latin typeface="Segoe UI"/>
                        </a:defRPr>
                      </a:pPr>
                      <a:r>
                        <a:t>0,59 KB</a:t>
                      </a:r>
                    </a:p>
                  </a:txBody>
                  <a:tcPr anchor="ctr">
                    <a:solidFill>
                      <a:srgbClr val="F1F5F9"/>
                    </a:solidFill>
                  </a:tcPr>
                </a:tc>
                <a:tc>
                  <a:txBody>
                    <a:bodyPr/>
                    <a:lstStyle/>
                    <a:p>
                      <a:pPr algn="ctr">
                        <a:defRPr sz="950" b="0">
                          <a:solidFill>
                            <a:srgbClr val="1E293B"/>
                          </a:solidFill>
                          <a:latin typeface="Segoe UI"/>
                        </a:defRPr>
                      </a:pPr>
                      <a:r>
                        <a:t>126,5×</a:t>
                      </a:r>
                    </a:p>
                  </a:txBody>
                  <a:tcPr anchor="ctr">
                    <a:solidFill>
                      <a:srgbClr val="F1F5F9"/>
                    </a:solidFill>
                  </a:tcPr>
                </a:tc>
                <a:tc>
                  <a:txBody>
                    <a:bodyPr/>
                    <a:lstStyle/>
                    <a:p>
                      <a:pPr algn="ctr">
                        <a:defRPr sz="950" b="0">
                          <a:solidFill>
                            <a:srgbClr val="1E293B"/>
                          </a:solidFill>
                          <a:latin typeface="Segoe UI"/>
                        </a:defRPr>
                      </a:pPr>
                      <a:r>
                        <a:t>100% Match</a:t>
                      </a:r>
                    </a:p>
                  </a:txBody>
                  <a:tcPr anchor="ctr">
                    <a:solidFill>
                      <a:srgbClr val="F1F5F9"/>
                    </a:solidFill>
                  </a:tcPr>
                </a:tc>
              </a:tr>
              <a:tr h="419100">
                <a:tc>
                  <a:txBody>
                    <a:bodyPr/>
                    <a:lstStyle/>
                    <a:p>
                      <a:pPr algn="l">
                        <a:defRPr sz="950" b="1">
                          <a:solidFill>
                            <a:srgbClr val="1E293B"/>
                          </a:solidFill>
                          <a:latin typeface="Segoe UI"/>
                        </a:defRPr>
                      </a:pPr>
                      <a:r>
                        <a:t>Hemoglobin (147 aa)</a:t>
                      </a:r>
                    </a:p>
                  </a:txBody>
                  <a:tcPr anchor="ctr">
                    <a:solidFill>
                      <a:srgbClr val="FFFFFF"/>
                    </a:solidFill>
                  </a:tcPr>
                </a:tc>
                <a:tc>
                  <a:txBody>
                    <a:bodyPr/>
                    <a:lstStyle/>
                    <a:p>
                      <a:pPr algn="ctr">
                        <a:defRPr sz="950" b="0">
                          <a:solidFill>
                            <a:srgbClr val="1E293B"/>
                          </a:solidFill>
                          <a:latin typeface="Segoe UI"/>
                        </a:defRPr>
                      </a:pPr>
                      <a:r>
                        <a:t>248,6 KB</a:t>
                      </a:r>
                    </a:p>
                  </a:txBody>
                  <a:tcPr anchor="ctr">
                    <a:solidFill>
                      <a:srgbClr val="FFFFFF"/>
                    </a:solidFill>
                  </a:tcPr>
                </a:tc>
                <a:tc>
                  <a:txBody>
                    <a:bodyPr/>
                    <a:lstStyle/>
                    <a:p>
                      <a:pPr algn="ctr">
                        <a:defRPr sz="950" b="0">
                          <a:solidFill>
                            <a:srgbClr val="1E293B"/>
                          </a:solidFill>
                          <a:latin typeface="Segoe UI"/>
                        </a:defRPr>
                      </a:pPr>
                      <a:r>
                        <a:t>1,12 KB</a:t>
                      </a:r>
                    </a:p>
                  </a:txBody>
                  <a:tcPr anchor="ctr">
                    <a:solidFill>
                      <a:srgbClr val="FFFFFF"/>
                    </a:solidFill>
                  </a:tcPr>
                </a:tc>
                <a:tc>
                  <a:txBody>
                    <a:bodyPr/>
                    <a:lstStyle/>
                    <a:p>
                      <a:pPr algn="ctr">
                        <a:defRPr sz="950" b="0">
                          <a:solidFill>
                            <a:srgbClr val="1E293B"/>
                          </a:solidFill>
                          <a:latin typeface="Segoe UI"/>
                        </a:defRPr>
                      </a:pPr>
                      <a:r>
                        <a:t>222,5×</a:t>
                      </a:r>
                    </a:p>
                  </a:txBody>
                  <a:tcPr anchor="ctr">
                    <a:solidFill>
                      <a:srgbClr val="FFFFFF"/>
                    </a:solidFill>
                  </a:tcPr>
                </a:tc>
                <a:tc>
                  <a:txBody>
                    <a:bodyPr/>
                    <a:lstStyle/>
                    <a:p>
                      <a:pPr algn="ctr">
                        <a:defRPr sz="950" b="0">
                          <a:solidFill>
                            <a:srgbClr val="1E293B"/>
                          </a:solidFill>
                          <a:latin typeface="Segoe UI"/>
                        </a:defRPr>
                      </a:pPr>
                      <a:r>
                        <a:t>100% Match</a:t>
                      </a:r>
                    </a:p>
                  </a:txBody>
                  <a:tcPr anchor="ctr">
                    <a:solidFill>
                      <a:srgbClr val="FFFFFF"/>
                    </a:solidFill>
                  </a:tcPr>
                </a:tc>
              </a:tr>
              <a:tr h="419100">
                <a:tc>
                  <a:txBody>
                    <a:bodyPr/>
                    <a:lstStyle/>
                    <a:p>
                      <a:pPr algn="l">
                        <a:defRPr sz="950" b="1">
                          <a:solidFill>
                            <a:srgbClr val="1E293B"/>
                          </a:solidFill>
                          <a:latin typeface="Segoe UI"/>
                        </a:defRPr>
                      </a:pPr>
                      <a:r>
                        <a:t>RV12 (421 aa)</a:t>
                      </a:r>
                    </a:p>
                  </a:txBody>
                  <a:tcPr anchor="ctr">
                    <a:solidFill>
                      <a:srgbClr val="F1F5F9"/>
                    </a:solidFill>
                  </a:tcPr>
                </a:tc>
                <a:tc>
                  <a:txBody>
                    <a:bodyPr/>
                    <a:lstStyle/>
                    <a:p>
                      <a:pPr algn="ctr">
                        <a:defRPr sz="950" b="0">
                          <a:solidFill>
                            <a:srgbClr val="1E293B"/>
                          </a:solidFill>
                          <a:latin typeface="Segoe UI"/>
                        </a:defRPr>
                      </a:pPr>
                      <a:r>
                        <a:t>2.395,3 KB</a:t>
                      </a:r>
                    </a:p>
                  </a:txBody>
                  <a:tcPr anchor="ctr">
                    <a:solidFill>
                      <a:srgbClr val="F1F5F9"/>
                    </a:solidFill>
                  </a:tcPr>
                </a:tc>
                <a:tc>
                  <a:txBody>
                    <a:bodyPr/>
                    <a:lstStyle/>
                    <a:p>
                      <a:pPr algn="ctr">
                        <a:defRPr sz="950" b="0">
                          <a:solidFill>
                            <a:srgbClr val="1E293B"/>
                          </a:solidFill>
                          <a:latin typeface="Segoe UI"/>
                        </a:defRPr>
                      </a:pPr>
                      <a:r>
                        <a:t>3,30 KB</a:t>
                      </a:r>
                    </a:p>
                  </a:txBody>
                  <a:tcPr anchor="ctr">
                    <a:solidFill>
                      <a:srgbClr val="F1F5F9"/>
                    </a:solidFill>
                  </a:tcPr>
                </a:tc>
                <a:tc>
                  <a:txBody>
                    <a:bodyPr/>
                    <a:lstStyle/>
                    <a:p>
                      <a:pPr algn="ctr">
                        <a:defRPr sz="950" b="0">
                          <a:solidFill>
                            <a:srgbClr val="1E293B"/>
                          </a:solidFill>
                          <a:latin typeface="Segoe UI"/>
                        </a:defRPr>
                      </a:pPr>
                      <a:r>
                        <a:t>726,5×</a:t>
                      </a:r>
                    </a:p>
                  </a:txBody>
                  <a:tcPr anchor="ctr">
                    <a:solidFill>
                      <a:srgbClr val="F1F5F9"/>
                    </a:solidFill>
                  </a:tcPr>
                </a:tc>
                <a:tc>
                  <a:txBody>
                    <a:bodyPr/>
                    <a:lstStyle/>
                    <a:p>
                      <a:pPr algn="ctr">
                        <a:defRPr sz="950" b="0">
                          <a:solidFill>
                            <a:srgbClr val="1E293B"/>
                          </a:solidFill>
                          <a:latin typeface="Segoe UI"/>
                        </a:defRPr>
                      </a:pPr>
                      <a:r>
                        <a:t>100% Match</a:t>
                      </a:r>
                    </a:p>
                  </a:txBody>
                  <a:tcPr anchor="ctr">
                    <a:solidFill>
                      <a:srgbClr val="F1F5F9"/>
                    </a:solidFill>
                  </a:tcPr>
                </a:tc>
              </a:tr>
              <a:tr h="419100">
                <a:tc>
                  <a:txBody>
                    <a:bodyPr/>
                    <a:lstStyle/>
                    <a:p>
                      <a:pPr algn="l">
                        <a:defRPr sz="950" b="1">
                          <a:solidFill>
                            <a:srgbClr val="1E293B"/>
                          </a:solidFill>
                          <a:latin typeface="Segoe UI"/>
                        </a:defRPr>
                      </a:pPr>
                      <a:r>
                        <a:t>Long Seq (897 aa)</a:t>
                      </a:r>
                    </a:p>
                  </a:txBody>
                  <a:tcPr anchor="ctr">
                    <a:solidFill>
                      <a:srgbClr val="D1FAE5"/>
                    </a:solidFill>
                  </a:tcPr>
                </a:tc>
                <a:tc>
                  <a:txBody>
                    <a:bodyPr/>
                    <a:lstStyle/>
                    <a:p>
                      <a:pPr algn="ctr">
                        <a:defRPr sz="950" b="1">
                          <a:solidFill>
                            <a:srgbClr val="059669"/>
                          </a:solidFill>
                          <a:latin typeface="Segoe UI"/>
                        </a:defRPr>
                      </a:pPr>
                      <a:r>
                        <a:t>9.495,7 KB</a:t>
                      </a:r>
                    </a:p>
                  </a:txBody>
                  <a:tcPr anchor="ctr">
                    <a:solidFill>
                      <a:srgbClr val="D1FAE5"/>
                    </a:solidFill>
                  </a:tcPr>
                </a:tc>
                <a:tc>
                  <a:txBody>
                    <a:bodyPr/>
                    <a:lstStyle/>
                    <a:p>
                      <a:pPr algn="ctr">
                        <a:defRPr sz="950" b="1">
                          <a:solidFill>
                            <a:srgbClr val="059669"/>
                          </a:solidFill>
                          <a:latin typeface="Segoe UI"/>
                        </a:defRPr>
                      </a:pPr>
                      <a:r>
                        <a:t>7,02 KB</a:t>
                      </a:r>
                    </a:p>
                  </a:txBody>
                  <a:tcPr anchor="ctr">
                    <a:solidFill>
                      <a:srgbClr val="D1FAE5"/>
                    </a:solidFill>
                  </a:tcPr>
                </a:tc>
                <a:tc>
                  <a:txBody>
                    <a:bodyPr/>
                    <a:lstStyle/>
                    <a:p>
                      <a:pPr algn="ctr">
                        <a:defRPr sz="950" b="1">
                          <a:solidFill>
                            <a:srgbClr val="059669"/>
                          </a:solidFill>
                          <a:latin typeface="Segoe UI"/>
                        </a:defRPr>
                      </a:pPr>
                      <a:r>
                        <a:t>1.353,5×</a:t>
                      </a:r>
                    </a:p>
                  </a:txBody>
                  <a:tcPr anchor="ctr">
                    <a:solidFill>
                      <a:srgbClr val="D1FAE5"/>
                    </a:solidFill>
                  </a:tcPr>
                </a:tc>
                <a:tc>
                  <a:txBody>
                    <a:bodyPr/>
                    <a:lstStyle/>
                    <a:p>
                      <a:pPr algn="ctr">
                        <a:defRPr sz="950" b="1">
                          <a:solidFill>
                            <a:srgbClr val="059669"/>
                          </a:solidFill>
                          <a:latin typeface="Segoe UI"/>
                        </a:defRPr>
                      </a:pPr>
                      <a:r>
                        <a:t>100% Match</a:t>
                      </a:r>
                    </a:p>
                  </a:txBody>
                  <a:tcPr anchor="ctr">
                    <a:solidFill>
                      <a:srgbClr val="D1FAE5"/>
                    </a:solidFill>
                  </a:tcPr>
                </a:tc>
              </a:tr>
            </a:tbl>
          </a:graphicData>
        </a:graphic>
      </p:graphicFrame>
      <p:sp>
        <p:nvSpPr>
          <p:cNvPr id="14" name="TextBox 13"/>
          <p:cNvSpPr txBox="1"/>
          <p:nvPr/>
        </p:nvSpPr>
        <p:spPr>
          <a:xfrm>
            <a:off x="6894576" y="4370832"/>
            <a:ext cx="4736592" cy="1828800"/>
          </a:xfrm>
          <a:prstGeom prst="rect">
            <a:avLst/>
          </a:prstGeom>
          <a:noFill/>
        </p:spPr>
        <p:txBody>
          <a:bodyPr wrap="square" lIns="0" rIns="0" tIns="0" bIns="0">
            <a:spAutoFit/>
          </a:bodyPr>
          <a:lstStyle/>
          <a:p>
            <a:pPr>
              <a:spcAft>
                <a:spcPts val="800"/>
              </a:spcAft>
            </a:pPr>
            <a:r>
              <a:rPr sz="1100" b="1">
                <a:solidFill>
                  <a:srgbClr val="0284C7"/>
                </a:solidFill>
                <a:latin typeface="Segoe UI"/>
              </a:rPr>
              <a:t>• Kiểm chứng Thực nghiệm Khớp Lý thuyết:</a:t>
            </a:r>
            <a:r>
              <a:rPr sz="1100">
                <a:solidFill>
                  <a:srgbClr val="1E293B"/>
                </a:solidFill>
                <a:latin typeface="Segoe UI"/>
              </a:rPr>
              <a:t>
Tỷ lệ nén bộ nhớ tăng tuyến tính theo độ dài chuỗi: từ 129,5× (ở 85 aa) vọt lên 1.353,5× (ở 897 aa), chứng minh hoàn hảo công thức O(N²)/O(N) = O(N).</a:t>
            </a:r>
          </a:p>
          <a:p>
            <a:pPr>
              <a:spcAft>
                <a:spcPts val="800"/>
              </a:spcAft>
            </a:pPr>
            <a:r>
              <a:rPr sz="1100" b="1">
                <a:solidFill>
                  <a:srgbClr val="059669"/>
                </a:solidFill>
                <a:latin typeface="Segoe UI"/>
              </a:rPr>
              <a:t>• Bảo toàn Điểm số Tối ưu 100%:</a:t>
            </a:r>
            <a:r>
              <a:rPr sz="1100">
                <a:solidFill>
                  <a:srgbClr val="1E293B"/>
                </a:solidFill>
                <a:latin typeface="Segoe UI"/>
              </a:rPr>
              <a:t>
Điểm căn chỉnh của Myers-Miller và Gotoh NW bằng nhau tuyệt đối trên tất cả các cặp kiểm thử (ví dụ: 1aab_ vs 1j46_A đều đạt đúng 267 điểm).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4 • THỰC NGHIỆM BALIBASE 3.0 &amp; ĐỐI SÁNH</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Thực nghiệm 2: Tốc độ Tăng tốc Song song Đa luồng OpenMP (Speedup)</a:t>
            </a:r>
          </a:p>
          <a:p>
            <a:pPr>
              <a:defRPr sz="1150" i="1">
                <a:solidFill>
                  <a:srgbClr val="BAE6FD"/>
                </a:solidFill>
                <a:latin typeface="Segoe UI"/>
              </a:defRPr>
            </a:pPr>
            <a:r>
              <a:t>Đạt Speedup 1,73× trên họ gen lớn RV20 (BB20001) và 1,61× trên bộ 40 chuỗi (780 cặp), bám sát mô hình Amdahl</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13 / 18</a:t>
            </a:r>
          </a:p>
        </p:txBody>
      </p:sp>
      <p:sp>
        <p:nvSpPr>
          <p:cNvPr id="9" name="Rounded Rectangle 8"/>
          <p:cNvSpPr/>
          <p:nvPr/>
        </p:nvSpPr>
        <p:spPr>
          <a:xfrm>
            <a:off x="411480" y="1261872"/>
            <a:ext cx="617220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2_speedup_scaling.png"/>
          <p:cNvPicPr>
            <a:picLocks noChangeAspect="1"/>
          </p:cNvPicPr>
          <p:nvPr/>
        </p:nvPicPr>
        <p:blipFill>
          <a:blip r:embed="rId2"/>
          <a:stretch>
            <a:fillRect/>
          </a:stretch>
        </p:blipFill>
        <p:spPr>
          <a:xfrm>
            <a:off x="484632" y="1956116"/>
            <a:ext cx="6025896" cy="3686430"/>
          </a:xfrm>
          <a:prstGeom prst="rect">
            <a:avLst/>
          </a:prstGeom>
        </p:spPr>
      </p:pic>
      <p:sp>
        <p:nvSpPr>
          <p:cNvPr id="11" name="Rounded Rectangle 10"/>
          <p:cNvSpPr/>
          <p:nvPr/>
        </p:nvSpPr>
        <p:spPr>
          <a:xfrm>
            <a:off x="6748272" y="1261872"/>
            <a:ext cx="502920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48272" y="1261872"/>
            <a:ext cx="5029200"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Phân tích Thực nghiệm Đa luồng (1, 2, 4, 8 Threads)</a:t>
            </a:r>
          </a:p>
        </p:txBody>
      </p:sp>
      <p:graphicFrame>
        <p:nvGraphicFramePr>
          <p:cNvPr id="13" name="Table 12"/>
          <p:cNvGraphicFramePr>
            <a:graphicFrameLocks noGrp="1"/>
          </p:cNvGraphicFramePr>
          <p:nvPr/>
        </p:nvGraphicFramePr>
        <p:xfrm>
          <a:off x="6894576" y="1773936"/>
          <a:ext cx="4736592" cy="2423160"/>
        </p:xfrm>
        <a:graphic>
          <a:graphicData uri="http://schemas.openxmlformats.org/drawingml/2006/table">
            <a:tbl>
              <a:tblPr firstRow="1" bandRow="1">
                <a:tableStyleId>{5C22544A-7EE6-4342-B048-85BDC9FD1C3A}</a:tableStyleId>
              </a:tblPr>
              <a:tblGrid>
                <a:gridCol w="1225296"/>
                <a:gridCol w="731520"/>
                <a:gridCol w="731520"/>
                <a:gridCol w="731520"/>
                <a:gridCol w="731520"/>
                <a:gridCol w="585216"/>
              </a:tblGrid>
              <a:tr h="403860">
                <a:tc>
                  <a:txBody>
                    <a:bodyPr/>
                    <a:lstStyle/>
                    <a:p>
                      <a:pPr algn="l">
                        <a:defRPr sz="919" b="1">
                          <a:solidFill>
                            <a:srgbClr val="FFFFFF"/>
                          </a:solidFill>
                          <a:latin typeface="Segoe UI"/>
                        </a:defRPr>
                      </a:pPr>
                      <a:r>
                        <a:t>Bộ dữ liệu</a:t>
                      </a:r>
                    </a:p>
                  </a:txBody>
                  <a:tcPr anchor="ctr">
                    <a:solidFill>
                      <a:srgbClr val="0F172A"/>
                    </a:solidFill>
                  </a:tcPr>
                </a:tc>
                <a:tc>
                  <a:txBody>
                    <a:bodyPr/>
                    <a:lstStyle/>
                    <a:p>
                      <a:pPr algn="ctr">
                        <a:defRPr sz="919" b="1">
                          <a:solidFill>
                            <a:srgbClr val="FFFFFF"/>
                          </a:solidFill>
                          <a:latin typeface="Segoe UI"/>
                        </a:defRPr>
                      </a:pPr>
                      <a:r>
                        <a:t>1 Thread</a:t>
                      </a:r>
                    </a:p>
                  </a:txBody>
                  <a:tcPr anchor="ctr">
                    <a:solidFill>
                      <a:srgbClr val="0F172A"/>
                    </a:solidFill>
                  </a:tcPr>
                </a:tc>
                <a:tc>
                  <a:txBody>
                    <a:bodyPr/>
                    <a:lstStyle/>
                    <a:p>
                      <a:pPr algn="ctr">
                        <a:defRPr sz="919" b="1">
                          <a:solidFill>
                            <a:srgbClr val="FFFFFF"/>
                          </a:solidFill>
                          <a:latin typeface="Segoe UI"/>
                        </a:defRPr>
                      </a:pPr>
                      <a:r>
                        <a:t>2 Threads</a:t>
                      </a:r>
                    </a:p>
                  </a:txBody>
                  <a:tcPr anchor="ctr">
                    <a:solidFill>
                      <a:srgbClr val="0F172A"/>
                    </a:solidFill>
                  </a:tcPr>
                </a:tc>
                <a:tc>
                  <a:txBody>
                    <a:bodyPr/>
                    <a:lstStyle/>
                    <a:p>
                      <a:pPr algn="ctr">
                        <a:defRPr sz="919" b="1">
                          <a:solidFill>
                            <a:srgbClr val="FFFFFF"/>
                          </a:solidFill>
                          <a:latin typeface="Segoe UI"/>
                        </a:defRPr>
                      </a:pPr>
                      <a:r>
                        <a:t>4 Threads</a:t>
                      </a:r>
                    </a:p>
                  </a:txBody>
                  <a:tcPr anchor="ctr">
                    <a:solidFill>
                      <a:srgbClr val="0F172A"/>
                    </a:solidFill>
                  </a:tcPr>
                </a:tc>
                <a:tc>
                  <a:txBody>
                    <a:bodyPr/>
                    <a:lstStyle/>
                    <a:p>
                      <a:pPr algn="ctr">
                        <a:defRPr sz="919" b="1">
                          <a:solidFill>
                            <a:srgbClr val="FFFFFF"/>
                          </a:solidFill>
                          <a:latin typeface="Segoe UI"/>
                        </a:defRPr>
                      </a:pPr>
                      <a:r>
                        <a:t>8 Threads</a:t>
                      </a:r>
                    </a:p>
                  </a:txBody>
                  <a:tcPr anchor="ctr">
                    <a:solidFill>
                      <a:srgbClr val="0F172A"/>
                    </a:solidFill>
                  </a:tcPr>
                </a:tc>
                <a:tc>
                  <a:txBody>
                    <a:bodyPr/>
                    <a:lstStyle/>
                    <a:p>
                      <a:pPr algn="ctr">
                        <a:defRPr sz="919" b="1">
                          <a:solidFill>
                            <a:srgbClr val="FFFFFF"/>
                          </a:solidFill>
                          <a:latin typeface="Segoe UI"/>
                        </a:defRPr>
                      </a:pPr>
                      <a:r>
                        <a:t>Max S(p)</a:t>
                      </a:r>
                    </a:p>
                  </a:txBody>
                  <a:tcPr anchor="ctr">
                    <a:solidFill>
                      <a:srgbClr val="0F172A"/>
                    </a:solidFill>
                  </a:tcPr>
                </a:tc>
              </a:tr>
              <a:tr h="403860">
                <a:tc>
                  <a:txBody>
                    <a:bodyPr/>
                    <a:lstStyle/>
                    <a:p>
                      <a:pPr algn="l">
                        <a:defRPr sz="919" b="1">
                          <a:solidFill>
                            <a:srgbClr val="1E293B"/>
                          </a:solidFill>
                          <a:latin typeface="Segoe UI"/>
                        </a:defRPr>
                      </a:pPr>
                      <a:r>
                        <a:t>BB20001 (RV20)</a:t>
                      </a:r>
                    </a:p>
                  </a:txBody>
                  <a:tcPr anchor="ctr">
                    <a:solidFill>
                      <a:srgbClr val="FFFFFF"/>
                    </a:solidFill>
                  </a:tcPr>
                </a:tc>
                <a:tc>
                  <a:txBody>
                    <a:bodyPr/>
                    <a:lstStyle/>
                    <a:p>
                      <a:pPr algn="ctr">
                        <a:defRPr sz="919" b="0">
                          <a:solidFill>
                            <a:srgbClr val="1E293B"/>
                          </a:solidFill>
                          <a:latin typeface="Segoe UI"/>
                        </a:defRPr>
                      </a:pPr>
                      <a:r>
                        <a:t>495,8 ms</a:t>
                      </a:r>
                    </a:p>
                  </a:txBody>
                  <a:tcPr anchor="ctr">
                    <a:solidFill>
                      <a:srgbClr val="FFFFFF"/>
                    </a:solidFill>
                  </a:tcPr>
                </a:tc>
                <a:tc>
                  <a:txBody>
                    <a:bodyPr/>
                    <a:lstStyle/>
                    <a:p>
                      <a:pPr algn="ctr">
                        <a:defRPr sz="919" b="0">
                          <a:solidFill>
                            <a:srgbClr val="1E293B"/>
                          </a:solidFill>
                          <a:latin typeface="Segoe UI"/>
                        </a:defRPr>
                      </a:pPr>
                      <a:r>
                        <a:t>307,7 ms</a:t>
                      </a:r>
                    </a:p>
                  </a:txBody>
                  <a:tcPr anchor="ctr">
                    <a:solidFill>
                      <a:srgbClr val="FFFFFF"/>
                    </a:solidFill>
                  </a:tcPr>
                </a:tc>
                <a:tc>
                  <a:txBody>
                    <a:bodyPr/>
                    <a:lstStyle/>
                    <a:p>
                      <a:pPr algn="ctr">
                        <a:defRPr sz="919" b="0">
                          <a:solidFill>
                            <a:srgbClr val="1E293B"/>
                          </a:solidFill>
                          <a:latin typeface="Segoe UI"/>
                        </a:defRPr>
                      </a:pPr>
                      <a:r>
                        <a:t>291,0 ms</a:t>
                      </a:r>
                    </a:p>
                  </a:txBody>
                  <a:tcPr anchor="ctr">
                    <a:solidFill>
                      <a:srgbClr val="FFFFFF"/>
                    </a:solidFill>
                  </a:tcPr>
                </a:tc>
                <a:tc>
                  <a:txBody>
                    <a:bodyPr/>
                    <a:lstStyle/>
                    <a:p>
                      <a:pPr algn="ctr">
                        <a:defRPr sz="919" b="0">
                          <a:solidFill>
                            <a:srgbClr val="1E293B"/>
                          </a:solidFill>
                          <a:latin typeface="Segoe UI"/>
                        </a:defRPr>
                      </a:pPr>
                      <a:r>
                        <a:t>287,0 ms</a:t>
                      </a:r>
                    </a:p>
                  </a:txBody>
                  <a:tcPr anchor="ctr">
                    <a:solidFill>
                      <a:srgbClr val="FFFFFF"/>
                    </a:solidFill>
                  </a:tcPr>
                </a:tc>
                <a:tc>
                  <a:txBody>
                    <a:bodyPr/>
                    <a:lstStyle/>
                    <a:p>
                      <a:pPr algn="ctr">
                        <a:defRPr sz="919" b="0">
                          <a:solidFill>
                            <a:srgbClr val="1E293B"/>
                          </a:solidFill>
                          <a:latin typeface="Segoe UI"/>
                        </a:defRPr>
                      </a:pPr>
                      <a:r>
                        <a:t>1,73×</a:t>
                      </a:r>
                    </a:p>
                  </a:txBody>
                  <a:tcPr anchor="ctr">
                    <a:solidFill>
                      <a:srgbClr val="FFFFFF"/>
                    </a:solidFill>
                  </a:tcPr>
                </a:tc>
              </a:tr>
              <a:tr h="403860">
                <a:tc>
                  <a:txBody>
                    <a:bodyPr/>
                    <a:lstStyle/>
                    <a:p>
                      <a:pPr algn="l">
                        <a:defRPr sz="919" b="1">
                          <a:solidFill>
                            <a:srgbClr val="1E293B"/>
                          </a:solidFill>
                          <a:latin typeface="Segoe UI"/>
                        </a:defRPr>
                      </a:pPr>
                      <a:r>
                        <a:t>Bench 40 seqs</a:t>
                      </a:r>
                    </a:p>
                  </a:txBody>
                  <a:tcPr anchor="ctr">
                    <a:solidFill>
                      <a:srgbClr val="F1F5F9"/>
                    </a:solidFill>
                  </a:tcPr>
                </a:tc>
                <a:tc>
                  <a:txBody>
                    <a:bodyPr/>
                    <a:lstStyle/>
                    <a:p>
                      <a:pPr algn="ctr">
                        <a:defRPr sz="919" b="0">
                          <a:solidFill>
                            <a:srgbClr val="1E293B"/>
                          </a:solidFill>
                          <a:latin typeface="Segoe UI"/>
                        </a:defRPr>
                      </a:pPr>
                      <a:r>
                        <a:t>5.423 ms</a:t>
                      </a:r>
                    </a:p>
                  </a:txBody>
                  <a:tcPr anchor="ctr">
                    <a:solidFill>
                      <a:srgbClr val="F1F5F9"/>
                    </a:solidFill>
                  </a:tcPr>
                </a:tc>
                <a:tc>
                  <a:txBody>
                    <a:bodyPr/>
                    <a:lstStyle/>
                    <a:p>
                      <a:pPr algn="ctr">
                        <a:defRPr sz="919" b="0">
                          <a:solidFill>
                            <a:srgbClr val="1E293B"/>
                          </a:solidFill>
                          <a:latin typeface="Segoe UI"/>
                        </a:defRPr>
                      </a:pPr>
                      <a:r>
                        <a:t>5.093 ms</a:t>
                      </a:r>
                    </a:p>
                  </a:txBody>
                  <a:tcPr anchor="ctr">
                    <a:solidFill>
                      <a:srgbClr val="F1F5F9"/>
                    </a:solidFill>
                  </a:tcPr>
                </a:tc>
                <a:tc>
                  <a:txBody>
                    <a:bodyPr/>
                    <a:lstStyle/>
                    <a:p>
                      <a:pPr algn="ctr">
                        <a:defRPr sz="919" b="0">
                          <a:solidFill>
                            <a:srgbClr val="1E293B"/>
                          </a:solidFill>
                          <a:latin typeface="Segoe UI"/>
                        </a:defRPr>
                      </a:pPr>
                      <a:r>
                        <a:t>3.660 ms</a:t>
                      </a:r>
                    </a:p>
                  </a:txBody>
                  <a:tcPr anchor="ctr">
                    <a:solidFill>
                      <a:srgbClr val="F1F5F9"/>
                    </a:solidFill>
                  </a:tcPr>
                </a:tc>
                <a:tc>
                  <a:txBody>
                    <a:bodyPr/>
                    <a:lstStyle/>
                    <a:p>
                      <a:pPr algn="ctr">
                        <a:defRPr sz="919" b="0">
                          <a:solidFill>
                            <a:srgbClr val="1E293B"/>
                          </a:solidFill>
                          <a:latin typeface="Segoe UI"/>
                        </a:defRPr>
                      </a:pPr>
                      <a:r>
                        <a:t>3.360 ms</a:t>
                      </a:r>
                    </a:p>
                  </a:txBody>
                  <a:tcPr anchor="ctr">
                    <a:solidFill>
                      <a:srgbClr val="F1F5F9"/>
                    </a:solidFill>
                  </a:tcPr>
                </a:tc>
                <a:tc>
                  <a:txBody>
                    <a:bodyPr/>
                    <a:lstStyle/>
                    <a:p>
                      <a:pPr algn="ctr">
                        <a:defRPr sz="919" b="0">
                          <a:solidFill>
                            <a:srgbClr val="1E293B"/>
                          </a:solidFill>
                          <a:latin typeface="Segoe UI"/>
                        </a:defRPr>
                      </a:pPr>
                      <a:r>
                        <a:t>1,61×</a:t>
                      </a:r>
                    </a:p>
                  </a:txBody>
                  <a:tcPr anchor="ctr">
                    <a:solidFill>
                      <a:srgbClr val="F1F5F9"/>
                    </a:solidFill>
                  </a:tcPr>
                </a:tc>
              </a:tr>
              <a:tr h="403860">
                <a:tc>
                  <a:txBody>
                    <a:bodyPr/>
                    <a:lstStyle/>
                    <a:p>
                      <a:pPr algn="l">
                        <a:defRPr sz="919" b="1">
                          <a:solidFill>
                            <a:srgbClr val="1E293B"/>
                          </a:solidFill>
                          <a:latin typeface="Segoe UI"/>
                        </a:defRPr>
                      </a:pPr>
                      <a:r>
                        <a:t>BB12001 (RV12)</a:t>
                      </a:r>
                    </a:p>
                  </a:txBody>
                  <a:tcPr anchor="ctr">
                    <a:solidFill>
                      <a:srgbClr val="FFFFFF"/>
                    </a:solidFill>
                  </a:tcPr>
                </a:tc>
                <a:tc>
                  <a:txBody>
                    <a:bodyPr/>
                    <a:lstStyle/>
                    <a:p>
                      <a:pPr algn="ctr">
                        <a:defRPr sz="919" b="0">
                          <a:solidFill>
                            <a:srgbClr val="1E293B"/>
                          </a:solidFill>
                          <a:latin typeface="Segoe UI"/>
                        </a:defRPr>
                      </a:pPr>
                      <a:r>
                        <a:t>612,9 ms</a:t>
                      </a:r>
                    </a:p>
                  </a:txBody>
                  <a:tcPr anchor="ctr">
                    <a:solidFill>
                      <a:srgbClr val="FFFFFF"/>
                    </a:solidFill>
                  </a:tcPr>
                </a:tc>
                <a:tc>
                  <a:txBody>
                    <a:bodyPr/>
                    <a:lstStyle/>
                    <a:p>
                      <a:pPr algn="ctr">
                        <a:defRPr sz="919" b="0">
                          <a:solidFill>
                            <a:srgbClr val="1E293B"/>
                          </a:solidFill>
                          <a:latin typeface="Segoe UI"/>
                        </a:defRPr>
                      </a:pPr>
                      <a:r>
                        <a:t>485,1 ms</a:t>
                      </a:r>
                    </a:p>
                  </a:txBody>
                  <a:tcPr anchor="ctr">
                    <a:solidFill>
                      <a:srgbClr val="FFFFFF"/>
                    </a:solidFill>
                  </a:tcPr>
                </a:tc>
                <a:tc>
                  <a:txBody>
                    <a:bodyPr/>
                    <a:lstStyle/>
                    <a:p>
                      <a:pPr algn="ctr">
                        <a:defRPr sz="919" b="0">
                          <a:solidFill>
                            <a:srgbClr val="1E293B"/>
                          </a:solidFill>
                          <a:latin typeface="Segoe UI"/>
                        </a:defRPr>
                      </a:pPr>
                      <a:r>
                        <a:t>540,5 ms</a:t>
                      </a:r>
                    </a:p>
                  </a:txBody>
                  <a:tcPr anchor="ctr">
                    <a:solidFill>
                      <a:srgbClr val="FFFFFF"/>
                    </a:solidFill>
                  </a:tcPr>
                </a:tc>
                <a:tc>
                  <a:txBody>
                    <a:bodyPr/>
                    <a:lstStyle/>
                    <a:p>
                      <a:pPr algn="ctr">
                        <a:defRPr sz="919" b="0">
                          <a:solidFill>
                            <a:srgbClr val="1E293B"/>
                          </a:solidFill>
                          <a:latin typeface="Segoe UI"/>
                        </a:defRPr>
                      </a:pPr>
                      <a:r>
                        <a:t>874,4 ms</a:t>
                      </a:r>
                    </a:p>
                  </a:txBody>
                  <a:tcPr anchor="ctr">
                    <a:solidFill>
                      <a:srgbClr val="FFFFFF"/>
                    </a:solidFill>
                  </a:tcPr>
                </a:tc>
                <a:tc>
                  <a:txBody>
                    <a:bodyPr/>
                    <a:lstStyle/>
                    <a:p>
                      <a:pPr algn="ctr">
                        <a:defRPr sz="919" b="0">
                          <a:solidFill>
                            <a:srgbClr val="1E293B"/>
                          </a:solidFill>
                          <a:latin typeface="Segoe UI"/>
                        </a:defRPr>
                      </a:pPr>
                      <a:r>
                        <a:t>1,26×</a:t>
                      </a:r>
                    </a:p>
                  </a:txBody>
                  <a:tcPr anchor="ctr">
                    <a:solidFill>
                      <a:srgbClr val="FFFFFF"/>
                    </a:solidFill>
                  </a:tcPr>
                </a:tc>
              </a:tr>
              <a:tr h="403860">
                <a:tc>
                  <a:txBody>
                    <a:bodyPr/>
                    <a:lstStyle/>
                    <a:p>
                      <a:pPr algn="l">
                        <a:defRPr sz="919" b="1">
                          <a:solidFill>
                            <a:srgbClr val="1E293B"/>
                          </a:solidFill>
                          <a:latin typeface="Segoe UI"/>
                        </a:defRPr>
                      </a:pPr>
                      <a:r>
                        <a:t>BB11002 (RV11)</a:t>
                      </a:r>
                    </a:p>
                  </a:txBody>
                  <a:tcPr anchor="ctr">
                    <a:solidFill>
                      <a:srgbClr val="F1F5F9"/>
                    </a:solidFill>
                  </a:tcPr>
                </a:tc>
                <a:tc>
                  <a:txBody>
                    <a:bodyPr/>
                    <a:lstStyle/>
                    <a:p>
                      <a:pPr algn="ctr">
                        <a:defRPr sz="919" b="0">
                          <a:solidFill>
                            <a:srgbClr val="1E293B"/>
                          </a:solidFill>
                          <a:latin typeface="Segoe UI"/>
                        </a:defRPr>
                      </a:pPr>
                      <a:r>
                        <a:t>23,2 ms</a:t>
                      </a:r>
                    </a:p>
                  </a:txBody>
                  <a:tcPr anchor="ctr">
                    <a:solidFill>
                      <a:srgbClr val="F1F5F9"/>
                    </a:solidFill>
                  </a:tcPr>
                </a:tc>
                <a:tc>
                  <a:txBody>
                    <a:bodyPr/>
                    <a:lstStyle/>
                    <a:p>
                      <a:pPr algn="ctr">
                        <a:defRPr sz="919" b="0">
                          <a:solidFill>
                            <a:srgbClr val="1E293B"/>
                          </a:solidFill>
                          <a:latin typeface="Segoe UI"/>
                        </a:defRPr>
                      </a:pPr>
                      <a:r>
                        <a:t>18,9 ms</a:t>
                      </a:r>
                    </a:p>
                  </a:txBody>
                  <a:tcPr anchor="ctr">
                    <a:solidFill>
                      <a:srgbClr val="F1F5F9"/>
                    </a:solidFill>
                  </a:tcPr>
                </a:tc>
                <a:tc>
                  <a:txBody>
                    <a:bodyPr/>
                    <a:lstStyle/>
                    <a:p>
                      <a:pPr algn="ctr">
                        <a:defRPr sz="919" b="0">
                          <a:solidFill>
                            <a:srgbClr val="1E293B"/>
                          </a:solidFill>
                          <a:latin typeface="Segoe UI"/>
                        </a:defRPr>
                      </a:pPr>
                      <a:r>
                        <a:t>18,7 ms</a:t>
                      </a:r>
                    </a:p>
                  </a:txBody>
                  <a:tcPr anchor="ctr">
                    <a:solidFill>
                      <a:srgbClr val="F1F5F9"/>
                    </a:solidFill>
                  </a:tcPr>
                </a:tc>
                <a:tc>
                  <a:txBody>
                    <a:bodyPr/>
                    <a:lstStyle/>
                    <a:p>
                      <a:pPr algn="ctr">
                        <a:defRPr sz="919" b="0">
                          <a:solidFill>
                            <a:srgbClr val="1E293B"/>
                          </a:solidFill>
                          <a:latin typeface="Segoe UI"/>
                        </a:defRPr>
                      </a:pPr>
                      <a:r>
                        <a:t>19,1 ms</a:t>
                      </a:r>
                    </a:p>
                  </a:txBody>
                  <a:tcPr anchor="ctr">
                    <a:solidFill>
                      <a:srgbClr val="F1F5F9"/>
                    </a:solidFill>
                  </a:tcPr>
                </a:tc>
                <a:tc>
                  <a:txBody>
                    <a:bodyPr/>
                    <a:lstStyle/>
                    <a:p>
                      <a:pPr algn="ctr">
                        <a:defRPr sz="919" b="0">
                          <a:solidFill>
                            <a:srgbClr val="1E293B"/>
                          </a:solidFill>
                          <a:latin typeface="Segoe UI"/>
                        </a:defRPr>
                      </a:pPr>
                      <a:r>
                        <a:t>1,24×</a:t>
                      </a:r>
                    </a:p>
                  </a:txBody>
                  <a:tcPr anchor="ctr">
                    <a:solidFill>
                      <a:srgbClr val="F1F5F9"/>
                    </a:solidFill>
                  </a:tcPr>
                </a:tc>
              </a:tr>
              <a:tr h="403860">
                <a:tc>
                  <a:txBody>
                    <a:bodyPr/>
                    <a:lstStyle/>
                    <a:p>
                      <a:pPr algn="l">
                        <a:defRPr sz="919" b="1">
                          <a:solidFill>
                            <a:srgbClr val="1E293B"/>
                          </a:solidFill>
                          <a:latin typeface="Segoe UI"/>
                        </a:defRPr>
                      </a:pPr>
                      <a:r>
                        <a:t>BB11001 (4 seqs)</a:t>
                      </a:r>
                    </a:p>
                  </a:txBody>
                  <a:tcPr anchor="ctr">
                    <a:solidFill>
                      <a:srgbClr val="FFFFFF"/>
                    </a:solidFill>
                  </a:tcPr>
                </a:tc>
                <a:tc>
                  <a:txBody>
                    <a:bodyPr/>
                    <a:lstStyle/>
                    <a:p>
                      <a:pPr algn="ctr">
                        <a:defRPr sz="919" b="0">
                          <a:solidFill>
                            <a:srgbClr val="1E293B"/>
                          </a:solidFill>
                          <a:latin typeface="Segoe UI"/>
                        </a:defRPr>
                      </a:pPr>
                      <a:r>
                        <a:t>5,14 ms</a:t>
                      </a:r>
                    </a:p>
                  </a:txBody>
                  <a:tcPr anchor="ctr">
                    <a:solidFill>
                      <a:srgbClr val="FFFFFF"/>
                    </a:solidFill>
                  </a:tcPr>
                </a:tc>
                <a:tc>
                  <a:txBody>
                    <a:bodyPr/>
                    <a:lstStyle/>
                    <a:p>
                      <a:pPr algn="ctr">
                        <a:defRPr sz="919" b="0">
                          <a:solidFill>
                            <a:srgbClr val="1E293B"/>
                          </a:solidFill>
                          <a:latin typeface="Segoe UI"/>
                        </a:defRPr>
                      </a:pPr>
                      <a:r>
                        <a:t>4,52 ms</a:t>
                      </a:r>
                    </a:p>
                  </a:txBody>
                  <a:tcPr anchor="ctr">
                    <a:solidFill>
                      <a:srgbClr val="FFFFFF"/>
                    </a:solidFill>
                  </a:tcPr>
                </a:tc>
                <a:tc>
                  <a:txBody>
                    <a:bodyPr/>
                    <a:lstStyle/>
                    <a:p>
                      <a:pPr algn="ctr">
                        <a:defRPr sz="919" b="0">
                          <a:solidFill>
                            <a:srgbClr val="1E293B"/>
                          </a:solidFill>
                          <a:latin typeface="Segoe UI"/>
                        </a:defRPr>
                      </a:pPr>
                      <a:r>
                        <a:t>5,26 ms</a:t>
                      </a:r>
                    </a:p>
                  </a:txBody>
                  <a:tcPr anchor="ctr">
                    <a:solidFill>
                      <a:srgbClr val="FFFFFF"/>
                    </a:solidFill>
                  </a:tcPr>
                </a:tc>
                <a:tc>
                  <a:txBody>
                    <a:bodyPr/>
                    <a:lstStyle/>
                    <a:p>
                      <a:pPr algn="ctr">
                        <a:defRPr sz="919" b="0">
                          <a:solidFill>
                            <a:srgbClr val="1E293B"/>
                          </a:solidFill>
                          <a:latin typeface="Segoe UI"/>
                        </a:defRPr>
                      </a:pPr>
                      <a:r>
                        <a:t>5,97 ms</a:t>
                      </a:r>
                    </a:p>
                  </a:txBody>
                  <a:tcPr anchor="ctr">
                    <a:solidFill>
                      <a:srgbClr val="FFFFFF"/>
                    </a:solidFill>
                  </a:tcPr>
                </a:tc>
                <a:tc>
                  <a:txBody>
                    <a:bodyPr/>
                    <a:lstStyle/>
                    <a:p>
                      <a:pPr algn="ctr">
                        <a:defRPr sz="919" b="0">
                          <a:solidFill>
                            <a:srgbClr val="1E293B"/>
                          </a:solidFill>
                          <a:latin typeface="Segoe UI"/>
                        </a:defRPr>
                      </a:pPr>
                      <a:r>
                        <a:t>1,14×</a:t>
                      </a:r>
                    </a:p>
                  </a:txBody>
                  <a:tcPr anchor="ctr">
                    <a:solidFill>
                      <a:srgbClr val="FFFFFF"/>
                    </a:solidFill>
                  </a:tcPr>
                </a:tc>
              </a:tr>
            </a:tbl>
          </a:graphicData>
        </a:graphic>
      </p:graphicFrame>
      <p:sp>
        <p:nvSpPr>
          <p:cNvPr id="14" name="TextBox 13"/>
          <p:cNvSpPr txBox="1"/>
          <p:nvPr/>
        </p:nvSpPr>
        <p:spPr>
          <a:xfrm>
            <a:off x="6894576" y="4279392"/>
            <a:ext cx="4736592" cy="1920240"/>
          </a:xfrm>
          <a:prstGeom prst="rect">
            <a:avLst/>
          </a:prstGeom>
          <a:noFill/>
        </p:spPr>
        <p:txBody>
          <a:bodyPr wrap="square" lIns="0" rIns="0" tIns="0" bIns="0">
            <a:spAutoFit/>
          </a:bodyPr>
          <a:lstStyle/>
          <a:p>
            <a:pPr>
              <a:spcAft>
                <a:spcPts val="600"/>
              </a:spcAft>
            </a:pPr>
            <a:r>
              <a:rPr sz="1050" b="1">
                <a:solidFill>
                  <a:srgbClr val="059669"/>
                </a:solidFill>
                <a:latin typeface="Segoe UI"/>
              </a:rPr>
              <a:t>1. Quy mô lớn (BB20001 &amp; 40 chuỗi — 780 cặp):</a:t>
            </a:r>
            <a:r>
              <a:rPr sz="1050">
                <a:solidFill>
                  <a:srgbClr val="1E293B"/>
                </a:solidFill>
                <a:latin typeface="Segoe UI"/>
              </a:rPr>
              <a:t>
Khối lượng tính toán ma trận khoảng cách đủ lớn giúp phát huy tối đa sức mạnh đa nhân, giảm thời gian từ 5,42s xuống 3,36s (Speedup 1,61× – 1,73×).</a:t>
            </a:r>
          </a:p>
          <a:p>
            <a:pPr>
              <a:spcAft>
                <a:spcPts val="600"/>
              </a:spcAft>
            </a:pPr>
            <a:r>
              <a:rPr sz="1050" b="1">
                <a:solidFill>
                  <a:srgbClr val="D97706"/>
                </a:solidFill>
                <a:latin typeface="Segoe UI"/>
              </a:rPr>
              <a:t>2. Quy mô siêu nhỏ (BB11001 — chỉ 4 chuỗi, 6 cặp, ~5 ms):</a:t>
            </a:r>
            <a:r>
              <a:rPr sz="1050">
                <a:solidFill>
                  <a:srgbClr val="1E293B"/>
                </a:solidFill>
                <a:latin typeface="Segoe UI"/>
              </a:rPr>
              <a:t>
Đạt đỉnh ở 2 luồng (1,14×); khi ép lên 8 luồng, chi phí đánh thức Thread Pool (Thread Overhead) lớn hơn thời gian tính toán thực tế.</a:t>
            </a:r>
          </a:p>
          <a:p>
            <a:pPr>
              <a:spcAft>
                <a:spcPts val="600"/>
              </a:spcAft>
            </a:pPr>
            <a:r>
              <a:rPr sz="1050" b="1">
                <a:solidFill>
                  <a:srgbClr val="1E293B"/>
                </a:solidFill>
                <a:latin typeface="Segoe UI"/>
              </a:rPr>
              <a:t>3. Bão hòa ở 8 luồng:</a:t>
            </a:r>
            <a:r>
              <a:rPr sz="1050">
                <a:solidFill>
                  <a:srgbClr val="1E293B"/>
                </a:solidFill>
                <a:latin typeface="Segoe UI"/>
              </a:rPr>
              <a:t>
Do nút thắt cổ chai tại nút gốc cây UPGMA và giới hạn băng thông bộ nhớ đệm L3 Cache khi truy cập mảng tần suất cột.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4 • THỰC NGHIỆM BALIBASE 3.0 &amp; ĐỐI SÁNH</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Thực nghiệm 3: Đánh giá Độ chính xác Sinh học (SP &amp; TC Score) trên BAliBASE 3.0</a:t>
            </a:r>
          </a:p>
          <a:p>
            <a:pPr>
              <a:defRPr sz="1150" i="1">
                <a:solidFill>
                  <a:srgbClr val="BAE6FD"/>
                </a:solidFill>
                <a:latin typeface="Segoe UI"/>
              </a:defRPr>
            </a:pPr>
            <a:r>
              <a:t>Đạt độ chính xác xuất sắc trên tập RV12 (SP trung bình = 86,8%, TC = 68,1%) và lên tới 98,2% SP trên mẫu BB11001</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14 / 18</a:t>
            </a:r>
          </a:p>
        </p:txBody>
      </p:sp>
      <p:sp>
        <p:nvSpPr>
          <p:cNvPr id="9" name="Rounded Rectangle 8"/>
          <p:cNvSpPr/>
          <p:nvPr/>
        </p:nvSpPr>
        <p:spPr>
          <a:xfrm>
            <a:off x="411480" y="1261872"/>
            <a:ext cx="598932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3_balibase_accuracy.png"/>
          <p:cNvPicPr>
            <a:picLocks noChangeAspect="1"/>
          </p:cNvPicPr>
          <p:nvPr/>
        </p:nvPicPr>
        <p:blipFill>
          <a:blip r:embed="rId2"/>
          <a:stretch>
            <a:fillRect/>
          </a:stretch>
        </p:blipFill>
        <p:spPr>
          <a:xfrm>
            <a:off x="484632" y="2012056"/>
            <a:ext cx="5843016" cy="3574550"/>
          </a:xfrm>
          <a:prstGeom prst="rect">
            <a:avLst/>
          </a:prstGeom>
        </p:spPr>
      </p:pic>
      <p:sp>
        <p:nvSpPr>
          <p:cNvPr id="11" name="Rounded Rectangle 10"/>
          <p:cNvSpPr/>
          <p:nvPr/>
        </p:nvSpPr>
        <p:spPr>
          <a:xfrm>
            <a:off x="6565392" y="1261872"/>
            <a:ext cx="521208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65392" y="1261872"/>
            <a:ext cx="5212080" cy="384048"/>
          </a:xfrm>
          <a:prstGeom prst="roundRect">
            <a:avLst>
              <a:gd name="adj" fmla="val 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Kết quả Chấm điểm Đối chiếu Cấu trúc 3D Chuẩn</a:t>
            </a:r>
          </a:p>
        </p:txBody>
      </p:sp>
      <p:graphicFrame>
        <p:nvGraphicFramePr>
          <p:cNvPr id="13" name="Table 12"/>
          <p:cNvGraphicFramePr>
            <a:graphicFrameLocks noGrp="1"/>
          </p:cNvGraphicFramePr>
          <p:nvPr/>
        </p:nvGraphicFramePr>
        <p:xfrm>
          <a:off x="6711696" y="1773936"/>
          <a:ext cx="4919472" cy="1874519"/>
        </p:xfrm>
        <a:graphic>
          <a:graphicData uri="http://schemas.openxmlformats.org/drawingml/2006/table">
            <a:tbl>
              <a:tblPr firstRow="1" bandRow="1">
                <a:tableStyleId>{5C22544A-7EE6-4342-B048-85BDC9FD1C3A}</a:tableStyleId>
              </a:tblPr>
              <a:tblGrid>
                <a:gridCol w="1234440"/>
                <a:gridCol w="1234440"/>
                <a:gridCol w="658368"/>
                <a:gridCol w="658368"/>
                <a:gridCol w="1133856"/>
              </a:tblGrid>
              <a:tr h="468629">
                <a:tc>
                  <a:txBody>
                    <a:bodyPr/>
                    <a:lstStyle/>
                    <a:p>
                      <a:pPr algn="l">
                        <a:defRPr sz="950" b="1">
                          <a:solidFill>
                            <a:srgbClr val="FFFFFF"/>
                          </a:solidFill>
                          <a:latin typeface="Segoe UI"/>
                        </a:defRPr>
                      </a:pPr>
                      <a:r>
                        <a:t>Phân vùng BAliBASE 3.0</a:t>
                      </a:r>
                    </a:p>
                  </a:txBody>
                  <a:tcPr anchor="ctr">
                    <a:solidFill>
                      <a:srgbClr val="0F172A"/>
                    </a:solidFill>
                  </a:tcPr>
                </a:tc>
                <a:tc>
                  <a:txBody>
                    <a:bodyPr/>
                    <a:lstStyle/>
                    <a:p>
                      <a:pPr algn="ctr">
                        <a:defRPr sz="950" b="1">
                          <a:solidFill>
                            <a:srgbClr val="FFFFFF"/>
                          </a:solidFill>
                          <a:latin typeface="Segoe UI"/>
                        </a:defRPr>
                      </a:pPr>
                      <a:r>
                        <a:t>Đặc trưng Sinh học</a:t>
                      </a:r>
                    </a:p>
                  </a:txBody>
                  <a:tcPr anchor="ctr">
                    <a:solidFill>
                      <a:srgbClr val="0F172A"/>
                    </a:solidFill>
                  </a:tcPr>
                </a:tc>
                <a:tc>
                  <a:txBody>
                    <a:bodyPr/>
                    <a:lstStyle/>
                    <a:p>
                      <a:pPr algn="ctr">
                        <a:defRPr sz="950" b="1">
                          <a:solidFill>
                            <a:srgbClr val="FFFFFF"/>
                          </a:solidFill>
                          <a:latin typeface="Segoe UI"/>
                        </a:defRPr>
                      </a:pPr>
                      <a:r>
                        <a:t>SP Score</a:t>
                      </a:r>
                    </a:p>
                  </a:txBody>
                  <a:tcPr anchor="ctr">
                    <a:solidFill>
                      <a:srgbClr val="0F172A"/>
                    </a:solidFill>
                  </a:tcPr>
                </a:tc>
                <a:tc>
                  <a:txBody>
                    <a:bodyPr/>
                    <a:lstStyle/>
                    <a:p>
                      <a:pPr algn="ctr">
                        <a:defRPr sz="950" b="1">
                          <a:solidFill>
                            <a:srgbClr val="FFFFFF"/>
                          </a:solidFill>
                          <a:latin typeface="Segoe UI"/>
                        </a:defRPr>
                      </a:pPr>
                      <a:r>
                        <a:t>TC Score</a:t>
                      </a:r>
                    </a:p>
                  </a:txBody>
                  <a:tcPr anchor="ctr">
                    <a:solidFill>
                      <a:srgbClr val="0F172A"/>
                    </a:solidFill>
                  </a:tcPr>
                </a:tc>
                <a:tc>
                  <a:txBody>
                    <a:bodyPr/>
                    <a:lstStyle/>
                    <a:p>
                      <a:pPr algn="ctr">
                        <a:defRPr sz="950" b="1">
                          <a:solidFill>
                            <a:srgbClr val="FFFFFF"/>
                          </a:solidFill>
                          <a:latin typeface="Segoe UI"/>
                        </a:defRPr>
                      </a:pPr>
                      <a:r>
                        <a:t>Mẫu Đỉnh (Peak)</a:t>
                      </a:r>
                    </a:p>
                  </a:txBody>
                  <a:tcPr anchor="ctr">
                    <a:solidFill>
                      <a:srgbClr val="0F172A"/>
                    </a:solidFill>
                  </a:tcPr>
                </a:tc>
              </a:tr>
              <a:tr h="468629">
                <a:tc>
                  <a:txBody>
                    <a:bodyPr/>
                    <a:lstStyle/>
                    <a:p>
                      <a:pPr algn="l">
                        <a:defRPr sz="950" b="1">
                          <a:solidFill>
                            <a:srgbClr val="1E293B"/>
                          </a:solidFill>
                          <a:latin typeface="Segoe UI"/>
                        </a:defRPr>
                      </a:pPr>
                      <a:r>
                        <a:t>RV11 (BB11001–11005)</a:t>
                      </a:r>
                    </a:p>
                  </a:txBody>
                  <a:tcPr anchor="ctr">
                    <a:solidFill>
                      <a:srgbClr val="FFFFFF"/>
                    </a:solidFill>
                  </a:tcPr>
                </a:tc>
                <a:tc>
                  <a:txBody>
                    <a:bodyPr/>
                    <a:lstStyle/>
                    <a:p>
                      <a:pPr algn="ctr">
                        <a:defRPr sz="950" b="0">
                          <a:solidFill>
                            <a:srgbClr val="1E293B"/>
                          </a:solidFill>
                          <a:latin typeface="Segoe UI"/>
                        </a:defRPr>
                      </a:pPr>
                      <a:r>
                        <a:t>Rất phân kỳ (&lt;20% ID)</a:t>
                      </a:r>
                    </a:p>
                  </a:txBody>
                  <a:tcPr anchor="ctr">
                    <a:solidFill>
                      <a:srgbClr val="FFFFFF"/>
                    </a:solidFill>
                  </a:tcPr>
                </a:tc>
                <a:tc>
                  <a:txBody>
                    <a:bodyPr/>
                    <a:lstStyle/>
                    <a:p>
                      <a:pPr algn="ctr">
                        <a:defRPr sz="950" b="0">
                          <a:solidFill>
                            <a:srgbClr val="1E293B"/>
                          </a:solidFill>
                          <a:latin typeface="Segoe UI"/>
                        </a:defRPr>
                      </a:pPr>
                      <a:r>
                        <a:t>0,5311</a:t>
                      </a:r>
                    </a:p>
                  </a:txBody>
                  <a:tcPr anchor="ctr">
                    <a:solidFill>
                      <a:srgbClr val="FFFFFF"/>
                    </a:solidFill>
                  </a:tcPr>
                </a:tc>
                <a:tc>
                  <a:txBody>
                    <a:bodyPr/>
                    <a:lstStyle/>
                    <a:p>
                      <a:pPr algn="ctr">
                        <a:defRPr sz="950" b="0">
                          <a:solidFill>
                            <a:srgbClr val="1E293B"/>
                          </a:solidFill>
                          <a:latin typeface="Segoe UI"/>
                        </a:defRPr>
                      </a:pPr>
                      <a:r>
                        <a:t>0,2941</a:t>
                      </a:r>
                    </a:p>
                  </a:txBody>
                  <a:tcPr anchor="ctr">
                    <a:solidFill>
                      <a:srgbClr val="FFFFFF"/>
                    </a:solidFill>
                  </a:tcPr>
                </a:tc>
                <a:tc>
                  <a:txBody>
                    <a:bodyPr/>
                    <a:lstStyle/>
                    <a:p>
                      <a:pPr algn="ctr">
                        <a:defRPr sz="950" b="0">
                          <a:solidFill>
                            <a:srgbClr val="1E293B"/>
                          </a:solidFill>
                          <a:latin typeface="Segoe UI"/>
                        </a:defRPr>
                      </a:pPr>
                      <a:r>
                        <a:t>BB11001 (SP: 98,2%)</a:t>
                      </a:r>
                    </a:p>
                  </a:txBody>
                  <a:tcPr anchor="ctr">
                    <a:solidFill>
                      <a:srgbClr val="FFFFFF"/>
                    </a:solidFill>
                  </a:tcPr>
                </a:tc>
              </a:tr>
              <a:tr h="468629">
                <a:tc>
                  <a:txBody>
                    <a:bodyPr/>
                    <a:lstStyle/>
                    <a:p>
                      <a:pPr algn="l">
                        <a:defRPr sz="950" b="1">
                          <a:solidFill>
                            <a:srgbClr val="1E293B"/>
                          </a:solidFill>
                          <a:latin typeface="Segoe UI"/>
                        </a:defRPr>
                      </a:pPr>
                      <a:r>
                        <a:t>RV12 (BB12001–12005)</a:t>
                      </a:r>
                    </a:p>
                  </a:txBody>
                  <a:tcPr anchor="ctr">
                    <a:solidFill>
                      <a:srgbClr val="F1F5F9"/>
                    </a:solidFill>
                  </a:tcPr>
                </a:tc>
                <a:tc>
                  <a:txBody>
                    <a:bodyPr/>
                    <a:lstStyle/>
                    <a:p>
                      <a:pPr algn="ctr">
                        <a:defRPr sz="950" b="0">
                          <a:solidFill>
                            <a:srgbClr val="1E293B"/>
                          </a:solidFill>
                          <a:latin typeface="Segoe UI"/>
                        </a:defRPr>
                      </a:pPr>
                      <a:r>
                        <a:t>Tương đồng vừa (20–40%)</a:t>
                      </a:r>
                    </a:p>
                  </a:txBody>
                  <a:tcPr anchor="ctr">
                    <a:solidFill>
                      <a:srgbClr val="F1F5F9"/>
                    </a:solidFill>
                  </a:tcPr>
                </a:tc>
                <a:tc>
                  <a:txBody>
                    <a:bodyPr/>
                    <a:lstStyle/>
                    <a:p>
                      <a:pPr algn="ctr">
                        <a:defRPr sz="950" b="0">
                          <a:solidFill>
                            <a:srgbClr val="1E293B"/>
                          </a:solidFill>
                          <a:latin typeface="Segoe UI"/>
                        </a:defRPr>
                      </a:pPr>
                      <a:r>
                        <a:t>0,8684</a:t>
                      </a:r>
                    </a:p>
                  </a:txBody>
                  <a:tcPr anchor="ctr">
                    <a:solidFill>
                      <a:srgbClr val="F1F5F9"/>
                    </a:solidFill>
                  </a:tcPr>
                </a:tc>
                <a:tc>
                  <a:txBody>
                    <a:bodyPr/>
                    <a:lstStyle/>
                    <a:p>
                      <a:pPr algn="ctr">
                        <a:defRPr sz="950" b="0">
                          <a:solidFill>
                            <a:srgbClr val="1E293B"/>
                          </a:solidFill>
                          <a:latin typeface="Segoe UI"/>
                        </a:defRPr>
                      </a:pPr>
                      <a:r>
                        <a:t>0,6806</a:t>
                      </a:r>
                    </a:p>
                  </a:txBody>
                  <a:tcPr anchor="ctr">
                    <a:solidFill>
                      <a:srgbClr val="F1F5F9"/>
                    </a:solidFill>
                  </a:tcPr>
                </a:tc>
                <a:tc>
                  <a:txBody>
                    <a:bodyPr/>
                    <a:lstStyle/>
                    <a:p>
                      <a:pPr algn="ctr">
                        <a:defRPr sz="950" b="0">
                          <a:solidFill>
                            <a:srgbClr val="1E293B"/>
                          </a:solidFill>
                          <a:latin typeface="Segoe UI"/>
                        </a:defRPr>
                      </a:pPr>
                      <a:r>
                        <a:t>BB12003 (SP: 93,0%)</a:t>
                      </a:r>
                    </a:p>
                  </a:txBody>
                  <a:tcPr anchor="ctr">
                    <a:solidFill>
                      <a:srgbClr val="F1F5F9"/>
                    </a:solidFill>
                  </a:tcPr>
                </a:tc>
              </a:tr>
              <a:tr h="468632">
                <a:tc>
                  <a:txBody>
                    <a:bodyPr/>
                    <a:lstStyle/>
                    <a:p>
                      <a:pPr algn="l">
                        <a:defRPr sz="950" b="1">
                          <a:solidFill>
                            <a:srgbClr val="1E293B"/>
                          </a:solidFill>
                          <a:latin typeface="Segoe UI"/>
                        </a:defRPr>
                      </a:pPr>
                      <a:r>
                        <a:t>RV20 (BB20001–20003)</a:t>
                      </a:r>
                    </a:p>
                  </a:txBody>
                  <a:tcPr anchor="ctr">
                    <a:solidFill>
                      <a:srgbClr val="FFFFFF"/>
                    </a:solidFill>
                  </a:tcPr>
                </a:tc>
                <a:tc>
                  <a:txBody>
                    <a:bodyPr/>
                    <a:lstStyle/>
                    <a:p>
                      <a:pPr algn="ctr">
                        <a:defRPr sz="950" b="0">
                          <a:solidFill>
                            <a:srgbClr val="1E293B"/>
                          </a:solidFill>
                          <a:latin typeface="Segoe UI"/>
                        </a:defRPr>
                      </a:pPr>
                      <a:r>
                        <a:t>Họ gen lớn (16–40 seqs)</a:t>
                      </a:r>
                    </a:p>
                  </a:txBody>
                  <a:tcPr anchor="ctr">
                    <a:solidFill>
                      <a:srgbClr val="FFFFFF"/>
                    </a:solidFill>
                  </a:tcPr>
                </a:tc>
                <a:tc>
                  <a:txBody>
                    <a:bodyPr/>
                    <a:lstStyle/>
                    <a:p>
                      <a:pPr algn="ctr">
                        <a:defRPr sz="950" b="0">
                          <a:solidFill>
                            <a:srgbClr val="1E293B"/>
                          </a:solidFill>
                          <a:latin typeface="Segoe UI"/>
                        </a:defRPr>
                      </a:pPr>
                      <a:r>
                        <a:t>0,5556</a:t>
                      </a:r>
                    </a:p>
                  </a:txBody>
                  <a:tcPr anchor="ctr">
                    <a:solidFill>
                      <a:srgbClr val="FFFFFF"/>
                    </a:solidFill>
                  </a:tcPr>
                </a:tc>
                <a:tc>
                  <a:txBody>
                    <a:bodyPr/>
                    <a:lstStyle/>
                    <a:p>
                      <a:pPr algn="ctr">
                        <a:defRPr sz="950" b="0">
                          <a:solidFill>
                            <a:srgbClr val="1E293B"/>
                          </a:solidFill>
                          <a:latin typeface="Segoe UI"/>
                        </a:defRPr>
                      </a:pPr>
                      <a:r>
                        <a:t>0,0000</a:t>
                      </a:r>
                    </a:p>
                  </a:txBody>
                  <a:tcPr anchor="ctr">
                    <a:solidFill>
                      <a:srgbClr val="FFFFFF"/>
                    </a:solidFill>
                  </a:tcPr>
                </a:tc>
                <a:tc>
                  <a:txBody>
                    <a:bodyPr/>
                    <a:lstStyle/>
                    <a:p>
                      <a:pPr algn="ctr">
                        <a:defRPr sz="950" b="0">
                          <a:solidFill>
                            <a:srgbClr val="1E293B"/>
                          </a:solidFill>
                          <a:latin typeface="Segoe UI"/>
                        </a:defRPr>
                      </a:pPr>
                      <a:r>
                        <a:t>BB20003 (SP: 92,0%)</a:t>
                      </a:r>
                    </a:p>
                  </a:txBody>
                  <a:tcPr anchor="ctr">
                    <a:solidFill>
                      <a:srgbClr val="FFFFFF"/>
                    </a:solidFill>
                  </a:tcPr>
                </a:tc>
              </a:tr>
            </a:tbl>
          </a:graphicData>
        </a:graphic>
      </p:graphicFrame>
      <p:sp>
        <p:nvSpPr>
          <p:cNvPr id="14" name="TextBox 13"/>
          <p:cNvSpPr txBox="1"/>
          <p:nvPr/>
        </p:nvSpPr>
        <p:spPr>
          <a:xfrm>
            <a:off x="6711696" y="3730752"/>
            <a:ext cx="4919472" cy="2514600"/>
          </a:xfrm>
          <a:prstGeom prst="rect">
            <a:avLst/>
          </a:prstGeom>
          <a:noFill/>
        </p:spPr>
        <p:txBody>
          <a:bodyPr wrap="square" lIns="0" rIns="0" tIns="0" bIns="0">
            <a:spAutoFit/>
          </a:bodyPr>
          <a:lstStyle/>
          <a:p>
            <a:pPr>
              <a:spcAft>
                <a:spcPts val="600"/>
              </a:spcAft>
            </a:pPr>
            <a:r>
              <a:rPr sz="1050" b="1">
                <a:solidFill>
                  <a:srgbClr val="0F172A"/>
                </a:solidFill>
                <a:latin typeface="Segoe UI"/>
              </a:rPr>
              <a:t>• Hai Thước đo Chuẩn Quốc tế (Thompson et al.):</a:t>
            </a:r>
            <a:r>
              <a:rPr sz="1050">
                <a:solidFill>
                  <a:srgbClr val="1E293B"/>
                </a:solidFill>
                <a:latin typeface="Segoe UI"/>
              </a:rPr>
              <a:t>
- SP Score (Sum-of-Pairs): Tỷ lệ cặp ký tự căn chỉnh trùng khớp với file chuẩn MSF.
- TC Score (Total Column): Tỷ lệ cột căn chỉnh đúng tuyệt đối 100% trên mọi chuỗi.</a:t>
            </a:r>
          </a:p>
          <a:p>
            <a:pPr>
              <a:spcAft>
                <a:spcPts val="600"/>
              </a:spcAft>
            </a:pPr>
            <a:r>
              <a:rPr sz="1050" b="1">
                <a:solidFill>
                  <a:srgbClr val="059669"/>
                </a:solidFill>
                <a:latin typeface="Segoe UI"/>
              </a:rPr>
              <a:t>• Điểm sáng trên RV12 (Medium Identity):</a:t>
            </a:r>
            <a:r>
              <a:rPr sz="1050">
                <a:solidFill>
                  <a:srgbClr val="1E293B"/>
                </a:solidFill>
                <a:latin typeface="Segoe UI"/>
              </a:rPr>
              <a:t>
Trên cả 5 bộ mẫu từ BB12001 đến BB12005, điểm SP đều vượt ngưỡng 83% – 93%, chứng tỏ mô hình BLOSUM62 + Affine Gap (-10, -1) hoạt động rất chính xác.</a:t>
            </a:r>
          </a:p>
          <a:p>
            <a:pPr>
              <a:spcAft>
                <a:spcPts val="600"/>
              </a:spcAft>
            </a:pPr>
            <a:r>
              <a:rPr sz="1050" b="1">
                <a:solidFill>
                  <a:srgbClr val="D97706"/>
                </a:solidFill>
                <a:latin typeface="Segoe UI"/>
              </a:rPr>
              <a:t>• Phân tích thẳng thắn Hạn chế trên RV20 (TC = 0):</a:t>
            </a:r>
            <a:r>
              <a:rPr sz="1050">
                <a:solidFill>
                  <a:srgbClr val="1E293B"/>
                </a:solidFill>
                <a:latin typeface="Segoe UI"/>
              </a:rPr>
              <a:t>
Chỉ cần 1 chuỗi ngoại lai lệch 1 vị trí gap trong 40 chuỗi sẽ làm điểm TC của cột đó về 0 (hạn chế chung của Progressive MSA thuần túy chưa có Iterative Refinement).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4 • THỰC NGHIỆM BALIBASE 3.0 &amp; ĐỐI SÁNH</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Thực nghiệm 4: Đối sánh với Công cụ Quốc tế (ClustalW 2.1 &amp; MUSCLE v3.8)</a:t>
            </a:r>
          </a:p>
          <a:p>
            <a:pPr>
              <a:defRPr sz="1150" i="1">
                <a:solidFill>
                  <a:srgbClr val="BAE6FD"/>
                </a:solidFill>
                <a:latin typeface="Segoe UI"/>
              </a:defRPr>
            </a:pPr>
            <a:r>
              <a:t>Tiêu thụ RAM đỉnh thấp nhất (giảm ~45% so với ClustalW/MUSCLE) trong khi đạt điểm SP vượt ClustalW trên BB20001</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15 / 18</a:t>
            </a:r>
          </a:p>
        </p:txBody>
      </p:sp>
      <p:sp>
        <p:nvSpPr>
          <p:cNvPr id="9" name="Rounded Rectangle 8"/>
          <p:cNvSpPr/>
          <p:nvPr/>
        </p:nvSpPr>
        <p:spPr>
          <a:xfrm>
            <a:off x="411480" y="1261872"/>
            <a:ext cx="6903720" cy="507492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4_tools_comparison.png"/>
          <p:cNvPicPr>
            <a:picLocks noChangeAspect="1"/>
          </p:cNvPicPr>
          <p:nvPr/>
        </p:nvPicPr>
        <p:blipFill>
          <a:blip r:embed="rId2"/>
          <a:stretch>
            <a:fillRect/>
          </a:stretch>
        </p:blipFill>
        <p:spPr>
          <a:xfrm>
            <a:off x="484632" y="2324986"/>
            <a:ext cx="6757416" cy="2948690"/>
          </a:xfrm>
          <a:prstGeom prst="rect">
            <a:avLst/>
          </a:prstGeom>
        </p:spPr>
      </p:pic>
      <p:sp>
        <p:nvSpPr>
          <p:cNvPr id="11" name="Rounded Rectangle 10"/>
          <p:cNvSpPr/>
          <p:nvPr/>
        </p:nvSpPr>
        <p:spPr>
          <a:xfrm>
            <a:off x="7479792" y="1261872"/>
            <a:ext cx="429768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79792" y="1261872"/>
            <a:ext cx="4297680"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Tổng hợp Đối sánh Đa công cụ (BB20001)</a:t>
            </a:r>
          </a:p>
        </p:txBody>
      </p:sp>
      <p:graphicFrame>
        <p:nvGraphicFramePr>
          <p:cNvPr id="13" name="Table 12"/>
          <p:cNvGraphicFramePr>
            <a:graphicFrameLocks noGrp="1"/>
          </p:cNvGraphicFramePr>
          <p:nvPr/>
        </p:nvGraphicFramePr>
        <p:xfrm>
          <a:off x="7626096" y="1773936"/>
          <a:ext cx="4005072" cy="2057400"/>
        </p:xfrm>
        <a:graphic>
          <a:graphicData uri="http://schemas.openxmlformats.org/drawingml/2006/table">
            <a:tbl>
              <a:tblPr firstRow="1" bandRow="1">
                <a:tableStyleId>{5C22544A-7EE6-4342-B048-85BDC9FD1C3A}</a:tableStyleId>
              </a:tblPr>
              <a:tblGrid>
                <a:gridCol w="1261872"/>
                <a:gridCol w="841248"/>
                <a:gridCol w="749808"/>
                <a:gridCol w="1152144"/>
              </a:tblGrid>
              <a:tr h="411480">
                <a:tc>
                  <a:txBody>
                    <a:bodyPr/>
                    <a:lstStyle/>
                    <a:p>
                      <a:pPr algn="l">
                        <a:defRPr sz="950" b="1">
                          <a:solidFill>
                            <a:srgbClr val="FFFFFF"/>
                          </a:solidFill>
                          <a:latin typeface="Segoe UI"/>
                        </a:defRPr>
                      </a:pPr>
                      <a:r>
                        <a:t>Công cụ MSA</a:t>
                      </a:r>
                    </a:p>
                  </a:txBody>
                  <a:tcPr anchor="ctr">
                    <a:solidFill>
                      <a:srgbClr val="0F172A"/>
                    </a:solidFill>
                  </a:tcPr>
                </a:tc>
                <a:tc>
                  <a:txBody>
                    <a:bodyPr/>
                    <a:lstStyle/>
                    <a:p>
                      <a:pPr algn="ctr">
                        <a:defRPr sz="950" b="1">
                          <a:solidFill>
                            <a:srgbClr val="FFFFFF"/>
                          </a:solidFill>
                          <a:latin typeface="Segoe UI"/>
                        </a:defRPr>
                      </a:pPr>
                      <a:r>
                        <a:t>Peak RAM</a:t>
                      </a:r>
                    </a:p>
                  </a:txBody>
                  <a:tcPr anchor="ctr">
                    <a:solidFill>
                      <a:srgbClr val="0F172A"/>
                    </a:solidFill>
                  </a:tcPr>
                </a:tc>
                <a:tc>
                  <a:txBody>
                    <a:bodyPr/>
                    <a:lstStyle/>
                    <a:p>
                      <a:pPr algn="ctr">
                        <a:defRPr sz="950" b="1">
                          <a:solidFill>
                            <a:srgbClr val="FFFFFF"/>
                          </a:solidFill>
                          <a:latin typeface="Segoe UI"/>
                        </a:defRPr>
                      </a:pPr>
                      <a:r>
                        <a:t>SP Score</a:t>
                      </a:r>
                    </a:p>
                  </a:txBody>
                  <a:tcPr anchor="ctr">
                    <a:solidFill>
                      <a:srgbClr val="0F172A"/>
                    </a:solidFill>
                  </a:tcPr>
                </a:tc>
                <a:tc>
                  <a:txBody>
                    <a:bodyPr/>
                    <a:lstStyle/>
                    <a:p>
                      <a:pPr algn="ctr">
                        <a:defRPr sz="950" b="1">
                          <a:solidFill>
                            <a:srgbClr val="FFFFFF"/>
                          </a:solidFill>
                          <a:latin typeface="Segoe UI"/>
                        </a:defRPr>
                      </a:pPr>
                      <a:r>
                        <a:t>Đặc điểm</a:t>
                      </a:r>
                    </a:p>
                  </a:txBody>
                  <a:tcPr anchor="ctr">
                    <a:solidFill>
                      <a:srgbClr val="0F172A"/>
                    </a:solidFill>
                  </a:tcPr>
                </a:tc>
              </a:tr>
              <a:tr h="411480">
                <a:tc>
                  <a:txBody>
                    <a:bodyPr/>
                    <a:lstStyle/>
                    <a:p>
                      <a:pPr algn="l">
                        <a:defRPr sz="950" b="1">
                          <a:solidFill>
                            <a:srgbClr val="1E293B"/>
                          </a:solidFill>
                          <a:latin typeface="Segoe UI"/>
                        </a:defRPr>
                      </a:pPr>
                      <a:r>
                        <a:t>Gotoh DP Baseline</a:t>
                      </a:r>
                    </a:p>
                  </a:txBody>
                  <a:tcPr anchor="ctr">
                    <a:solidFill>
                      <a:srgbClr val="FFFFFF"/>
                    </a:solidFill>
                  </a:tcPr>
                </a:tc>
                <a:tc>
                  <a:txBody>
                    <a:bodyPr/>
                    <a:lstStyle/>
                    <a:p>
                      <a:pPr algn="ctr">
                        <a:defRPr sz="950" b="0">
                          <a:solidFill>
                            <a:srgbClr val="1E293B"/>
                          </a:solidFill>
                          <a:latin typeface="Segoe UI"/>
                        </a:defRPr>
                      </a:pPr>
                      <a:r>
                        <a:t>320,0 MB</a:t>
                      </a:r>
                    </a:p>
                  </a:txBody>
                  <a:tcPr anchor="ctr">
                    <a:solidFill>
                      <a:srgbClr val="FFFFFF"/>
                    </a:solidFill>
                  </a:tcPr>
                </a:tc>
                <a:tc>
                  <a:txBody>
                    <a:bodyPr/>
                    <a:lstStyle/>
                    <a:p>
                      <a:pPr algn="ctr">
                        <a:defRPr sz="950" b="0">
                          <a:solidFill>
                            <a:srgbClr val="1E293B"/>
                          </a:solidFill>
                          <a:latin typeface="Segoe UI"/>
                        </a:defRPr>
                      </a:pPr>
                      <a:r>
                        <a:t>0,488</a:t>
                      </a:r>
                    </a:p>
                  </a:txBody>
                  <a:tcPr anchor="ctr">
                    <a:solidFill>
                      <a:srgbClr val="FFFFFF"/>
                    </a:solidFill>
                  </a:tcPr>
                </a:tc>
                <a:tc>
                  <a:txBody>
                    <a:bodyPr/>
                    <a:lstStyle/>
                    <a:p>
                      <a:pPr algn="ctr">
                        <a:defRPr sz="950" b="0">
                          <a:solidFill>
                            <a:srgbClr val="1E293B"/>
                          </a:solidFill>
                          <a:latin typeface="Segoe UI"/>
                        </a:defRPr>
                      </a:pPr>
                      <a:r>
                        <a:t>Bậc hai O(N²)</a:t>
                      </a:r>
                    </a:p>
                  </a:txBody>
                  <a:tcPr anchor="ctr">
                    <a:solidFill>
                      <a:srgbClr val="FFFFFF"/>
                    </a:solidFill>
                  </a:tcPr>
                </a:tc>
              </a:tr>
              <a:tr h="411480">
                <a:tc>
                  <a:txBody>
                    <a:bodyPr/>
                    <a:lstStyle/>
                    <a:p>
                      <a:pPr algn="l">
                        <a:defRPr sz="950" b="1">
                          <a:solidFill>
                            <a:srgbClr val="1E293B"/>
                          </a:solidFill>
                          <a:latin typeface="Segoe UI"/>
                        </a:defRPr>
                      </a:pPr>
                      <a:r>
                        <a:t>ClustalW 2.1</a:t>
                      </a:r>
                    </a:p>
                  </a:txBody>
                  <a:tcPr anchor="ctr">
                    <a:solidFill>
                      <a:srgbClr val="F1F5F9"/>
                    </a:solidFill>
                  </a:tcPr>
                </a:tc>
                <a:tc>
                  <a:txBody>
                    <a:bodyPr/>
                    <a:lstStyle/>
                    <a:p>
                      <a:pPr algn="ctr">
                        <a:defRPr sz="950" b="0">
                          <a:solidFill>
                            <a:srgbClr val="1E293B"/>
                          </a:solidFill>
                          <a:latin typeface="Segoe UI"/>
                        </a:defRPr>
                      </a:pPr>
                      <a:r>
                        <a:t>48,5 MB</a:t>
                      </a:r>
                    </a:p>
                  </a:txBody>
                  <a:tcPr anchor="ctr">
                    <a:solidFill>
                      <a:srgbClr val="F1F5F9"/>
                    </a:solidFill>
                  </a:tcPr>
                </a:tc>
                <a:tc>
                  <a:txBody>
                    <a:bodyPr/>
                    <a:lstStyle/>
                    <a:p>
                      <a:pPr algn="ctr">
                        <a:defRPr sz="950" b="0">
                          <a:solidFill>
                            <a:srgbClr val="1E293B"/>
                          </a:solidFill>
                          <a:latin typeface="Segoe UI"/>
                        </a:defRPr>
                      </a:pPr>
                      <a:r>
                        <a:t>0,472</a:t>
                      </a:r>
                    </a:p>
                  </a:txBody>
                  <a:tcPr anchor="ctr">
                    <a:solidFill>
                      <a:srgbClr val="F1F5F9"/>
                    </a:solidFill>
                  </a:tcPr>
                </a:tc>
                <a:tc>
                  <a:txBody>
                    <a:bodyPr/>
                    <a:lstStyle/>
                    <a:p>
                      <a:pPr algn="ctr">
                        <a:defRPr sz="950" b="0">
                          <a:solidFill>
                            <a:srgbClr val="1E293B"/>
                          </a:solidFill>
                          <a:latin typeface="Segoe UI"/>
                        </a:defRPr>
                      </a:pPr>
                      <a:r>
                        <a:t>Kinh điển, 1 luồng</a:t>
                      </a:r>
                    </a:p>
                  </a:txBody>
                  <a:tcPr anchor="ctr">
                    <a:solidFill>
                      <a:srgbClr val="F1F5F9"/>
                    </a:solidFill>
                  </a:tcPr>
                </a:tc>
              </a:tr>
              <a:tr h="411480">
                <a:tc>
                  <a:txBody>
                    <a:bodyPr/>
                    <a:lstStyle/>
                    <a:p>
                      <a:pPr algn="l">
                        <a:defRPr sz="950" b="1">
                          <a:solidFill>
                            <a:srgbClr val="1E293B"/>
                          </a:solidFill>
                          <a:latin typeface="Segoe UI"/>
                        </a:defRPr>
                      </a:pPr>
                      <a:r>
                        <a:t>MUSCLE v3.8</a:t>
                      </a:r>
                    </a:p>
                  </a:txBody>
                  <a:tcPr anchor="ctr">
                    <a:solidFill>
                      <a:srgbClr val="FFFFFF"/>
                    </a:solidFill>
                  </a:tcPr>
                </a:tc>
                <a:tc>
                  <a:txBody>
                    <a:bodyPr/>
                    <a:lstStyle/>
                    <a:p>
                      <a:pPr algn="ctr">
                        <a:defRPr sz="950" b="0">
                          <a:solidFill>
                            <a:srgbClr val="1E293B"/>
                          </a:solidFill>
                          <a:latin typeface="Segoe UI"/>
                        </a:defRPr>
                      </a:pPr>
                      <a:r>
                        <a:t>52,0 MB</a:t>
                      </a:r>
                    </a:p>
                  </a:txBody>
                  <a:tcPr anchor="ctr">
                    <a:solidFill>
                      <a:srgbClr val="FFFFFF"/>
                    </a:solidFill>
                  </a:tcPr>
                </a:tc>
                <a:tc>
                  <a:txBody>
                    <a:bodyPr/>
                    <a:lstStyle/>
                    <a:p>
                      <a:pPr algn="ctr">
                        <a:defRPr sz="950" b="0">
                          <a:solidFill>
                            <a:srgbClr val="1E293B"/>
                          </a:solidFill>
                          <a:latin typeface="Segoe UI"/>
                        </a:defRPr>
                      </a:pPr>
                      <a:r>
                        <a:t>0,495</a:t>
                      </a:r>
                    </a:p>
                  </a:txBody>
                  <a:tcPr anchor="ctr">
                    <a:solidFill>
                      <a:srgbClr val="FFFFFF"/>
                    </a:solidFill>
                  </a:tcPr>
                </a:tc>
                <a:tc>
                  <a:txBody>
                    <a:bodyPr/>
                    <a:lstStyle/>
                    <a:p>
                      <a:pPr algn="ctr">
                        <a:defRPr sz="950" b="0">
                          <a:solidFill>
                            <a:srgbClr val="1E293B"/>
                          </a:solidFill>
                          <a:latin typeface="Segoe UI"/>
                        </a:defRPr>
                      </a:pPr>
                      <a:r>
                        <a:t>Có lọc lặp (Iterative)</a:t>
                      </a:r>
                    </a:p>
                  </a:txBody>
                  <a:tcPr anchor="ctr">
                    <a:solidFill>
                      <a:srgbClr val="FFFFFF"/>
                    </a:solidFill>
                  </a:tcPr>
                </a:tc>
              </a:tr>
              <a:tr h="411480">
                <a:tc>
                  <a:txBody>
                    <a:bodyPr/>
                    <a:lstStyle/>
                    <a:p>
                      <a:pPr algn="l">
                        <a:defRPr sz="950" b="1">
                          <a:solidFill>
                            <a:srgbClr val="1E293B"/>
                          </a:solidFill>
                          <a:latin typeface="Segoe UI"/>
                        </a:defRPr>
                      </a:pPr>
                      <a:r>
                        <a:t>Nhóm 5 (Đề xuất)</a:t>
                      </a:r>
                    </a:p>
                  </a:txBody>
                  <a:tcPr anchor="ctr">
                    <a:solidFill>
                      <a:srgbClr val="D1FAE5"/>
                    </a:solidFill>
                  </a:tcPr>
                </a:tc>
                <a:tc>
                  <a:txBody>
                    <a:bodyPr/>
                    <a:lstStyle/>
                    <a:p>
                      <a:pPr algn="ctr">
                        <a:defRPr sz="950" b="1">
                          <a:solidFill>
                            <a:srgbClr val="059669"/>
                          </a:solidFill>
                          <a:latin typeface="Segoe UI"/>
                        </a:defRPr>
                      </a:pPr>
                      <a:r>
                        <a:t>26,8 MB</a:t>
                      </a:r>
                    </a:p>
                  </a:txBody>
                  <a:tcPr anchor="ctr">
                    <a:solidFill>
                      <a:srgbClr val="D1FAE5"/>
                    </a:solidFill>
                  </a:tcPr>
                </a:tc>
                <a:tc>
                  <a:txBody>
                    <a:bodyPr/>
                    <a:lstStyle/>
                    <a:p>
                      <a:pPr algn="ctr">
                        <a:defRPr sz="950" b="1">
                          <a:solidFill>
                            <a:srgbClr val="059669"/>
                          </a:solidFill>
                          <a:latin typeface="Segoe UI"/>
                        </a:defRPr>
                      </a:pPr>
                      <a:r>
                        <a:t>0,488</a:t>
                      </a:r>
                    </a:p>
                  </a:txBody>
                  <a:tcPr anchor="ctr">
                    <a:solidFill>
                      <a:srgbClr val="D1FAE5"/>
                    </a:solidFill>
                  </a:tcPr>
                </a:tc>
                <a:tc>
                  <a:txBody>
                    <a:bodyPr/>
                    <a:lstStyle/>
                    <a:p>
                      <a:pPr algn="ctr">
                        <a:defRPr sz="950" b="1">
                          <a:solidFill>
                            <a:srgbClr val="059669"/>
                          </a:solidFill>
                          <a:latin typeface="Segoe UI"/>
                        </a:defRPr>
                      </a:pPr>
                      <a:r>
                        <a:t>Tối ưu RAM + Đa luồng</a:t>
                      </a:r>
                    </a:p>
                  </a:txBody>
                  <a:tcPr anchor="ctr">
                    <a:solidFill>
                      <a:srgbClr val="D1FAE5"/>
                    </a:solidFill>
                  </a:tcPr>
                </a:tc>
              </a:tr>
            </a:tbl>
          </a:graphicData>
        </a:graphic>
      </p:graphicFrame>
      <p:sp>
        <p:nvSpPr>
          <p:cNvPr id="14" name="TextBox 13"/>
          <p:cNvSpPr txBox="1"/>
          <p:nvPr/>
        </p:nvSpPr>
        <p:spPr>
          <a:xfrm>
            <a:off x="7626096" y="3886200"/>
            <a:ext cx="4005072" cy="2286000"/>
          </a:xfrm>
          <a:prstGeom prst="rect">
            <a:avLst/>
          </a:prstGeom>
          <a:noFill/>
        </p:spPr>
        <p:txBody>
          <a:bodyPr wrap="square" lIns="0" rIns="0" tIns="0" bIns="0">
            <a:spAutoFit/>
          </a:bodyPr>
          <a:lstStyle/>
          <a:p>
            <a:pPr>
              <a:spcAft>
                <a:spcPts val="800"/>
              </a:spcAft>
            </a:pPr>
            <a:r>
              <a:rPr sz="1080" b="1">
                <a:solidFill>
                  <a:srgbClr val="059669"/>
                </a:solidFill>
                <a:latin typeface="Segoe UI"/>
              </a:rPr>
              <a:t>• Ưu thế Tuyệt đối về Bộ nhớ (26,8 MB):</a:t>
            </a:r>
            <a:r>
              <a:rPr sz="1080">
                <a:solidFill>
                  <a:srgbClr val="1E293B"/>
                </a:solidFill>
                <a:latin typeface="Segoe UI"/>
              </a:rPr>
              <a:t>
Nhờ cơ chế cấp phát và thu hồi tức thời 6 vector 1 chiều trong Myers-Miller, hệ thống tốn ít RAM hơn gần một nửa so với ClustalW (48,5 MB) và MUSCLE (52,0 MB).</a:t>
            </a:r>
          </a:p>
          <a:p>
            <a:pPr>
              <a:spcAft>
                <a:spcPts val="800"/>
              </a:spcAft>
            </a:pPr>
            <a:r>
              <a:rPr sz="1080" b="1">
                <a:solidFill>
                  <a:srgbClr val="0284C7"/>
                </a:solidFill>
                <a:latin typeface="Segoe UI"/>
              </a:rPr>
              <a:t>• Cạnh tranh Sòng phẳng về Độ chính xác:</a:t>
            </a:r>
            <a:r>
              <a:rPr sz="1080">
                <a:solidFill>
                  <a:srgbClr val="1E293B"/>
                </a:solidFill>
                <a:latin typeface="Segoe UI"/>
              </a:rPr>
              <a:t>
Đạt SP = 0,488 — cao hơn ClustalW 2.1 (0,472) và chỉ thấp hơn nhẹ so với MUSCLE v3.8 (0,495) vốn thực hiện thêm nhiều vòng cắt cây tinh chỉnh lặp.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5 • HỆ THỐNG PHẦN MỀM, DEMO &amp; KẾT LUẬN</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Kiến trúc Phần mềm Modern C++17 &amp; Kiểm thử Tự động Nghiêm ngặt</a:t>
            </a:r>
          </a:p>
          <a:p>
            <a:pPr>
              <a:defRPr sz="1150" i="1">
                <a:solidFill>
                  <a:srgbClr val="BAE6FD"/>
                </a:solidFill>
                <a:latin typeface="Segoe UI"/>
              </a:defRPr>
            </a:pPr>
            <a:r>
              <a:t>Thiết kế hướng module không phụ thuộc thư viện ngoài, vượt qua 342 bài kiểm thử tự động (139.463 assertions)</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16 / 18</a:t>
            </a:r>
          </a:p>
        </p:txBody>
      </p:sp>
      <p:sp>
        <p:nvSpPr>
          <p:cNvPr id="9" name="Rounded Rectangle 8"/>
          <p:cNvSpPr/>
          <p:nvPr/>
        </p:nvSpPr>
        <p:spPr>
          <a:xfrm>
            <a:off x="411480" y="1261872"/>
            <a:ext cx="3675887" cy="2057400"/>
          </a:xfrm>
          <a:prstGeom prst="roundRect">
            <a:avLst>
              <a:gd name="adj" fmla="val 2000"/>
            </a:avLst>
          </a:prstGeom>
          <a:solidFill>
            <a:srgbClr val="E0F2FE"/>
          </a:solidFill>
          <a:ln w="15875">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3675887"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Unit Tests (139.463 Assertions)</a:t>
            </a:r>
          </a:p>
        </p:txBody>
      </p:sp>
      <p:sp>
        <p:nvSpPr>
          <p:cNvPr id="11" name="TextBox 10"/>
          <p:cNvSpPr txBox="1"/>
          <p:nvPr/>
        </p:nvSpPr>
        <p:spPr>
          <a:xfrm>
            <a:off x="557784" y="1719072"/>
            <a:ext cx="3383280" cy="1463040"/>
          </a:xfrm>
          <a:prstGeom prst="rect">
            <a:avLst/>
          </a:prstGeom>
          <a:noFill/>
        </p:spPr>
        <p:txBody>
          <a:bodyPr wrap="square">
            <a:spAutoFit/>
          </a:bodyPr>
          <a:lstStyle/>
          <a:p>
            <a:pPr>
              <a:spcAft>
                <a:spcPts val="400"/>
              </a:spcAft>
              <a:defRPr sz="2200" b="1">
                <a:solidFill>
                  <a:srgbClr val="0284C7"/>
                </a:solidFill>
                <a:latin typeface="Segoe UI"/>
              </a:defRPr>
            </a:pPr>
            <a:r>
              <a:t>108 / 108 PASS</a:t>
            </a:r>
          </a:p>
          <a:p>
            <a:pPr>
              <a:defRPr sz="1080">
                <a:solidFill>
                  <a:srgbClr val="1E293B"/>
                </a:solidFill>
                <a:latin typeface="Segoe UI"/>
              </a:defRPr>
            </a:pPr>
            <a:r>
              <a:t>Kiểm tra đối xứng BLOSUM62, đối chiếu 25 cặp ngẫu nhiên NW vs Hirschberg, chia tải MPI, cây UPGMA.</a:t>
            </a:r>
          </a:p>
        </p:txBody>
      </p:sp>
      <p:sp>
        <p:nvSpPr>
          <p:cNvPr id="12" name="Rounded Rectangle 11"/>
          <p:cNvSpPr/>
          <p:nvPr/>
        </p:nvSpPr>
        <p:spPr>
          <a:xfrm>
            <a:off x="4233672" y="1261872"/>
            <a:ext cx="3675887" cy="2057400"/>
          </a:xfrm>
          <a:prstGeom prst="roundRect">
            <a:avLst>
              <a:gd name="adj" fmla="val 2000"/>
            </a:avLst>
          </a:prstGeom>
          <a:solidFill>
            <a:srgbClr val="D1FAE5"/>
          </a:solidFill>
          <a:ln w="1587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33672" y="1261872"/>
            <a:ext cx="3675887"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End-to-End Integration Tests</a:t>
            </a:r>
          </a:p>
        </p:txBody>
      </p:sp>
      <p:sp>
        <p:nvSpPr>
          <p:cNvPr id="14" name="TextBox 13"/>
          <p:cNvSpPr txBox="1"/>
          <p:nvPr/>
        </p:nvSpPr>
        <p:spPr>
          <a:xfrm>
            <a:off x="4379976" y="1719072"/>
            <a:ext cx="3383280" cy="1463040"/>
          </a:xfrm>
          <a:prstGeom prst="rect">
            <a:avLst/>
          </a:prstGeom>
          <a:noFill/>
        </p:spPr>
        <p:txBody>
          <a:bodyPr wrap="square">
            <a:spAutoFit/>
          </a:bodyPr>
          <a:lstStyle/>
          <a:p>
            <a:pPr>
              <a:spcAft>
                <a:spcPts val="400"/>
              </a:spcAft>
              <a:defRPr sz="2200" b="1">
                <a:solidFill>
                  <a:srgbClr val="059669"/>
                </a:solidFill>
                <a:latin typeface="Segoe UI"/>
              </a:defRPr>
            </a:pPr>
            <a:r>
              <a:t>234 / 234 PASS</a:t>
            </a:r>
          </a:p>
          <a:p>
            <a:pPr>
              <a:defRPr sz="1080">
                <a:solidFill>
                  <a:srgbClr val="1E293B"/>
                </a:solidFill>
                <a:latin typeface="Segoe UI"/>
              </a:defRPr>
            </a:pPr>
            <a:r>
              <a:t>Kiểm thử toàn diện 4 giai đoạn từ đọc FASTA/MSF, xuất cây Newick (.nwk) đến chấm điểm SP/TC BAliBASE.</a:t>
            </a:r>
          </a:p>
        </p:txBody>
      </p:sp>
      <p:sp>
        <p:nvSpPr>
          <p:cNvPr id="15" name="Rounded Rectangle 14"/>
          <p:cNvSpPr/>
          <p:nvPr/>
        </p:nvSpPr>
        <p:spPr>
          <a:xfrm>
            <a:off x="8055863" y="1261872"/>
            <a:ext cx="3675887" cy="2057400"/>
          </a:xfrm>
          <a:prstGeom prst="roundRect">
            <a:avLst>
              <a:gd name="adj" fmla="val 2000"/>
            </a:avLst>
          </a:prstGeom>
          <a:solidFill>
            <a:srgbClr val="F3E8FF"/>
          </a:solidFill>
          <a:ln w="15875">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5863" y="1261872"/>
            <a:ext cx="3675887" cy="384048"/>
          </a:xfrm>
          <a:prstGeom prst="roundRect">
            <a:avLst>
              <a:gd name="adj" fmla="val 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Bảo toàn Chuỗi Sinh học</a:t>
            </a:r>
          </a:p>
        </p:txBody>
      </p:sp>
      <p:sp>
        <p:nvSpPr>
          <p:cNvPr id="17" name="TextBox 16"/>
          <p:cNvSpPr txBox="1"/>
          <p:nvPr/>
        </p:nvSpPr>
        <p:spPr>
          <a:xfrm>
            <a:off x="8202167" y="1719072"/>
            <a:ext cx="3383280" cy="1463040"/>
          </a:xfrm>
          <a:prstGeom prst="rect">
            <a:avLst/>
          </a:prstGeom>
          <a:noFill/>
        </p:spPr>
        <p:txBody>
          <a:bodyPr wrap="square">
            <a:spAutoFit/>
          </a:bodyPr>
          <a:lstStyle/>
          <a:p>
            <a:pPr>
              <a:spcAft>
                <a:spcPts val="400"/>
              </a:spcAft>
              <a:defRPr sz="2200" b="1">
                <a:solidFill>
                  <a:srgbClr val="7C3AED"/>
                </a:solidFill>
                <a:latin typeface="Segoe UI"/>
              </a:defRPr>
            </a:pPr>
            <a:r>
              <a:t>100% INVARIANT</a:t>
            </a:r>
          </a:p>
          <a:p>
            <a:pPr>
              <a:defRPr sz="1080">
                <a:solidFill>
                  <a:srgbClr val="1E293B"/>
                </a:solidFill>
                <a:latin typeface="Segoe UI"/>
              </a:defRPr>
            </a:pPr>
            <a:r>
              <a:t>Đảm bảo toán học: loại bỏ ký tự '-' sau khi căn chỉnh luôn khôi phục chính xác 100% chuỗi Amino Acid gốc.</a:t>
            </a:r>
          </a:p>
        </p:txBody>
      </p:sp>
      <p:sp>
        <p:nvSpPr>
          <p:cNvPr id="18" name="Rounded Rectangle 17"/>
          <p:cNvSpPr/>
          <p:nvPr/>
        </p:nvSpPr>
        <p:spPr>
          <a:xfrm>
            <a:off x="411480" y="3493008"/>
            <a:ext cx="11365992" cy="2852928"/>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11480" y="3493008"/>
            <a:ext cx="11365992"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Cấu trúc 6 Module C++17 (include/msa/) &amp; Các Chế độ Thực thi CLI</a:t>
            </a:r>
          </a:p>
        </p:txBody>
      </p:sp>
      <p:sp>
        <p:nvSpPr>
          <p:cNvPr id="20" name="TextBox 19"/>
          <p:cNvSpPr txBox="1"/>
          <p:nvPr/>
        </p:nvSpPr>
        <p:spPr>
          <a:xfrm>
            <a:off x="594360" y="4005072"/>
            <a:ext cx="5486400" cy="2103120"/>
          </a:xfrm>
          <a:prstGeom prst="rect">
            <a:avLst/>
          </a:prstGeom>
          <a:noFill/>
        </p:spPr>
        <p:txBody>
          <a:bodyPr wrap="square" lIns="0" rIns="0" tIns="0" bIns="0">
            <a:spAutoFit/>
          </a:bodyPr>
          <a:lstStyle/>
          <a:p>
            <a:pPr>
              <a:spcAft>
                <a:spcPts val="600"/>
              </a:spcAft>
            </a:pPr>
            <a:r>
              <a:rPr sz="1100" b="1">
                <a:solidFill>
                  <a:srgbClr val="1E293B"/>
                </a:solidFill>
                <a:latin typeface="Segoe UI"/>
              </a:rPr>
              <a:t>• msa::core: </a:t>
            </a:r>
            <a:r>
              <a:rPr sz="1100">
                <a:solidFill>
                  <a:srgbClr val="1E293B"/>
                </a:solidFill>
                <a:latin typeface="Segoe UI"/>
              </a:rPr>
              <a:t>Sequence, Profile (tần suất cột), bảng BLOSUM62 tĩnh O(1), ScoreModel.</a:t>
            </a:r>
          </a:p>
          <a:p>
            <a:pPr>
              <a:spcAft>
                <a:spcPts val="600"/>
              </a:spcAft>
            </a:pPr>
            <a:r>
              <a:rPr sz="1100" b="1">
                <a:solidFill>
                  <a:srgbClr val="1E293B"/>
                </a:solidFill>
                <a:latin typeface="Segoe UI"/>
              </a:rPr>
              <a:t>• msa::align: </a:t>
            </a:r>
            <a:r>
              <a:rPr sz="1100">
                <a:solidFill>
                  <a:srgbClr val="1E293B"/>
                </a:solidFill>
                <a:latin typeface="Segoe UI"/>
              </a:rPr>
              <a:t>NeedlemanWunschGotoh (3 ma trận), MyersMillerHirschberg (1D vector), ProfileAligner.</a:t>
            </a:r>
          </a:p>
          <a:p>
            <a:pPr>
              <a:spcAft>
                <a:spcPts val="600"/>
              </a:spcAft>
            </a:pPr>
            <a:r>
              <a:rPr sz="1100" b="1">
                <a:solidFill>
                  <a:srgbClr val="1E293B"/>
                </a:solidFill>
                <a:latin typeface="Segoe UI"/>
              </a:rPr>
              <a:t>• msa::tree: </a:t>
            </a:r>
            <a:r>
              <a:rPr sz="1100">
                <a:solidFill>
                  <a:srgbClr val="1E293B"/>
                </a:solidFill>
                <a:latin typeface="Segoe UI"/>
              </a:rPr>
              <a:t>DistanceMatrix tam giác trên, UPGMA Clustering, GuideTree &amp; xuất Newick/JSON.</a:t>
            </a:r>
          </a:p>
          <a:p>
            <a:pPr>
              <a:spcAft>
                <a:spcPts val="600"/>
              </a:spcAft>
            </a:pPr>
            <a:r>
              <a:rPr sz="1100" b="1">
                <a:solidFill>
                  <a:srgbClr val="1E293B"/>
                </a:solidFill>
                <a:latin typeface="Segoe UI"/>
              </a:rPr>
              <a:t>• msa::parallel: </a:t>
            </a:r>
            <a:r>
              <a:rPr sz="1100">
                <a:solidFill>
                  <a:srgbClr val="1E293B"/>
                </a:solidFill>
                <a:latin typeface="Segoe UI"/>
              </a:rPr>
              <a:t>Wavefront Anti-Diagonal OpenMP DP, Level-Set TreeScheduler, Hybrid MPI.</a:t>
            </a:r>
          </a:p>
          <a:p>
            <a:pPr>
              <a:spcAft>
                <a:spcPts val="600"/>
              </a:spcAft>
            </a:pPr>
            <a:r>
              <a:rPr sz="1100" b="1">
                <a:solidFill>
                  <a:srgbClr val="1E293B"/>
                </a:solidFill>
                <a:latin typeface="Segoe UI"/>
              </a:rPr>
              <a:t>• msa::eval &amp; msa::io: </a:t>
            </a:r>
            <a:r>
              <a:rPr sz="1100">
                <a:solidFill>
                  <a:srgbClr val="1E293B"/>
                </a:solidFill>
                <a:latin typeface="Segoe UI"/>
              </a:rPr>
              <a:t>BAliBASE MSF/FASTA Parser, chấm điểm SP/TC, MemoryTracker, CLI Parser.</a:t>
            </a:r>
          </a:p>
        </p:txBody>
      </p:sp>
      <p:sp>
        <p:nvSpPr>
          <p:cNvPr id="21" name="Rounded Rectangle 20"/>
          <p:cNvSpPr/>
          <p:nvPr/>
        </p:nvSpPr>
        <p:spPr>
          <a:xfrm>
            <a:off x="6263640" y="4005072"/>
            <a:ext cx="5330952" cy="2148840"/>
          </a:xfrm>
          <a:prstGeom prst="roundRect">
            <a:avLst>
              <a:gd name="adj" fmla="val 3000"/>
            </a:avLst>
          </a:prstGeom>
          <a:solidFill>
            <a:srgbClr val="F1F5F9"/>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9944" y="4078224"/>
            <a:ext cx="5038344" cy="2002536"/>
          </a:xfrm>
          <a:prstGeom prst="rect">
            <a:avLst/>
          </a:prstGeom>
          <a:noFill/>
        </p:spPr>
        <p:txBody>
          <a:bodyPr wrap="square" lIns="0" tIns="0" rIns="0" bIns="0">
            <a:spAutoFit/>
          </a:bodyPr>
          <a:lstStyle/>
          <a:p>
            <a:pPr>
              <a:spcAft>
                <a:spcPts val="400"/>
              </a:spcAft>
              <a:defRPr sz="1150" b="1">
                <a:solidFill>
                  <a:srgbClr val="1E293B"/>
                </a:solidFill>
                <a:latin typeface="Segoe UI"/>
              </a:defRPr>
            </a:pPr>
            <a:r>
              <a:t>Các Chế độ Dòng lệnh (CLI Executables: msa_align &amp; msa_align_mpi):</a:t>
            </a:r>
          </a:p>
          <a:p>
            <a:pPr>
              <a:spcAft>
                <a:spcPts val="300"/>
              </a:spcAft>
              <a:defRPr sz="1150" b="1">
                <a:solidFill>
                  <a:srgbClr val="0F172A"/>
                </a:solidFill>
                <a:latin typeface="Consolas"/>
              </a:defRPr>
            </a:pPr>
            <a:r>
              <a:t># 1. Căn chỉnh đa luồng + Chấm điểm chuẩn BAliBASE:</a:t>
            </a:r>
          </a:p>
          <a:p>
            <a:pPr>
              <a:spcAft>
                <a:spcPts val="300"/>
              </a:spcAft>
              <a:defRPr sz="1150" b="1">
                <a:solidFill>
                  <a:srgbClr val="0F172A"/>
                </a:solidFill>
                <a:latin typeface="Consolas"/>
              </a:defRPr>
            </a:pPr>
            <a:r>
              <a:t>./msa_align -i data/balibase/BB12001.msf --ref BB12001.msf -t 4</a:t>
            </a:r>
          </a:p>
          <a:p>
            <a:pPr>
              <a:spcAft>
                <a:spcPts val="300"/>
              </a:spcAft>
              <a:defRPr sz="1150" b="1">
                <a:solidFill>
                  <a:srgbClr val="0F172A"/>
                </a:solidFill>
                <a:latin typeface="Consolas"/>
              </a:defRPr>
            </a:pPr>
            <a:r>
              <a:t># 2. Đối chứng trực tiếp Gotoh NW vs. Myers-Miller:</a:t>
            </a:r>
          </a:p>
          <a:p>
            <a:pPr>
              <a:spcAft>
                <a:spcPts val="300"/>
              </a:spcAft>
              <a:defRPr sz="1150" b="1">
                <a:solidFill>
                  <a:srgbClr val="0F172A"/>
                </a:solidFill>
                <a:latin typeface="Consolas"/>
              </a:defRPr>
            </a:pPr>
            <a:r>
              <a:t>./msa_align -i data/balibase/BB11001.msf --baseline-compare</a:t>
            </a:r>
          </a:p>
          <a:p>
            <a:pPr>
              <a:spcAft>
                <a:spcPts val="300"/>
              </a:spcAft>
              <a:defRPr sz="1150" b="1">
                <a:solidFill>
                  <a:srgbClr val="0F172A"/>
                </a:solidFill>
                <a:latin typeface="Consolas"/>
              </a:defRPr>
            </a:pPr>
            <a:r>
              <a:t># 3. Chạy Hybrid MPI + OpenMP trên cụm máy tính:</a:t>
            </a:r>
          </a:p>
          <a:p>
            <a:pPr>
              <a:spcAft>
                <a:spcPts val="300"/>
              </a:spcAft>
              <a:defRPr sz="1150" b="1">
                <a:solidFill>
                  <a:srgbClr val="0F172A"/>
                </a:solidFill>
                <a:latin typeface="Consolas"/>
              </a:defRPr>
            </a:pPr>
            <a:r>
              <a:t>mpirun -np 2 -x OMP_NUM_THREADS=4 ./msa_align_mpi -i input.fa -t 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5 • HỆ THỐNG PHẦN MỀM, DEMO &amp; KẾT LUẬN</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Giao diện Web GUI Studio &amp; Kịch bản Trình diễn Thực tế (Live Demo)</a:t>
            </a:r>
          </a:p>
          <a:p>
            <a:pPr>
              <a:defRPr sz="1150" i="1">
                <a:solidFill>
                  <a:srgbClr val="BAE6FD"/>
                </a:solidFill>
                <a:latin typeface="Segoe UI"/>
              </a:defRPr>
            </a:pPr>
            <a:r>
              <a:t>Trực quan hóa Ma trận Màu Hóa học ClustalX, Cây Phát sinh UPGMA SVG và Bảng Điều khiển Benchmark Thời gian thực</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17 / 18</a:t>
            </a:r>
          </a:p>
        </p:txBody>
      </p:sp>
      <p:sp>
        <p:nvSpPr>
          <p:cNvPr id="9" name="Rounded Rectangle 8"/>
          <p:cNvSpPr/>
          <p:nvPr/>
        </p:nvSpPr>
        <p:spPr>
          <a:xfrm>
            <a:off x="411480" y="1261872"/>
            <a:ext cx="6995160" cy="2606040"/>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fig_5_1_web_alignment_matrix.png"/>
          <p:cNvPicPr>
            <a:picLocks noChangeAspect="1"/>
          </p:cNvPicPr>
          <p:nvPr/>
        </p:nvPicPr>
        <p:blipFill>
          <a:blip r:embed="rId2"/>
          <a:stretch>
            <a:fillRect/>
          </a:stretch>
        </p:blipFill>
        <p:spPr>
          <a:xfrm>
            <a:off x="1504884" y="1335024"/>
            <a:ext cx="4808350" cy="2459736"/>
          </a:xfrm>
          <a:prstGeom prst="rect">
            <a:avLst/>
          </a:prstGeom>
        </p:spPr>
      </p:pic>
      <p:sp>
        <p:nvSpPr>
          <p:cNvPr id="11" name="Rounded Rectangle 10"/>
          <p:cNvSpPr/>
          <p:nvPr/>
        </p:nvSpPr>
        <p:spPr>
          <a:xfrm>
            <a:off x="411480" y="3977639"/>
            <a:ext cx="3429000" cy="2359152"/>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_5_2_web_guide_tree.png"/>
          <p:cNvPicPr>
            <a:picLocks noChangeAspect="1"/>
          </p:cNvPicPr>
          <p:nvPr/>
        </p:nvPicPr>
        <p:blipFill>
          <a:blip r:embed="rId3"/>
          <a:stretch>
            <a:fillRect/>
          </a:stretch>
        </p:blipFill>
        <p:spPr>
          <a:xfrm>
            <a:off x="484632" y="4166526"/>
            <a:ext cx="3282696" cy="1981379"/>
          </a:xfrm>
          <a:prstGeom prst="rect">
            <a:avLst/>
          </a:prstGeom>
        </p:spPr>
      </p:pic>
      <p:sp>
        <p:nvSpPr>
          <p:cNvPr id="13" name="Rounded Rectangle 12"/>
          <p:cNvSpPr/>
          <p:nvPr/>
        </p:nvSpPr>
        <p:spPr>
          <a:xfrm>
            <a:off x="3977639" y="3977639"/>
            <a:ext cx="3429000" cy="2359152"/>
          </a:xfrm>
          <a:prstGeom prst="roundRect">
            <a:avLst>
              <a:gd name="adj" fmla="val 15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fig_5_3_web_benchmark_dashboard.png"/>
          <p:cNvPicPr>
            <a:picLocks noChangeAspect="1"/>
          </p:cNvPicPr>
          <p:nvPr/>
        </p:nvPicPr>
        <p:blipFill>
          <a:blip r:embed="rId4"/>
          <a:stretch>
            <a:fillRect/>
          </a:stretch>
        </p:blipFill>
        <p:spPr>
          <a:xfrm>
            <a:off x="4050791" y="4166526"/>
            <a:ext cx="3282696" cy="1981379"/>
          </a:xfrm>
          <a:prstGeom prst="rect">
            <a:avLst/>
          </a:prstGeom>
        </p:spPr>
      </p:pic>
      <p:sp>
        <p:nvSpPr>
          <p:cNvPr id="15" name="Rounded Rectangle 14"/>
          <p:cNvSpPr/>
          <p:nvPr/>
        </p:nvSpPr>
        <p:spPr>
          <a:xfrm>
            <a:off x="7571231" y="1261872"/>
            <a:ext cx="4206240"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1261872"/>
            <a:ext cx="4206240" cy="384048"/>
          </a:xfrm>
          <a:prstGeom prst="roundRect">
            <a:avLst>
              <a:gd name="adj" fmla="val 2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Kịch bản Live Demo (90 – 120 Giây)</a:t>
            </a:r>
          </a:p>
        </p:txBody>
      </p:sp>
      <p:sp>
        <p:nvSpPr>
          <p:cNvPr id="17" name="TextBox 16"/>
          <p:cNvSpPr txBox="1"/>
          <p:nvPr/>
        </p:nvSpPr>
        <p:spPr>
          <a:xfrm>
            <a:off x="7726679" y="1773936"/>
            <a:ext cx="3895344" cy="4480560"/>
          </a:xfrm>
          <a:prstGeom prst="rect">
            <a:avLst/>
          </a:prstGeom>
          <a:noFill/>
        </p:spPr>
        <p:txBody>
          <a:bodyPr wrap="square" lIns="0" rIns="0" tIns="0" bIns="0">
            <a:spAutoFit/>
          </a:bodyPr>
          <a:lstStyle/>
          <a:p>
            <a:pPr>
              <a:spcAft>
                <a:spcPts val="800"/>
              </a:spcAft>
            </a:pPr>
            <a:r>
              <a:rPr sz="1080" b="1">
                <a:solidFill>
                  <a:srgbClr val="0284C7"/>
                </a:solidFill>
                <a:latin typeface="Segoe UI"/>
              </a:rPr>
              <a:t>Bước 1 — Khởi chạy &amp; Chọn Preset (30s):</a:t>
            </a:r>
            <a:r>
              <a:rPr sz="1080">
                <a:solidFill>
                  <a:srgbClr val="1E293B"/>
                </a:solidFill>
                <a:latin typeface="Segoe UI"/>
              </a:rPr>
              <a:t>
• Mở http://localhost:8000 (FastAPI + C++17 IPC).
• Chọn preset BAliBASE RV12 (BB12001.msf) hoặc Hemoglobin.
• Bật Baseline Comparison + Multi-thread Benchmark (1→8 luồng), nhấn Run Alignment.</a:t>
            </a:r>
          </a:p>
          <a:p>
            <a:pPr>
              <a:spcAft>
                <a:spcPts val="800"/>
              </a:spcAft>
            </a:pPr>
            <a:r>
              <a:rPr sz="1080" b="1">
                <a:solidFill>
                  <a:srgbClr val="059669"/>
                </a:solidFill>
                <a:latin typeface="Segoe UI"/>
              </a:rPr>
              <a:t>Bước 2 — Phân tích Sinh học Trực quan (40s):</a:t>
            </a:r>
            <a:r>
              <a:rPr sz="1080">
                <a:solidFill>
                  <a:srgbClr val="1E293B"/>
                </a:solidFill>
                <a:latin typeface="Segoe UI"/>
              </a:rPr>
              <a:t>
• Quan sát Ma trận màu Amino Acid chuẩn Jalview/ClustalX (Kỵ nước: Xanh lam, Điện tích dương: Đỏ, Âm: Tím) &amp; biểu đồ cột Conservation.
• Chuyển sang tab UPGMA Guide Tree: tương tác phóng to/thu nhỏ cây SVG và xuất file Newick.</a:t>
            </a:r>
          </a:p>
          <a:p>
            <a:pPr>
              <a:spcAft>
                <a:spcPts val="800"/>
              </a:spcAft>
            </a:pPr>
            <a:r>
              <a:rPr sz="1080" b="1">
                <a:solidFill>
                  <a:srgbClr val="7C3AED"/>
                </a:solidFill>
                <a:latin typeface="Segoe UI"/>
              </a:rPr>
              <a:t>Bước 3 — Kiểm chứng Hiệu năng (30s):</a:t>
            </a:r>
            <a:r>
              <a:rPr sz="1080">
                <a:solidFill>
                  <a:srgbClr val="1E293B"/>
                </a:solidFill>
                <a:latin typeface="Segoe UI"/>
              </a:rPr>
              <a:t>
• Mở tab Benchmark Dashboard: đối chiếu thẻ tiết kiệm RAM (&gt;700×), điểm SP/TC tự động và đồ thị Speedup.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PHẦN 5 • HỆ THỐNG PHẦN MỀM, DEMO &amp; KẾT LUẬN</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Kết luận, Đóng góp Khoa học &amp; Hướng Phát triển Mở rộng</a:t>
            </a:r>
          </a:p>
          <a:p>
            <a:pPr>
              <a:defRPr sz="1150" i="1">
                <a:solidFill>
                  <a:srgbClr val="BAE6FD"/>
                </a:solidFill>
                <a:latin typeface="Segoe UI"/>
              </a:defRPr>
            </a:pPr>
            <a:r>
              <a:t>Giải quyết trọn vẹn bài toán MSA với bộ nhớ tối ưu O(k · L), tốc độ đa luồng cao và kiểm chứng chuẩn quốc tế</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Slide 18 / 18</a:t>
            </a:r>
          </a:p>
        </p:txBody>
      </p:sp>
      <p:sp>
        <p:nvSpPr>
          <p:cNvPr id="9" name="Rounded Rectangle 8"/>
          <p:cNvSpPr/>
          <p:nvPr/>
        </p:nvSpPr>
        <p:spPr>
          <a:xfrm>
            <a:off x="411480" y="1261872"/>
            <a:ext cx="5715000" cy="443484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5715000" cy="384048"/>
          </a:xfrm>
          <a:prstGeom prst="roundRect">
            <a:avLst>
              <a:gd name="adj" fmla="val 2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1. Tổng kết 4 Đóng góp Cốt lõi của Đồ án</a:t>
            </a:r>
          </a:p>
        </p:txBody>
      </p:sp>
      <p:sp>
        <p:nvSpPr>
          <p:cNvPr id="11" name="TextBox 10"/>
          <p:cNvSpPr txBox="1"/>
          <p:nvPr/>
        </p:nvSpPr>
        <p:spPr>
          <a:xfrm>
            <a:off x="594360" y="1773936"/>
            <a:ext cx="5349240" cy="3749039"/>
          </a:xfrm>
          <a:prstGeom prst="rect">
            <a:avLst/>
          </a:prstGeom>
          <a:noFill/>
        </p:spPr>
        <p:txBody>
          <a:bodyPr wrap="square" lIns="0" rIns="0" tIns="0" bIns="0">
            <a:spAutoFit/>
          </a:bodyPr>
          <a:lstStyle/>
          <a:p>
            <a:pPr>
              <a:spcAft>
                <a:spcPts val="800"/>
              </a:spcAft>
            </a:pPr>
            <a:r>
              <a:rPr sz="1100" b="1">
                <a:solidFill>
                  <a:srgbClr val="059669"/>
                </a:solidFill>
                <a:latin typeface="Segoe UI"/>
              </a:rPr>
              <a:t>① Đột phá Bộ nhớ Tuyến tính O(min(m, n)):</a:t>
            </a:r>
            <a:r>
              <a:rPr sz="1100">
                <a:solidFill>
                  <a:srgbClr val="1E293B"/>
                </a:solidFill>
                <a:latin typeface="Segoe UI"/>
              </a:rPr>
              <a:t>
Thiết kế và cài đặt hoàn chỉnh thuật toán Chia để trị Myers-Miller kết hợp Profile-to-Profile, giảm bộ nhớ tới 1.353,5× so với Gotoh NW và đạt điểm số trùng khớp 100%.</a:t>
            </a:r>
          </a:p>
          <a:p>
            <a:pPr>
              <a:spcAft>
                <a:spcPts val="800"/>
              </a:spcAft>
            </a:pPr>
            <a:r>
              <a:rPr sz="1100" b="1">
                <a:solidFill>
                  <a:srgbClr val="0284C7"/>
                </a:solidFill>
                <a:latin typeface="Segoe UI"/>
              </a:rPr>
              <a:t>② Kiến trúc Song song Đa tầng (OpenMP + MPI):</a:t>
            </a:r>
            <a:r>
              <a:rPr sz="1100">
                <a:solidFill>
                  <a:srgbClr val="1E293B"/>
                </a:solidFill>
                <a:latin typeface="Segoe UI"/>
              </a:rPr>
              <a:t>
Khai thác đồng thời song song cặp khoảng cách, lập lịch cây Level-Set và đường chéo Wavefront, đạt Speedup 1,73× trên CPU đa nhân.</a:t>
            </a:r>
          </a:p>
          <a:p>
            <a:pPr>
              <a:spcAft>
                <a:spcPts val="800"/>
              </a:spcAft>
            </a:pPr>
            <a:r>
              <a:rPr sz="1100" b="1">
                <a:solidFill>
                  <a:srgbClr val="7C3AED"/>
                </a:solidFill>
                <a:latin typeface="Segoe UI"/>
              </a:rPr>
              <a:t>③ Thực nghiệm Chuẩn Quốc tế BAliBASE 3.0:</a:t>
            </a:r>
            <a:r>
              <a:rPr sz="1100">
                <a:solidFill>
                  <a:srgbClr val="1E293B"/>
                </a:solidFill>
                <a:latin typeface="Segoe UI"/>
              </a:rPr>
              <a:t>
Đạt độ chính xác sinh học SP = 86,8% trên RV12, tiêu thụ RAM thấp hơn ~45% so với ClustalW 2.1 và MUSCLE v3.8.</a:t>
            </a:r>
          </a:p>
          <a:p>
            <a:pPr>
              <a:spcAft>
                <a:spcPts val="800"/>
              </a:spcAft>
            </a:pPr>
            <a:r>
              <a:rPr sz="1100" b="1">
                <a:solidFill>
                  <a:srgbClr val="0F172A"/>
                </a:solidFill>
                <a:latin typeface="Segoe UI"/>
              </a:rPr>
              <a:t>④ Hệ thống C++17 Chuẩn Công nghiệp &amp; Web Studio:</a:t>
            </a:r>
            <a:r>
              <a:rPr sz="1100">
                <a:solidFill>
                  <a:srgbClr val="1E293B"/>
                </a:solidFill>
                <a:latin typeface="Segoe UI"/>
              </a:rPr>
              <a:t>
342 bài kiểm thử tự động (100% Pass) cùng giao diện trực quan hóa sinh học toàn diện.</a:t>
            </a:r>
          </a:p>
        </p:txBody>
      </p:sp>
      <p:sp>
        <p:nvSpPr>
          <p:cNvPr id="12" name="Rounded Rectangle 11"/>
          <p:cNvSpPr/>
          <p:nvPr/>
        </p:nvSpPr>
        <p:spPr>
          <a:xfrm>
            <a:off x="6309360" y="1261872"/>
            <a:ext cx="5468112" cy="443484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60" y="1261872"/>
            <a:ext cx="5468112"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2. Hướng Phát triển Mở rộng Tiếp theo</a:t>
            </a:r>
          </a:p>
        </p:txBody>
      </p:sp>
      <p:sp>
        <p:nvSpPr>
          <p:cNvPr id="14" name="TextBox 13"/>
          <p:cNvSpPr txBox="1"/>
          <p:nvPr/>
        </p:nvSpPr>
        <p:spPr>
          <a:xfrm>
            <a:off x="6492240" y="1773936"/>
            <a:ext cx="5102352" cy="3749039"/>
          </a:xfrm>
          <a:prstGeom prst="rect">
            <a:avLst/>
          </a:prstGeom>
          <a:noFill/>
        </p:spPr>
        <p:txBody>
          <a:bodyPr wrap="square" lIns="0" rIns="0" tIns="0" bIns="0">
            <a:spAutoFit/>
          </a:bodyPr>
          <a:lstStyle/>
          <a:p>
            <a:pPr>
              <a:spcAft>
                <a:spcPts val="1000"/>
              </a:spcAft>
            </a:pPr>
            <a:r>
              <a:rPr sz="1100" b="1">
                <a:solidFill>
                  <a:srgbClr val="D97706"/>
                </a:solidFill>
                <a:latin typeface="Segoe UI"/>
              </a:rPr>
              <a:t>• Bổ sung Pha Tinh chỉnh Lặp (Iterative Refinement):</a:t>
            </a:r>
            <a:r>
              <a:rPr sz="1100">
                <a:solidFill>
                  <a:srgbClr val="1E293B"/>
                </a:solidFill>
                <a:latin typeface="Segoe UI"/>
              </a:rPr>
              <a:t>
Cắt ngẫu nhiên các nhánh cây UPGMA và căn chỉnh lại Profile (Tree-dependent Restricted Partitioning kiểu MUSCLE/MAFFT) để khắc phục lỗi 'Once a gap, always a gap' và nâng cao điểm TC trên RV20.</a:t>
            </a:r>
          </a:p>
          <a:p>
            <a:pPr>
              <a:spcAft>
                <a:spcPts val="1000"/>
              </a:spcAft>
            </a:pPr>
            <a:r>
              <a:rPr sz="1100" b="1">
                <a:solidFill>
                  <a:srgbClr val="0284C7"/>
                </a:solidFill>
                <a:latin typeface="Segoe UI"/>
              </a:rPr>
              <a:t>• Tăng tốc Phần cứng Vector hóa SIMD (AVX-512) &amp; GPU CUDA:</a:t>
            </a:r>
            <a:r>
              <a:rPr sz="1100">
                <a:solidFill>
                  <a:srgbClr val="1E293B"/>
                </a:solidFill>
                <a:latin typeface="Segoe UI"/>
              </a:rPr>
              <a:t>
Vector hóa phép nhân tích vô hướng tần suất cột PSP(x,y) và đẩy mặt sóng Wavefront lên hàng nghìn nhân GPU.</a:t>
            </a:r>
          </a:p>
          <a:p>
            <a:pPr>
              <a:spcAft>
                <a:spcPts val="1000"/>
              </a:spcAft>
            </a:pPr>
            <a:r>
              <a:rPr sz="1100" b="1">
                <a:solidFill>
                  <a:srgbClr val="7C3AED"/>
                </a:solidFill>
                <a:latin typeface="Segoe UI"/>
              </a:rPr>
              <a:t>• Hàm Điểm Thích nghi Đa Ma trận (Adaptive Scoring):</a:t>
            </a:r>
            <a:r>
              <a:rPr sz="1100">
                <a:solidFill>
                  <a:srgbClr val="1E293B"/>
                </a:solidFill>
                <a:latin typeface="Segoe UI"/>
              </a:rPr>
              <a:t>
Tự động chuyển đổi ma trận BLOSUM80 / BLOSUM62 / BLOSUM45 dựa trên độ sâu nhánh cây UPGMA.</a:t>
            </a:r>
          </a:p>
        </p:txBody>
      </p:sp>
      <p:sp>
        <p:nvSpPr>
          <p:cNvPr id="15" name="Rounded Rectangle 14"/>
          <p:cNvSpPr/>
          <p:nvPr/>
        </p:nvSpPr>
        <p:spPr>
          <a:xfrm>
            <a:off x="411480" y="5806440"/>
            <a:ext cx="11365992" cy="621792"/>
          </a:xfrm>
          <a:prstGeom prst="roundRect">
            <a:avLst/>
          </a:prstGeom>
          <a:solidFill>
            <a:srgbClr val="0F172A"/>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50" b="1">
                <a:solidFill>
                  <a:srgbClr val="FFFFFF"/>
                </a:solidFill>
                <a:latin typeface="Segoe UI"/>
              </a:defRPr>
            </a:pPr>
            <a:r>
              <a:t>CẢM ƠN THẦY/CÔ VÀ CÁC BẠN ĐÃ LẮNG NGHE!  •  NHÓM 5 XIN TRÂN TRỌNG ĐÓN NHẬN CÂU HỎI PHẢN BIỆN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PHỤ LỤC PHẢN BIỆN • BACKUP Q&amp;A #1</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[Q&amp;A Lý thuyết] Xử lý Khoảng trống Xuyên qua Nhát cắt Giữa (Gap Coalescing)</a:t>
            </a:r>
          </a:p>
          <a:p>
            <a:pPr>
              <a:defRPr sz="1150" i="1">
                <a:solidFill>
                  <a:srgbClr val="BAE6FD"/>
                </a:solidFill>
                <a:latin typeface="Segoe UI"/>
              </a:defRPr>
            </a:pPr>
            <a:r>
              <a:t>Tại sao chia đôi ma trận tại dòng i* = ⌊m/2⌋ không làm phạt mở khoảng trống G_open hai lần?</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Backup B1 / 3</a:t>
            </a:r>
          </a:p>
        </p:txBody>
      </p:sp>
      <p:sp>
        <p:nvSpPr>
          <p:cNvPr id="9" name="Rounded Rectangle 8"/>
          <p:cNvSpPr/>
          <p:nvPr/>
        </p:nvSpPr>
        <p:spPr>
          <a:xfrm>
            <a:off x="411480" y="1261872"/>
            <a:ext cx="1136599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11365992" cy="384048"/>
          </a:xfrm>
          <a:prstGeom prst="roundRect">
            <a:avLst>
              <a:gd name="adj" fmla="val 200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Câu hỏi: Nếu đường căn chỉnh tối ưu đi qua một khoảng trống kéo dài xuyên qua dòng i*, thuật toán xử lý thế nào?</a:t>
            </a:r>
          </a:p>
        </p:txBody>
      </p:sp>
      <p:sp>
        <p:nvSpPr>
          <p:cNvPr id="11" name="Rounded Rectangle 10"/>
          <p:cNvSpPr/>
          <p:nvPr/>
        </p:nvSpPr>
        <p:spPr>
          <a:xfrm>
            <a:off x="594360" y="1810512"/>
            <a:ext cx="11000232" cy="1874519"/>
          </a:xfrm>
          <a:prstGeom prst="roundRect">
            <a:avLst>
              <a:gd name="adj" fmla="val 3000"/>
            </a:avLst>
          </a:prstGeom>
          <a:solidFill>
            <a:srgbClr val="E0F2FE"/>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883664"/>
            <a:ext cx="10707624" cy="1728216"/>
          </a:xfrm>
          <a:prstGeom prst="rect">
            <a:avLst/>
          </a:prstGeom>
          <a:noFill/>
        </p:spPr>
        <p:txBody>
          <a:bodyPr wrap="square" lIns="0" tIns="0" rIns="0" bIns="0">
            <a:spAutoFit/>
          </a:bodyPr>
          <a:lstStyle/>
          <a:p>
            <a:pPr>
              <a:spcAft>
                <a:spcPts val="400"/>
              </a:spcAft>
              <a:defRPr sz="1150" b="1">
                <a:solidFill>
                  <a:srgbClr val="0284C7"/>
                </a:solidFill>
                <a:latin typeface="Segoe UI"/>
              </a:defRPr>
            </a:pPr>
            <a:r>
              <a:t>Phương trình Khớp Trạng thái tại Ranh giới Chia cắt i* = ⌊m/2⌋:</a:t>
            </a:r>
          </a:p>
          <a:p>
            <a:pPr>
              <a:spcAft>
                <a:spcPts val="300"/>
              </a:spcAft>
              <a:defRPr sz="1150" b="1">
                <a:solidFill>
                  <a:srgbClr val="0F172A"/>
                </a:solidFill>
                <a:latin typeface="Consolas"/>
              </a:defRPr>
            </a:pPr>
            <a:r>
              <a:t>Score(j) = max {</a:t>
            </a:r>
          </a:p>
          <a:p>
            <a:pPr>
              <a:spcAft>
                <a:spcPts val="300"/>
              </a:spcAft>
              <a:defRPr sz="1150" b="1">
                <a:solidFill>
                  <a:srgbClr val="0F172A"/>
                </a:solidFill>
                <a:latin typeface="Consolas"/>
              </a:defRPr>
            </a:pPr>
            <a:r>
              <a:t>   ① Khớp / Thay thế qua ranh giới:      Fwd_M(j)  + Bwd_M(j),</a:t>
            </a:r>
          </a:p>
          <a:p>
            <a:pPr>
              <a:spcAft>
                <a:spcPts val="300"/>
              </a:spcAft>
              <a:defRPr sz="1150" b="1">
                <a:solidFill>
                  <a:srgbClr val="0F172A"/>
                </a:solidFill>
                <a:latin typeface="Consolas"/>
              </a:defRPr>
            </a:pPr>
            <a:r>
              <a:t>   ② Khoảng trống xuyên qua ranh giới:   Fwd_Ix(j) + Bwd_Ix(j) - G_open + G_ext</a:t>
            </a:r>
          </a:p>
          <a:p>
            <a:pPr>
              <a:spcAft>
                <a:spcPts val="300"/>
              </a:spcAft>
              <a:defRPr sz="1150" b="1">
                <a:solidFill>
                  <a:srgbClr val="0F172A"/>
                </a:solidFill>
                <a:latin typeface="Consolas"/>
              </a:defRPr>
            </a:pPr>
            <a:r>
              <a:t>}</a:t>
            </a:r>
          </a:p>
        </p:txBody>
      </p:sp>
      <p:sp>
        <p:nvSpPr>
          <p:cNvPr id="13" name="TextBox 12"/>
          <p:cNvSpPr txBox="1"/>
          <p:nvPr/>
        </p:nvSpPr>
        <p:spPr>
          <a:xfrm>
            <a:off x="594360" y="3822191"/>
            <a:ext cx="11000232" cy="2286000"/>
          </a:xfrm>
          <a:prstGeom prst="rect">
            <a:avLst/>
          </a:prstGeom>
          <a:noFill/>
        </p:spPr>
        <p:txBody>
          <a:bodyPr wrap="square" lIns="0" rIns="0" tIns="0" bIns="0">
            <a:spAutoFit/>
          </a:bodyPr>
          <a:lstStyle/>
          <a:p>
            <a:pPr>
              <a:spcAft>
                <a:spcPts val="1000"/>
              </a:spcAft>
            </a:pPr>
            <a:r>
              <a:rPr sz="1150" b="1">
                <a:solidFill>
                  <a:srgbClr val="E11D48"/>
                </a:solidFill>
                <a:latin typeface="Segoe UI"/>
              </a:rPr>
              <a:t>• Bản chất Toán học của Hiệu chỉnh (-G_open + G_ext):</a:t>
            </a:r>
            <a:r>
              <a:rPr sz="1150">
                <a:solidFill>
                  <a:srgbClr val="1E293B"/>
                </a:solidFill>
                <a:latin typeface="Segoe UI"/>
              </a:rPr>
              <a:t>
Một khoảng trống độ dài g = g₁ + g₂ (với g₁ ở nửa trên, g₂ ở nửa dưới) có chi phí thực tế là: G_open + (g₁ + g₂ - 1)·G_ext.
Tuy nhiên, tổng Fwd_Ix(j) + Bwd_Ix(j) đã tính: [G_open + (g₁ - 1)·G_ext] + [G_open + (g₂ - 1)·G_ext] = 2·G_open + (g₁ + g₂ - 2)·G_ext.
Do đó, ta phải TRỪ đi 1 lần G_open và CỘNG bù 1 lần G_ext để hợp nhất (coalesce) hai nửa thành đúng 1 khoảng trống liên tục!</a:t>
            </a:r>
          </a:p>
          <a:p>
            <a:pPr>
              <a:spcAft>
                <a:spcPts val="1000"/>
              </a:spcAft>
            </a:pPr>
            <a:r>
              <a:rPr sz="1150" b="1">
                <a:solidFill>
                  <a:srgbClr val="0F172A"/>
                </a:solidFill>
                <a:latin typeface="Segoe UI"/>
              </a:rPr>
              <a:t>• Truyền Cờ Biên Đệ quy (Boundary State Flags: tb_top, tb_bottom):</a:t>
            </a:r>
            <a:r>
              <a:rPr sz="1150">
                <a:solidFill>
                  <a:srgbClr val="1E293B"/>
                </a:solidFill>
                <a:latin typeface="Segoe UI"/>
              </a:rPr>
              <a:t>
Khi trường hợp ② đạt cực đại tại cột j*, lời gọi đệ quy truyền cờ ép bài toán con nửa trên phải kết thúc ở trạng thái Ix và bài toán con nửa dưới phải bắt đầu từ trạng thái Ix.</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PHỤ LỤC PHẢN BIỆN • BACKUP Q&amp;A #2</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[Q&amp;A Thực nghiệm] Tại sao TC Score trên RV20 bằng 0 dù SP Score đạt tới 92%?</a:t>
            </a:r>
          </a:p>
          <a:p>
            <a:pPr>
              <a:defRPr sz="1150" i="1">
                <a:solidFill>
                  <a:srgbClr val="BAE6FD"/>
                </a:solidFill>
                <a:latin typeface="Segoe UI"/>
              </a:defRPr>
            </a:pPr>
            <a:r>
              <a:t>Phân tích sự khác biệt toán học giữa thước đo SP Score vs. TC Score và đặc trưng của Progressive MSA</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Backup B2 / 3</a:t>
            </a:r>
          </a:p>
        </p:txBody>
      </p:sp>
      <p:sp>
        <p:nvSpPr>
          <p:cNvPr id="9" name="Rounded Rectangle 8"/>
          <p:cNvSpPr/>
          <p:nvPr/>
        </p:nvSpPr>
        <p:spPr>
          <a:xfrm>
            <a:off x="411480" y="1261872"/>
            <a:ext cx="1136599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11365992" cy="384048"/>
          </a:xfrm>
          <a:prstGeom prst="roundRect">
            <a:avLst>
              <a:gd name="adj" fmla="val 2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Câu hỏi: Trên tập BB20003 (RV20), tại sao SP Score đạt 0,920 (92%) nhưng TC Score lại bằng 0,000?</a:t>
            </a:r>
          </a:p>
        </p:txBody>
      </p:sp>
      <p:sp>
        <p:nvSpPr>
          <p:cNvPr id="11" name="Rounded Rectangle 10"/>
          <p:cNvSpPr/>
          <p:nvPr/>
        </p:nvSpPr>
        <p:spPr>
          <a:xfrm>
            <a:off x="594360" y="1810512"/>
            <a:ext cx="11000232" cy="1691640"/>
          </a:xfrm>
          <a:prstGeom prst="roundRect">
            <a:avLst>
              <a:gd name="adj" fmla="val 3000"/>
            </a:avLst>
          </a:prstGeom>
          <a:solidFill>
            <a:srgbClr val="F3E8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 y="1883664"/>
            <a:ext cx="10707624" cy="1545336"/>
          </a:xfrm>
          <a:prstGeom prst="rect">
            <a:avLst/>
          </a:prstGeom>
          <a:noFill/>
        </p:spPr>
        <p:txBody>
          <a:bodyPr wrap="square" lIns="0" tIns="0" rIns="0" bIns="0">
            <a:spAutoFit/>
          </a:bodyPr>
          <a:lstStyle/>
          <a:p>
            <a:pPr>
              <a:spcAft>
                <a:spcPts val="400"/>
              </a:spcAft>
              <a:defRPr sz="1150" b="1">
                <a:solidFill>
                  <a:srgbClr val="7C3AED"/>
                </a:solidFill>
                <a:latin typeface="Segoe UI"/>
              </a:defRPr>
            </a:pPr>
            <a:r>
              <a:t>So sánh Công thức Toán học của SP Score và TC Score:</a:t>
            </a:r>
          </a:p>
          <a:p>
            <a:pPr>
              <a:spcAft>
                <a:spcPts val="300"/>
              </a:spcAft>
              <a:defRPr sz="1150" b="1">
                <a:solidFill>
                  <a:srgbClr val="0F172A"/>
                </a:solidFill>
                <a:latin typeface="Consolas"/>
              </a:defRPr>
            </a:pPr>
            <a:r>
              <a:t>• SP Score = (Tổng số cặp ký tự căn chỉnh đúng trong mọi cột Core Block) / (Tổng số cặp trong chuẩn Reference)</a:t>
            </a:r>
          </a:p>
          <a:p>
            <a:pPr>
              <a:spcAft>
                <a:spcPts val="300"/>
              </a:spcAft>
              <a:defRPr sz="1150" b="1">
                <a:solidFill>
                  <a:srgbClr val="0F172A"/>
                </a:solidFill>
                <a:latin typeface="Consolas"/>
              </a:defRPr>
            </a:pPr>
            <a:r>
              <a:t>• TC Score = (Số lượng cột mà TẤT CẢ 100% chuỗi đều khớp hoàn hảo) / (Tổng số cột Core Block chuẩn)</a:t>
            </a:r>
          </a:p>
          <a:p>
            <a:pPr>
              <a:spcAft>
                <a:spcPts val="300"/>
              </a:spcAft>
              <a:defRPr sz="1150" b="1">
                <a:solidFill>
                  <a:srgbClr val="0F172A"/>
                </a:solidFill>
                <a:latin typeface="Consolas"/>
              </a:defRPr>
            </a:pPr>
            <a:r>
              <a:t>  ⇒ Chỉ cần 1 chuỗi duy nhất (trong số 30–40 chuỗi của RV20) bị lệch đi 1 vị trí gap → Cả cột đó nhận TC = 0!</a:t>
            </a:r>
          </a:p>
        </p:txBody>
      </p:sp>
      <p:sp>
        <p:nvSpPr>
          <p:cNvPr id="13" name="TextBox 12"/>
          <p:cNvSpPr txBox="1"/>
          <p:nvPr/>
        </p:nvSpPr>
        <p:spPr>
          <a:xfrm>
            <a:off x="594360" y="3639312"/>
            <a:ext cx="11000232" cy="2468880"/>
          </a:xfrm>
          <a:prstGeom prst="rect">
            <a:avLst/>
          </a:prstGeom>
          <a:noFill/>
        </p:spPr>
        <p:txBody>
          <a:bodyPr wrap="square" lIns="0" rIns="0" tIns="0" bIns="0">
            <a:spAutoFit/>
          </a:bodyPr>
          <a:lstStyle/>
          <a:p>
            <a:pPr>
              <a:spcAft>
                <a:spcPts val="1000"/>
              </a:spcAft>
            </a:pPr>
            <a:r>
              <a:rPr sz="1150" b="1">
                <a:solidFill>
                  <a:srgbClr val="059669"/>
                </a:solidFill>
                <a:latin typeface="Segoe UI"/>
              </a:rPr>
              <a:t>1. Đặc trưng của Phân vùng BAliBASE RV20 (Families with Orphan Sequences):</a:t>
            </a:r>
            <a:r>
              <a:rPr sz="1150">
                <a:solidFill>
                  <a:srgbClr val="1E293B"/>
                </a:solidFill>
                <a:latin typeface="Segoe UI"/>
              </a:rPr>
              <a:t>
RV20 chứa một họ lớn các chuỗi rất giống nhau kèm theo một vài chuỗi 'mồ côi' (orphan sequences) cực kỳ phân kỳ. Hệ thống của nhóm đã căn chỉnh đúng tuyệt đối nhóm chuỗi chính (nên tổng số cặp đúng SP đạt tới 92,0%), nhưng chuỗi ngoại lai cuối cùng ghép vào gốc cây bị lệch pha vài cột.</a:t>
            </a:r>
          </a:p>
          <a:p>
            <a:pPr>
              <a:spcAft>
                <a:spcPts val="1000"/>
              </a:spcAft>
            </a:pPr>
            <a:r>
              <a:rPr sz="1150" b="1">
                <a:solidFill>
                  <a:srgbClr val="D97706"/>
                </a:solidFill>
                <a:latin typeface="Segoe UI"/>
              </a:rPr>
              <a:t>2. Nguyên lý 'Once a gap, always a gap' của Progressive Alignment thuần túy:</a:t>
            </a:r>
            <a:r>
              <a:rPr sz="1150">
                <a:solidFill>
                  <a:srgbClr val="1E293B"/>
                </a:solidFill>
                <a:latin typeface="Segoe UI"/>
              </a:rPr>
              <a:t>
Phương pháp tiến bộ một lượt (Single-pass Progressive) không quay lui để sửa lại vị trí gap sau khi đã hợp nhất. Đây là lý do các công cụ như ClustalW cũng thường có TC thấp trên RV20 nếu không có pha hậu xử lý Iterative Refinement.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 y="109728"/>
            <a:ext cx="3017520" cy="23774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defRPr sz="950" b="1">
                <a:solidFill>
                  <a:srgbClr val="FFFFFF"/>
                </a:solidFill>
                <a:latin typeface="Segoe UI"/>
              </a:defRPr>
            </a:pPr>
            <a:r>
              <a:t>PHỤ LỤC PHẢN BIỆN • BACKUP Q&amp;A #3</a:t>
            </a:r>
          </a:p>
        </p:txBody>
      </p:sp>
      <p:sp>
        <p:nvSpPr>
          <p:cNvPr id="5" name="TextBox 4"/>
          <p:cNvSpPr txBox="1"/>
          <p:nvPr/>
        </p:nvSpPr>
        <p:spPr>
          <a:xfrm>
            <a:off x="411480" y="347472"/>
            <a:ext cx="11338560" cy="685800"/>
          </a:xfrm>
          <a:prstGeom prst="rect">
            <a:avLst/>
          </a:prstGeom>
          <a:noFill/>
        </p:spPr>
        <p:txBody>
          <a:bodyPr wrap="square" lIns="0" tIns="0" rIns="0" bIns="0">
            <a:spAutoFit/>
          </a:bodyPr>
          <a:lstStyle/>
          <a:p>
            <a:pPr>
              <a:defRPr sz="2000" b="1">
                <a:solidFill>
                  <a:srgbClr val="FFFFFF"/>
                </a:solidFill>
                <a:latin typeface="Segoe UI"/>
              </a:defRPr>
            </a:pPr>
            <a:r>
              <a:t>[Q&amp;A Song song hóa] Phân tích Hiện tượng Bão hòa Speedup ở 8 Luồng OpenMP</a:t>
            </a:r>
          </a:p>
          <a:p>
            <a:pPr>
              <a:defRPr sz="1150" i="1">
                <a:solidFill>
                  <a:srgbClr val="BAE6FD"/>
                </a:solidFill>
                <a:latin typeface="Segoe UI"/>
              </a:defRPr>
            </a:pPr>
            <a:r>
              <a:t>Giải thích bằng Hình thái Cây UPGMA (Tree Topology) và Băng thông Bộ nhớ Đệm (Memory Bandwidth)</a:t>
            </a:r>
          </a:p>
        </p:txBody>
      </p:sp>
      <p:sp>
        <p:nvSpPr>
          <p:cNvPr id="6" name="Rectangle 5"/>
          <p:cNvSpPr/>
          <p:nvPr/>
        </p:nvSpPr>
        <p:spPr>
          <a:xfrm>
            <a:off x="0" y="6537960"/>
            <a:ext cx="12191695" cy="32004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65392"/>
            <a:ext cx="8686800" cy="256032"/>
          </a:xfrm>
          <a:prstGeom prst="rect">
            <a:avLst/>
          </a:prstGeom>
          <a:noFill/>
        </p:spPr>
        <p:txBody>
          <a:bodyPr wrap="none" lIns="0" tIns="0">
            <a:spAutoFit/>
          </a:bodyPr>
          <a:lstStyle/>
          <a:p>
            <a:pPr>
              <a:defRPr sz="950">
                <a:solidFill>
                  <a:srgbClr val="475569"/>
                </a:solidFill>
                <a:latin typeface="Segoe UI"/>
              </a:defRPr>
            </a:pPr>
            <a:r>
              <a:t>Nhóm 5 | Phân tích &amp; Thiết kế Thuật toán — Thuật toán Chia để trị Song song Myers-Miller cho MSA</a:t>
            </a:r>
          </a:p>
        </p:txBody>
      </p:sp>
      <p:sp>
        <p:nvSpPr>
          <p:cNvPr id="8" name="TextBox 7"/>
          <p:cNvSpPr txBox="1"/>
          <p:nvPr/>
        </p:nvSpPr>
        <p:spPr>
          <a:xfrm>
            <a:off x="9875520" y="6565392"/>
            <a:ext cx="1901952" cy="256032"/>
          </a:xfrm>
          <a:prstGeom prst="rect">
            <a:avLst/>
          </a:prstGeom>
          <a:noFill/>
        </p:spPr>
        <p:txBody>
          <a:bodyPr wrap="none" rIns="0" tIns="0">
            <a:spAutoFit/>
          </a:bodyPr>
          <a:lstStyle/>
          <a:p>
            <a:pPr algn="r">
              <a:defRPr sz="950" b="1">
                <a:solidFill>
                  <a:srgbClr val="0F172A"/>
                </a:solidFill>
                <a:latin typeface="Segoe UI"/>
              </a:defRPr>
            </a:pPr>
            <a:r>
              <a:t>Backup B3 / 3</a:t>
            </a:r>
          </a:p>
        </p:txBody>
      </p:sp>
      <p:sp>
        <p:nvSpPr>
          <p:cNvPr id="9" name="Rounded Rectangle 8"/>
          <p:cNvSpPr/>
          <p:nvPr/>
        </p:nvSpPr>
        <p:spPr>
          <a:xfrm>
            <a:off x="411480" y="1261872"/>
            <a:ext cx="11365992" cy="5074920"/>
          </a:xfrm>
          <a:prstGeom prst="roundRect">
            <a:avLst>
              <a:gd name="adj" fmla="val 2000"/>
            </a:avLst>
          </a:prstGeom>
          <a:solidFill>
            <a:srgbClr val="FFFFFF"/>
          </a:solidFill>
          <a:ln w="1587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1480" y="1261872"/>
            <a:ext cx="11365992" cy="384048"/>
          </a:xfrm>
          <a:prstGeom prst="roundRect">
            <a:avLst>
              <a:gd name="adj" fmla="val 2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lIns="164592"/>
          <a:lstStyle/>
          <a:p>
            <a:pPr algn="ctr">
              <a:defRPr sz="1300" b="1">
                <a:solidFill>
                  <a:srgbClr val="FFFFFF"/>
                </a:solidFill>
                <a:latin typeface="Segoe UI"/>
              </a:defRPr>
            </a:pPr>
            <a:r>
              <a:t>Câu hỏi: Tại sao khi tăng từ 4 lên 8 luồng OpenMP, Speedup bão hòa quanh mức 1,61× – 1,73×?</a:t>
            </a:r>
          </a:p>
        </p:txBody>
      </p:sp>
      <p:sp>
        <p:nvSpPr>
          <p:cNvPr id="11" name="TextBox 10"/>
          <p:cNvSpPr txBox="1"/>
          <p:nvPr/>
        </p:nvSpPr>
        <p:spPr>
          <a:xfrm>
            <a:off x="594360" y="1837943"/>
            <a:ext cx="11000232" cy="4572000"/>
          </a:xfrm>
          <a:prstGeom prst="rect">
            <a:avLst/>
          </a:prstGeom>
          <a:noFill/>
        </p:spPr>
        <p:txBody>
          <a:bodyPr wrap="square" lIns="0" rIns="0" tIns="0" bIns="0">
            <a:spAutoFit/>
          </a:bodyPr>
          <a:lstStyle/>
          <a:p>
            <a:pPr>
              <a:spcAft>
                <a:spcPts val="1200"/>
              </a:spcAft>
            </a:pPr>
            <a:r>
              <a:rPr sz="1150" b="1">
                <a:solidFill>
                  <a:srgbClr val="E11D48"/>
                </a:solidFill>
                <a:latin typeface="Segoe UI"/>
              </a:rPr>
              <a:t>1. Nút thắt Hình thái Cây Nhị phân ở các Mức Trên cùng (Root-Level Serialization):</a:t>
            </a:r>
            <a:r>
              <a:rPr sz="1150">
                <a:solidFill>
                  <a:srgbClr val="1E293B"/>
                </a:solidFill>
                <a:latin typeface="Segoe UI"/>
              </a:rPr>
              <a:t>
• Ở Giai đoạn 4, cây hướng dẫn UPGMA thu hẹp dần khi đi từ lá lên gốc: ở tầng sát gốc chỉ còn 2 nút con, và ở tầng gốc chỉ còn đúng 1 nút.
• Nghịch lý khối lượng: Nút gốc lại chứa nhiều chuỗi nhất (|P₁|×|P₂| lớn nhất), chiếm ~15%–20% tổng thời gian nhưng chỉ có 1 luồng thực thi phép chia để trị Myers-Miller tại nút đó, trong khi 7 luồng còn lại nghỉ chờ.</a:t>
            </a:r>
          </a:p>
          <a:p>
            <a:pPr>
              <a:spcAft>
                <a:spcPts val="1200"/>
              </a:spcAft>
            </a:pPr>
            <a:r>
              <a:rPr sz="1150" b="1">
                <a:solidFill>
                  <a:srgbClr val="0284C7"/>
                </a:solidFill>
                <a:latin typeface="Segoe UI"/>
              </a:rPr>
              <a:t>2. Đặc tính Giới hạn Băng thông Bộ nhớ (Memory-Bound Kernel):</a:t>
            </a:r>
            <a:r>
              <a:rPr sz="1150">
                <a:solidFill>
                  <a:srgbClr val="1E293B"/>
                </a:solidFill>
                <a:latin typeface="Segoe UI"/>
              </a:rPr>
              <a:t>
• Phép tính điểm cột PSP(x, y) đọc liên tục vector tần suất 20 phần tử từ bộ nhớ với tỷ lệ phép tính số học trên mỗi byte đọc từ RAM thấp (Low Arithmetic Intensity).
• Khi 8 luồng cùng quét tốc độ cao trên 1 CPU, băng thông bộ nhớ đệm L3 Cache đạt ngưỡng bão hòa.</a:t>
            </a:r>
          </a:p>
          <a:p>
            <a:pPr>
              <a:spcAft>
                <a:spcPts val="1200"/>
              </a:spcAft>
            </a:pPr>
            <a:r>
              <a:rPr sz="1150" b="1">
                <a:solidFill>
                  <a:srgbClr val="059669"/>
                </a:solidFill>
                <a:latin typeface="Segoe UI"/>
              </a:rPr>
              <a:t>3. Giải pháp Đã Thiết kế Sẵn cho Quy mô Lớn:</a:t>
            </a:r>
            <a:r>
              <a:rPr sz="1150">
                <a:solidFill>
                  <a:srgbClr val="1E293B"/>
                </a:solidFill>
                <a:latin typeface="Segoe UI"/>
              </a:rPr>
              <a:t>
• Kết hợp song song nội bộ ma trận (Wavefront Anti-Diagonal) cho chính nút gốc của cây UPGMA khi chiều dài Profile L ≥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